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1_8297649A.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5_6E8AA7AC.xml" ContentType="application/vnd.ms-powerpoint.comments+xml"/>
  <Override PartName="/ppt/notesSlides/notesSlide4.xml" ContentType="application/vnd.openxmlformats-officedocument.presentationml.notesSlide+xml"/>
  <Override PartName="/ppt/comments/modernComment_104_E8CFB32B.xml" ContentType="application/vnd.ms-powerpoint.comments+xml"/>
  <Override PartName="/ppt/comments/modernComment_103_3E3AE82A.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57" r:id="rId3"/>
    <p:sldId id="262" r:id="rId4"/>
    <p:sldId id="261" r:id="rId5"/>
    <p:sldId id="263" r:id="rId6"/>
    <p:sldId id="260" r:id="rId7"/>
    <p:sldId id="259"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A7D6E4-D81E-CF32-42CA-661684C67DD7}" name="渡辺　悠生" initials="悠渡" userId="S::5317704775@utac.u-tokyo.ac.jp::6bac083b-911a-4d96-88e0-5ba3986ff10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AEAC4"/>
    <a:srgbClr val="CCFFD9"/>
    <a:srgbClr val="BACCEC"/>
    <a:srgbClr val="E4ECF8"/>
    <a:srgbClr val="0E2741"/>
    <a:srgbClr val="F2B3ED"/>
    <a:srgbClr val="E5E97E"/>
    <a:srgbClr val="000000"/>
    <a:srgbClr val="EDD0AD"/>
    <a:srgbClr val="E4F6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452"/>
    <p:restoredTop sz="96137"/>
  </p:normalViewPr>
  <p:slideViewPr>
    <p:cSldViewPr>
      <p:cViewPr>
        <p:scale>
          <a:sx n="106" d="100"/>
          <a:sy n="106" d="100"/>
        </p:scale>
        <p:origin x="96" y="512"/>
      </p:cViewPr>
      <p:guideLst>
        <p:guide orient="horz" pos="2160"/>
        <p:guide pos="3840"/>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comments/modernComment_101_8297649A.xml><?xml version="1.0" encoding="utf-8"?>
<p188:cmLst xmlns:a="http://schemas.openxmlformats.org/drawingml/2006/main" xmlns:r="http://schemas.openxmlformats.org/officeDocument/2006/relationships" xmlns:p188="http://schemas.microsoft.com/office/powerpoint/2018/8/main">
  <p188:cm id="{4C457073-88B8-F945-AE9B-32C1AA54BC93}" authorId="{5AA7D6E4-D81E-CF32-42CA-661684C67DD7}" created="2026-06-24T02:11:59.684">
    <pc:sldMkLst xmlns:pc="http://schemas.microsoft.com/office/powerpoint/2013/main/command">
      <pc:docMk/>
      <pc:sldMk cId="2190959770" sldId="257"/>
    </pc:sldMkLst>
    <p188:replyLst>
      <p188:reply id="{CCE2C31A-C7D2-3C4A-A70C-594E03F8D536}" authorId="{5AA7D6E4-D81E-CF32-42CA-661684C67DD7}" created="2026-06-24T02:21:26.795">
        <p188:txBody>
          <a:bodyPr/>
          <a:lstStyle/>
          <a:p>
            <a:r>
              <a:rPr lang="ja-JP" altLang="en-US"/>
              <a:t>何を決めるか具体的に</a:t>
            </a:r>
          </a:p>
        </p188:txBody>
      </p188:reply>
      <p188:reply id="{34F02629-2575-0342-8C01-6BBC8742461E}" authorId="{5AA7D6E4-D81E-CF32-42CA-661684C67DD7}" created="2026-06-24T02:22:11.656">
        <p188:txBody>
          <a:bodyPr/>
          <a:lstStyle/>
          <a:p>
            <a:r>
              <a:rPr lang="ja-JP" altLang="en-US"/>
              <a:t>人流を知るのがテーマ</a:t>
            </a:r>
          </a:p>
        </p188:txBody>
      </p188:reply>
      <p188:reply id="{A97B9CCF-21E5-8048-A06A-48B9834E2574}" authorId="{5AA7D6E4-D81E-CF32-42CA-661684C67DD7}" created="2026-06-24T02:27:56.916">
        <p188:txBody>
          <a:bodyPr/>
          <a:lstStyle/>
          <a:p>
            <a:r>
              <a:rPr lang="ja-JP" altLang="en-US"/>
              <a:t>配置はどうする</a:t>
            </a:r>
          </a:p>
        </p188:txBody>
      </p188:reply>
    </p188:replyLst>
    <p188:txBody>
      <a:bodyPr/>
      <a:lstStyle/>
      <a:p>
        <a:r>
          <a:rPr lang="ja-JP" altLang="en-US"/>
          <a:t>地図を左半分にする
より芝田一丁目に</a:t>
        </a:r>
      </a:p>
    </p188:txBody>
  </p188:cm>
</p188:cmLst>
</file>

<file path=ppt/comments/modernComment_103_3E3AE82A.xml><?xml version="1.0" encoding="utf-8"?>
<p188:cmLst xmlns:a="http://schemas.openxmlformats.org/drawingml/2006/main" xmlns:r="http://schemas.openxmlformats.org/officeDocument/2006/relationships" xmlns:p188="http://schemas.microsoft.com/office/powerpoint/2018/8/main">
  <p188:cm id="{8D9EFE99-CBB6-ED48-AF03-977D88D3F8F8}" authorId="{5AA7D6E4-D81E-CF32-42CA-661684C67DD7}" created="2026-06-24T02:09:57.028">
    <pc:sldMkLst xmlns:pc="http://schemas.microsoft.com/office/powerpoint/2013/main/command">
      <pc:docMk/>
      <pc:sldMk cId="1044047914" sldId="259"/>
    </pc:sldMkLst>
    <p188:txBody>
      <a:bodyPr/>
      <a:lstStyle/>
      <a:p>
        <a:r>
          <a:rPr lang="ja-JP" altLang="en-US"/>
          <a:t>段階ごとにする</a:t>
        </a:r>
      </a:p>
    </p188:txBody>
  </p188:cm>
  <p188:cm id="{4776F74C-6F01-5A4B-B0BB-A9011A930B08}" authorId="{5AA7D6E4-D81E-CF32-42CA-661684C67DD7}" created="2026-06-24T14:54:00.983">
    <pc:sldMkLst xmlns:pc="http://schemas.microsoft.com/office/powerpoint/2013/main/command">
      <pc:docMk/>
      <pc:sldMk cId="1044047914" sldId="259"/>
    </pc:sldMkLst>
    <p188:txBody>
      <a:bodyPr/>
      <a:lstStyle/>
      <a:p>
        <a:r>
          <a:rPr lang="ja-JP" altLang="en-US"/>
          <a:t>典型的な5シナリオとそれぞれのバリエーションを抑え、開発計画のパターンをある程度抑える</a:t>
        </a:r>
      </a:p>
    </p188:txBody>
  </p188:cm>
</p188:cmLst>
</file>

<file path=ppt/comments/modernComment_104_E8CFB32B.xml><?xml version="1.0" encoding="utf-8"?>
<p188:cmLst xmlns:a="http://schemas.openxmlformats.org/drawingml/2006/main" xmlns:r="http://schemas.openxmlformats.org/officeDocument/2006/relationships" xmlns:p188="http://schemas.microsoft.com/office/powerpoint/2018/8/main">
  <p188:cm id="{3EC7CBDE-E659-6B45-88B2-AC1CE0637DF1}" authorId="{5AA7D6E4-D81E-CF32-42CA-661684C67DD7}" created="2026-06-24T02:34:11.118">
    <pc:sldMkLst xmlns:pc="http://schemas.microsoft.com/office/powerpoint/2013/main/command">
      <pc:docMk/>
      <pc:sldMk cId="3905925931" sldId="260"/>
    </pc:sldMkLst>
    <p188:txBody>
      <a:bodyPr/>
      <a:lstStyle/>
      <a:p>
        <a:r>
          <a:rPr lang="ja-JP" altLang="en-US"/>
          <a:t>LLMを用いて開発計画を具体化していく
商業施設を作るなどのシナリオに対する人流予測に関する研究
同時にやるところが新規性</a:t>
        </a:r>
      </a:p>
    </p188:txBody>
  </p188:cm>
</p188:cmLst>
</file>

<file path=ppt/comments/modernComment_105_6E8AA7AC.xml><?xml version="1.0" encoding="utf-8"?>
<p188:cmLst xmlns:a="http://schemas.openxmlformats.org/drawingml/2006/main" xmlns:r="http://schemas.openxmlformats.org/officeDocument/2006/relationships" xmlns:p188="http://schemas.microsoft.com/office/powerpoint/2018/8/main">
  <p188:cm id="{1128D8E5-8D2E-C84F-94C2-78181609B01C}" authorId="{5AA7D6E4-D81E-CF32-42CA-661684C67DD7}" created="2026-06-24T02:30:33.210">
    <pc:sldMkLst xmlns:pc="http://schemas.microsoft.com/office/powerpoint/2013/main/command">
      <pc:docMk/>
      <pc:sldMk cId="1854580652" sldId="261"/>
    </pc:sldMkLst>
    <p188:txBody>
      <a:bodyPr/>
      <a:lstStyle/>
      <a:p>
        <a:r>
          <a:rPr lang="ja-JP" altLang="en-US"/>
          <a:t>数値を具体的にする</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B4693-6362-5249-BACC-AA4F518A400C}" type="datetimeFigureOut">
              <a:t>2026/6/24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E38E2-DE2E-7340-982E-9A5D15609A22}" type="slidenum">
              <a:t>‹#›</a:t>
            </a:fld>
            <a:endParaRPr kumimoji="1" lang="ja-JP" altLang="en-US"/>
          </a:p>
        </p:txBody>
      </p:sp>
    </p:spTree>
    <p:extLst>
      <p:ext uri="{BB962C8B-B14F-4D97-AF65-F5344CB8AC3E}">
        <p14:creationId xmlns:p14="http://schemas.microsoft.com/office/powerpoint/2010/main" val="291163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This slide shows how we develop a planning proposal through dialogue with an LLM.</a:t>
            </a:r>
          </a:p>
          <a:p>
            <a:r>
              <a:rPr lang="ja-JP" altLang="ja-JP"/>
              <a:t>First, we identify the target area, Shibata 1-chome, and confirm its surrounding stations and pedestrian networks. Then, we organize basic planning conditions, such as land use, scale, pedestrian flow, functions, and constraints.</a:t>
            </a:r>
          </a:p>
          <a:p>
            <a:r>
              <a:rPr lang="ja-JP" altLang="ja-JP"/>
              <a:t>Next, we compare several planning directions, such as commercial-focused, circulation-focused, and office-focused plans. Through this process, the user and the LLM gradually narrow down the proposal.</a:t>
            </a:r>
          </a:p>
          <a:p>
            <a:r>
              <a:rPr lang="ja-JP" altLang="ja-JP"/>
              <a:t>Finally, the selected direction is translated into a concrete development plan, including commercial functions, offices, public open space, and improved pedestrian connections.</a:t>
            </a:r>
          </a:p>
        </p:txBody>
      </p:sp>
      <p:sp>
        <p:nvSpPr>
          <p:cNvPr id="4" name="スライド番号プレースホルダー 3"/>
          <p:cNvSpPr>
            <a:spLocks noGrp="1"/>
          </p:cNvSpPr>
          <p:nvPr>
            <p:ph type="sldNum" sz="quarter" idx="5"/>
          </p:nvPr>
        </p:nvSpPr>
        <p:spPr/>
        <p:txBody>
          <a:bodyPr/>
          <a:lstStyle/>
          <a:p>
            <a:fld id="{0B1E38E2-DE2E-7340-982E-9A5D15609A22}" type="slidenum">
              <a:t>2</a:t>
            </a:fld>
            <a:endParaRPr kumimoji="1" lang="ja-JP" altLang="en-US"/>
          </a:p>
        </p:txBody>
      </p:sp>
    </p:spTree>
    <p:extLst>
      <p:ext uri="{BB962C8B-B14F-4D97-AF65-F5344CB8AC3E}">
        <p14:creationId xmlns:p14="http://schemas.microsoft.com/office/powerpoint/2010/main" val="419683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F4B3A-7A44-5EE5-F1DE-9FBD4BC8C1C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CA3E473-643A-345B-0086-1959B5311A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939F9DD-160F-E4EF-5736-A76DD4E154DB}"/>
              </a:ext>
            </a:extLst>
          </p:cNvPr>
          <p:cNvSpPr>
            <a:spLocks noGrp="1"/>
          </p:cNvSpPr>
          <p:nvPr>
            <p:ph type="body" idx="1"/>
          </p:nvPr>
        </p:nvSpPr>
        <p:spPr/>
        <p:txBody>
          <a:bodyPr/>
          <a:lstStyle/>
          <a:p>
            <a:r>
              <a:rPr lang="ja-JP" altLang="ja-JP"/>
              <a:t>This slide shows how we develop a planning proposal through dialogue with an LLM.</a:t>
            </a:r>
          </a:p>
          <a:p>
            <a:r>
              <a:rPr lang="ja-JP" altLang="ja-JP"/>
              <a:t>First, we identify the target area, Shibata 1-chome, and confirm its surrounding stations and pedestrian networks. Then, we organize basic planning conditions, such as land use, scale, pedestrian flow, functions, and constraints.</a:t>
            </a:r>
          </a:p>
          <a:p>
            <a:r>
              <a:rPr lang="ja-JP" altLang="ja-JP"/>
              <a:t>Next, we compare several planning directions, such as commercial-focused, circulation-focused, and office-focused plans. Through this process, the user and the LLM gradually narrow down the proposal.</a:t>
            </a:r>
          </a:p>
          <a:p>
            <a:r>
              <a:rPr lang="ja-JP" altLang="ja-JP"/>
              <a:t>Finally, the selected direction is translated into a concrete development plan, including commercial functions, offices, public open space, and improved pedestrian connections.</a:t>
            </a:r>
          </a:p>
        </p:txBody>
      </p:sp>
      <p:sp>
        <p:nvSpPr>
          <p:cNvPr id="4" name="スライド番号プレースホルダー 3">
            <a:extLst>
              <a:ext uri="{FF2B5EF4-FFF2-40B4-BE49-F238E27FC236}">
                <a16:creationId xmlns:a16="http://schemas.microsoft.com/office/drawing/2014/main" id="{C31D2105-506E-9F25-931E-66A5466B0815}"/>
              </a:ext>
            </a:extLst>
          </p:cNvPr>
          <p:cNvSpPr>
            <a:spLocks noGrp="1"/>
          </p:cNvSpPr>
          <p:nvPr>
            <p:ph type="sldNum" sz="quarter" idx="5"/>
          </p:nvPr>
        </p:nvSpPr>
        <p:spPr/>
        <p:txBody>
          <a:bodyPr/>
          <a:lstStyle/>
          <a:p>
            <a:fld id="{0B1E38E2-DE2E-7340-982E-9A5D15609A22}" type="slidenum">
              <a:t>3</a:t>
            </a:fld>
            <a:endParaRPr kumimoji="1" lang="ja-JP" altLang="en-US"/>
          </a:p>
        </p:txBody>
      </p:sp>
    </p:spTree>
    <p:extLst>
      <p:ext uri="{BB962C8B-B14F-4D97-AF65-F5344CB8AC3E}">
        <p14:creationId xmlns:p14="http://schemas.microsoft.com/office/powerpoint/2010/main" val="3740240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B1E38E2-DE2E-7340-982E-9A5D15609A22}" type="slidenum">
              <a:rPr lang="en-US" altLang="ja-JP"/>
              <a:t>4</a:t>
            </a:fld>
            <a:endParaRPr kumimoji="1" lang="ja-JP" altLang="en-US"/>
          </a:p>
        </p:txBody>
      </p:sp>
    </p:spTree>
    <p:extLst>
      <p:ext uri="{BB962C8B-B14F-4D97-AF65-F5344CB8AC3E}">
        <p14:creationId xmlns:p14="http://schemas.microsoft.com/office/powerpoint/2010/main" val="2137260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07403-4577-0CA9-496B-F6E27FF523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B0894-A332-5D43-B0F4-4F38FB2AC94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432591A-9D08-B579-1A78-7C707136809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756AD0E-8B4E-90A7-B5CD-5CF599871460}"/>
              </a:ext>
            </a:extLst>
          </p:cNvPr>
          <p:cNvSpPr>
            <a:spLocks noGrp="1"/>
          </p:cNvSpPr>
          <p:nvPr>
            <p:ph type="sldNum" sz="quarter" idx="5"/>
          </p:nvPr>
        </p:nvSpPr>
        <p:spPr/>
        <p:txBody>
          <a:bodyPr/>
          <a:lstStyle/>
          <a:p>
            <a:fld id="{0B1E38E2-DE2E-7340-982E-9A5D15609A22}" type="slidenum">
              <a:rPr lang="en-US" altLang="ja-JP"/>
              <a:t>5</a:t>
            </a:fld>
            <a:endParaRPr kumimoji="1" lang="ja-JP" altLang="en-US"/>
          </a:p>
        </p:txBody>
      </p:sp>
    </p:spTree>
    <p:extLst>
      <p:ext uri="{BB962C8B-B14F-4D97-AF65-F5344CB8AC3E}">
        <p14:creationId xmlns:p14="http://schemas.microsoft.com/office/powerpoint/2010/main" val="3113801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C55205D-1BEA-5E5D-5B92-8C3331D1DC79}"/>
              </a:ext>
            </a:extLst>
          </p:cNvPr>
          <p:cNvSpPr>
            <a:spLocks noGrp="1" noRot="1" noMove="1" noResize="1" noEditPoints="1" noAdjustHandles="1" noChangeArrowheads="1" noChangeShapeType="1"/>
          </p:cNvSpPr>
          <p:nvPr userDrawn="1"/>
        </p:nvSpPr>
        <p:spPr>
          <a:xfrm>
            <a:off x="0" y="1"/>
            <a:ext cx="12192000" cy="685799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011358BB-C83D-DC73-90A9-FD099D231007}"/>
              </a:ext>
            </a:extLst>
          </p:cNvPr>
          <p:cNvSpPr>
            <a:spLocks/>
          </p:cNvSpPr>
          <p:nvPr userDrawn="1"/>
        </p:nvSpPr>
        <p:spPr>
          <a:xfrm>
            <a:off x="627893" y="1718810"/>
            <a:ext cx="10936214" cy="36454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2" name="Title 1"/>
          <p:cNvSpPr>
            <a:spLocks noGrp="1"/>
          </p:cNvSpPr>
          <p:nvPr>
            <p:ph type="ctrTitle"/>
          </p:nvPr>
        </p:nvSpPr>
        <p:spPr>
          <a:xfrm>
            <a:off x="815698" y="1822519"/>
            <a:ext cx="8981594" cy="1800200"/>
          </a:xfrm>
        </p:spPr>
        <p:txBody>
          <a:bodyPr anchor="b"/>
          <a:lstStyle>
            <a:lvl1pPr algn="ctr">
              <a:defRPr sz="6000">
                <a:latin typeface="HGMinchoE" panose="02020909000000000000" pitchFamily="49" charset="-128"/>
                <a:ea typeface="HGMinchoE" panose="02020909000000000000" pitchFamily="49" charset="-128"/>
              </a:defRPr>
            </a:lvl1pPr>
          </a:lstStyle>
          <a:p>
            <a:r>
              <a:rPr lang="ja-JP" altLang="en-US" dirty="0"/>
              <a:t>マスター タイトルの書式設定</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
        <p:nvSpPr>
          <p:cNvPr id="10" name="正方形/長方形 9">
            <a:extLst>
              <a:ext uri="{FF2B5EF4-FFF2-40B4-BE49-F238E27FC236}">
                <a16:creationId xmlns:a16="http://schemas.microsoft.com/office/drawing/2014/main" id="{4CD3B0C5-05CC-6CD8-19D9-83A04040DEB5}"/>
              </a:ext>
            </a:extLst>
          </p:cNvPr>
          <p:cNvSpPr/>
          <p:nvPr userDrawn="1"/>
        </p:nvSpPr>
        <p:spPr>
          <a:xfrm>
            <a:off x="815696" y="3900233"/>
            <a:ext cx="3915435" cy="45719"/>
          </a:xfrm>
          <a:prstGeom prst="rect">
            <a:avLst/>
          </a:prstGeom>
          <a:solidFill>
            <a:schemeClr val="tx2">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Subtitle 2">
            <a:extLst>
              <a:ext uri="{FF2B5EF4-FFF2-40B4-BE49-F238E27FC236}">
                <a16:creationId xmlns:a16="http://schemas.microsoft.com/office/drawing/2014/main" id="{1EA00032-B280-9C70-9D60-577AEB1A3456}"/>
              </a:ext>
            </a:extLst>
          </p:cNvPr>
          <p:cNvSpPr txBox="1">
            <a:spLocks/>
          </p:cNvSpPr>
          <p:nvPr userDrawn="1"/>
        </p:nvSpPr>
        <p:spPr>
          <a:xfrm>
            <a:off x="815695" y="4494532"/>
            <a:ext cx="5032775" cy="3986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en-US" altLang="ja-JP" sz="1800" dirty="0">
                <a:solidFill>
                  <a:schemeClr val="bg2">
                    <a:lumMod val="50000"/>
                  </a:schemeClr>
                </a:solidFill>
              </a:rPr>
              <a:t>2026</a:t>
            </a:r>
            <a:r>
              <a:rPr lang="ja-JP" altLang="en-US" sz="1800" dirty="0">
                <a:solidFill>
                  <a:schemeClr val="bg2">
                    <a:lumMod val="50000"/>
                  </a:schemeClr>
                </a:solidFill>
              </a:rPr>
              <a:t>年</a:t>
            </a:r>
            <a:r>
              <a:rPr lang="en-US" altLang="ja-JP" sz="1800" dirty="0">
                <a:solidFill>
                  <a:schemeClr val="bg2">
                    <a:lumMod val="50000"/>
                  </a:schemeClr>
                </a:solidFill>
              </a:rPr>
              <a:t>6</a:t>
            </a:r>
            <a:r>
              <a:rPr lang="ja-JP" altLang="en-US" sz="1800" dirty="0">
                <a:solidFill>
                  <a:schemeClr val="bg2">
                    <a:lumMod val="50000"/>
                  </a:schemeClr>
                </a:solidFill>
              </a:rPr>
              <a:t>月　関本・中居研究室</a:t>
            </a:r>
            <a:endParaRPr lang="en-US" sz="1800" dirty="0">
              <a:solidFill>
                <a:schemeClr val="bg2">
                  <a:lumMod val="50000"/>
                </a:schemeClr>
              </a:solidFill>
            </a:endParaRPr>
          </a:p>
        </p:txBody>
      </p:sp>
      <p:sp>
        <p:nvSpPr>
          <p:cNvPr id="12" name="Subtitle 2">
            <a:extLst>
              <a:ext uri="{FF2B5EF4-FFF2-40B4-BE49-F238E27FC236}">
                <a16:creationId xmlns:a16="http://schemas.microsoft.com/office/drawing/2014/main" id="{8C5479DB-FB15-2DE2-02DC-3F41B6BAA47D}"/>
              </a:ext>
            </a:extLst>
          </p:cNvPr>
          <p:cNvSpPr txBox="1">
            <a:spLocks/>
          </p:cNvSpPr>
          <p:nvPr userDrawn="1"/>
        </p:nvSpPr>
        <p:spPr>
          <a:xfrm>
            <a:off x="815696" y="4636415"/>
            <a:ext cx="5032775" cy="3986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endParaRPr lang="en-US" sz="1400" dirty="0">
              <a:solidFill>
                <a:schemeClr val="bg2">
                  <a:lumMod val="50000"/>
                </a:schemeClr>
              </a:solidFill>
            </a:endParaRPr>
          </a:p>
        </p:txBody>
      </p:sp>
      <p:sp>
        <p:nvSpPr>
          <p:cNvPr id="13" name="Subtitle 2">
            <a:extLst>
              <a:ext uri="{FF2B5EF4-FFF2-40B4-BE49-F238E27FC236}">
                <a16:creationId xmlns:a16="http://schemas.microsoft.com/office/drawing/2014/main" id="{265B0414-1E04-19AB-89FC-B267F02CDFAF}"/>
              </a:ext>
            </a:extLst>
          </p:cNvPr>
          <p:cNvSpPr txBox="1">
            <a:spLocks/>
          </p:cNvSpPr>
          <p:nvPr userDrawn="1"/>
        </p:nvSpPr>
        <p:spPr>
          <a:xfrm>
            <a:off x="834852" y="4095900"/>
            <a:ext cx="5032775" cy="3986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1800" dirty="0">
                <a:solidFill>
                  <a:schemeClr val="bg2">
                    <a:lumMod val="50000"/>
                  </a:schemeClr>
                </a:solidFill>
              </a:rPr>
              <a:t>芝田一丁目　取組計画</a:t>
            </a:r>
            <a:endParaRPr lang="en-US" sz="1800" dirty="0">
              <a:solidFill>
                <a:schemeClr val="bg2">
                  <a:lumMod val="50000"/>
                </a:schemeClr>
              </a:solidFill>
            </a:endParaRPr>
          </a:p>
        </p:txBody>
      </p:sp>
    </p:spTree>
    <p:extLst>
      <p:ext uri="{BB962C8B-B14F-4D97-AF65-F5344CB8AC3E}">
        <p14:creationId xmlns:p14="http://schemas.microsoft.com/office/powerpoint/2010/main" val="1756810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44EDEF3-5F82-A47A-BCEE-E6EA44217C62}"/>
              </a:ext>
            </a:extLst>
          </p:cNvPr>
          <p:cNvSpPr>
            <a:spLocks noGrp="1" noRot="1" noMove="1" noResize="1" noEditPoints="1" noAdjustHandles="1" noChangeArrowheads="1" noChangeShapeType="1"/>
          </p:cNvSpPr>
          <p:nvPr userDrawn="1"/>
        </p:nvSpPr>
        <p:spPr>
          <a:xfrm>
            <a:off x="0" y="1"/>
            <a:ext cx="12192000" cy="9087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a:xfrm>
            <a:off x="200345" y="1"/>
            <a:ext cx="10326470" cy="908719"/>
          </a:xfrm>
        </p:spPr>
        <p:txBody>
          <a:bodyPr/>
          <a:lstStyle>
            <a:lvl1pPr>
              <a:defRPr sz="2400">
                <a:solidFill>
                  <a:schemeClr val="bg1"/>
                </a:solidFill>
                <a:latin typeface="HGMinchoE" panose="02020909000000000000" pitchFamily="49" charset="-128"/>
                <a:ea typeface="HGMinchoE" panose="02020909000000000000" pitchFamily="49" charset="-128"/>
              </a:defRPr>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838200" y="1253331"/>
            <a:ext cx="10515600" cy="435133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rPr/>
              <a:t>‹#›</a:t>
            </a:fld>
            <a:endParaRPr kumimoji="1" lang="ja-JP" altLang="en-US"/>
          </a:p>
        </p:txBody>
      </p:sp>
    </p:spTree>
    <p:extLst>
      <p:ext uri="{BB962C8B-B14F-4D97-AF65-F5344CB8AC3E}">
        <p14:creationId xmlns:p14="http://schemas.microsoft.com/office/powerpoint/2010/main" val="1383340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dirty="0"/>
              <a:t>マスター テキストの書式設定</a:t>
            </a:r>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826114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Date Placeholder 4"/>
          <p:cNvSpPr>
            <a:spLocks noGrp="1"/>
          </p:cNvSpPr>
          <p:nvPr>
            <p:ph type="dt" sz="half" idx="10"/>
          </p:nvPr>
        </p:nvSpPr>
        <p:spPr/>
        <p:txBody>
          <a:bodyPr/>
          <a:lstStyle/>
          <a:p>
            <a:r>
              <a:rPr lang="en-US" altLang="ja-JP"/>
              <a:t>2026/6</a:t>
            </a:r>
            <a:endParaRPr kumimoji="1" lang="ja-JP" altLang="en-US"/>
          </a:p>
        </p:txBody>
      </p:sp>
      <p:sp>
        <p:nvSpPr>
          <p:cNvPr id="6" name="Footer Placeholder 5"/>
          <p:cNvSpPr>
            <a:spLocks noGrp="1"/>
          </p:cNvSpPr>
          <p:nvPr>
            <p:ph type="ftr" sz="quarter" idx="11"/>
          </p:nvPr>
        </p:nvSpPr>
        <p:spPr/>
        <p:txBody>
          <a:bodyPr/>
          <a:lstStyle/>
          <a:p>
            <a:r>
              <a:rPr kumimoji="1" lang="ja-JP" altLang="en-US"/>
              <a:t>関本・中居研究室</a:t>
            </a:r>
          </a:p>
        </p:txBody>
      </p:sp>
      <p:sp>
        <p:nvSpPr>
          <p:cNvPr id="7" name="Slide Number Placeholder 6"/>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375050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dirty="0"/>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7" name="Date Placeholder 6"/>
          <p:cNvSpPr>
            <a:spLocks noGrp="1"/>
          </p:cNvSpPr>
          <p:nvPr>
            <p:ph type="dt" sz="half" idx="10"/>
          </p:nvPr>
        </p:nvSpPr>
        <p:spPr/>
        <p:txBody>
          <a:bodyPr/>
          <a:lstStyle/>
          <a:p>
            <a:r>
              <a:rPr lang="en-US" altLang="ja-JP"/>
              <a:t>2026/6</a:t>
            </a:r>
            <a:endParaRPr kumimoji="1" lang="ja-JP" altLang="en-US"/>
          </a:p>
        </p:txBody>
      </p:sp>
      <p:sp>
        <p:nvSpPr>
          <p:cNvPr id="8" name="Footer Placeholder 7"/>
          <p:cNvSpPr>
            <a:spLocks noGrp="1"/>
          </p:cNvSpPr>
          <p:nvPr>
            <p:ph type="ftr" sz="quarter" idx="11"/>
          </p:nvPr>
        </p:nvSpPr>
        <p:spPr/>
        <p:txBody>
          <a:bodyPr/>
          <a:lstStyle/>
          <a:p>
            <a:r>
              <a:rPr kumimoji="1" lang="ja-JP" altLang="en-US"/>
              <a:t>関本・中居研究室</a:t>
            </a:r>
          </a:p>
        </p:txBody>
      </p:sp>
      <p:sp>
        <p:nvSpPr>
          <p:cNvPr id="9" name="Slide Number Placeholder 8"/>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831475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Date Placeholder 2"/>
          <p:cNvSpPr>
            <a:spLocks noGrp="1"/>
          </p:cNvSpPr>
          <p:nvPr>
            <p:ph type="dt" sz="half" idx="10"/>
          </p:nvPr>
        </p:nvSpPr>
        <p:spPr/>
        <p:txBody>
          <a:bodyPr/>
          <a:lstStyle/>
          <a:p>
            <a:r>
              <a:rPr lang="en-US" altLang="ja-JP"/>
              <a:t>2026/6</a:t>
            </a:r>
            <a:endParaRPr kumimoji="1" lang="ja-JP" altLang="en-US"/>
          </a:p>
        </p:txBody>
      </p:sp>
      <p:sp>
        <p:nvSpPr>
          <p:cNvPr id="4" name="Footer Placeholder 3"/>
          <p:cNvSpPr>
            <a:spLocks noGrp="1"/>
          </p:cNvSpPr>
          <p:nvPr>
            <p:ph type="ftr" sz="quarter" idx="11"/>
          </p:nvPr>
        </p:nvSpPr>
        <p:spPr/>
        <p:txBody>
          <a:bodyPr/>
          <a:lstStyle/>
          <a:p>
            <a:r>
              <a:rPr kumimoji="1" lang="ja-JP" altLang="en-US"/>
              <a:t>関本・中居研究室</a:t>
            </a:r>
          </a:p>
        </p:txBody>
      </p:sp>
      <p:sp>
        <p:nvSpPr>
          <p:cNvPr id="5" name="Slide Number Placeholder 4"/>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924625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ja-JP"/>
              <a:t>2026/6</a:t>
            </a:r>
            <a:endParaRPr kumimoji="1" lang="ja-JP" altLang="en-US"/>
          </a:p>
        </p:txBody>
      </p:sp>
      <p:sp>
        <p:nvSpPr>
          <p:cNvPr id="3" name="Footer Placeholder 2"/>
          <p:cNvSpPr>
            <a:spLocks noGrp="1"/>
          </p:cNvSpPr>
          <p:nvPr>
            <p:ph type="ftr" sz="quarter" idx="11"/>
          </p:nvPr>
        </p:nvSpPr>
        <p:spPr/>
        <p:txBody>
          <a:bodyPr/>
          <a:lstStyle/>
          <a:p>
            <a:r>
              <a:rPr kumimoji="1" lang="ja-JP" altLang="en-US"/>
              <a:t>関本・中居研究室</a:t>
            </a:r>
          </a:p>
        </p:txBody>
      </p:sp>
      <p:sp>
        <p:nvSpPr>
          <p:cNvPr id="4" name="Slide Number Placeholder 3"/>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338419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5" name="Date Placeholder 4"/>
          <p:cNvSpPr>
            <a:spLocks noGrp="1"/>
          </p:cNvSpPr>
          <p:nvPr>
            <p:ph type="dt" sz="half" idx="10"/>
          </p:nvPr>
        </p:nvSpPr>
        <p:spPr/>
        <p:txBody>
          <a:bodyPr/>
          <a:lstStyle/>
          <a:p>
            <a:r>
              <a:rPr lang="en-US" altLang="ja-JP"/>
              <a:t>2026/6</a:t>
            </a:r>
            <a:endParaRPr kumimoji="1" lang="ja-JP" altLang="en-US"/>
          </a:p>
        </p:txBody>
      </p:sp>
      <p:sp>
        <p:nvSpPr>
          <p:cNvPr id="6" name="Footer Placeholder 5"/>
          <p:cNvSpPr>
            <a:spLocks noGrp="1"/>
          </p:cNvSpPr>
          <p:nvPr>
            <p:ph type="ftr" sz="quarter" idx="11"/>
          </p:nvPr>
        </p:nvSpPr>
        <p:spPr/>
        <p:txBody>
          <a:bodyPr/>
          <a:lstStyle/>
          <a:p>
            <a:r>
              <a:rPr kumimoji="1" lang="ja-JP" altLang="en-US"/>
              <a:t>関本・中居研究室</a:t>
            </a:r>
          </a:p>
        </p:txBody>
      </p:sp>
      <p:sp>
        <p:nvSpPr>
          <p:cNvPr id="7" name="Slide Number Placeholder 6"/>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2960222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dirty="0"/>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dirty="0"/>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5" name="Date Placeholder 4"/>
          <p:cNvSpPr>
            <a:spLocks noGrp="1"/>
          </p:cNvSpPr>
          <p:nvPr>
            <p:ph type="dt" sz="half" idx="10"/>
          </p:nvPr>
        </p:nvSpPr>
        <p:spPr/>
        <p:txBody>
          <a:bodyPr/>
          <a:lstStyle/>
          <a:p>
            <a:r>
              <a:rPr lang="en-US" altLang="ja-JP"/>
              <a:t>2026/6</a:t>
            </a:r>
            <a:endParaRPr kumimoji="1" lang="ja-JP" altLang="en-US"/>
          </a:p>
        </p:txBody>
      </p:sp>
      <p:sp>
        <p:nvSpPr>
          <p:cNvPr id="6" name="Footer Placeholder 5"/>
          <p:cNvSpPr>
            <a:spLocks noGrp="1"/>
          </p:cNvSpPr>
          <p:nvPr>
            <p:ph type="ftr" sz="quarter" idx="11"/>
          </p:nvPr>
        </p:nvSpPr>
        <p:spPr/>
        <p:txBody>
          <a:bodyPr/>
          <a:lstStyle/>
          <a:p>
            <a:r>
              <a:rPr kumimoji="1" lang="ja-JP" altLang="en-US"/>
              <a:t>関本・中居研究室</a:t>
            </a:r>
          </a:p>
        </p:txBody>
      </p:sp>
      <p:sp>
        <p:nvSpPr>
          <p:cNvPr id="7" name="Slide Number Placeholder 6"/>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1562891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592028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dirty="0"/>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10"/>
          </p:nvPr>
        </p:nvSpPr>
        <p:spPr/>
        <p:txBody>
          <a:bodyPr/>
          <a:lstStyle/>
          <a:p>
            <a:r>
              <a:rPr lang="en-US" altLang="ja-JP"/>
              <a:t>2026/6</a:t>
            </a:r>
            <a:endParaRPr kumimoji="1" lang="ja-JP" altLang="en-US"/>
          </a:p>
        </p:txBody>
      </p:sp>
      <p:sp>
        <p:nvSpPr>
          <p:cNvPr id="5" name="Footer Placeholder 4"/>
          <p:cNvSpPr>
            <a:spLocks noGrp="1"/>
          </p:cNvSpPr>
          <p:nvPr>
            <p:ph type="ftr" sz="quarter" idx="11"/>
          </p:nvPr>
        </p:nvSpPr>
        <p:spPr/>
        <p:txBody>
          <a:bodyPr/>
          <a:lstStyle/>
          <a:p>
            <a:r>
              <a:rPr kumimoji="1" lang="ja-JP" altLang="en-US"/>
              <a:t>関本・中居研究室</a:t>
            </a:r>
          </a:p>
        </p:txBody>
      </p:sp>
      <p:sp>
        <p:nvSpPr>
          <p:cNvPr id="6" name="Slide Number Placeholder 5"/>
          <p:cNvSpPr>
            <a:spLocks noGrp="1"/>
          </p:cNvSpPr>
          <p:nvPr>
            <p:ph type="sldNum" sz="quarter" idx="12"/>
          </p:nvPr>
        </p:nvSpPr>
        <p:spPr/>
        <p:txBody>
          <a:bodyPr/>
          <a:lstStyle/>
          <a:p>
            <a:fld id="{6539E37A-E522-3D47-AAB7-DDF67C94A05D}" type="slidenum">
              <a:t>‹#›</a:t>
            </a:fld>
            <a:endParaRPr kumimoji="1" lang="ja-JP" altLang="en-US"/>
          </a:p>
        </p:txBody>
      </p:sp>
    </p:spTree>
    <p:extLst>
      <p:ext uri="{BB962C8B-B14F-4D97-AF65-F5344CB8AC3E}">
        <p14:creationId xmlns:p14="http://schemas.microsoft.com/office/powerpoint/2010/main" val="2585553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ja-JP"/>
              <a:t>2026/6</a:t>
            </a:r>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ja-JP" altLang="en-US"/>
              <a:t>関本・中居研究室</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chemeClr val="tx1">
                    <a:tint val="82000"/>
                  </a:schemeClr>
                </a:solidFill>
              </a:defRPr>
            </a:lvl1pPr>
          </a:lstStyle>
          <a:p>
            <a:fld id="{6539E37A-E522-3D47-AAB7-DDF67C94A05D}" type="slidenum">
              <a:rPr kumimoji="1" lang="ja-JP" altLang="en-US"/>
              <a:pPr/>
              <a:t>‹#›</a:t>
            </a:fld>
            <a:endParaRPr kumimoji="1" lang="ja-JP" altLang="en-US" b="1"/>
          </a:p>
        </p:txBody>
      </p:sp>
    </p:spTree>
    <p:extLst>
      <p:ext uri="{BB962C8B-B14F-4D97-AF65-F5344CB8AC3E}">
        <p14:creationId xmlns:p14="http://schemas.microsoft.com/office/powerpoint/2010/main" val="2923544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kumimoji="1"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18/10/relationships/comments" Target="../comments/modernComment_101_8297649A.xm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5_6E8AA7AC.xml"/><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2" Type="http://schemas.microsoft.com/office/2018/10/relationships/comments" Target="../comments/modernComment_104_E8CFB32B.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3_3E3AE82A.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B55DF-5A51-4866-F273-38E181C764D2}"/>
              </a:ext>
            </a:extLst>
          </p:cNvPr>
          <p:cNvSpPr>
            <a:spLocks noGrp="1"/>
          </p:cNvSpPr>
          <p:nvPr>
            <p:ph type="ctrTitle"/>
          </p:nvPr>
        </p:nvSpPr>
        <p:spPr>
          <a:xfrm>
            <a:off x="830415" y="1943835"/>
            <a:ext cx="8910990" cy="1665185"/>
          </a:xfrm>
        </p:spPr>
        <p:txBody>
          <a:bodyPr anchor="t">
            <a:normAutofit/>
          </a:bodyPr>
          <a:lstStyle/>
          <a:p>
            <a:pPr algn="l"/>
            <a:r>
              <a:rPr lang="ja-JP" altLang="ja-JP" sz="3600"/>
              <a:t>開発計画の粒度に応じた</a:t>
            </a:r>
            <a:br>
              <a:rPr lang="en-US" altLang="ja-JP" sz="3600"/>
            </a:br>
            <a:r>
              <a:rPr lang="ja-JP" altLang="ja-JP" sz="3600"/>
              <a:t>様々なパターン生成とその評価</a:t>
            </a:r>
            <a:br>
              <a:rPr lang="en-US" altLang="ja-JP" sz="3600"/>
            </a:br>
            <a:r>
              <a:rPr lang="ja-JP" altLang="ja-JP" sz="3600"/>
              <a:t>～芝田一丁目の開発計画を題材に</a:t>
            </a:r>
            <a:endParaRPr kumimoji="1" lang="ja-JP" altLang="en-US" sz="3600"/>
          </a:p>
        </p:txBody>
      </p:sp>
    </p:spTree>
    <p:extLst>
      <p:ext uri="{BB962C8B-B14F-4D97-AF65-F5344CB8AC3E}">
        <p14:creationId xmlns:p14="http://schemas.microsoft.com/office/powerpoint/2010/main" val="3625556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495058-29A2-8FB4-22CD-6A625EB074A1}"/>
              </a:ext>
            </a:extLst>
          </p:cNvPr>
          <p:cNvSpPr>
            <a:spLocks noGrp="1"/>
          </p:cNvSpPr>
          <p:nvPr>
            <p:ph type="title"/>
          </p:nvPr>
        </p:nvSpPr>
        <p:spPr>
          <a:xfrm>
            <a:off x="189866" y="0"/>
            <a:ext cx="9296996" cy="908720"/>
          </a:xfrm>
        </p:spPr>
        <p:txBody>
          <a:bodyPr anchor="ctr"/>
          <a:lstStyle/>
          <a:p>
            <a:r>
              <a:rPr lang="ja-JP" altLang="ja-JP">
                <a:latin typeface="HGMinchoE" panose="02020909000000000000" pitchFamily="49" charset="-128"/>
                <a:ea typeface="HGMinchoE" panose="02020909000000000000" pitchFamily="49" charset="-128"/>
              </a:rPr>
              <a:t>最初の</a:t>
            </a:r>
            <a:r>
              <a:rPr lang="en-US" altLang="ja-JP">
                <a:latin typeface="HGMinchoE" panose="02020909000000000000" pitchFamily="49" charset="-128"/>
                <a:ea typeface="HGMinchoE" panose="02020909000000000000" pitchFamily="49" charset="-128"/>
              </a:rPr>
              <a:t>3</a:t>
            </a:r>
            <a:r>
              <a:rPr lang="ja-JP" altLang="ja-JP">
                <a:latin typeface="HGMinchoE" panose="02020909000000000000" pitchFamily="49" charset="-128"/>
                <a:ea typeface="HGMinchoE" panose="02020909000000000000" pitchFamily="49" charset="-128"/>
              </a:rPr>
              <a:t>か月（2Q：7-9月）の取組イメージ</a:t>
            </a:r>
            <a:endParaRPr kumimoji="1" lang="ja-JP" altLang="en-US">
              <a:latin typeface="HGMinchoE" panose="02020909000000000000" pitchFamily="49" charset="-128"/>
              <a:ea typeface="HGMinchoE" panose="02020909000000000000" pitchFamily="49" charset="-128"/>
            </a:endParaRPr>
          </a:p>
        </p:txBody>
      </p:sp>
      <p:sp>
        <p:nvSpPr>
          <p:cNvPr id="3" name="コンテンツ プレースホルダー 2">
            <a:extLst>
              <a:ext uri="{FF2B5EF4-FFF2-40B4-BE49-F238E27FC236}">
                <a16:creationId xmlns:a16="http://schemas.microsoft.com/office/drawing/2014/main" id="{E2EE6471-9B88-D752-87C2-4DFD80E8106E}"/>
              </a:ext>
            </a:extLst>
          </p:cNvPr>
          <p:cNvSpPr>
            <a:spLocks noGrp="1"/>
          </p:cNvSpPr>
          <p:nvPr>
            <p:ph idx="1"/>
          </p:nvPr>
        </p:nvSpPr>
        <p:spPr>
          <a:xfrm>
            <a:off x="189866" y="1018333"/>
            <a:ext cx="8363145" cy="404645"/>
          </a:xfrm>
        </p:spPr>
        <p:txBody>
          <a:bodyPr/>
          <a:lstStyle/>
          <a:p>
            <a:pPr marL="0" indent="0">
              <a:buNone/>
            </a:pPr>
            <a:r>
              <a:rPr lang="en-US" altLang="ja-JP" b="1"/>
              <a:t>1. LLM</a:t>
            </a:r>
            <a:r>
              <a:rPr lang="ja-JP" altLang="en-US" b="1"/>
              <a:t>との対話の中で計画案を具体化していく</a:t>
            </a:r>
            <a:endParaRPr lang="ja-JP" altLang="ja-JP" b="1"/>
          </a:p>
          <a:p>
            <a:endParaRPr kumimoji="1" lang="ja-JP" altLang="en-US"/>
          </a:p>
        </p:txBody>
      </p:sp>
      <p:sp>
        <p:nvSpPr>
          <p:cNvPr id="4" name="日付プレースホルダー 3">
            <a:extLst>
              <a:ext uri="{FF2B5EF4-FFF2-40B4-BE49-F238E27FC236}">
                <a16:creationId xmlns:a16="http://schemas.microsoft.com/office/drawing/2014/main" id="{10B8029A-8011-7DB4-1F2E-4EB1D60B357A}"/>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421EE940-DED7-9CB4-4DC3-2A310811AFE1}"/>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82B2B169-4457-04ED-59EA-5752275810C4}"/>
              </a:ext>
            </a:extLst>
          </p:cNvPr>
          <p:cNvSpPr>
            <a:spLocks noGrp="1"/>
          </p:cNvSpPr>
          <p:nvPr>
            <p:ph type="sldNum" sz="quarter" idx="12"/>
          </p:nvPr>
        </p:nvSpPr>
        <p:spPr/>
        <p:txBody>
          <a:bodyPr/>
          <a:lstStyle/>
          <a:p>
            <a:fld id="{6539E37A-E522-3D47-AAB7-DDF67C94A05D}" type="slidenum">
              <a:rPr lang="en-US" altLang="ja-JP"/>
              <a:t>2</a:t>
            </a:fld>
            <a:endParaRPr kumimoji="1" lang="ja-JP" altLang="en-US"/>
          </a:p>
        </p:txBody>
      </p:sp>
      <p:sp>
        <p:nvSpPr>
          <p:cNvPr id="138" name="Rounded Rectangle 5">
            <a:extLst>
              <a:ext uri="{FF2B5EF4-FFF2-40B4-BE49-F238E27FC236}">
                <a16:creationId xmlns:a16="http://schemas.microsoft.com/office/drawing/2014/main" id="{577433BE-CA3A-28CF-787F-E24E491A19BE}"/>
              </a:ext>
            </a:extLst>
          </p:cNvPr>
          <p:cNvSpPr/>
          <p:nvPr/>
        </p:nvSpPr>
        <p:spPr>
          <a:xfrm>
            <a:off x="189866" y="1508382"/>
            <a:ext cx="2011680" cy="4343400"/>
          </a:xfrm>
          <a:prstGeom prst="roundRect">
            <a:avLst>
              <a:gd name="adj" fmla="val 9000"/>
            </a:avLst>
          </a:prstGeom>
          <a:solidFill>
            <a:srgbClr val="FFFFFF"/>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6">
            <a:extLst>
              <a:ext uri="{FF2B5EF4-FFF2-40B4-BE49-F238E27FC236}">
                <a16:creationId xmlns:a16="http://schemas.microsoft.com/office/drawing/2014/main" id="{1C3A46CE-C53C-9AAB-0882-26901F525A05}"/>
              </a:ext>
            </a:extLst>
          </p:cNvPr>
          <p:cNvSpPr/>
          <p:nvPr/>
        </p:nvSpPr>
        <p:spPr>
          <a:xfrm>
            <a:off x="299593" y="1554102"/>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1</a:t>
            </a:r>
            <a:endParaRPr sz="1500" b="1">
              <a:solidFill>
                <a:srgbClr val="FFFFFF"/>
              </a:solidFill>
              <a:latin typeface="Noto Sans CJK JP"/>
            </a:endParaRPr>
          </a:p>
        </p:txBody>
      </p:sp>
      <p:sp>
        <p:nvSpPr>
          <p:cNvPr id="140" name="TextBox 7">
            <a:extLst>
              <a:ext uri="{FF2B5EF4-FFF2-40B4-BE49-F238E27FC236}">
                <a16:creationId xmlns:a16="http://schemas.microsoft.com/office/drawing/2014/main" id="{3D4AB89A-B932-61F3-13F5-479F749DEBE1}"/>
              </a:ext>
            </a:extLst>
          </p:cNvPr>
          <p:cNvSpPr txBox="1"/>
          <p:nvPr/>
        </p:nvSpPr>
        <p:spPr>
          <a:xfrm>
            <a:off x="637921" y="1572390"/>
            <a:ext cx="1280160" cy="201168"/>
          </a:xfrm>
          <a:prstGeom prst="rect">
            <a:avLst/>
          </a:prstGeom>
          <a:noFill/>
          <a:ln>
            <a:noFill/>
          </a:ln>
        </p:spPr>
        <p:txBody>
          <a:bodyPr wrap="square" lIns="36576" tIns="36576" rIns="36576" bIns="36576" anchor="t">
            <a:spAutoFit/>
          </a:bodyPr>
          <a:lstStyle/>
          <a:p>
            <a:pPr algn="l"/>
            <a:r>
              <a:rPr sz="1500" b="1">
                <a:solidFill>
                  <a:srgbClr val="0B2B5B"/>
                </a:solidFill>
                <a:latin typeface="Noto Sans CJK JP"/>
              </a:rPr>
              <a:t>対象エ</a:t>
            </a:r>
            <a:r>
              <a:rPr lang="ja-JP" altLang="en-US" sz="1500" b="1">
                <a:solidFill>
                  <a:srgbClr val="0B2B5B"/>
                </a:solidFill>
                <a:latin typeface="Noto Sans CJK JP"/>
              </a:rPr>
              <a:t>リ</a:t>
            </a:r>
            <a:r>
              <a:rPr sz="1500" b="1">
                <a:solidFill>
                  <a:srgbClr val="0B2B5B"/>
                </a:solidFill>
                <a:latin typeface="Noto Sans CJK JP"/>
              </a:rPr>
              <a:t>ア</a:t>
            </a:r>
          </a:p>
        </p:txBody>
      </p:sp>
      <p:sp>
        <p:nvSpPr>
          <p:cNvPr id="141" name="Rounded Rectangle 8">
            <a:extLst>
              <a:ext uri="{FF2B5EF4-FFF2-40B4-BE49-F238E27FC236}">
                <a16:creationId xmlns:a16="http://schemas.microsoft.com/office/drawing/2014/main" id="{BCFCF5EE-791A-FF6E-76C5-9D0E20B52180}"/>
              </a:ext>
            </a:extLst>
          </p:cNvPr>
          <p:cNvSpPr/>
          <p:nvPr/>
        </p:nvSpPr>
        <p:spPr>
          <a:xfrm>
            <a:off x="2475866" y="1508382"/>
            <a:ext cx="2011680" cy="4343400"/>
          </a:xfrm>
          <a:prstGeom prst="roundRect">
            <a:avLst>
              <a:gd name="adj" fmla="val 9000"/>
            </a:avLst>
          </a:prstGeom>
          <a:solidFill>
            <a:srgbClr val="FFFFFF"/>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9">
            <a:extLst>
              <a:ext uri="{FF2B5EF4-FFF2-40B4-BE49-F238E27FC236}">
                <a16:creationId xmlns:a16="http://schemas.microsoft.com/office/drawing/2014/main" id="{153A7F1D-4EA1-4D03-1194-70ED8F7C5D4C}"/>
              </a:ext>
            </a:extLst>
          </p:cNvPr>
          <p:cNvSpPr/>
          <p:nvPr/>
        </p:nvSpPr>
        <p:spPr>
          <a:xfrm>
            <a:off x="2585593" y="1553031"/>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Noto Sans CJK JP"/>
              </a:rPr>
              <a:t>2</a:t>
            </a:r>
          </a:p>
        </p:txBody>
      </p:sp>
      <p:sp>
        <p:nvSpPr>
          <p:cNvPr id="143" name="TextBox 10">
            <a:extLst>
              <a:ext uri="{FF2B5EF4-FFF2-40B4-BE49-F238E27FC236}">
                <a16:creationId xmlns:a16="http://schemas.microsoft.com/office/drawing/2014/main" id="{7DDC66E6-A8B8-5578-E126-7E14FA229D30}"/>
              </a:ext>
            </a:extLst>
          </p:cNvPr>
          <p:cNvSpPr txBox="1"/>
          <p:nvPr/>
        </p:nvSpPr>
        <p:spPr>
          <a:xfrm>
            <a:off x="2923921" y="1571319"/>
            <a:ext cx="1280160" cy="201168"/>
          </a:xfrm>
          <a:prstGeom prst="rect">
            <a:avLst/>
          </a:prstGeom>
          <a:noFill/>
          <a:ln>
            <a:noFill/>
          </a:ln>
        </p:spPr>
        <p:txBody>
          <a:bodyPr wrap="square" lIns="36576" tIns="36576" rIns="36576" bIns="36576" anchor="t">
            <a:spAutoFit/>
          </a:bodyPr>
          <a:lstStyle/>
          <a:p>
            <a:pPr algn="l"/>
            <a:r>
              <a:rPr sz="1500" b="1">
                <a:solidFill>
                  <a:srgbClr val="0B2B5B"/>
                </a:solidFill>
                <a:latin typeface="Noto Sans CJK JP"/>
              </a:rPr>
              <a:t>条件整理</a:t>
            </a:r>
          </a:p>
        </p:txBody>
      </p:sp>
      <p:sp>
        <p:nvSpPr>
          <p:cNvPr id="144" name="Rounded Rectangle 11">
            <a:extLst>
              <a:ext uri="{FF2B5EF4-FFF2-40B4-BE49-F238E27FC236}">
                <a16:creationId xmlns:a16="http://schemas.microsoft.com/office/drawing/2014/main" id="{38774038-6DF8-FFBE-9E70-7D5518FD79ED}"/>
              </a:ext>
            </a:extLst>
          </p:cNvPr>
          <p:cNvSpPr>
            <a:spLocks/>
          </p:cNvSpPr>
          <p:nvPr/>
        </p:nvSpPr>
        <p:spPr>
          <a:xfrm>
            <a:off x="4757294" y="1502497"/>
            <a:ext cx="2011680" cy="4343400"/>
          </a:xfrm>
          <a:prstGeom prst="roundRect">
            <a:avLst>
              <a:gd name="adj" fmla="val 9000"/>
            </a:avLst>
          </a:prstGeom>
          <a:solidFill>
            <a:srgbClr val="FFFFFF"/>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2">
            <a:extLst>
              <a:ext uri="{FF2B5EF4-FFF2-40B4-BE49-F238E27FC236}">
                <a16:creationId xmlns:a16="http://schemas.microsoft.com/office/drawing/2014/main" id="{8D167B9B-E5D8-EE27-A99E-053225037A76}"/>
              </a:ext>
            </a:extLst>
          </p:cNvPr>
          <p:cNvSpPr/>
          <p:nvPr/>
        </p:nvSpPr>
        <p:spPr>
          <a:xfrm>
            <a:off x="4869689" y="1566157"/>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Noto Sans CJK JP"/>
              </a:rPr>
              <a:t>3</a:t>
            </a:r>
          </a:p>
        </p:txBody>
      </p:sp>
      <p:sp>
        <p:nvSpPr>
          <p:cNvPr id="146" name="TextBox 13">
            <a:extLst>
              <a:ext uri="{FF2B5EF4-FFF2-40B4-BE49-F238E27FC236}">
                <a16:creationId xmlns:a16="http://schemas.microsoft.com/office/drawing/2014/main" id="{13C83DCF-8C73-33CD-EB2E-18FF88D34335}"/>
              </a:ext>
            </a:extLst>
          </p:cNvPr>
          <p:cNvSpPr txBox="1"/>
          <p:nvPr/>
        </p:nvSpPr>
        <p:spPr>
          <a:xfrm>
            <a:off x="5208017" y="1584445"/>
            <a:ext cx="1280160" cy="201168"/>
          </a:xfrm>
          <a:prstGeom prst="rect">
            <a:avLst/>
          </a:prstGeom>
          <a:noFill/>
          <a:ln>
            <a:noFill/>
          </a:ln>
        </p:spPr>
        <p:txBody>
          <a:bodyPr wrap="square" lIns="36576" tIns="36576" rIns="36576" bIns="36576" anchor="t">
            <a:spAutoFit/>
          </a:bodyPr>
          <a:lstStyle/>
          <a:p>
            <a:pPr algn="l"/>
            <a:r>
              <a:rPr sz="1500" b="1">
                <a:solidFill>
                  <a:srgbClr val="0B2B5B"/>
                </a:solidFill>
                <a:latin typeface="Noto Sans CJK JP"/>
              </a:rPr>
              <a:t>案の比較</a:t>
            </a:r>
          </a:p>
        </p:txBody>
      </p:sp>
      <p:sp>
        <p:nvSpPr>
          <p:cNvPr id="147" name="Rounded Rectangle 14">
            <a:extLst>
              <a:ext uri="{FF2B5EF4-FFF2-40B4-BE49-F238E27FC236}">
                <a16:creationId xmlns:a16="http://schemas.microsoft.com/office/drawing/2014/main" id="{421C2033-6709-B9CD-DEB4-C3DC0611D90F}"/>
              </a:ext>
            </a:extLst>
          </p:cNvPr>
          <p:cNvSpPr>
            <a:spLocks noGrp="1" noRot="1" noMove="1" noResize="1" noEditPoints="1" noAdjustHandles="1" noChangeArrowheads="1" noChangeShapeType="1"/>
          </p:cNvSpPr>
          <p:nvPr/>
        </p:nvSpPr>
        <p:spPr>
          <a:xfrm>
            <a:off x="7047866" y="1508382"/>
            <a:ext cx="2011680" cy="4343400"/>
          </a:xfrm>
          <a:prstGeom prst="roundRect">
            <a:avLst>
              <a:gd name="adj" fmla="val 9000"/>
            </a:avLst>
          </a:prstGeom>
          <a:solidFill>
            <a:srgbClr val="FFFFFF"/>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5">
            <a:extLst>
              <a:ext uri="{FF2B5EF4-FFF2-40B4-BE49-F238E27FC236}">
                <a16:creationId xmlns:a16="http://schemas.microsoft.com/office/drawing/2014/main" id="{D974D034-9C77-27F5-4BA3-3BA5008FDFA4}"/>
              </a:ext>
            </a:extLst>
          </p:cNvPr>
          <p:cNvSpPr/>
          <p:nvPr/>
        </p:nvSpPr>
        <p:spPr>
          <a:xfrm>
            <a:off x="7169411" y="1552410"/>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Noto Sans CJK JP"/>
              </a:rPr>
              <a:t>4</a:t>
            </a:r>
          </a:p>
        </p:txBody>
      </p:sp>
      <p:sp>
        <p:nvSpPr>
          <p:cNvPr id="149" name="TextBox 16">
            <a:extLst>
              <a:ext uri="{FF2B5EF4-FFF2-40B4-BE49-F238E27FC236}">
                <a16:creationId xmlns:a16="http://schemas.microsoft.com/office/drawing/2014/main" id="{936B6E50-991D-C741-3D08-F742A2D1E0D5}"/>
              </a:ext>
            </a:extLst>
          </p:cNvPr>
          <p:cNvSpPr txBox="1"/>
          <p:nvPr/>
        </p:nvSpPr>
        <p:spPr>
          <a:xfrm>
            <a:off x="7507738" y="1570698"/>
            <a:ext cx="1280160" cy="201168"/>
          </a:xfrm>
          <a:prstGeom prst="rect">
            <a:avLst/>
          </a:prstGeom>
          <a:noFill/>
          <a:ln>
            <a:noFill/>
          </a:ln>
        </p:spPr>
        <p:txBody>
          <a:bodyPr wrap="square" lIns="36576" tIns="36576" rIns="36576" bIns="36576" anchor="t">
            <a:spAutoFit/>
          </a:bodyPr>
          <a:lstStyle/>
          <a:p>
            <a:pPr algn="l"/>
            <a:r>
              <a:rPr sz="1500" b="1">
                <a:solidFill>
                  <a:srgbClr val="0B2B5B"/>
                </a:solidFill>
                <a:latin typeface="Noto Sans CJK JP"/>
              </a:rPr>
              <a:t>案の具体化</a:t>
            </a:r>
          </a:p>
        </p:txBody>
      </p:sp>
      <p:sp>
        <p:nvSpPr>
          <p:cNvPr id="150" name="Right Arrow 17">
            <a:extLst>
              <a:ext uri="{FF2B5EF4-FFF2-40B4-BE49-F238E27FC236}">
                <a16:creationId xmlns:a16="http://schemas.microsoft.com/office/drawing/2014/main" id="{783EFAA0-6A1D-E75C-D02E-4D641BC68717}"/>
              </a:ext>
            </a:extLst>
          </p:cNvPr>
          <p:cNvSpPr/>
          <p:nvPr/>
        </p:nvSpPr>
        <p:spPr>
          <a:xfrm>
            <a:off x="2228978" y="3017142"/>
            <a:ext cx="210311" cy="320040"/>
          </a:xfrm>
          <a:prstGeom prst="rightArrow">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ight Arrow 18">
            <a:extLst>
              <a:ext uri="{FF2B5EF4-FFF2-40B4-BE49-F238E27FC236}">
                <a16:creationId xmlns:a16="http://schemas.microsoft.com/office/drawing/2014/main" id="{21396DA9-1E41-19A0-44F7-42AE34752FEA}"/>
              </a:ext>
            </a:extLst>
          </p:cNvPr>
          <p:cNvSpPr/>
          <p:nvPr/>
        </p:nvSpPr>
        <p:spPr>
          <a:xfrm>
            <a:off x="4514978" y="3017142"/>
            <a:ext cx="210311" cy="320040"/>
          </a:xfrm>
          <a:prstGeom prst="rightArrow">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ight Arrow 19">
            <a:extLst>
              <a:ext uri="{FF2B5EF4-FFF2-40B4-BE49-F238E27FC236}">
                <a16:creationId xmlns:a16="http://schemas.microsoft.com/office/drawing/2014/main" id="{DA2A159B-39AE-D8C3-BF41-544FA4892630}"/>
              </a:ext>
            </a:extLst>
          </p:cNvPr>
          <p:cNvSpPr/>
          <p:nvPr/>
        </p:nvSpPr>
        <p:spPr>
          <a:xfrm>
            <a:off x="6800978" y="3017142"/>
            <a:ext cx="210311" cy="320040"/>
          </a:xfrm>
          <a:prstGeom prst="rightArrow">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ight Arrow 20">
            <a:extLst>
              <a:ext uri="{FF2B5EF4-FFF2-40B4-BE49-F238E27FC236}">
                <a16:creationId xmlns:a16="http://schemas.microsoft.com/office/drawing/2014/main" id="{C3389523-8BD2-366D-97CC-ABBDF89D2889}"/>
              </a:ext>
            </a:extLst>
          </p:cNvPr>
          <p:cNvSpPr/>
          <p:nvPr/>
        </p:nvSpPr>
        <p:spPr>
          <a:xfrm>
            <a:off x="9114410" y="3017142"/>
            <a:ext cx="182879" cy="320040"/>
          </a:xfrm>
          <a:prstGeom prst="rightArrow">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4" name="Picture 21" descr="site_map.png">
            <a:extLst>
              <a:ext uri="{FF2B5EF4-FFF2-40B4-BE49-F238E27FC236}">
                <a16:creationId xmlns:a16="http://schemas.microsoft.com/office/drawing/2014/main" id="{96C32DB0-F20B-728C-17FB-40A7CE80343C}"/>
              </a:ext>
            </a:extLst>
          </p:cNvPr>
          <p:cNvPicPr>
            <a:picLocks noChangeAspect="1"/>
          </p:cNvPicPr>
          <p:nvPr/>
        </p:nvPicPr>
        <p:blipFill>
          <a:blip r:embed="rId4"/>
          <a:stretch>
            <a:fillRect/>
          </a:stretch>
        </p:blipFill>
        <p:spPr>
          <a:xfrm>
            <a:off x="281306" y="1956438"/>
            <a:ext cx="1792224" cy="2121408"/>
          </a:xfrm>
          <a:prstGeom prst="rect">
            <a:avLst/>
          </a:prstGeom>
        </p:spPr>
      </p:pic>
      <p:grpSp>
        <p:nvGrpSpPr>
          <p:cNvPr id="213" name="グループ化 212">
            <a:extLst>
              <a:ext uri="{FF2B5EF4-FFF2-40B4-BE49-F238E27FC236}">
                <a16:creationId xmlns:a16="http://schemas.microsoft.com/office/drawing/2014/main" id="{9729BD1B-0C32-7F0B-D0DF-79AE42F650B6}"/>
              </a:ext>
            </a:extLst>
          </p:cNvPr>
          <p:cNvGrpSpPr/>
          <p:nvPr/>
        </p:nvGrpSpPr>
        <p:grpSpPr>
          <a:xfrm>
            <a:off x="409322" y="4644127"/>
            <a:ext cx="1572768" cy="471922"/>
            <a:chOff x="409322" y="4480182"/>
            <a:chExt cx="1572768" cy="471922"/>
          </a:xfrm>
        </p:grpSpPr>
        <p:sp>
          <p:nvSpPr>
            <p:cNvPr id="155" name="Rounded Rectangle 22">
              <a:extLst>
                <a:ext uri="{FF2B5EF4-FFF2-40B4-BE49-F238E27FC236}">
                  <a16:creationId xmlns:a16="http://schemas.microsoft.com/office/drawing/2014/main" id="{95D9FF0B-5262-84ED-D185-66C5C70986B3}"/>
                </a:ext>
              </a:extLst>
            </p:cNvPr>
            <p:cNvSpPr/>
            <p:nvPr/>
          </p:nvSpPr>
          <p:spPr>
            <a:xfrm>
              <a:off x="409322" y="4480182"/>
              <a:ext cx="1572768" cy="471922"/>
            </a:xfrm>
            <a:prstGeom prst="roundRect">
              <a:avLst>
                <a:gd name="adj" fmla="val 9000"/>
              </a:avLst>
            </a:prstGeom>
            <a:solidFill>
              <a:srgbClr val="EBF4FC"/>
            </a:solidFill>
            <a:ln w="12700">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TextBox 23">
              <a:extLst>
                <a:ext uri="{FF2B5EF4-FFF2-40B4-BE49-F238E27FC236}">
                  <a16:creationId xmlns:a16="http://schemas.microsoft.com/office/drawing/2014/main" id="{A45505D7-F07B-4C17-1FD4-73776F8CC4C5}"/>
                </a:ext>
              </a:extLst>
            </p:cNvPr>
            <p:cNvSpPr txBox="1"/>
            <p:nvPr/>
          </p:nvSpPr>
          <p:spPr>
            <a:xfrm>
              <a:off x="509905" y="4535046"/>
              <a:ext cx="1389888" cy="406265"/>
            </a:xfrm>
            <a:prstGeom prst="rect">
              <a:avLst/>
            </a:prstGeom>
            <a:noFill/>
            <a:ln>
              <a:noFill/>
            </a:ln>
          </p:spPr>
          <p:txBody>
            <a:bodyPr wrap="square" lIns="36576" tIns="36576" rIns="36576" bIns="36576" anchor="t">
              <a:spAutoFit/>
            </a:bodyPr>
            <a:lstStyle/>
            <a:p>
              <a:r>
                <a:rPr sz="1080" b="1">
                  <a:solidFill>
                    <a:schemeClr val="tx2"/>
                  </a:solidFill>
                  <a:latin typeface="Noto Sans CJK JP"/>
                </a:rPr>
                <a:t>芝田一丁目はど</a:t>
              </a:r>
              <a:r>
                <a:rPr lang="ja-JP" altLang="en-US" sz="1080" b="1">
                  <a:solidFill>
                    <a:schemeClr val="tx2"/>
                  </a:solidFill>
                  <a:latin typeface="Noto Sans CJK JP"/>
                </a:rPr>
                <a:t>こ？</a:t>
              </a:r>
              <a:r>
                <a:rPr sz="1080" b="1">
                  <a:solidFill>
                    <a:schemeClr val="tx2"/>
                  </a:solidFill>
                  <a:latin typeface="Noto Sans CJK JP"/>
                </a:rPr>
                <a:t>
駅や周辺動線は？</a:t>
              </a:r>
            </a:p>
          </p:txBody>
        </p:sp>
      </p:grpSp>
      <p:sp>
        <p:nvSpPr>
          <p:cNvPr id="157" name="TextBox 24">
            <a:extLst>
              <a:ext uri="{FF2B5EF4-FFF2-40B4-BE49-F238E27FC236}">
                <a16:creationId xmlns:a16="http://schemas.microsoft.com/office/drawing/2014/main" id="{682BC450-33BD-1E03-EF51-1B2788A69ACA}"/>
              </a:ext>
            </a:extLst>
          </p:cNvPr>
          <p:cNvSpPr txBox="1"/>
          <p:nvPr/>
        </p:nvSpPr>
        <p:spPr>
          <a:xfrm>
            <a:off x="281306" y="5267391"/>
            <a:ext cx="1755648" cy="393192"/>
          </a:xfrm>
          <a:prstGeom prst="rect">
            <a:avLst/>
          </a:prstGeom>
          <a:noFill/>
          <a:ln>
            <a:noFill/>
          </a:ln>
        </p:spPr>
        <p:txBody>
          <a:bodyPr wrap="square" lIns="36576" tIns="36576" rIns="36576" bIns="36576" anchor="t">
            <a:spAutoFit/>
          </a:bodyPr>
          <a:lstStyle/>
          <a:p>
            <a:pPr algn="ctr"/>
            <a:r>
              <a:rPr sz="1080" b="0">
                <a:solidFill>
                  <a:srgbClr val="1E1E1E"/>
                </a:solidFill>
                <a:latin typeface="Noto Sans CJK JP"/>
              </a:rPr>
              <a:t>まず、対象範囲と周辺環境を確認する</a:t>
            </a:r>
          </a:p>
        </p:txBody>
      </p:sp>
      <p:graphicFrame>
        <p:nvGraphicFramePr>
          <p:cNvPr id="158" name="Table 25">
            <a:extLst>
              <a:ext uri="{FF2B5EF4-FFF2-40B4-BE49-F238E27FC236}">
                <a16:creationId xmlns:a16="http://schemas.microsoft.com/office/drawing/2014/main" id="{D2069B88-1558-A358-098F-B78D2125C634}"/>
              </a:ext>
            </a:extLst>
          </p:cNvPr>
          <p:cNvGraphicFramePr>
            <a:graphicFrameLocks noGrp="1"/>
          </p:cNvGraphicFramePr>
          <p:nvPr>
            <p:extLst>
              <p:ext uri="{D42A27DB-BD31-4B8C-83A1-F6EECF244321}">
                <p14:modId xmlns:p14="http://schemas.microsoft.com/office/powerpoint/2010/main" val="3592494667"/>
              </p:ext>
            </p:extLst>
          </p:nvPr>
        </p:nvGraphicFramePr>
        <p:xfrm>
          <a:off x="2622170" y="1938150"/>
          <a:ext cx="1645920" cy="2617700"/>
        </p:xfrm>
        <a:graphic>
          <a:graphicData uri="http://schemas.openxmlformats.org/drawingml/2006/table">
            <a:tbl>
              <a:tblPr firstRow="1" bandRow="1">
                <a:tableStyleId>{5C22544A-7EE6-4342-B048-85BDC9FD1C3A}</a:tableStyleId>
              </a:tblPr>
              <a:tblGrid>
                <a:gridCol w="658368">
                  <a:extLst>
                    <a:ext uri="{9D8B030D-6E8A-4147-A177-3AD203B41FA5}">
                      <a16:colId xmlns:a16="http://schemas.microsoft.com/office/drawing/2014/main" val="20000"/>
                    </a:ext>
                  </a:extLst>
                </a:gridCol>
                <a:gridCol w="987552">
                  <a:extLst>
                    <a:ext uri="{9D8B030D-6E8A-4147-A177-3AD203B41FA5}">
                      <a16:colId xmlns:a16="http://schemas.microsoft.com/office/drawing/2014/main" val="20001"/>
                    </a:ext>
                  </a:extLst>
                </a:gridCol>
              </a:tblGrid>
              <a:tr h="619747">
                <a:tc>
                  <a:txBody>
                    <a:bodyPr/>
                    <a:lstStyle/>
                    <a:p>
                      <a:pPr algn="ctr"/>
                      <a:r>
                        <a:rPr sz="1030" b="1">
                          <a:solidFill>
                            <a:srgbClr val="141414"/>
                          </a:solidFill>
                          <a:latin typeface="Noto Sans CJK JP"/>
                        </a:rPr>
                        <a:t>用途</a:t>
                      </a:r>
                    </a:p>
                  </a:txBody>
                  <a:tcPr>
                    <a:solidFill>
                      <a:srgbClr val="EBF4FC"/>
                    </a:solidFill>
                  </a:tcPr>
                </a:tc>
                <a:tc>
                  <a:txBody>
                    <a:bodyPr/>
                    <a:lstStyle/>
                    <a:p>
                      <a:pPr algn="l"/>
                      <a:r>
                        <a:rPr sz="1030" b="0">
                          <a:solidFill>
                            <a:srgbClr val="141414"/>
                          </a:solidFill>
                          <a:latin typeface="Noto Sans CJK JP"/>
                        </a:rPr>
                        <a:t>商業</a:t>
                      </a:r>
                      <a:endParaRPr lang="en-US" sz="1030" b="0">
                        <a:solidFill>
                          <a:srgbClr val="141414"/>
                        </a:solidFill>
                        <a:latin typeface="Noto Sans CJK JP"/>
                      </a:endParaRPr>
                    </a:p>
                    <a:p>
                      <a:pPr algn="l"/>
                      <a:r>
                        <a:rPr sz="1030" b="0">
                          <a:solidFill>
                            <a:srgbClr val="141414"/>
                          </a:solidFill>
                          <a:latin typeface="Noto Sans CJK JP"/>
                        </a:rPr>
                        <a:t>業務</a:t>
                      </a:r>
                      <a:endParaRPr lang="en-US" sz="1030" b="0">
                        <a:solidFill>
                          <a:srgbClr val="141414"/>
                        </a:solidFill>
                        <a:latin typeface="Noto Sans CJK JP"/>
                      </a:endParaRPr>
                    </a:p>
                    <a:p>
                      <a:pPr algn="l"/>
                      <a:r>
                        <a:rPr sz="1030" b="0">
                          <a:solidFill>
                            <a:srgbClr val="141414"/>
                          </a:solidFill>
                          <a:latin typeface="Noto Sans CJK JP"/>
                        </a:rPr>
                        <a:t>広場</a:t>
                      </a:r>
                    </a:p>
                  </a:txBody>
                  <a:tcPr>
                    <a:solidFill>
                      <a:srgbClr val="FFFFFF"/>
                    </a:solidFill>
                  </a:tcPr>
                </a:tc>
                <a:extLst>
                  <a:ext uri="{0D108BD9-81ED-4DB2-BD59-A6C34878D82A}">
                    <a16:rowId xmlns:a16="http://schemas.microsoft.com/office/drawing/2014/main" val="10000"/>
                  </a:ext>
                </a:extLst>
              </a:tr>
              <a:tr h="459402">
                <a:tc>
                  <a:txBody>
                    <a:bodyPr/>
                    <a:lstStyle/>
                    <a:p>
                      <a:pPr algn="ctr"/>
                      <a:r>
                        <a:rPr sz="1030" b="1">
                          <a:solidFill>
                            <a:srgbClr val="141414"/>
                          </a:solidFill>
                          <a:latin typeface="Noto Sans CJK JP"/>
                        </a:rPr>
                        <a:t>規模</a:t>
                      </a:r>
                    </a:p>
                  </a:txBody>
                  <a:tcPr>
                    <a:solidFill>
                      <a:srgbClr val="EBF4FC"/>
                    </a:solidFill>
                  </a:tcPr>
                </a:tc>
                <a:tc>
                  <a:txBody>
                    <a:bodyPr/>
                    <a:lstStyle/>
                    <a:p>
                      <a:pPr algn="l"/>
                      <a:r>
                        <a:rPr sz="1030" b="0">
                          <a:solidFill>
                            <a:srgbClr val="141414"/>
                          </a:solidFill>
                          <a:latin typeface="Noto Sans CJK JP"/>
                        </a:rPr>
                        <a:t>延床面積</a:t>
                      </a:r>
                      <a:endParaRPr lang="en-US" sz="1030" b="0">
                        <a:solidFill>
                          <a:srgbClr val="141414"/>
                        </a:solidFill>
                        <a:latin typeface="Noto Sans CJK JP"/>
                      </a:endParaRPr>
                    </a:p>
                    <a:p>
                      <a:pPr algn="l"/>
                      <a:r>
                        <a:rPr sz="1030" b="0">
                          <a:solidFill>
                            <a:srgbClr val="141414"/>
                          </a:solidFill>
                          <a:latin typeface="Noto Sans CJK JP"/>
                        </a:rPr>
                        <a:t>階数</a:t>
                      </a:r>
                    </a:p>
                  </a:txBody>
                  <a:tcPr>
                    <a:solidFill>
                      <a:srgbClr val="FFFFFF"/>
                    </a:solidFill>
                  </a:tcPr>
                </a:tc>
                <a:extLst>
                  <a:ext uri="{0D108BD9-81ED-4DB2-BD59-A6C34878D82A}">
                    <a16:rowId xmlns:a16="http://schemas.microsoft.com/office/drawing/2014/main" val="10001"/>
                  </a:ext>
                </a:extLst>
              </a:tr>
              <a:tr h="459402">
                <a:tc>
                  <a:txBody>
                    <a:bodyPr/>
                    <a:lstStyle/>
                    <a:p>
                      <a:pPr algn="ctr"/>
                      <a:r>
                        <a:rPr sz="1030" b="1">
                          <a:solidFill>
                            <a:srgbClr val="141414"/>
                          </a:solidFill>
                          <a:latin typeface="Noto Sans CJK JP"/>
                        </a:rPr>
                        <a:t>動線</a:t>
                      </a:r>
                    </a:p>
                  </a:txBody>
                  <a:tcPr>
                    <a:solidFill>
                      <a:srgbClr val="EBF4FC"/>
                    </a:solidFill>
                  </a:tcPr>
                </a:tc>
                <a:tc>
                  <a:txBody>
                    <a:bodyPr/>
                    <a:lstStyle/>
                    <a:p>
                      <a:pPr algn="l"/>
                      <a:r>
                        <a:rPr sz="1030" b="0">
                          <a:solidFill>
                            <a:srgbClr val="141414"/>
                          </a:solidFill>
                          <a:latin typeface="Noto Sans CJK JP"/>
                        </a:rPr>
                        <a:t>駅接続</a:t>
                      </a:r>
                      <a:endParaRPr lang="en-US" sz="1030" b="0">
                        <a:solidFill>
                          <a:srgbClr val="141414"/>
                        </a:solidFill>
                        <a:latin typeface="Noto Sans CJK JP"/>
                      </a:endParaRPr>
                    </a:p>
                    <a:p>
                      <a:pPr algn="l"/>
                      <a:r>
                        <a:rPr sz="1030" b="0">
                          <a:solidFill>
                            <a:srgbClr val="141414"/>
                          </a:solidFill>
                          <a:latin typeface="Noto Sans CJK JP"/>
                        </a:rPr>
                        <a:t>歩行者動線</a:t>
                      </a:r>
                    </a:p>
                  </a:txBody>
                  <a:tcPr>
                    <a:solidFill>
                      <a:srgbClr val="FFFFFF"/>
                    </a:solidFill>
                  </a:tcPr>
                </a:tc>
                <a:extLst>
                  <a:ext uri="{0D108BD9-81ED-4DB2-BD59-A6C34878D82A}">
                    <a16:rowId xmlns:a16="http://schemas.microsoft.com/office/drawing/2014/main" val="10002"/>
                  </a:ext>
                </a:extLst>
              </a:tr>
              <a:tr h="459402">
                <a:tc>
                  <a:txBody>
                    <a:bodyPr/>
                    <a:lstStyle/>
                    <a:p>
                      <a:pPr algn="ctr"/>
                      <a:r>
                        <a:rPr sz="1030" b="1">
                          <a:solidFill>
                            <a:srgbClr val="141414"/>
                          </a:solidFill>
                          <a:latin typeface="Noto Sans CJK JP"/>
                        </a:rPr>
                        <a:t>機能</a:t>
                      </a:r>
                    </a:p>
                  </a:txBody>
                  <a:tcPr>
                    <a:solidFill>
                      <a:srgbClr val="EBF4FC"/>
                    </a:solidFill>
                  </a:tcPr>
                </a:tc>
                <a:tc>
                  <a:txBody>
                    <a:bodyPr/>
                    <a:lstStyle/>
                    <a:p>
                      <a:pPr algn="l"/>
                      <a:r>
                        <a:rPr sz="1030" b="0">
                          <a:solidFill>
                            <a:srgbClr val="141414"/>
                          </a:solidFill>
                          <a:latin typeface="Noto Sans CJK JP"/>
                        </a:rPr>
                        <a:t>にぎわい</a:t>
                      </a:r>
                      <a:endParaRPr lang="en-US" sz="1030" b="0">
                        <a:solidFill>
                          <a:srgbClr val="141414"/>
                        </a:solidFill>
                        <a:latin typeface="Noto Sans CJK JP"/>
                      </a:endParaRPr>
                    </a:p>
                    <a:p>
                      <a:pPr algn="l"/>
                      <a:r>
                        <a:rPr sz="1030" b="0">
                          <a:solidFill>
                            <a:srgbClr val="141414"/>
                          </a:solidFill>
                          <a:latin typeface="Noto Sans CJK JP"/>
                        </a:rPr>
                        <a:t>公共性</a:t>
                      </a:r>
                    </a:p>
                  </a:txBody>
                  <a:tcPr>
                    <a:solidFill>
                      <a:srgbClr val="FFFFFF"/>
                    </a:solidFill>
                  </a:tcPr>
                </a:tc>
                <a:extLst>
                  <a:ext uri="{0D108BD9-81ED-4DB2-BD59-A6C34878D82A}">
                    <a16:rowId xmlns:a16="http://schemas.microsoft.com/office/drawing/2014/main" val="10003"/>
                  </a:ext>
                </a:extLst>
              </a:tr>
              <a:tr h="619747">
                <a:tc>
                  <a:txBody>
                    <a:bodyPr/>
                    <a:lstStyle/>
                    <a:p>
                      <a:pPr algn="ctr"/>
                      <a:r>
                        <a:rPr sz="1030" b="1">
                          <a:solidFill>
                            <a:srgbClr val="141414"/>
                          </a:solidFill>
                          <a:latin typeface="Noto Sans CJK JP"/>
                        </a:rPr>
                        <a:t>条件</a:t>
                      </a:r>
                    </a:p>
                  </a:txBody>
                  <a:tcPr>
                    <a:solidFill>
                      <a:srgbClr val="EBF4FC"/>
                    </a:solidFill>
                  </a:tcPr>
                </a:tc>
                <a:tc>
                  <a:txBody>
                    <a:bodyPr/>
                    <a:lstStyle/>
                    <a:p>
                      <a:pPr algn="l"/>
                      <a:r>
                        <a:rPr sz="1030" b="0">
                          <a:solidFill>
                            <a:srgbClr val="141414"/>
                          </a:solidFill>
                          <a:latin typeface="Noto Sans CJK JP"/>
                        </a:rPr>
                        <a:t>景観</a:t>
                      </a:r>
                      <a:endParaRPr lang="en-US" sz="1030" b="0">
                        <a:solidFill>
                          <a:srgbClr val="141414"/>
                        </a:solidFill>
                        <a:latin typeface="Noto Sans CJK JP"/>
                      </a:endParaRPr>
                    </a:p>
                    <a:p>
                      <a:pPr algn="l"/>
                      <a:r>
                        <a:rPr sz="1030" b="0">
                          <a:solidFill>
                            <a:srgbClr val="141414"/>
                          </a:solidFill>
                          <a:latin typeface="Noto Sans CJK JP"/>
                        </a:rPr>
                        <a:t>防災</a:t>
                      </a:r>
                      <a:endParaRPr lang="en-US" sz="1030" b="0">
                        <a:solidFill>
                          <a:srgbClr val="141414"/>
                        </a:solidFill>
                        <a:latin typeface="Noto Sans CJK JP"/>
                      </a:endParaRPr>
                    </a:p>
                    <a:p>
                      <a:pPr algn="l"/>
                      <a:r>
                        <a:rPr sz="1030" b="0">
                          <a:solidFill>
                            <a:srgbClr val="141414"/>
                          </a:solidFill>
                          <a:latin typeface="Noto Sans CJK JP"/>
                        </a:rPr>
                        <a:t>回遊性</a:t>
                      </a:r>
                    </a:p>
                  </a:txBody>
                  <a:tcPr>
                    <a:solidFill>
                      <a:srgbClr val="FFFFFF"/>
                    </a:solidFill>
                  </a:tcPr>
                </a:tc>
                <a:extLst>
                  <a:ext uri="{0D108BD9-81ED-4DB2-BD59-A6C34878D82A}">
                    <a16:rowId xmlns:a16="http://schemas.microsoft.com/office/drawing/2014/main" val="10004"/>
                  </a:ext>
                </a:extLst>
              </a:tr>
            </a:tbl>
          </a:graphicData>
        </a:graphic>
      </p:graphicFrame>
      <p:sp>
        <p:nvSpPr>
          <p:cNvPr id="161" name="TextBox 28">
            <a:extLst>
              <a:ext uri="{FF2B5EF4-FFF2-40B4-BE49-F238E27FC236}">
                <a16:creationId xmlns:a16="http://schemas.microsoft.com/office/drawing/2014/main" id="{74F10B1F-4480-E1DF-A964-07EF911663E3}"/>
              </a:ext>
            </a:extLst>
          </p:cNvPr>
          <p:cNvSpPr txBox="1"/>
          <p:nvPr/>
        </p:nvSpPr>
        <p:spPr>
          <a:xfrm>
            <a:off x="2585593" y="5257014"/>
            <a:ext cx="1773936" cy="400110"/>
          </a:xfrm>
          <a:prstGeom prst="rect">
            <a:avLst/>
          </a:prstGeom>
          <a:noFill/>
          <a:ln>
            <a:noFill/>
          </a:ln>
        </p:spPr>
        <p:txBody>
          <a:bodyPr wrap="square" lIns="36576" tIns="36576" rIns="36576" bIns="36576" anchor="t">
            <a:spAutoFit/>
          </a:bodyPr>
          <a:lstStyle/>
          <a:p>
            <a:pPr algn="ctr"/>
            <a:r>
              <a:rPr sz="1060" b="0">
                <a:solidFill>
                  <a:srgbClr val="1E1E1E"/>
                </a:solidFill>
                <a:latin typeface="Noto Sans CJK JP"/>
              </a:rPr>
              <a:t>表形式の情報を参照しながら計画の前提を明確化する</a:t>
            </a:r>
          </a:p>
        </p:txBody>
      </p:sp>
      <p:grpSp>
        <p:nvGrpSpPr>
          <p:cNvPr id="238" name="グループ化 237">
            <a:extLst>
              <a:ext uri="{FF2B5EF4-FFF2-40B4-BE49-F238E27FC236}">
                <a16:creationId xmlns:a16="http://schemas.microsoft.com/office/drawing/2014/main" id="{CB0958C7-9162-3C31-9B52-C639FF5B76F5}"/>
              </a:ext>
            </a:extLst>
          </p:cNvPr>
          <p:cNvGrpSpPr/>
          <p:nvPr/>
        </p:nvGrpSpPr>
        <p:grpSpPr>
          <a:xfrm>
            <a:off x="4871594" y="1939919"/>
            <a:ext cx="1783080" cy="822960"/>
            <a:chOff x="4871594" y="1791846"/>
            <a:chExt cx="1783080" cy="822960"/>
          </a:xfrm>
        </p:grpSpPr>
        <p:sp>
          <p:nvSpPr>
            <p:cNvPr id="162" name="Rounded Rectangle 29">
              <a:extLst>
                <a:ext uri="{FF2B5EF4-FFF2-40B4-BE49-F238E27FC236}">
                  <a16:creationId xmlns:a16="http://schemas.microsoft.com/office/drawing/2014/main" id="{750B0C82-1476-697A-E8B1-7C4C30F8D5BC}"/>
                </a:ext>
              </a:extLst>
            </p:cNvPr>
            <p:cNvSpPr/>
            <p:nvPr/>
          </p:nvSpPr>
          <p:spPr>
            <a:xfrm>
              <a:off x="4871594" y="1791846"/>
              <a:ext cx="1783080" cy="822960"/>
            </a:xfrm>
            <a:prstGeom prst="roundRect">
              <a:avLst>
                <a:gd name="adj" fmla="val 9000"/>
              </a:avLst>
            </a:prstGeom>
            <a:solidFill>
              <a:srgbClr val="FAFCFF"/>
            </a:solidFill>
            <a:ln w="12700">
              <a:solidFill>
                <a:srgbClr val="B5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7" name="グループ化 236">
              <a:extLst>
                <a:ext uri="{FF2B5EF4-FFF2-40B4-BE49-F238E27FC236}">
                  <a16:creationId xmlns:a16="http://schemas.microsoft.com/office/drawing/2014/main" id="{C877C4C9-CC99-EEC4-B568-17B47AEACC5A}"/>
                </a:ext>
              </a:extLst>
            </p:cNvPr>
            <p:cNvGrpSpPr/>
            <p:nvPr/>
          </p:nvGrpSpPr>
          <p:grpSpPr>
            <a:xfrm>
              <a:off x="4935602" y="1846710"/>
              <a:ext cx="1664208" cy="722866"/>
              <a:chOff x="4935602" y="1846710"/>
              <a:chExt cx="1664208" cy="722866"/>
            </a:xfrm>
          </p:grpSpPr>
          <p:grpSp>
            <p:nvGrpSpPr>
              <p:cNvPr id="236" name="グループ化 235">
                <a:extLst>
                  <a:ext uri="{FF2B5EF4-FFF2-40B4-BE49-F238E27FC236}">
                    <a16:creationId xmlns:a16="http://schemas.microsoft.com/office/drawing/2014/main" id="{E31973DD-B2F1-8DD3-276D-301A69A047FF}"/>
                  </a:ext>
                </a:extLst>
              </p:cNvPr>
              <p:cNvGrpSpPr/>
              <p:nvPr/>
            </p:nvGrpSpPr>
            <p:grpSpPr>
              <a:xfrm>
                <a:off x="4935602" y="1864997"/>
                <a:ext cx="219456" cy="217161"/>
                <a:chOff x="4935602" y="1864997"/>
                <a:chExt cx="219456" cy="217161"/>
              </a:xfrm>
            </p:grpSpPr>
            <p:sp>
              <p:nvSpPr>
                <p:cNvPr id="163" name="Rounded Rectangle 30">
                  <a:extLst>
                    <a:ext uri="{FF2B5EF4-FFF2-40B4-BE49-F238E27FC236}">
                      <a16:creationId xmlns:a16="http://schemas.microsoft.com/office/drawing/2014/main" id="{58F64902-2D00-CECE-4DDF-3C4C77C79FBA}"/>
                    </a:ext>
                  </a:extLst>
                </p:cNvPr>
                <p:cNvSpPr/>
                <p:nvPr/>
              </p:nvSpPr>
              <p:spPr>
                <a:xfrm>
                  <a:off x="4935602" y="1864997"/>
                  <a:ext cx="219456" cy="217161"/>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TextBox 31">
                  <a:extLst>
                    <a:ext uri="{FF2B5EF4-FFF2-40B4-BE49-F238E27FC236}">
                      <a16:creationId xmlns:a16="http://schemas.microsoft.com/office/drawing/2014/main" id="{CD87B666-A037-B3BC-2F9A-06BE5693C32C}"/>
                    </a:ext>
                  </a:extLst>
                </p:cNvPr>
                <p:cNvSpPr txBox="1"/>
                <p:nvPr/>
              </p:nvSpPr>
              <p:spPr>
                <a:xfrm>
                  <a:off x="4963034" y="1878714"/>
                  <a:ext cx="164592" cy="128016"/>
                </a:xfrm>
                <a:prstGeom prst="rect">
                  <a:avLst/>
                </a:prstGeom>
                <a:noFill/>
                <a:ln>
                  <a:noFill/>
                </a:ln>
              </p:spPr>
              <p:txBody>
                <a:bodyPr wrap="square" lIns="36576" tIns="36576" rIns="36576" bIns="36576" anchor="t">
                  <a:spAutoFit/>
                </a:bodyPr>
                <a:lstStyle/>
                <a:p>
                  <a:pPr algn="ctr"/>
                  <a:r>
                    <a:rPr sz="1000" b="1">
                      <a:solidFill>
                        <a:srgbClr val="FFFFFF"/>
                      </a:solidFill>
                      <a:latin typeface="Noto Sans CJK JP"/>
                    </a:rPr>
                    <a:t>A</a:t>
                  </a:r>
                </a:p>
              </p:txBody>
            </p:sp>
          </p:grpSp>
          <p:sp>
            <p:nvSpPr>
              <p:cNvPr id="165" name="TextBox 32">
                <a:extLst>
                  <a:ext uri="{FF2B5EF4-FFF2-40B4-BE49-F238E27FC236}">
                    <a16:creationId xmlns:a16="http://schemas.microsoft.com/office/drawing/2014/main" id="{9CDCF9F6-410F-1C86-F8ED-5312B147697A}"/>
                  </a:ext>
                </a:extLst>
              </p:cNvPr>
              <p:cNvSpPr txBox="1"/>
              <p:nvPr/>
            </p:nvSpPr>
            <p:spPr>
              <a:xfrm>
                <a:off x="5182490" y="1846710"/>
                <a:ext cx="640080" cy="235449"/>
              </a:xfrm>
              <a:prstGeom prst="rect">
                <a:avLst/>
              </a:prstGeom>
              <a:noFill/>
              <a:ln>
                <a:noFill/>
              </a:ln>
            </p:spPr>
            <p:txBody>
              <a:bodyPr wrap="square" lIns="36576" tIns="36576" rIns="36576" bIns="36576" anchor="t">
                <a:spAutoFit/>
              </a:bodyPr>
              <a:lstStyle/>
              <a:p>
                <a:pPr algn="l"/>
                <a:r>
                  <a:rPr sz="1050" b="1">
                    <a:solidFill>
                      <a:srgbClr val="173F78"/>
                    </a:solidFill>
                    <a:latin typeface="Noto Sans CJK JP"/>
                  </a:rPr>
                  <a:t>商業重視</a:t>
                </a:r>
              </a:p>
            </p:txBody>
          </p:sp>
          <p:pic>
            <p:nvPicPr>
              <p:cNvPr id="166" name="Picture 33" descr="scenario_commercial.png">
                <a:extLst>
                  <a:ext uri="{FF2B5EF4-FFF2-40B4-BE49-F238E27FC236}">
                    <a16:creationId xmlns:a16="http://schemas.microsoft.com/office/drawing/2014/main" id="{2E9D3421-198C-BA24-0119-8BD57DDFC54E}"/>
                  </a:ext>
                </a:extLst>
              </p:cNvPr>
              <p:cNvPicPr>
                <a:picLocks noChangeAspect="1"/>
              </p:cNvPicPr>
              <p:nvPr/>
            </p:nvPicPr>
            <p:blipFill>
              <a:blip r:embed="rId5"/>
              <a:stretch>
                <a:fillRect/>
              </a:stretch>
            </p:blipFill>
            <p:spPr>
              <a:xfrm>
                <a:off x="4959382" y="2112376"/>
                <a:ext cx="694944" cy="457200"/>
              </a:xfrm>
              <a:prstGeom prst="rect">
                <a:avLst/>
              </a:prstGeom>
            </p:spPr>
          </p:pic>
          <p:sp>
            <p:nvSpPr>
              <p:cNvPr id="167" name="TextBox 34">
                <a:extLst>
                  <a:ext uri="{FF2B5EF4-FFF2-40B4-BE49-F238E27FC236}">
                    <a16:creationId xmlns:a16="http://schemas.microsoft.com/office/drawing/2014/main" id="{769F88CD-84CE-4578-3DD8-1AECAA5E846B}"/>
                  </a:ext>
                </a:extLst>
              </p:cNvPr>
              <p:cNvSpPr txBox="1"/>
              <p:nvPr/>
            </p:nvSpPr>
            <p:spPr>
              <a:xfrm>
                <a:off x="5676266" y="2128196"/>
                <a:ext cx="923544" cy="347788"/>
              </a:xfrm>
              <a:prstGeom prst="rect">
                <a:avLst/>
              </a:prstGeom>
              <a:noFill/>
              <a:ln>
                <a:noFill/>
              </a:ln>
            </p:spPr>
            <p:txBody>
              <a:bodyPr wrap="square" lIns="36576" tIns="36576" rIns="36576" bIns="36576" anchor="t">
                <a:spAutoFit/>
              </a:bodyPr>
              <a:lstStyle/>
              <a:p>
                <a:pPr algn="l"/>
                <a:r>
                  <a:rPr sz="890" b="0">
                    <a:solidFill>
                      <a:srgbClr val="2D2D2D"/>
                    </a:solidFill>
                    <a:latin typeface="Noto Sans CJK JP"/>
                  </a:rPr>
                  <a:t>・低層商業</a:t>
                </a:r>
                <a:endParaRPr lang="en-US" sz="890" b="0">
                  <a:solidFill>
                    <a:srgbClr val="2D2D2D"/>
                  </a:solidFill>
                  <a:latin typeface="Noto Sans CJK JP"/>
                </a:endParaRPr>
              </a:p>
              <a:p>
                <a:pPr algn="l"/>
                <a:r>
                  <a:rPr sz="890" b="0">
                    <a:solidFill>
                      <a:srgbClr val="2D2D2D"/>
                    </a:solidFill>
                    <a:latin typeface="Noto Sans CJK JP"/>
                  </a:rPr>
                  <a:t>・駅前集客</a:t>
                </a:r>
              </a:p>
            </p:txBody>
          </p:sp>
        </p:grpSp>
      </p:grpSp>
      <p:grpSp>
        <p:nvGrpSpPr>
          <p:cNvPr id="235" name="グループ化 234">
            <a:extLst>
              <a:ext uri="{FF2B5EF4-FFF2-40B4-BE49-F238E27FC236}">
                <a16:creationId xmlns:a16="http://schemas.microsoft.com/office/drawing/2014/main" id="{12ECB599-2A39-7313-F897-86156FBE41FB}"/>
              </a:ext>
            </a:extLst>
          </p:cNvPr>
          <p:cNvGrpSpPr/>
          <p:nvPr/>
        </p:nvGrpSpPr>
        <p:grpSpPr>
          <a:xfrm>
            <a:off x="4871594" y="2838472"/>
            <a:ext cx="1783080" cy="822960"/>
            <a:chOff x="4871594" y="2706246"/>
            <a:chExt cx="1783080" cy="822960"/>
          </a:xfrm>
        </p:grpSpPr>
        <p:sp>
          <p:nvSpPr>
            <p:cNvPr id="168" name="Rounded Rectangle 35">
              <a:extLst>
                <a:ext uri="{FF2B5EF4-FFF2-40B4-BE49-F238E27FC236}">
                  <a16:creationId xmlns:a16="http://schemas.microsoft.com/office/drawing/2014/main" id="{581FAFFB-B02F-9F0E-52BF-90546E4D6371}"/>
                </a:ext>
              </a:extLst>
            </p:cNvPr>
            <p:cNvSpPr/>
            <p:nvPr/>
          </p:nvSpPr>
          <p:spPr>
            <a:xfrm>
              <a:off x="4871594" y="2706246"/>
              <a:ext cx="1783080" cy="822960"/>
            </a:xfrm>
            <a:prstGeom prst="roundRect">
              <a:avLst>
                <a:gd name="adj" fmla="val 9000"/>
              </a:avLst>
            </a:prstGeom>
            <a:solidFill>
              <a:srgbClr val="FAFCFF"/>
            </a:solidFill>
            <a:ln w="12700">
              <a:solidFill>
                <a:srgbClr val="B5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4" name="グループ化 233">
              <a:extLst>
                <a:ext uri="{FF2B5EF4-FFF2-40B4-BE49-F238E27FC236}">
                  <a16:creationId xmlns:a16="http://schemas.microsoft.com/office/drawing/2014/main" id="{35ED0B56-D0D4-671D-EFA1-7202830DBEB7}"/>
                </a:ext>
              </a:extLst>
            </p:cNvPr>
            <p:cNvGrpSpPr/>
            <p:nvPr/>
          </p:nvGrpSpPr>
          <p:grpSpPr>
            <a:xfrm>
              <a:off x="4935602" y="2761110"/>
              <a:ext cx="1636776" cy="704512"/>
              <a:chOff x="4935602" y="2761110"/>
              <a:chExt cx="1636776" cy="704512"/>
            </a:xfrm>
          </p:grpSpPr>
          <p:grpSp>
            <p:nvGrpSpPr>
              <p:cNvPr id="233" name="グループ化 232">
                <a:extLst>
                  <a:ext uri="{FF2B5EF4-FFF2-40B4-BE49-F238E27FC236}">
                    <a16:creationId xmlns:a16="http://schemas.microsoft.com/office/drawing/2014/main" id="{2F98BA2E-F7BB-C10D-312D-6AD905964C95}"/>
                  </a:ext>
                </a:extLst>
              </p:cNvPr>
              <p:cNvGrpSpPr/>
              <p:nvPr/>
            </p:nvGrpSpPr>
            <p:grpSpPr>
              <a:xfrm>
                <a:off x="4935602" y="2779397"/>
                <a:ext cx="219456" cy="224387"/>
                <a:chOff x="4935602" y="2779397"/>
                <a:chExt cx="219456" cy="224387"/>
              </a:xfrm>
            </p:grpSpPr>
            <p:sp>
              <p:nvSpPr>
                <p:cNvPr id="169" name="Rounded Rectangle 36">
                  <a:extLst>
                    <a:ext uri="{FF2B5EF4-FFF2-40B4-BE49-F238E27FC236}">
                      <a16:creationId xmlns:a16="http://schemas.microsoft.com/office/drawing/2014/main" id="{4CA7ED70-0CA7-4C3F-C7E1-1DB408EF1999}"/>
                    </a:ext>
                  </a:extLst>
                </p:cNvPr>
                <p:cNvSpPr/>
                <p:nvPr/>
              </p:nvSpPr>
              <p:spPr>
                <a:xfrm>
                  <a:off x="4935602" y="2779397"/>
                  <a:ext cx="219456" cy="224387"/>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TextBox 37">
                  <a:extLst>
                    <a:ext uri="{FF2B5EF4-FFF2-40B4-BE49-F238E27FC236}">
                      <a16:creationId xmlns:a16="http://schemas.microsoft.com/office/drawing/2014/main" id="{B6CA1D13-5794-EA21-E8C6-0D30C4685483}"/>
                    </a:ext>
                  </a:extLst>
                </p:cNvPr>
                <p:cNvSpPr txBox="1"/>
                <p:nvPr/>
              </p:nvSpPr>
              <p:spPr>
                <a:xfrm>
                  <a:off x="4963034" y="2793114"/>
                  <a:ext cx="164592" cy="128016"/>
                </a:xfrm>
                <a:prstGeom prst="rect">
                  <a:avLst/>
                </a:prstGeom>
                <a:noFill/>
                <a:ln>
                  <a:noFill/>
                </a:ln>
              </p:spPr>
              <p:txBody>
                <a:bodyPr wrap="square" lIns="36576" tIns="36576" rIns="36576" bIns="36576" anchor="t">
                  <a:spAutoFit/>
                </a:bodyPr>
                <a:lstStyle/>
                <a:p>
                  <a:pPr algn="ctr"/>
                  <a:r>
                    <a:rPr sz="1000" b="1">
                      <a:solidFill>
                        <a:srgbClr val="FFFFFF"/>
                      </a:solidFill>
                      <a:latin typeface="Noto Sans CJK JP"/>
                    </a:rPr>
                    <a:t>B</a:t>
                  </a:r>
                </a:p>
              </p:txBody>
            </p:sp>
          </p:grpSp>
          <p:sp>
            <p:nvSpPr>
              <p:cNvPr id="171" name="TextBox 38">
                <a:extLst>
                  <a:ext uri="{FF2B5EF4-FFF2-40B4-BE49-F238E27FC236}">
                    <a16:creationId xmlns:a16="http://schemas.microsoft.com/office/drawing/2014/main" id="{C1FA6C3C-BF2B-0A9E-A25E-AE4FFFD99525}"/>
                  </a:ext>
                </a:extLst>
              </p:cNvPr>
              <p:cNvSpPr txBox="1"/>
              <p:nvPr/>
            </p:nvSpPr>
            <p:spPr>
              <a:xfrm>
                <a:off x="5182490" y="2761110"/>
                <a:ext cx="694944" cy="235449"/>
              </a:xfrm>
              <a:prstGeom prst="rect">
                <a:avLst/>
              </a:prstGeom>
              <a:noFill/>
              <a:ln>
                <a:noFill/>
              </a:ln>
            </p:spPr>
            <p:txBody>
              <a:bodyPr wrap="square" lIns="36576" tIns="36576" rIns="36576" bIns="36576" anchor="t">
                <a:spAutoFit/>
              </a:bodyPr>
              <a:lstStyle/>
              <a:p>
                <a:pPr algn="l"/>
                <a:r>
                  <a:rPr sz="1050" b="1">
                    <a:solidFill>
                      <a:srgbClr val="173F78"/>
                    </a:solidFill>
                    <a:latin typeface="Noto Sans CJK JP"/>
                  </a:rPr>
                  <a:t>回遊重視</a:t>
                </a:r>
              </a:p>
            </p:txBody>
          </p:sp>
          <p:pic>
            <p:nvPicPr>
              <p:cNvPr id="172" name="Picture 39" descr="scenario_circulation.png">
                <a:extLst>
                  <a:ext uri="{FF2B5EF4-FFF2-40B4-BE49-F238E27FC236}">
                    <a16:creationId xmlns:a16="http://schemas.microsoft.com/office/drawing/2014/main" id="{6F6036D9-CDA7-645C-2499-556422FB7B6B}"/>
                  </a:ext>
                </a:extLst>
              </p:cNvPr>
              <p:cNvPicPr>
                <a:picLocks noChangeAspect="1"/>
              </p:cNvPicPr>
              <p:nvPr/>
            </p:nvPicPr>
            <p:blipFill>
              <a:blip r:embed="rId6"/>
              <a:stretch>
                <a:fillRect/>
              </a:stretch>
            </p:blipFill>
            <p:spPr>
              <a:xfrm>
                <a:off x="4953890" y="3008422"/>
                <a:ext cx="694944" cy="457200"/>
              </a:xfrm>
              <a:prstGeom prst="rect">
                <a:avLst/>
              </a:prstGeom>
            </p:spPr>
          </p:pic>
          <p:sp>
            <p:nvSpPr>
              <p:cNvPr id="173" name="TextBox 40">
                <a:extLst>
                  <a:ext uri="{FF2B5EF4-FFF2-40B4-BE49-F238E27FC236}">
                    <a16:creationId xmlns:a16="http://schemas.microsoft.com/office/drawing/2014/main" id="{BC9F7364-DBEB-092E-A197-3CCA98478E2C}"/>
                  </a:ext>
                </a:extLst>
              </p:cNvPr>
              <p:cNvSpPr txBox="1"/>
              <p:nvPr/>
            </p:nvSpPr>
            <p:spPr>
              <a:xfrm>
                <a:off x="5676266" y="2971422"/>
                <a:ext cx="896112" cy="347788"/>
              </a:xfrm>
              <a:prstGeom prst="rect">
                <a:avLst/>
              </a:prstGeom>
              <a:noFill/>
              <a:ln>
                <a:noFill/>
              </a:ln>
            </p:spPr>
            <p:txBody>
              <a:bodyPr wrap="square" lIns="36576" tIns="36576" rIns="36576" bIns="36576" anchor="t">
                <a:spAutoFit/>
              </a:bodyPr>
              <a:lstStyle/>
              <a:p>
                <a:pPr algn="l"/>
                <a:r>
                  <a:rPr sz="890" b="0">
                    <a:solidFill>
                      <a:srgbClr val="2D2D2D"/>
                    </a:solidFill>
                    <a:latin typeface="Noto Sans CJK JP"/>
                  </a:rPr>
                  <a:t>・広場中心</a:t>
                </a:r>
                <a:endParaRPr lang="en-US" sz="890" b="0">
                  <a:solidFill>
                    <a:srgbClr val="2D2D2D"/>
                  </a:solidFill>
                  <a:latin typeface="Noto Sans CJK JP"/>
                </a:endParaRPr>
              </a:p>
              <a:p>
                <a:pPr algn="l"/>
                <a:r>
                  <a:rPr sz="890" b="0">
                    <a:solidFill>
                      <a:srgbClr val="2D2D2D"/>
                    </a:solidFill>
                    <a:latin typeface="Noto Sans CJK JP"/>
                  </a:rPr>
                  <a:t>・回遊性向上</a:t>
                </a:r>
              </a:p>
            </p:txBody>
          </p:sp>
        </p:grpSp>
      </p:grpSp>
      <p:grpSp>
        <p:nvGrpSpPr>
          <p:cNvPr id="232" name="グループ化 231">
            <a:extLst>
              <a:ext uri="{FF2B5EF4-FFF2-40B4-BE49-F238E27FC236}">
                <a16:creationId xmlns:a16="http://schemas.microsoft.com/office/drawing/2014/main" id="{3722FC05-9594-1E84-44B6-B5C4AFBC1BCC}"/>
              </a:ext>
            </a:extLst>
          </p:cNvPr>
          <p:cNvGrpSpPr/>
          <p:nvPr/>
        </p:nvGrpSpPr>
        <p:grpSpPr>
          <a:xfrm>
            <a:off x="4871594" y="3733284"/>
            <a:ext cx="1783080" cy="822960"/>
            <a:chOff x="4871594" y="3620646"/>
            <a:chExt cx="1783080" cy="822960"/>
          </a:xfrm>
        </p:grpSpPr>
        <p:sp>
          <p:nvSpPr>
            <p:cNvPr id="174" name="Rounded Rectangle 41">
              <a:extLst>
                <a:ext uri="{FF2B5EF4-FFF2-40B4-BE49-F238E27FC236}">
                  <a16:creationId xmlns:a16="http://schemas.microsoft.com/office/drawing/2014/main" id="{A280D7AC-2CDF-AE26-2AFC-F7E103747E39}"/>
                </a:ext>
              </a:extLst>
            </p:cNvPr>
            <p:cNvSpPr/>
            <p:nvPr/>
          </p:nvSpPr>
          <p:spPr>
            <a:xfrm>
              <a:off x="4871594" y="3620646"/>
              <a:ext cx="1783080" cy="822960"/>
            </a:xfrm>
            <a:prstGeom prst="roundRect">
              <a:avLst>
                <a:gd name="adj" fmla="val 9000"/>
              </a:avLst>
            </a:prstGeom>
            <a:solidFill>
              <a:srgbClr val="FAFCFF"/>
            </a:solidFill>
            <a:ln w="12700">
              <a:solidFill>
                <a:srgbClr val="B5C6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231" name="グループ化 230">
              <a:extLst>
                <a:ext uri="{FF2B5EF4-FFF2-40B4-BE49-F238E27FC236}">
                  <a16:creationId xmlns:a16="http://schemas.microsoft.com/office/drawing/2014/main" id="{5A215D0F-E0F2-8B0A-5E9D-79A12ED6CBF3}"/>
                </a:ext>
              </a:extLst>
            </p:cNvPr>
            <p:cNvGrpSpPr/>
            <p:nvPr/>
          </p:nvGrpSpPr>
          <p:grpSpPr>
            <a:xfrm>
              <a:off x="4935602" y="3675509"/>
              <a:ext cx="1719072" cy="739398"/>
              <a:chOff x="4935602" y="3675509"/>
              <a:chExt cx="1719072" cy="739398"/>
            </a:xfrm>
          </p:grpSpPr>
          <p:sp>
            <p:nvSpPr>
              <p:cNvPr id="175" name="Rounded Rectangle 42">
                <a:extLst>
                  <a:ext uri="{FF2B5EF4-FFF2-40B4-BE49-F238E27FC236}">
                    <a16:creationId xmlns:a16="http://schemas.microsoft.com/office/drawing/2014/main" id="{7A94B4C8-8164-36E1-0E33-6BC22E1123C3}"/>
                  </a:ext>
                </a:extLst>
              </p:cNvPr>
              <p:cNvSpPr/>
              <p:nvPr/>
            </p:nvSpPr>
            <p:spPr>
              <a:xfrm>
                <a:off x="4935602" y="3693798"/>
                <a:ext cx="219456" cy="216626"/>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TextBox 43">
                <a:extLst>
                  <a:ext uri="{FF2B5EF4-FFF2-40B4-BE49-F238E27FC236}">
                    <a16:creationId xmlns:a16="http://schemas.microsoft.com/office/drawing/2014/main" id="{18E4D141-F300-BE9B-A64E-D0C431990416}"/>
                  </a:ext>
                </a:extLst>
              </p:cNvPr>
              <p:cNvSpPr txBox="1"/>
              <p:nvPr/>
            </p:nvSpPr>
            <p:spPr>
              <a:xfrm>
                <a:off x="4963034" y="3707514"/>
                <a:ext cx="164592" cy="128016"/>
              </a:xfrm>
              <a:prstGeom prst="rect">
                <a:avLst/>
              </a:prstGeom>
              <a:noFill/>
              <a:ln>
                <a:noFill/>
              </a:ln>
            </p:spPr>
            <p:txBody>
              <a:bodyPr wrap="square" lIns="36576" tIns="36576" rIns="36576" bIns="36576" anchor="t">
                <a:spAutoFit/>
              </a:bodyPr>
              <a:lstStyle/>
              <a:p>
                <a:pPr algn="ctr"/>
                <a:r>
                  <a:rPr sz="1000" b="1">
                    <a:solidFill>
                      <a:srgbClr val="FFFFFF"/>
                    </a:solidFill>
                    <a:latin typeface="Noto Sans CJK JP"/>
                  </a:rPr>
                  <a:t>C</a:t>
                </a:r>
              </a:p>
            </p:txBody>
          </p:sp>
          <p:sp>
            <p:nvSpPr>
              <p:cNvPr id="177" name="TextBox 44">
                <a:extLst>
                  <a:ext uri="{FF2B5EF4-FFF2-40B4-BE49-F238E27FC236}">
                    <a16:creationId xmlns:a16="http://schemas.microsoft.com/office/drawing/2014/main" id="{A825CF95-5A9D-10EA-0CEF-16D0D58D384A}"/>
                  </a:ext>
                </a:extLst>
              </p:cNvPr>
              <p:cNvSpPr txBox="1"/>
              <p:nvPr/>
            </p:nvSpPr>
            <p:spPr>
              <a:xfrm>
                <a:off x="5182490" y="3675509"/>
                <a:ext cx="913510" cy="235449"/>
              </a:xfrm>
              <a:prstGeom prst="rect">
                <a:avLst/>
              </a:prstGeom>
              <a:noFill/>
              <a:ln>
                <a:noFill/>
              </a:ln>
            </p:spPr>
            <p:txBody>
              <a:bodyPr wrap="square" lIns="36576" tIns="36576" rIns="36576" bIns="36576" anchor="t">
                <a:spAutoFit/>
              </a:bodyPr>
              <a:lstStyle/>
              <a:p>
                <a:pPr algn="l"/>
                <a:r>
                  <a:rPr sz="1050" b="1">
                    <a:solidFill>
                      <a:srgbClr val="173F78"/>
                    </a:solidFill>
                    <a:latin typeface="Noto Sans CJK JP"/>
                  </a:rPr>
                  <a:t>オフィス重視</a:t>
                </a:r>
              </a:p>
            </p:txBody>
          </p:sp>
          <p:pic>
            <p:nvPicPr>
              <p:cNvPr id="178" name="Picture 45" descr="scenario_office.png">
                <a:extLst>
                  <a:ext uri="{FF2B5EF4-FFF2-40B4-BE49-F238E27FC236}">
                    <a16:creationId xmlns:a16="http://schemas.microsoft.com/office/drawing/2014/main" id="{309EFBC9-E1FD-731B-08E7-8D0C33FF6358}"/>
                  </a:ext>
                </a:extLst>
              </p:cNvPr>
              <p:cNvPicPr>
                <a:picLocks noChangeAspect="1"/>
              </p:cNvPicPr>
              <p:nvPr/>
            </p:nvPicPr>
            <p:blipFill>
              <a:blip r:embed="rId7"/>
              <a:stretch>
                <a:fillRect/>
              </a:stretch>
            </p:blipFill>
            <p:spPr>
              <a:xfrm>
                <a:off x="4963034" y="3957707"/>
                <a:ext cx="694944" cy="457200"/>
              </a:xfrm>
              <a:prstGeom prst="rect">
                <a:avLst/>
              </a:prstGeom>
            </p:spPr>
          </p:pic>
          <p:sp>
            <p:nvSpPr>
              <p:cNvPr id="179" name="TextBox 46">
                <a:extLst>
                  <a:ext uri="{FF2B5EF4-FFF2-40B4-BE49-F238E27FC236}">
                    <a16:creationId xmlns:a16="http://schemas.microsoft.com/office/drawing/2014/main" id="{B2AD9C8A-5B97-D21C-6442-EA1B6181C0AF}"/>
                  </a:ext>
                </a:extLst>
              </p:cNvPr>
              <p:cNvSpPr txBox="1"/>
              <p:nvPr/>
            </p:nvSpPr>
            <p:spPr>
              <a:xfrm>
                <a:off x="5676266" y="3885822"/>
                <a:ext cx="978408" cy="347788"/>
              </a:xfrm>
              <a:prstGeom prst="rect">
                <a:avLst/>
              </a:prstGeom>
              <a:noFill/>
              <a:ln>
                <a:noFill/>
              </a:ln>
            </p:spPr>
            <p:txBody>
              <a:bodyPr wrap="square" lIns="36576" tIns="36576" rIns="36576" bIns="36576" anchor="t">
                <a:spAutoFit/>
              </a:bodyPr>
              <a:lstStyle/>
              <a:p>
                <a:pPr algn="l"/>
                <a:r>
                  <a:rPr sz="890" b="0">
                    <a:solidFill>
                      <a:srgbClr val="2D2D2D"/>
                    </a:solidFill>
                    <a:latin typeface="Noto Sans CJK JP"/>
                  </a:rPr>
                  <a:t>・中高層オフィス・生活利便</a:t>
                </a:r>
              </a:p>
            </p:txBody>
          </p:sp>
        </p:grpSp>
      </p:grpSp>
      <p:sp>
        <p:nvSpPr>
          <p:cNvPr id="182" name="TextBox 49">
            <a:extLst>
              <a:ext uri="{FF2B5EF4-FFF2-40B4-BE49-F238E27FC236}">
                <a16:creationId xmlns:a16="http://schemas.microsoft.com/office/drawing/2014/main" id="{91C2B147-B190-8659-43FA-9B83E11C3ECE}"/>
              </a:ext>
            </a:extLst>
          </p:cNvPr>
          <p:cNvSpPr txBox="1"/>
          <p:nvPr/>
        </p:nvSpPr>
        <p:spPr>
          <a:xfrm>
            <a:off x="4862450" y="5261631"/>
            <a:ext cx="1737360" cy="390876"/>
          </a:xfrm>
          <a:prstGeom prst="rect">
            <a:avLst/>
          </a:prstGeom>
          <a:noFill/>
          <a:ln>
            <a:noFill/>
          </a:ln>
        </p:spPr>
        <p:txBody>
          <a:bodyPr wrap="square" lIns="36576" tIns="36576" rIns="36576" bIns="36576" anchor="t">
            <a:spAutoFit/>
          </a:bodyPr>
          <a:lstStyle/>
          <a:p>
            <a:pPr algn="ctr"/>
            <a:r>
              <a:rPr sz="1030" b="0">
                <a:solidFill>
                  <a:srgbClr val="1E1E1E"/>
                </a:solidFill>
                <a:latin typeface="Noto Sans CJK JP"/>
              </a:rPr>
              <a:t>やり取りを重ねながら、</a:t>
            </a:r>
            <a:endParaRPr lang="en-US" sz="1030" b="0">
              <a:solidFill>
                <a:srgbClr val="1E1E1E"/>
              </a:solidFill>
              <a:latin typeface="Noto Sans CJK JP"/>
            </a:endParaRPr>
          </a:p>
          <a:p>
            <a:pPr algn="ctr"/>
            <a:r>
              <a:rPr sz="1030" b="0">
                <a:solidFill>
                  <a:srgbClr val="1E1E1E"/>
                </a:solidFill>
                <a:latin typeface="Noto Sans CJK JP"/>
              </a:rPr>
              <a:t>候補案の違いを見極める</a:t>
            </a:r>
          </a:p>
        </p:txBody>
      </p:sp>
      <p:grpSp>
        <p:nvGrpSpPr>
          <p:cNvPr id="230" name="グループ化 229">
            <a:extLst>
              <a:ext uri="{FF2B5EF4-FFF2-40B4-BE49-F238E27FC236}">
                <a16:creationId xmlns:a16="http://schemas.microsoft.com/office/drawing/2014/main" id="{F5E24D49-E616-710B-E750-51EDEFDF3780}"/>
              </a:ext>
            </a:extLst>
          </p:cNvPr>
          <p:cNvGrpSpPr/>
          <p:nvPr/>
        </p:nvGrpSpPr>
        <p:grpSpPr>
          <a:xfrm>
            <a:off x="7157594" y="2086374"/>
            <a:ext cx="1764792" cy="2286000"/>
            <a:chOff x="7166738" y="1773558"/>
            <a:chExt cx="1764792" cy="2286000"/>
          </a:xfrm>
        </p:grpSpPr>
        <p:pic>
          <p:nvPicPr>
            <p:cNvPr id="183" name="Picture 50" descr="plan_diagram.png">
              <a:extLst>
                <a:ext uri="{FF2B5EF4-FFF2-40B4-BE49-F238E27FC236}">
                  <a16:creationId xmlns:a16="http://schemas.microsoft.com/office/drawing/2014/main" id="{5B55010F-1AC0-1408-CE8A-E6576D79683B}"/>
                </a:ext>
              </a:extLst>
            </p:cNvPr>
            <p:cNvPicPr>
              <a:picLocks noChangeAspect="1"/>
            </p:cNvPicPr>
            <p:nvPr/>
          </p:nvPicPr>
          <p:blipFill>
            <a:blip r:embed="rId8"/>
            <a:stretch>
              <a:fillRect/>
            </a:stretch>
          </p:blipFill>
          <p:spPr>
            <a:xfrm>
              <a:off x="7166738" y="1773558"/>
              <a:ext cx="1764792" cy="2286000"/>
            </a:xfrm>
            <a:prstGeom prst="rect">
              <a:avLst/>
            </a:prstGeom>
          </p:spPr>
        </p:pic>
        <p:grpSp>
          <p:nvGrpSpPr>
            <p:cNvPr id="228" name="グループ化 227">
              <a:extLst>
                <a:ext uri="{FF2B5EF4-FFF2-40B4-BE49-F238E27FC236}">
                  <a16:creationId xmlns:a16="http://schemas.microsoft.com/office/drawing/2014/main" id="{9A550594-E90A-C393-DB84-C213FCCB2139}"/>
                </a:ext>
              </a:extLst>
            </p:cNvPr>
            <p:cNvGrpSpPr/>
            <p:nvPr/>
          </p:nvGrpSpPr>
          <p:grpSpPr>
            <a:xfrm>
              <a:off x="7229844" y="3094866"/>
              <a:ext cx="475488" cy="374903"/>
              <a:chOff x="7194170" y="2742821"/>
              <a:chExt cx="475488" cy="374903"/>
            </a:xfrm>
          </p:grpSpPr>
          <p:sp>
            <p:nvSpPr>
              <p:cNvPr id="184" name="Rounded Rectangle 51">
                <a:extLst>
                  <a:ext uri="{FF2B5EF4-FFF2-40B4-BE49-F238E27FC236}">
                    <a16:creationId xmlns:a16="http://schemas.microsoft.com/office/drawing/2014/main" id="{34F063F9-C27A-6365-81D1-FCC9F00267C8}"/>
                  </a:ext>
                </a:extLst>
              </p:cNvPr>
              <p:cNvSpPr/>
              <p:nvPr/>
            </p:nvSpPr>
            <p:spPr>
              <a:xfrm>
                <a:off x="7194170" y="2742821"/>
                <a:ext cx="475488" cy="374903"/>
              </a:xfrm>
              <a:prstGeom prst="roundRect">
                <a:avLst>
                  <a:gd name="adj" fmla="val 9000"/>
                </a:avLst>
              </a:prstGeom>
              <a:solidFill>
                <a:srgbClr val="FFF7F7"/>
              </a:solidFill>
              <a:ln w="12700">
                <a:solidFill>
                  <a:srgbClr val="C560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TextBox 52">
                <a:extLst>
                  <a:ext uri="{FF2B5EF4-FFF2-40B4-BE49-F238E27FC236}">
                    <a16:creationId xmlns:a16="http://schemas.microsoft.com/office/drawing/2014/main" id="{EBE5128C-5AB0-DA84-341B-5633BA786319}"/>
                  </a:ext>
                </a:extLst>
              </p:cNvPr>
              <p:cNvSpPr txBox="1"/>
              <p:nvPr/>
            </p:nvSpPr>
            <p:spPr>
              <a:xfrm>
                <a:off x="7203314" y="2761110"/>
                <a:ext cx="457200" cy="219456"/>
              </a:xfrm>
              <a:prstGeom prst="rect">
                <a:avLst/>
              </a:prstGeom>
              <a:noFill/>
              <a:ln>
                <a:noFill/>
              </a:ln>
            </p:spPr>
            <p:txBody>
              <a:bodyPr wrap="square" lIns="36576" tIns="36576" rIns="36576" bIns="36576" anchor="t">
                <a:spAutoFit/>
              </a:bodyPr>
              <a:lstStyle/>
              <a:p>
                <a:pPr algn="ctr"/>
                <a:r>
                  <a:rPr sz="880" b="1">
                    <a:solidFill>
                      <a:srgbClr val="74232D"/>
                    </a:solidFill>
                    <a:latin typeface="Noto Sans CJK JP"/>
                  </a:rPr>
                  <a:t>商業
(低層)</a:t>
                </a:r>
              </a:p>
            </p:txBody>
          </p:sp>
        </p:grpSp>
        <p:grpSp>
          <p:nvGrpSpPr>
            <p:cNvPr id="227" name="グループ化 226">
              <a:extLst>
                <a:ext uri="{FF2B5EF4-FFF2-40B4-BE49-F238E27FC236}">
                  <a16:creationId xmlns:a16="http://schemas.microsoft.com/office/drawing/2014/main" id="{CA3C0D5E-41BF-90A0-D5E6-0768082ABFEB}"/>
                </a:ext>
              </a:extLst>
            </p:cNvPr>
            <p:cNvGrpSpPr/>
            <p:nvPr/>
          </p:nvGrpSpPr>
          <p:grpSpPr>
            <a:xfrm>
              <a:off x="8382890" y="2249046"/>
              <a:ext cx="548640" cy="386873"/>
              <a:chOff x="8172577" y="1736981"/>
              <a:chExt cx="548640" cy="386873"/>
            </a:xfrm>
          </p:grpSpPr>
          <p:sp>
            <p:nvSpPr>
              <p:cNvPr id="186" name="Rounded Rectangle 53">
                <a:extLst>
                  <a:ext uri="{FF2B5EF4-FFF2-40B4-BE49-F238E27FC236}">
                    <a16:creationId xmlns:a16="http://schemas.microsoft.com/office/drawing/2014/main" id="{0B7F7E3D-53F2-7BD1-E510-ED8640366ECF}"/>
                  </a:ext>
                </a:extLst>
              </p:cNvPr>
              <p:cNvSpPr/>
              <p:nvPr/>
            </p:nvSpPr>
            <p:spPr>
              <a:xfrm>
                <a:off x="8172577" y="1736981"/>
                <a:ext cx="548640" cy="386873"/>
              </a:xfrm>
              <a:prstGeom prst="roundRect">
                <a:avLst>
                  <a:gd name="adj" fmla="val 9000"/>
                </a:avLst>
              </a:prstGeom>
              <a:solidFill>
                <a:srgbClr val="F2F7FF"/>
              </a:solidFill>
              <a:ln w="12700">
                <a:solidFill>
                  <a:srgbClr val="5F82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TextBox 54">
                <a:extLst>
                  <a:ext uri="{FF2B5EF4-FFF2-40B4-BE49-F238E27FC236}">
                    <a16:creationId xmlns:a16="http://schemas.microsoft.com/office/drawing/2014/main" id="{72019555-C754-D635-6BB7-5E5686DBB564}"/>
                  </a:ext>
                </a:extLst>
              </p:cNvPr>
              <p:cNvSpPr txBox="1"/>
              <p:nvPr/>
            </p:nvSpPr>
            <p:spPr>
              <a:xfrm>
                <a:off x="8181721" y="1755270"/>
                <a:ext cx="530352" cy="219456"/>
              </a:xfrm>
              <a:prstGeom prst="rect">
                <a:avLst/>
              </a:prstGeom>
              <a:noFill/>
              <a:ln>
                <a:noFill/>
              </a:ln>
            </p:spPr>
            <p:txBody>
              <a:bodyPr wrap="square" lIns="36576" tIns="36576" rIns="36576" bIns="36576" anchor="t">
                <a:spAutoFit/>
              </a:bodyPr>
              <a:lstStyle/>
              <a:p>
                <a:pPr algn="ctr"/>
                <a:r>
                  <a:rPr sz="850" b="1">
                    <a:solidFill>
                      <a:srgbClr val="244980"/>
                    </a:solidFill>
                    <a:latin typeface="Noto Sans CJK JP"/>
                  </a:rPr>
                  <a:t>オフィス
(中高層)</a:t>
                </a:r>
              </a:p>
            </p:txBody>
          </p:sp>
        </p:grpSp>
        <p:grpSp>
          <p:nvGrpSpPr>
            <p:cNvPr id="229" name="グループ化 228">
              <a:extLst>
                <a:ext uri="{FF2B5EF4-FFF2-40B4-BE49-F238E27FC236}">
                  <a16:creationId xmlns:a16="http://schemas.microsoft.com/office/drawing/2014/main" id="{E03D457B-DF29-3FA4-32A0-B2D361938496}"/>
                </a:ext>
              </a:extLst>
            </p:cNvPr>
            <p:cNvGrpSpPr/>
            <p:nvPr/>
          </p:nvGrpSpPr>
          <p:grpSpPr>
            <a:xfrm>
              <a:off x="8251259" y="3394207"/>
              <a:ext cx="603504" cy="365761"/>
              <a:chOff x="8172577" y="3602356"/>
              <a:chExt cx="603504" cy="365761"/>
            </a:xfrm>
          </p:grpSpPr>
          <p:sp>
            <p:nvSpPr>
              <p:cNvPr id="188" name="Rounded Rectangle 55">
                <a:extLst>
                  <a:ext uri="{FF2B5EF4-FFF2-40B4-BE49-F238E27FC236}">
                    <a16:creationId xmlns:a16="http://schemas.microsoft.com/office/drawing/2014/main" id="{0CA853B8-7DE2-3220-CF2F-11EC3C0EE46E}"/>
                  </a:ext>
                </a:extLst>
              </p:cNvPr>
              <p:cNvSpPr/>
              <p:nvPr/>
            </p:nvSpPr>
            <p:spPr>
              <a:xfrm>
                <a:off x="8172577" y="3602356"/>
                <a:ext cx="603504" cy="365761"/>
              </a:xfrm>
              <a:prstGeom prst="roundRect">
                <a:avLst>
                  <a:gd name="adj" fmla="val 9000"/>
                </a:avLst>
              </a:prstGeom>
              <a:solidFill>
                <a:srgbClr val="F5FBF3"/>
              </a:solidFill>
              <a:ln w="12700">
                <a:solidFill>
                  <a:srgbClr val="71A0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TextBox 56">
                <a:extLst>
                  <a:ext uri="{FF2B5EF4-FFF2-40B4-BE49-F238E27FC236}">
                    <a16:creationId xmlns:a16="http://schemas.microsoft.com/office/drawing/2014/main" id="{F6606D61-414C-C68C-7761-33A2D0A1E7B5}"/>
                  </a:ext>
                </a:extLst>
              </p:cNvPr>
              <p:cNvSpPr txBox="1"/>
              <p:nvPr/>
            </p:nvSpPr>
            <p:spPr>
              <a:xfrm>
                <a:off x="8181721" y="3620645"/>
                <a:ext cx="594360" cy="335476"/>
              </a:xfrm>
              <a:prstGeom prst="rect">
                <a:avLst/>
              </a:prstGeom>
              <a:noFill/>
              <a:ln>
                <a:noFill/>
              </a:ln>
            </p:spPr>
            <p:txBody>
              <a:bodyPr wrap="square" lIns="36576" tIns="36576" rIns="36576" bIns="36576" anchor="t">
                <a:spAutoFit/>
              </a:bodyPr>
              <a:lstStyle/>
              <a:p>
                <a:pPr algn="ctr"/>
                <a:r>
                  <a:rPr sz="850" b="1">
                    <a:solidFill>
                      <a:srgbClr val="386E2C"/>
                    </a:solidFill>
                    <a:latin typeface="Noto Sans CJK JP"/>
                  </a:rPr>
                  <a:t>広場
(公開空地)</a:t>
                </a:r>
              </a:p>
            </p:txBody>
          </p:sp>
        </p:grpSp>
        <p:grpSp>
          <p:nvGrpSpPr>
            <p:cNvPr id="226" name="グループ化 225">
              <a:extLst>
                <a:ext uri="{FF2B5EF4-FFF2-40B4-BE49-F238E27FC236}">
                  <a16:creationId xmlns:a16="http://schemas.microsoft.com/office/drawing/2014/main" id="{CCCF9B87-12D4-A8B5-B87C-0DD9479EA292}"/>
                </a:ext>
              </a:extLst>
            </p:cNvPr>
            <p:cNvGrpSpPr/>
            <p:nvPr/>
          </p:nvGrpSpPr>
          <p:grpSpPr>
            <a:xfrm>
              <a:off x="7322433" y="2313629"/>
              <a:ext cx="731520" cy="218215"/>
              <a:chOff x="7651370" y="4333878"/>
              <a:chExt cx="731520" cy="218215"/>
            </a:xfrm>
          </p:grpSpPr>
          <p:sp>
            <p:nvSpPr>
              <p:cNvPr id="190" name="Rounded Rectangle 57">
                <a:extLst>
                  <a:ext uri="{FF2B5EF4-FFF2-40B4-BE49-F238E27FC236}">
                    <a16:creationId xmlns:a16="http://schemas.microsoft.com/office/drawing/2014/main" id="{FFDBBCAB-1979-BF2A-7CA7-DCBB9A35E73D}"/>
                  </a:ext>
                </a:extLst>
              </p:cNvPr>
              <p:cNvSpPr/>
              <p:nvPr/>
            </p:nvSpPr>
            <p:spPr>
              <a:xfrm>
                <a:off x="7651370" y="4333878"/>
                <a:ext cx="722376" cy="218215"/>
              </a:xfrm>
              <a:prstGeom prst="roundRect">
                <a:avLst>
                  <a:gd name="adj" fmla="val 9000"/>
                </a:avLst>
              </a:prstGeom>
              <a:solidFill>
                <a:srgbClr val="FFF9F1"/>
              </a:solidFill>
              <a:ln w="12700">
                <a:solidFill>
                  <a:srgbClr val="C887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TextBox 58">
                <a:extLst>
                  <a:ext uri="{FF2B5EF4-FFF2-40B4-BE49-F238E27FC236}">
                    <a16:creationId xmlns:a16="http://schemas.microsoft.com/office/drawing/2014/main" id="{34ED29E6-0579-FCB9-0186-602D8EDDCAFC}"/>
                  </a:ext>
                </a:extLst>
              </p:cNvPr>
              <p:cNvSpPr txBox="1"/>
              <p:nvPr/>
            </p:nvSpPr>
            <p:spPr>
              <a:xfrm>
                <a:off x="7660514" y="4352166"/>
                <a:ext cx="722376" cy="199927"/>
              </a:xfrm>
              <a:prstGeom prst="rect">
                <a:avLst/>
              </a:prstGeom>
              <a:noFill/>
              <a:ln>
                <a:noFill/>
              </a:ln>
            </p:spPr>
            <p:txBody>
              <a:bodyPr wrap="square" lIns="36576" tIns="36576" rIns="36576" bIns="36576" anchor="t">
                <a:spAutoFit/>
              </a:bodyPr>
              <a:lstStyle/>
              <a:p>
                <a:pPr algn="ctr"/>
                <a:r>
                  <a:rPr sz="819" b="1">
                    <a:solidFill>
                      <a:srgbClr val="8F5B17"/>
                    </a:solidFill>
                    <a:latin typeface="Noto Sans CJK JP"/>
                  </a:rPr>
                  <a:t>歩行者デッキ</a:t>
                </a:r>
              </a:p>
            </p:txBody>
          </p:sp>
        </p:grpSp>
      </p:grpSp>
      <p:sp>
        <p:nvSpPr>
          <p:cNvPr id="192" name="TextBox 59">
            <a:extLst>
              <a:ext uri="{FF2B5EF4-FFF2-40B4-BE49-F238E27FC236}">
                <a16:creationId xmlns:a16="http://schemas.microsoft.com/office/drawing/2014/main" id="{6F23D141-13CC-3FE0-B7E7-2596BE9C3337}"/>
              </a:ext>
            </a:extLst>
          </p:cNvPr>
          <p:cNvSpPr txBox="1"/>
          <p:nvPr/>
        </p:nvSpPr>
        <p:spPr>
          <a:xfrm>
            <a:off x="7249034" y="4672206"/>
            <a:ext cx="1673352" cy="572464"/>
          </a:xfrm>
          <a:prstGeom prst="rect">
            <a:avLst/>
          </a:prstGeom>
          <a:noFill/>
          <a:ln>
            <a:noFill/>
          </a:ln>
        </p:spPr>
        <p:txBody>
          <a:bodyPr wrap="square" lIns="36576" tIns="36576" rIns="36576" bIns="36576" anchor="t">
            <a:spAutoFit/>
          </a:bodyPr>
          <a:lstStyle/>
          <a:p>
            <a:pPr algn="l"/>
            <a:r>
              <a:rPr sz="1080" b="0">
                <a:solidFill>
                  <a:srgbClr val="1E1E1E"/>
                </a:solidFill>
                <a:latin typeface="Noto Sans CJK JP"/>
              </a:rPr>
              <a:t>・駅接続を強化
・低層ににぎわい機能
・広場と回遊空間を整備</a:t>
            </a:r>
          </a:p>
        </p:txBody>
      </p:sp>
      <p:sp>
        <p:nvSpPr>
          <p:cNvPr id="193" name="Rounded Rectangle 60">
            <a:extLst>
              <a:ext uri="{FF2B5EF4-FFF2-40B4-BE49-F238E27FC236}">
                <a16:creationId xmlns:a16="http://schemas.microsoft.com/office/drawing/2014/main" id="{4422AAC1-70B2-B91A-5CC1-1E268D04C019}"/>
              </a:ext>
            </a:extLst>
          </p:cNvPr>
          <p:cNvSpPr/>
          <p:nvPr/>
        </p:nvSpPr>
        <p:spPr>
          <a:xfrm>
            <a:off x="9333866" y="1508382"/>
            <a:ext cx="2596896" cy="4343400"/>
          </a:xfrm>
          <a:prstGeom prst="roundRect">
            <a:avLst>
              <a:gd name="adj" fmla="val 9000"/>
            </a:avLst>
          </a:prstGeom>
          <a:solidFill>
            <a:srgbClr val="FFFFFF"/>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Rounded Rectangle 61">
            <a:extLst>
              <a:ext uri="{FF2B5EF4-FFF2-40B4-BE49-F238E27FC236}">
                <a16:creationId xmlns:a16="http://schemas.microsoft.com/office/drawing/2014/main" id="{C95B3FDE-A738-EC9C-6B97-A1416397155A}"/>
              </a:ext>
            </a:extLst>
          </p:cNvPr>
          <p:cNvSpPr/>
          <p:nvPr/>
        </p:nvSpPr>
        <p:spPr>
          <a:xfrm>
            <a:off x="9511886" y="1561932"/>
            <a:ext cx="2221992" cy="329184"/>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TextBox 62">
            <a:extLst>
              <a:ext uri="{FF2B5EF4-FFF2-40B4-BE49-F238E27FC236}">
                <a16:creationId xmlns:a16="http://schemas.microsoft.com/office/drawing/2014/main" id="{388200A8-E752-72B6-B773-29E938024F41}"/>
              </a:ext>
            </a:extLst>
          </p:cNvPr>
          <p:cNvSpPr txBox="1"/>
          <p:nvPr/>
        </p:nvSpPr>
        <p:spPr>
          <a:xfrm>
            <a:off x="9553034" y="1588028"/>
            <a:ext cx="2139696" cy="182880"/>
          </a:xfrm>
          <a:prstGeom prst="rect">
            <a:avLst/>
          </a:prstGeom>
          <a:noFill/>
          <a:ln>
            <a:noFill/>
          </a:ln>
        </p:spPr>
        <p:txBody>
          <a:bodyPr wrap="square" lIns="36576" tIns="36576" rIns="36576" bIns="36576" anchor="t">
            <a:spAutoFit/>
          </a:bodyPr>
          <a:lstStyle/>
          <a:p>
            <a:pPr algn="ctr"/>
            <a:r>
              <a:rPr sz="1400" b="1">
                <a:solidFill>
                  <a:srgbClr val="FFFFFF"/>
                </a:solidFill>
                <a:latin typeface="Noto Sans CJK JP"/>
              </a:rPr>
              <a:t>採用する開発計画</a:t>
            </a:r>
          </a:p>
        </p:txBody>
      </p:sp>
      <p:sp>
        <p:nvSpPr>
          <p:cNvPr id="196" name="Oval 63">
            <a:extLst>
              <a:ext uri="{FF2B5EF4-FFF2-40B4-BE49-F238E27FC236}">
                <a16:creationId xmlns:a16="http://schemas.microsoft.com/office/drawing/2014/main" id="{CA5E19C5-521F-A0CF-5764-DAF9ACA9D400}"/>
              </a:ext>
            </a:extLst>
          </p:cNvPr>
          <p:cNvSpPr/>
          <p:nvPr/>
        </p:nvSpPr>
        <p:spPr>
          <a:xfrm>
            <a:off x="9571610" y="1938150"/>
            <a:ext cx="365760" cy="365760"/>
          </a:xfrm>
          <a:prstGeom prst="ellipse">
            <a:avLst/>
          </a:prstGeom>
          <a:solidFill>
            <a:srgbClr val="E36F7A"/>
          </a:solidFill>
          <a:ln>
            <a:solidFill>
              <a:srgbClr val="E36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Box 64">
            <a:extLst>
              <a:ext uri="{FF2B5EF4-FFF2-40B4-BE49-F238E27FC236}">
                <a16:creationId xmlns:a16="http://schemas.microsoft.com/office/drawing/2014/main" id="{B0FAE5C4-081B-28A6-EFC1-EEF16FF5E8E9}"/>
              </a:ext>
            </a:extLst>
          </p:cNvPr>
          <p:cNvSpPr txBox="1"/>
          <p:nvPr/>
        </p:nvSpPr>
        <p:spPr>
          <a:xfrm>
            <a:off x="10001378" y="1938150"/>
            <a:ext cx="1591056" cy="411480"/>
          </a:xfrm>
          <a:prstGeom prst="rect">
            <a:avLst/>
          </a:prstGeom>
          <a:noFill/>
          <a:ln>
            <a:noFill/>
          </a:ln>
        </p:spPr>
        <p:txBody>
          <a:bodyPr wrap="square" lIns="36576" tIns="36576" rIns="36576" bIns="36576" anchor="ctr">
            <a:spAutoFit/>
          </a:bodyPr>
          <a:lstStyle/>
          <a:p>
            <a:pPr algn="l"/>
            <a:r>
              <a:rPr sz="1220" b="1">
                <a:solidFill>
                  <a:srgbClr val="1E1E1E"/>
                </a:solidFill>
                <a:latin typeface="Noto Sans CJK JP"/>
              </a:rPr>
              <a:t>低層部：
商業・にぎわい</a:t>
            </a:r>
          </a:p>
        </p:txBody>
      </p:sp>
      <p:cxnSp>
        <p:nvCxnSpPr>
          <p:cNvPr id="198" name="Connector 65">
            <a:extLst>
              <a:ext uri="{FF2B5EF4-FFF2-40B4-BE49-F238E27FC236}">
                <a16:creationId xmlns:a16="http://schemas.microsoft.com/office/drawing/2014/main" id="{29A14179-A75B-140D-86A1-5F4ACF967786}"/>
              </a:ext>
            </a:extLst>
          </p:cNvPr>
          <p:cNvCxnSpPr/>
          <p:nvPr/>
        </p:nvCxnSpPr>
        <p:spPr>
          <a:xfrm>
            <a:off x="9525890" y="2413638"/>
            <a:ext cx="2212848" cy="0"/>
          </a:xfrm>
          <a:prstGeom prst="line">
            <a:avLst/>
          </a:prstGeom>
          <a:ln>
            <a:solidFill>
              <a:srgbClr val="E0E4E8"/>
            </a:solidFill>
          </a:ln>
        </p:spPr>
        <p:style>
          <a:lnRef idx="2">
            <a:schemeClr val="accent1"/>
          </a:lnRef>
          <a:fillRef idx="0">
            <a:schemeClr val="accent1"/>
          </a:fillRef>
          <a:effectRef idx="1">
            <a:schemeClr val="accent1"/>
          </a:effectRef>
          <a:fontRef idx="minor">
            <a:schemeClr val="tx1"/>
          </a:fontRef>
        </p:style>
      </p:cxnSp>
      <p:sp>
        <p:nvSpPr>
          <p:cNvPr id="199" name="Oval 66">
            <a:extLst>
              <a:ext uri="{FF2B5EF4-FFF2-40B4-BE49-F238E27FC236}">
                <a16:creationId xmlns:a16="http://schemas.microsoft.com/office/drawing/2014/main" id="{890B9931-D241-E9EB-D990-613395E03D58}"/>
              </a:ext>
            </a:extLst>
          </p:cNvPr>
          <p:cNvSpPr/>
          <p:nvPr/>
        </p:nvSpPr>
        <p:spPr>
          <a:xfrm>
            <a:off x="9571610" y="2797686"/>
            <a:ext cx="365760" cy="365760"/>
          </a:xfrm>
          <a:prstGeom prst="ellipse">
            <a:avLst/>
          </a:prstGeom>
          <a:solidFill>
            <a:srgbClr val="5A91D2"/>
          </a:solidFill>
          <a:ln>
            <a:solidFill>
              <a:srgbClr val="5A91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67">
            <a:extLst>
              <a:ext uri="{FF2B5EF4-FFF2-40B4-BE49-F238E27FC236}">
                <a16:creationId xmlns:a16="http://schemas.microsoft.com/office/drawing/2014/main" id="{E0A393E2-9354-91CE-A435-AB754A08853C}"/>
              </a:ext>
            </a:extLst>
          </p:cNvPr>
          <p:cNvSpPr txBox="1"/>
          <p:nvPr/>
        </p:nvSpPr>
        <p:spPr>
          <a:xfrm>
            <a:off x="10001378" y="2797686"/>
            <a:ext cx="1591056" cy="411480"/>
          </a:xfrm>
          <a:prstGeom prst="rect">
            <a:avLst/>
          </a:prstGeom>
          <a:noFill/>
          <a:ln>
            <a:noFill/>
          </a:ln>
        </p:spPr>
        <p:txBody>
          <a:bodyPr wrap="square" lIns="36576" tIns="36576" rIns="36576" bIns="36576" anchor="ctr">
            <a:spAutoFit/>
          </a:bodyPr>
          <a:lstStyle/>
          <a:p>
            <a:pPr algn="l"/>
            <a:r>
              <a:rPr sz="1220" b="1">
                <a:solidFill>
                  <a:srgbClr val="1E1E1E"/>
                </a:solidFill>
                <a:latin typeface="Noto Sans CJK JP"/>
              </a:rPr>
              <a:t>中高層部：
オフィス</a:t>
            </a:r>
          </a:p>
        </p:txBody>
      </p:sp>
      <p:cxnSp>
        <p:nvCxnSpPr>
          <p:cNvPr id="201" name="Connector 68">
            <a:extLst>
              <a:ext uri="{FF2B5EF4-FFF2-40B4-BE49-F238E27FC236}">
                <a16:creationId xmlns:a16="http://schemas.microsoft.com/office/drawing/2014/main" id="{7C07B5BD-C941-F5E4-0CB3-96B10AAFA408}"/>
              </a:ext>
            </a:extLst>
          </p:cNvPr>
          <p:cNvCxnSpPr/>
          <p:nvPr/>
        </p:nvCxnSpPr>
        <p:spPr>
          <a:xfrm>
            <a:off x="9525890" y="3273174"/>
            <a:ext cx="2212848" cy="0"/>
          </a:xfrm>
          <a:prstGeom prst="line">
            <a:avLst/>
          </a:prstGeom>
          <a:ln>
            <a:solidFill>
              <a:srgbClr val="E0E4E8"/>
            </a:solidFill>
          </a:ln>
        </p:spPr>
        <p:style>
          <a:lnRef idx="2">
            <a:schemeClr val="accent1"/>
          </a:lnRef>
          <a:fillRef idx="0">
            <a:schemeClr val="accent1"/>
          </a:fillRef>
          <a:effectRef idx="1">
            <a:schemeClr val="accent1"/>
          </a:effectRef>
          <a:fontRef idx="minor">
            <a:schemeClr val="tx1"/>
          </a:fontRef>
        </p:style>
      </p:cxnSp>
      <p:sp>
        <p:nvSpPr>
          <p:cNvPr id="202" name="Oval 69">
            <a:extLst>
              <a:ext uri="{FF2B5EF4-FFF2-40B4-BE49-F238E27FC236}">
                <a16:creationId xmlns:a16="http://schemas.microsoft.com/office/drawing/2014/main" id="{9A8AAF96-E38B-708F-32C1-331962C7C79D}"/>
              </a:ext>
            </a:extLst>
          </p:cNvPr>
          <p:cNvSpPr/>
          <p:nvPr/>
        </p:nvSpPr>
        <p:spPr>
          <a:xfrm>
            <a:off x="9571610" y="3657222"/>
            <a:ext cx="365760" cy="365760"/>
          </a:xfrm>
          <a:prstGeom prst="ellipse">
            <a:avLst/>
          </a:prstGeom>
          <a:solidFill>
            <a:srgbClr val="75B95F"/>
          </a:solidFill>
          <a:ln>
            <a:solidFill>
              <a:srgbClr val="75B9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TextBox 70">
            <a:extLst>
              <a:ext uri="{FF2B5EF4-FFF2-40B4-BE49-F238E27FC236}">
                <a16:creationId xmlns:a16="http://schemas.microsoft.com/office/drawing/2014/main" id="{77CEBABC-5E23-2048-5CED-F98C8D19C449}"/>
              </a:ext>
            </a:extLst>
          </p:cNvPr>
          <p:cNvSpPr txBox="1"/>
          <p:nvPr/>
        </p:nvSpPr>
        <p:spPr>
          <a:xfrm>
            <a:off x="10001378" y="3657222"/>
            <a:ext cx="1591056" cy="411480"/>
          </a:xfrm>
          <a:prstGeom prst="rect">
            <a:avLst/>
          </a:prstGeom>
          <a:noFill/>
          <a:ln>
            <a:noFill/>
          </a:ln>
        </p:spPr>
        <p:txBody>
          <a:bodyPr wrap="square" lIns="36576" tIns="36576" rIns="36576" bIns="36576" anchor="ctr">
            <a:spAutoFit/>
          </a:bodyPr>
          <a:lstStyle/>
          <a:p>
            <a:pPr algn="l"/>
            <a:r>
              <a:rPr sz="1220" b="1">
                <a:solidFill>
                  <a:srgbClr val="1E1E1E"/>
                </a:solidFill>
                <a:latin typeface="Noto Sans CJK JP"/>
              </a:rPr>
              <a:t>広場・
公開空地</a:t>
            </a:r>
          </a:p>
        </p:txBody>
      </p:sp>
      <p:cxnSp>
        <p:nvCxnSpPr>
          <p:cNvPr id="204" name="Connector 71">
            <a:extLst>
              <a:ext uri="{FF2B5EF4-FFF2-40B4-BE49-F238E27FC236}">
                <a16:creationId xmlns:a16="http://schemas.microsoft.com/office/drawing/2014/main" id="{0A6E626C-3CD9-1742-1E87-F1C7BF157EF3}"/>
              </a:ext>
            </a:extLst>
          </p:cNvPr>
          <p:cNvCxnSpPr/>
          <p:nvPr/>
        </p:nvCxnSpPr>
        <p:spPr>
          <a:xfrm>
            <a:off x="9525890" y="4132710"/>
            <a:ext cx="2212848" cy="0"/>
          </a:xfrm>
          <a:prstGeom prst="line">
            <a:avLst/>
          </a:prstGeom>
          <a:ln>
            <a:solidFill>
              <a:srgbClr val="E0E4E8"/>
            </a:solidFill>
          </a:ln>
        </p:spPr>
        <p:style>
          <a:lnRef idx="2">
            <a:schemeClr val="accent1"/>
          </a:lnRef>
          <a:fillRef idx="0">
            <a:schemeClr val="accent1"/>
          </a:fillRef>
          <a:effectRef idx="1">
            <a:schemeClr val="accent1"/>
          </a:effectRef>
          <a:fontRef idx="minor">
            <a:schemeClr val="tx1"/>
          </a:fontRef>
        </p:style>
      </p:cxnSp>
      <p:sp>
        <p:nvSpPr>
          <p:cNvPr id="205" name="Oval 72">
            <a:extLst>
              <a:ext uri="{FF2B5EF4-FFF2-40B4-BE49-F238E27FC236}">
                <a16:creationId xmlns:a16="http://schemas.microsoft.com/office/drawing/2014/main" id="{99629F72-B6F2-E69F-136F-D8D3701295FA}"/>
              </a:ext>
            </a:extLst>
          </p:cNvPr>
          <p:cNvSpPr/>
          <p:nvPr/>
        </p:nvSpPr>
        <p:spPr>
          <a:xfrm>
            <a:off x="9571610" y="4516758"/>
            <a:ext cx="365760" cy="365760"/>
          </a:xfrm>
          <a:prstGeom prst="ellipse">
            <a:avLst/>
          </a:prstGeom>
          <a:solidFill>
            <a:srgbClr val="EB9B3F"/>
          </a:solidFill>
          <a:ln>
            <a:solidFill>
              <a:srgbClr val="EB9B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73">
            <a:extLst>
              <a:ext uri="{FF2B5EF4-FFF2-40B4-BE49-F238E27FC236}">
                <a16:creationId xmlns:a16="http://schemas.microsoft.com/office/drawing/2014/main" id="{9A6D2097-DD89-29E5-54AD-839938A7ED0C}"/>
              </a:ext>
            </a:extLst>
          </p:cNvPr>
          <p:cNvSpPr txBox="1"/>
          <p:nvPr/>
        </p:nvSpPr>
        <p:spPr>
          <a:xfrm>
            <a:off x="10001378" y="4516758"/>
            <a:ext cx="1591056" cy="411480"/>
          </a:xfrm>
          <a:prstGeom prst="rect">
            <a:avLst/>
          </a:prstGeom>
          <a:noFill/>
          <a:ln>
            <a:noFill/>
          </a:ln>
        </p:spPr>
        <p:txBody>
          <a:bodyPr wrap="square" lIns="36576" tIns="36576" rIns="36576" bIns="36576" anchor="ctr">
            <a:spAutoFit/>
          </a:bodyPr>
          <a:lstStyle/>
          <a:p>
            <a:pPr algn="l"/>
            <a:r>
              <a:rPr sz="1220" b="1">
                <a:solidFill>
                  <a:srgbClr val="1E1E1E"/>
                </a:solidFill>
                <a:latin typeface="Noto Sans CJK JP"/>
              </a:rPr>
              <a:t>駅接続・
歩行者回遊</a:t>
            </a:r>
          </a:p>
        </p:txBody>
      </p:sp>
      <p:cxnSp>
        <p:nvCxnSpPr>
          <p:cNvPr id="207" name="Connector 74">
            <a:extLst>
              <a:ext uri="{FF2B5EF4-FFF2-40B4-BE49-F238E27FC236}">
                <a16:creationId xmlns:a16="http://schemas.microsoft.com/office/drawing/2014/main" id="{A5EFC955-839B-98AB-7469-2ED939F4AF04}"/>
              </a:ext>
            </a:extLst>
          </p:cNvPr>
          <p:cNvCxnSpPr/>
          <p:nvPr/>
        </p:nvCxnSpPr>
        <p:spPr>
          <a:xfrm>
            <a:off x="9525890" y="4992246"/>
            <a:ext cx="2212848" cy="0"/>
          </a:xfrm>
          <a:prstGeom prst="line">
            <a:avLst/>
          </a:prstGeom>
          <a:ln>
            <a:solidFill>
              <a:srgbClr val="E0E4E8"/>
            </a:solidFill>
          </a:ln>
        </p:spPr>
        <p:style>
          <a:lnRef idx="2">
            <a:schemeClr val="accent1"/>
          </a:lnRef>
          <a:fillRef idx="0">
            <a:schemeClr val="accent1"/>
          </a:fillRef>
          <a:effectRef idx="1">
            <a:schemeClr val="accent1"/>
          </a:effectRef>
          <a:fontRef idx="minor">
            <a:schemeClr val="tx1"/>
          </a:fontRef>
        </p:style>
      </p:cxnSp>
      <p:grpSp>
        <p:nvGrpSpPr>
          <p:cNvPr id="240" name="グループ化 239">
            <a:extLst>
              <a:ext uri="{FF2B5EF4-FFF2-40B4-BE49-F238E27FC236}">
                <a16:creationId xmlns:a16="http://schemas.microsoft.com/office/drawing/2014/main" id="{A60513F1-0F6A-B451-4770-CC5E3DEF1C04}"/>
              </a:ext>
            </a:extLst>
          </p:cNvPr>
          <p:cNvGrpSpPr/>
          <p:nvPr/>
        </p:nvGrpSpPr>
        <p:grpSpPr>
          <a:xfrm>
            <a:off x="9511886" y="5156151"/>
            <a:ext cx="2221992" cy="500973"/>
            <a:chOff x="9516746" y="5303141"/>
            <a:chExt cx="2221992" cy="500973"/>
          </a:xfrm>
        </p:grpSpPr>
        <p:sp>
          <p:nvSpPr>
            <p:cNvPr id="208" name="Rounded Rectangle 75">
              <a:extLst>
                <a:ext uri="{FF2B5EF4-FFF2-40B4-BE49-F238E27FC236}">
                  <a16:creationId xmlns:a16="http://schemas.microsoft.com/office/drawing/2014/main" id="{6969CAC1-95DC-4497-E00A-D84CE67E37E2}"/>
                </a:ext>
              </a:extLst>
            </p:cNvPr>
            <p:cNvSpPr/>
            <p:nvPr/>
          </p:nvSpPr>
          <p:spPr>
            <a:xfrm>
              <a:off x="9516746" y="5303141"/>
              <a:ext cx="2221992" cy="500973"/>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TextBox 76">
              <a:extLst>
                <a:ext uri="{FF2B5EF4-FFF2-40B4-BE49-F238E27FC236}">
                  <a16:creationId xmlns:a16="http://schemas.microsoft.com/office/drawing/2014/main" id="{F522A728-BC1F-4B31-E9D2-9A3D30FA624A}"/>
                </a:ext>
              </a:extLst>
            </p:cNvPr>
            <p:cNvSpPr txBox="1"/>
            <p:nvPr/>
          </p:nvSpPr>
          <p:spPr>
            <a:xfrm>
              <a:off x="9635618" y="5358006"/>
              <a:ext cx="1956816" cy="427809"/>
            </a:xfrm>
            <a:prstGeom prst="rect">
              <a:avLst/>
            </a:prstGeom>
            <a:noFill/>
            <a:ln>
              <a:noFill/>
            </a:ln>
          </p:spPr>
          <p:txBody>
            <a:bodyPr wrap="square" lIns="36576" tIns="36576" rIns="36576" bIns="36576" anchor="t">
              <a:spAutoFit/>
            </a:bodyPr>
            <a:lstStyle/>
            <a:p>
              <a:r>
                <a:rPr sz="1150" b="1">
                  <a:solidFill>
                    <a:srgbClr val="FFFFFF"/>
                  </a:solidFill>
                  <a:latin typeface="Noto Sans CJK JP"/>
                </a:rPr>
                <a:t>対話を重ねることで、</a:t>
              </a:r>
              <a:endParaRPr lang="en-US" sz="1150" b="1">
                <a:solidFill>
                  <a:srgbClr val="FFFFFF"/>
                </a:solidFill>
                <a:latin typeface="Noto Sans CJK JP"/>
              </a:endParaRPr>
            </a:p>
            <a:p>
              <a:r>
                <a:rPr sz="1150" b="1">
                  <a:solidFill>
                    <a:srgbClr val="FFFFFF"/>
                  </a:solidFill>
                  <a:latin typeface="Noto Sans CJK JP"/>
                </a:rPr>
                <a:t>計画案</a:t>
              </a:r>
              <a:r>
                <a:rPr lang="ja-JP" altLang="en-US" sz="1150" b="1">
                  <a:solidFill>
                    <a:srgbClr val="FFFFFF"/>
                  </a:solidFill>
                  <a:latin typeface="Noto Sans CJK JP"/>
                </a:rPr>
                <a:t>を具体化していく</a:t>
              </a:r>
              <a:endParaRPr sz="1150" b="1">
                <a:solidFill>
                  <a:srgbClr val="FFFFFF"/>
                </a:solidFill>
                <a:latin typeface="Noto Sans CJK JP"/>
              </a:endParaRPr>
            </a:p>
          </p:txBody>
        </p:sp>
      </p:grpSp>
      <p:sp>
        <p:nvSpPr>
          <p:cNvPr id="210" name="Rounded Rectangle 77">
            <a:extLst>
              <a:ext uri="{FF2B5EF4-FFF2-40B4-BE49-F238E27FC236}">
                <a16:creationId xmlns:a16="http://schemas.microsoft.com/office/drawing/2014/main" id="{661507B8-9F0E-C979-5AE9-A2AB78924206}"/>
              </a:ext>
            </a:extLst>
          </p:cNvPr>
          <p:cNvSpPr/>
          <p:nvPr/>
        </p:nvSpPr>
        <p:spPr>
          <a:xfrm>
            <a:off x="530421" y="5815205"/>
            <a:ext cx="11064240" cy="530352"/>
          </a:xfrm>
          <a:prstGeom prst="roundRect">
            <a:avLst>
              <a:gd name="adj" fmla="val 9000"/>
            </a:avLst>
          </a:prstGeom>
          <a:solidFill>
            <a:srgbClr val="FCFDFF"/>
          </a:solidFill>
          <a:ln w="13970">
            <a:solidFill>
              <a:srgbClr val="E6A6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79">
            <a:extLst>
              <a:ext uri="{FF2B5EF4-FFF2-40B4-BE49-F238E27FC236}">
                <a16:creationId xmlns:a16="http://schemas.microsoft.com/office/drawing/2014/main" id="{2BF4C849-7300-1C77-5812-C2EE96465AEA}"/>
              </a:ext>
            </a:extLst>
          </p:cNvPr>
          <p:cNvSpPr txBox="1"/>
          <p:nvPr/>
        </p:nvSpPr>
        <p:spPr>
          <a:xfrm>
            <a:off x="995875" y="5961509"/>
            <a:ext cx="10149840" cy="219456"/>
          </a:xfrm>
          <a:prstGeom prst="rect">
            <a:avLst/>
          </a:prstGeom>
          <a:noFill/>
          <a:ln>
            <a:noFill/>
          </a:ln>
        </p:spPr>
        <p:txBody>
          <a:bodyPr wrap="square" lIns="36576" tIns="36576" rIns="36576" bIns="36576" anchor="t">
            <a:spAutoFit/>
          </a:bodyPr>
          <a:lstStyle/>
          <a:p>
            <a:pPr algn="l"/>
            <a:r>
              <a:rPr sz="1340" b="1">
                <a:solidFill>
                  <a:srgbClr val="0B2B5B"/>
                </a:solidFill>
                <a:latin typeface="Noto Sans CJK JP"/>
              </a:rPr>
              <a:t>ユーザーとLLMが対話を重ね、前提条件・比較・選定を繰り返すことで、開発計画のイメージが徐々に具体化さ</a:t>
            </a:r>
            <a:r>
              <a:rPr lang="ja-JP" altLang="en-US" sz="1340" b="1">
                <a:solidFill>
                  <a:srgbClr val="0B2B5B"/>
                </a:solidFill>
                <a:latin typeface="Noto Sans CJK JP"/>
              </a:rPr>
              <a:t>れる。</a:t>
            </a:r>
          </a:p>
        </p:txBody>
      </p:sp>
      <p:grpSp>
        <p:nvGrpSpPr>
          <p:cNvPr id="217" name="グループ化 216">
            <a:extLst>
              <a:ext uri="{FF2B5EF4-FFF2-40B4-BE49-F238E27FC236}">
                <a16:creationId xmlns:a16="http://schemas.microsoft.com/office/drawing/2014/main" id="{4F569DF0-B8DE-0D0C-F8BB-B93784001359}"/>
              </a:ext>
            </a:extLst>
          </p:cNvPr>
          <p:cNvGrpSpPr/>
          <p:nvPr/>
        </p:nvGrpSpPr>
        <p:grpSpPr>
          <a:xfrm>
            <a:off x="2691200" y="4641254"/>
            <a:ext cx="1572768" cy="471922"/>
            <a:chOff x="409322" y="4480182"/>
            <a:chExt cx="1572768" cy="471922"/>
          </a:xfrm>
        </p:grpSpPr>
        <p:sp>
          <p:nvSpPr>
            <p:cNvPr id="218" name="Rounded Rectangle 22">
              <a:extLst>
                <a:ext uri="{FF2B5EF4-FFF2-40B4-BE49-F238E27FC236}">
                  <a16:creationId xmlns:a16="http://schemas.microsoft.com/office/drawing/2014/main" id="{DB2F6DEE-5787-E9B4-07B9-4FA8BDC1A342}"/>
                </a:ext>
              </a:extLst>
            </p:cNvPr>
            <p:cNvSpPr/>
            <p:nvPr/>
          </p:nvSpPr>
          <p:spPr>
            <a:xfrm>
              <a:off x="409322" y="4480182"/>
              <a:ext cx="1572768" cy="471922"/>
            </a:xfrm>
            <a:prstGeom prst="roundRect">
              <a:avLst>
                <a:gd name="adj" fmla="val 9000"/>
              </a:avLst>
            </a:prstGeom>
            <a:solidFill>
              <a:srgbClr val="EBF4FC"/>
            </a:solidFill>
            <a:ln w="12700">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TextBox 23">
              <a:extLst>
                <a:ext uri="{FF2B5EF4-FFF2-40B4-BE49-F238E27FC236}">
                  <a16:creationId xmlns:a16="http://schemas.microsoft.com/office/drawing/2014/main" id="{388F141C-EE49-B76C-7BE8-C83F3E2208D3}"/>
                </a:ext>
              </a:extLst>
            </p:cNvPr>
            <p:cNvSpPr txBox="1"/>
            <p:nvPr/>
          </p:nvSpPr>
          <p:spPr>
            <a:xfrm>
              <a:off x="455222" y="4535046"/>
              <a:ext cx="1483455" cy="412421"/>
            </a:xfrm>
            <a:prstGeom prst="rect">
              <a:avLst/>
            </a:prstGeom>
            <a:noFill/>
            <a:ln>
              <a:noFill/>
            </a:ln>
          </p:spPr>
          <p:txBody>
            <a:bodyPr wrap="square" lIns="36576" tIns="36576" rIns="36576" bIns="36576" anchor="t">
              <a:spAutoFit/>
            </a:bodyPr>
            <a:lstStyle/>
            <a:p>
              <a:r>
                <a:rPr lang="ja-JP" altLang="en-US" sz="1100" b="1">
                  <a:solidFill>
                    <a:schemeClr val="tx2"/>
                  </a:solidFill>
                  <a:latin typeface="Noto Sans CJK JP"/>
                </a:rPr>
                <a:t>条件を整理し、
重要な論点を絞り込む</a:t>
              </a:r>
            </a:p>
          </p:txBody>
        </p:sp>
      </p:grpSp>
      <p:grpSp>
        <p:nvGrpSpPr>
          <p:cNvPr id="223" name="グループ化 222">
            <a:extLst>
              <a:ext uri="{FF2B5EF4-FFF2-40B4-BE49-F238E27FC236}">
                <a16:creationId xmlns:a16="http://schemas.microsoft.com/office/drawing/2014/main" id="{15D9CC4A-70B1-E1DD-9645-A173CF09572C}"/>
              </a:ext>
            </a:extLst>
          </p:cNvPr>
          <p:cNvGrpSpPr/>
          <p:nvPr/>
        </p:nvGrpSpPr>
        <p:grpSpPr>
          <a:xfrm>
            <a:off x="4977406" y="4648339"/>
            <a:ext cx="1572768" cy="471922"/>
            <a:chOff x="409322" y="4480182"/>
            <a:chExt cx="1572768" cy="471922"/>
          </a:xfrm>
        </p:grpSpPr>
        <p:sp>
          <p:nvSpPr>
            <p:cNvPr id="224" name="Rounded Rectangle 22">
              <a:extLst>
                <a:ext uri="{FF2B5EF4-FFF2-40B4-BE49-F238E27FC236}">
                  <a16:creationId xmlns:a16="http://schemas.microsoft.com/office/drawing/2014/main" id="{514ADB7B-233F-EFDF-E99B-ADF65827E09B}"/>
                </a:ext>
              </a:extLst>
            </p:cNvPr>
            <p:cNvSpPr/>
            <p:nvPr/>
          </p:nvSpPr>
          <p:spPr>
            <a:xfrm>
              <a:off x="409322" y="4480182"/>
              <a:ext cx="1572768" cy="471922"/>
            </a:xfrm>
            <a:prstGeom prst="roundRect">
              <a:avLst>
                <a:gd name="adj" fmla="val 9000"/>
              </a:avLst>
            </a:prstGeom>
            <a:solidFill>
              <a:srgbClr val="EBF4FC"/>
            </a:solidFill>
            <a:ln w="12700">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TextBox 23">
              <a:extLst>
                <a:ext uri="{FF2B5EF4-FFF2-40B4-BE49-F238E27FC236}">
                  <a16:creationId xmlns:a16="http://schemas.microsoft.com/office/drawing/2014/main" id="{EBADCE55-4806-6B53-A551-2C1A04E59B29}"/>
                </a:ext>
              </a:extLst>
            </p:cNvPr>
            <p:cNvSpPr txBox="1"/>
            <p:nvPr/>
          </p:nvSpPr>
          <p:spPr>
            <a:xfrm>
              <a:off x="455222" y="4535046"/>
              <a:ext cx="1483455" cy="412421"/>
            </a:xfrm>
            <a:prstGeom prst="rect">
              <a:avLst/>
            </a:prstGeom>
            <a:noFill/>
            <a:ln>
              <a:noFill/>
            </a:ln>
          </p:spPr>
          <p:txBody>
            <a:bodyPr wrap="square" lIns="36576" tIns="36576" rIns="36576" bIns="36576" anchor="t">
              <a:spAutoFit/>
            </a:bodyPr>
            <a:lstStyle/>
            <a:p>
              <a:r>
                <a:rPr lang="ja-JP" altLang="en-US" sz="1100" b="1">
                  <a:solidFill>
                    <a:schemeClr val="tx2"/>
                  </a:solidFill>
                  <a:latin typeface="Noto Sans CJK JP"/>
                </a:rPr>
                <a:t>複数案を比較し、</a:t>
              </a:r>
              <a:endParaRPr lang="en-US" altLang="ja-JP" sz="1100" b="1">
                <a:solidFill>
                  <a:schemeClr val="tx2"/>
                </a:solidFill>
                <a:latin typeface="Noto Sans CJK JP"/>
              </a:endParaRPr>
            </a:p>
            <a:p>
              <a:r>
                <a:rPr lang="ja-JP" altLang="en-US" sz="1100" b="1">
                  <a:solidFill>
                    <a:schemeClr val="tx2"/>
                  </a:solidFill>
                  <a:latin typeface="Noto Sans CJK JP"/>
                </a:rPr>
                <a:t>方向性を検討する</a:t>
              </a:r>
            </a:p>
          </p:txBody>
        </p:sp>
      </p:grpSp>
    </p:spTree>
    <p:extLst>
      <p:ext uri="{BB962C8B-B14F-4D97-AF65-F5344CB8AC3E}">
        <p14:creationId xmlns:p14="http://schemas.microsoft.com/office/powerpoint/2010/main" val="219095977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AAB8C-7B96-8798-4D85-2D27073D1464}"/>
            </a:ext>
          </a:extLst>
        </p:cNvPr>
        <p:cNvGrpSpPr/>
        <p:nvPr/>
      </p:nvGrpSpPr>
      <p:grpSpPr>
        <a:xfrm>
          <a:off x="0" y="0"/>
          <a:ext cx="0" cy="0"/>
          <a:chOff x="0" y="0"/>
          <a:chExt cx="0" cy="0"/>
        </a:xfrm>
      </p:grpSpPr>
      <p:grpSp>
        <p:nvGrpSpPr>
          <p:cNvPr id="7" name="グループ化 6">
            <a:extLst>
              <a:ext uri="{FF2B5EF4-FFF2-40B4-BE49-F238E27FC236}">
                <a16:creationId xmlns:a16="http://schemas.microsoft.com/office/drawing/2014/main" id="{3FE538E4-2223-6431-F1CF-855E00BDA069}"/>
              </a:ext>
            </a:extLst>
          </p:cNvPr>
          <p:cNvGrpSpPr/>
          <p:nvPr/>
        </p:nvGrpSpPr>
        <p:grpSpPr>
          <a:xfrm>
            <a:off x="649685" y="1978668"/>
            <a:ext cx="2972223" cy="4249289"/>
            <a:chOff x="649685" y="1422978"/>
            <a:chExt cx="3383674" cy="4804980"/>
          </a:xfrm>
        </p:grpSpPr>
        <p:pic>
          <p:nvPicPr>
            <p:cNvPr id="8" name="図 7">
              <a:extLst>
                <a:ext uri="{FF2B5EF4-FFF2-40B4-BE49-F238E27FC236}">
                  <a16:creationId xmlns:a16="http://schemas.microsoft.com/office/drawing/2014/main" id="{A462132F-E7F7-CF45-A873-2D1FA19B92C9}"/>
                </a:ext>
              </a:extLst>
            </p:cNvPr>
            <p:cNvPicPr>
              <a:picLocks noChangeAspect="1"/>
            </p:cNvPicPr>
            <p:nvPr/>
          </p:nvPicPr>
          <p:blipFill>
            <a:blip r:embed="rId3"/>
            <a:srcRect/>
            <a:stretch/>
          </p:blipFill>
          <p:spPr>
            <a:xfrm>
              <a:off x="649685" y="1422978"/>
              <a:ext cx="3383674" cy="4804980"/>
            </a:xfrm>
            <a:prstGeom prst="rect">
              <a:avLst/>
            </a:prstGeom>
          </p:spPr>
        </p:pic>
        <p:sp>
          <p:nvSpPr>
            <p:cNvPr id="28" name="Oval 6">
              <a:extLst>
                <a:ext uri="{FF2B5EF4-FFF2-40B4-BE49-F238E27FC236}">
                  <a16:creationId xmlns:a16="http://schemas.microsoft.com/office/drawing/2014/main" id="{7C3E15D9-68B2-E19C-E7C8-D7CD4B650E0C}"/>
                </a:ext>
              </a:extLst>
            </p:cNvPr>
            <p:cNvSpPr/>
            <p:nvPr/>
          </p:nvSpPr>
          <p:spPr>
            <a:xfrm>
              <a:off x="1269322" y="3690529"/>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1</a:t>
              </a:r>
              <a:endParaRPr sz="1500" b="1">
                <a:solidFill>
                  <a:srgbClr val="FFFFFF"/>
                </a:solidFill>
                <a:latin typeface="Noto Sans CJK JP"/>
              </a:endParaRPr>
            </a:p>
          </p:txBody>
        </p:sp>
        <p:sp>
          <p:nvSpPr>
            <p:cNvPr id="43" name="テキスト ボックス 42">
              <a:extLst>
                <a:ext uri="{FF2B5EF4-FFF2-40B4-BE49-F238E27FC236}">
                  <a16:creationId xmlns:a16="http://schemas.microsoft.com/office/drawing/2014/main" id="{83221305-79EF-2CB5-EDF6-B149F6477A1F}"/>
                </a:ext>
              </a:extLst>
            </p:cNvPr>
            <p:cNvSpPr txBox="1"/>
            <p:nvPr/>
          </p:nvSpPr>
          <p:spPr>
            <a:xfrm>
              <a:off x="1235460" y="3899991"/>
              <a:ext cx="644751" cy="253916"/>
            </a:xfrm>
            <a:prstGeom prst="rect">
              <a:avLst/>
            </a:prstGeom>
            <a:noFill/>
          </p:spPr>
          <p:txBody>
            <a:bodyPr wrap="square" rtlCol="0">
              <a:spAutoFit/>
            </a:bodyPr>
            <a:lstStyle/>
            <a:p>
              <a:r>
                <a:rPr kumimoji="1" lang="en-US" altLang="ja-JP" sz="1050"/>
                <a:t>1,98</a:t>
              </a:r>
              <a:r>
                <a:rPr lang="ja-JP" altLang="ja-JP" sz="1050"/>
                <a:t>0㎡</a:t>
              </a:r>
              <a:endParaRPr kumimoji="1" lang="en-US" altLang="ja-JP" sz="1050"/>
            </a:p>
          </p:txBody>
        </p:sp>
        <p:sp>
          <p:nvSpPr>
            <p:cNvPr id="216" name="Oval 6">
              <a:extLst>
                <a:ext uri="{FF2B5EF4-FFF2-40B4-BE49-F238E27FC236}">
                  <a16:creationId xmlns:a16="http://schemas.microsoft.com/office/drawing/2014/main" id="{03DDD7FC-AFC7-1CC9-F6DD-13B41AD7539E}"/>
                </a:ext>
              </a:extLst>
            </p:cNvPr>
            <p:cNvSpPr/>
            <p:nvPr/>
          </p:nvSpPr>
          <p:spPr>
            <a:xfrm>
              <a:off x="841365" y="4591304"/>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3</a:t>
              </a:r>
              <a:endParaRPr sz="1500" b="1">
                <a:solidFill>
                  <a:srgbClr val="FFFFFF"/>
                </a:solidFill>
                <a:latin typeface="Noto Sans CJK JP"/>
              </a:endParaRPr>
            </a:p>
          </p:txBody>
        </p:sp>
        <p:sp>
          <p:nvSpPr>
            <p:cNvPr id="246" name="正方形/長方形 245">
              <a:extLst>
                <a:ext uri="{FF2B5EF4-FFF2-40B4-BE49-F238E27FC236}">
                  <a16:creationId xmlns:a16="http://schemas.microsoft.com/office/drawing/2014/main" id="{590121A2-65D4-44D1-656B-2A5D0D638487}"/>
                </a:ext>
              </a:extLst>
            </p:cNvPr>
            <p:cNvSpPr/>
            <p:nvPr/>
          </p:nvSpPr>
          <p:spPr>
            <a:xfrm rot="21007099">
              <a:off x="1478102" y="2877394"/>
              <a:ext cx="421475" cy="600768"/>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7" name="正方形/長方形 246">
              <a:extLst>
                <a:ext uri="{FF2B5EF4-FFF2-40B4-BE49-F238E27FC236}">
                  <a16:creationId xmlns:a16="http://schemas.microsoft.com/office/drawing/2014/main" id="{3BB79DDD-3E38-028E-D169-DA1A3620D0DA}"/>
                </a:ext>
              </a:extLst>
            </p:cNvPr>
            <p:cNvSpPr/>
            <p:nvPr/>
          </p:nvSpPr>
          <p:spPr>
            <a:xfrm rot="21007099">
              <a:off x="1286658" y="2931056"/>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8" name="正方形/長方形 246">
              <a:extLst>
                <a:ext uri="{FF2B5EF4-FFF2-40B4-BE49-F238E27FC236}">
                  <a16:creationId xmlns:a16="http://schemas.microsoft.com/office/drawing/2014/main" id="{44C8F8CA-9CF7-FCD1-5225-5D9032EA4C77}"/>
                </a:ext>
              </a:extLst>
            </p:cNvPr>
            <p:cNvSpPr/>
            <p:nvPr/>
          </p:nvSpPr>
          <p:spPr>
            <a:xfrm rot="21007099">
              <a:off x="1700558" y="2853614"/>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3" name="正方形/長方形 252">
              <a:extLst>
                <a:ext uri="{FF2B5EF4-FFF2-40B4-BE49-F238E27FC236}">
                  <a16:creationId xmlns:a16="http://schemas.microsoft.com/office/drawing/2014/main" id="{E2F33600-DD06-438F-8FBD-AF8766AD0814}"/>
                </a:ext>
              </a:extLst>
            </p:cNvPr>
            <p:cNvSpPr/>
            <p:nvPr/>
          </p:nvSpPr>
          <p:spPr>
            <a:xfrm rot="21007099">
              <a:off x="1342753" y="3495540"/>
              <a:ext cx="684421" cy="808641"/>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262946 w 684421"/>
                <a:gd name="csY0" fmla="*/ 0 h 796674"/>
                <a:gd name="csX1" fmla="*/ 684421 w 684421"/>
                <a:gd name="csY1" fmla="*/ 0 h 796674"/>
                <a:gd name="csX2" fmla="*/ 684421 w 684421"/>
                <a:gd name="csY2" fmla="*/ 600768 h 796674"/>
                <a:gd name="csX3" fmla="*/ 0 w 684421"/>
                <a:gd name="csY3" fmla="*/ 796674 h 796674"/>
                <a:gd name="csX4" fmla="*/ 262946 w 684421"/>
                <a:gd name="csY4" fmla="*/ 0 h 796674"/>
                <a:gd name="csX0" fmla="*/ 262946 w 684421"/>
                <a:gd name="csY0" fmla="*/ 0 h 808641"/>
                <a:gd name="csX1" fmla="*/ 684421 w 684421"/>
                <a:gd name="csY1" fmla="*/ 0 h 808641"/>
                <a:gd name="csX2" fmla="*/ 416167 w 684421"/>
                <a:gd name="csY2" fmla="*/ 808641 h 808641"/>
                <a:gd name="csX3" fmla="*/ 0 w 684421"/>
                <a:gd name="csY3" fmla="*/ 796674 h 808641"/>
                <a:gd name="csX4" fmla="*/ 262946 w 684421"/>
                <a:gd name="csY4" fmla="*/ 0 h 808641"/>
              </a:gdLst>
              <a:ahLst/>
              <a:cxnLst>
                <a:cxn ang="0">
                  <a:pos x="csX0" y="csY0"/>
                </a:cxn>
                <a:cxn ang="0">
                  <a:pos x="csX1" y="csY1"/>
                </a:cxn>
                <a:cxn ang="0">
                  <a:pos x="csX2" y="csY2"/>
                </a:cxn>
                <a:cxn ang="0">
                  <a:pos x="csX3" y="csY3"/>
                </a:cxn>
                <a:cxn ang="0">
                  <a:pos x="csX4" y="csY4"/>
                </a:cxn>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4" name="テキスト ボックス 253">
              <a:extLst>
                <a:ext uri="{FF2B5EF4-FFF2-40B4-BE49-F238E27FC236}">
                  <a16:creationId xmlns:a16="http://schemas.microsoft.com/office/drawing/2014/main" id="{8DC170C1-D01B-2C8A-7D9A-74C5DB4C4EDF}"/>
                </a:ext>
              </a:extLst>
            </p:cNvPr>
            <p:cNvSpPr txBox="1"/>
            <p:nvPr/>
          </p:nvSpPr>
          <p:spPr>
            <a:xfrm>
              <a:off x="1449200" y="3044190"/>
              <a:ext cx="495649" cy="276999"/>
            </a:xfrm>
            <a:prstGeom prst="rect">
              <a:avLst/>
            </a:prstGeom>
            <a:noFill/>
          </p:spPr>
          <p:txBody>
            <a:bodyPr wrap="none" rtlCol="0">
              <a:spAutoFit/>
            </a:bodyPr>
            <a:lstStyle/>
            <a:p>
              <a:r>
                <a:rPr kumimoji="1" lang="en-US" altLang="ja-JP" sz="1200"/>
                <a:t>20</a:t>
              </a:r>
              <a:r>
                <a:rPr kumimoji="1" lang="ja-JP" altLang="en-US" sz="1200"/>
                <a:t>階</a:t>
              </a:r>
            </a:p>
          </p:txBody>
        </p:sp>
        <p:sp>
          <p:nvSpPr>
            <p:cNvPr id="243" name="Oval 6">
              <a:extLst>
                <a:ext uri="{FF2B5EF4-FFF2-40B4-BE49-F238E27FC236}">
                  <a16:creationId xmlns:a16="http://schemas.microsoft.com/office/drawing/2014/main" id="{B97AF7DC-AAF8-7323-CDCC-FDAD3BA8C4F9}"/>
                </a:ext>
              </a:extLst>
            </p:cNvPr>
            <p:cNvSpPr/>
            <p:nvPr/>
          </p:nvSpPr>
          <p:spPr>
            <a:xfrm>
              <a:off x="1449200" y="2821894"/>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2</a:t>
              </a:r>
              <a:endParaRPr sz="1500" b="1">
                <a:solidFill>
                  <a:srgbClr val="FFFFFF"/>
                </a:solidFill>
                <a:latin typeface="Noto Sans CJK JP"/>
              </a:endParaRPr>
            </a:p>
          </p:txBody>
        </p:sp>
        <p:sp>
          <p:nvSpPr>
            <p:cNvPr id="129" name="フリーフォーム 128">
              <a:extLst>
                <a:ext uri="{FF2B5EF4-FFF2-40B4-BE49-F238E27FC236}">
                  <a16:creationId xmlns:a16="http://schemas.microsoft.com/office/drawing/2014/main" id="{CD92FC51-FADD-C671-F95E-729259A81831}"/>
                </a:ext>
              </a:extLst>
            </p:cNvPr>
            <p:cNvSpPr/>
            <p:nvPr/>
          </p:nvSpPr>
          <p:spPr>
            <a:xfrm>
              <a:off x="1614076" y="3425050"/>
              <a:ext cx="647926" cy="370894"/>
            </a:xfrm>
            <a:custGeom>
              <a:avLst/>
              <a:gdLst>
                <a:gd name="csX0" fmla="*/ 654689 w 654689"/>
                <a:gd name="csY0" fmla="*/ 0 h 302996"/>
                <a:gd name="csX1" fmla="*/ 0 w 654689"/>
                <a:gd name="csY1" fmla="*/ 124445 h 302996"/>
                <a:gd name="csX2" fmla="*/ 21643 w 654689"/>
                <a:gd name="csY2" fmla="*/ 302996 h 302996"/>
                <a:gd name="csX0" fmla="*/ 654689 w 654689"/>
                <a:gd name="csY0" fmla="*/ 0 h 389741"/>
                <a:gd name="csX1" fmla="*/ 0 w 654689"/>
                <a:gd name="csY1" fmla="*/ 124445 h 389741"/>
                <a:gd name="csX2" fmla="*/ 40986 w 654689"/>
                <a:gd name="csY2" fmla="*/ 389741 h 389741"/>
                <a:gd name="csX0" fmla="*/ 657913 w 657913"/>
                <a:gd name="csY0" fmla="*/ 0 h 389741"/>
                <a:gd name="csX1" fmla="*/ 0 w 657913"/>
                <a:gd name="csY1" fmla="*/ 127781 h 389741"/>
                <a:gd name="csX2" fmla="*/ 44210 w 657913"/>
                <a:gd name="csY2" fmla="*/ 389741 h 389741"/>
              </a:gdLst>
              <a:ahLst/>
              <a:cxnLst>
                <a:cxn ang="0">
                  <a:pos x="csX0" y="csY0"/>
                </a:cxn>
                <a:cxn ang="0">
                  <a:pos x="csX1" y="csY1"/>
                </a:cxn>
                <a:cxn ang="0">
                  <a:pos x="csX2" y="csY2"/>
                </a:cxn>
              </a:cxnLst>
              <a:rect l="l" t="t" r="r" b="b"/>
              <a:pathLst>
                <a:path w="657913" h="389741">
                  <a:moveTo>
                    <a:pt x="657913" y="0"/>
                  </a:moveTo>
                  <a:lnTo>
                    <a:pt x="0" y="127781"/>
                  </a:lnTo>
                  <a:cubicBezTo>
                    <a:pt x="7214" y="187298"/>
                    <a:pt x="36996" y="330224"/>
                    <a:pt x="44210" y="389741"/>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フリーフォーム 130">
              <a:extLst>
                <a:ext uri="{FF2B5EF4-FFF2-40B4-BE49-F238E27FC236}">
                  <a16:creationId xmlns:a16="http://schemas.microsoft.com/office/drawing/2014/main" id="{C09B888A-813C-B25A-348E-FE2CB16ADE60}"/>
                </a:ext>
              </a:extLst>
            </p:cNvPr>
            <p:cNvSpPr/>
            <p:nvPr/>
          </p:nvSpPr>
          <p:spPr>
            <a:xfrm>
              <a:off x="1715819" y="4170680"/>
              <a:ext cx="802298" cy="323948"/>
            </a:xfrm>
            <a:custGeom>
              <a:avLst/>
              <a:gdLst>
                <a:gd name="csX0" fmla="*/ 773723 w 773723"/>
                <a:gd name="csY0" fmla="*/ 56271 h 196948"/>
                <a:gd name="csX1" fmla="*/ 28135 w 773723"/>
                <a:gd name="csY1" fmla="*/ 196948 h 196948"/>
                <a:gd name="csX2" fmla="*/ 0 w 773723"/>
                <a:gd name="csY2" fmla="*/ 0 h 196948"/>
                <a:gd name="csX0" fmla="*/ 802298 w 802298"/>
                <a:gd name="csY0" fmla="*/ 183271 h 323948"/>
                <a:gd name="csX1" fmla="*/ 56710 w 802298"/>
                <a:gd name="csY1" fmla="*/ 323948 h 323948"/>
                <a:gd name="csX2" fmla="*/ 0 w 802298"/>
                <a:gd name="csY2" fmla="*/ 0 h 323948"/>
              </a:gdLst>
              <a:ahLst/>
              <a:cxnLst>
                <a:cxn ang="0">
                  <a:pos x="csX0" y="csY0"/>
                </a:cxn>
                <a:cxn ang="0">
                  <a:pos x="csX1" y="csY1"/>
                </a:cxn>
                <a:cxn ang="0">
                  <a:pos x="csX2" y="csY2"/>
                </a:cxn>
              </a:cxnLst>
              <a:rect l="l" t="t" r="r" b="b"/>
              <a:pathLst>
                <a:path w="802298" h="323948">
                  <a:moveTo>
                    <a:pt x="802298" y="183271"/>
                  </a:moveTo>
                  <a:lnTo>
                    <a:pt x="56710" y="323948"/>
                  </a:lnTo>
                  <a:cubicBezTo>
                    <a:pt x="47332" y="258299"/>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1" name="フリーフォーム 180">
              <a:extLst>
                <a:ext uri="{FF2B5EF4-FFF2-40B4-BE49-F238E27FC236}">
                  <a16:creationId xmlns:a16="http://schemas.microsoft.com/office/drawing/2014/main" id="{99BC6C34-D071-985E-57C9-1F483F78C3DC}"/>
                </a:ext>
              </a:extLst>
            </p:cNvPr>
            <p:cNvSpPr/>
            <p:nvPr/>
          </p:nvSpPr>
          <p:spPr>
            <a:xfrm>
              <a:off x="756168" y="3546416"/>
              <a:ext cx="838200" cy="311150"/>
            </a:xfrm>
            <a:custGeom>
              <a:avLst/>
              <a:gdLst>
                <a:gd name="csX0" fmla="*/ 838200 w 838200"/>
                <a:gd name="csY0" fmla="*/ 0 h 311150"/>
                <a:gd name="csX1" fmla="*/ 415925 w 838200"/>
                <a:gd name="csY1" fmla="*/ 82550 h 311150"/>
                <a:gd name="csX2" fmla="*/ 0 w 838200"/>
                <a:gd name="csY2" fmla="*/ 311150 h 311150"/>
              </a:gdLst>
              <a:ahLst/>
              <a:cxnLst>
                <a:cxn ang="0">
                  <a:pos x="csX0" y="csY0"/>
                </a:cxn>
                <a:cxn ang="0">
                  <a:pos x="csX1" y="csY1"/>
                </a:cxn>
                <a:cxn ang="0">
                  <a:pos x="csX2" y="csY2"/>
                </a:cxn>
              </a:cxnLst>
              <a:rect l="l" t="t" r="r" b="b"/>
              <a:pathLst>
                <a:path w="838200" h="311150">
                  <a:moveTo>
                    <a:pt x="838200" y="0"/>
                  </a:moveTo>
                  <a:lnTo>
                    <a:pt x="415925" y="82550"/>
                  </a:lnTo>
                  <a:lnTo>
                    <a:pt x="0" y="311150"/>
                  </a:lnTo>
                </a:path>
              </a:pathLst>
            </a:custGeom>
            <a:noFill/>
            <a:ln w="38100">
              <a:solidFill>
                <a:srgbClr val="F2B3E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4" name="Oval 6">
              <a:extLst>
                <a:ext uri="{FF2B5EF4-FFF2-40B4-BE49-F238E27FC236}">
                  <a16:creationId xmlns:a16="http://schemas.microsoft.com/office/drawing/2014/main" id="{A911328C-EC46-2092-B036-735EBD8B6AF9}"/>
                </a:ext>
              </a:extLst>
            </p:cNvPr>
            <p:cNvSpPr/>
            <p:nvPr/>
          </p:nvSpPr>
          <p:spPr>
            <a:xfrm>
              <a:off x="2368253" y="4266909"/>
              <a:ext cx="180163" cy="192372"/>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4</a:t>
              </a:r>
              <a:endParaRPr sz="1500" b="1">
                <a:solidFill>
                  <a:srgbClr val="FFFFFF"/>
                </a:solidFill>
                <a:latin typeface="Noto Sans CJK JP"/>
              </a:endParaRPr>
            </a:p>
          </p:txBody>
        </p:sp>
      </p:grpSp>
      <p:sp>
        <p:nvSpPr>
          <p:cNvPr id="2" name="タイトル 1">
            <a:extLst>
              <a:ext uri="{FF2B5EF4-FFF2-40B4-BE49-F238E27FC236}">
                <a16:creationId xmlns:a16="http://schemas.microsoft.com/office/drawing/2014/main" id="{3DB7D953-961A-0C86-23D5-190D3A58FD1A}"/>
              </a:ext>
            </a:extLst>
          </p:cNvPr>
          <p:cNvSpPr>
            <a:spLocks noGrp="1"/>
          </p:cNvSpPr>
          <p:nvPr>
            <p:ph type="title"/>
          </p:nvPr>
        </p:nvSpPr>
        <p:spPr>
          <a:xfrm>
            <a:off x="189866" y="0"/>
            <a:ext cx="9296996" cy="908720"/>
          </a:xfrm>
        </p:spPr>
        <p:txBody>
          <a:bodyPr anchor="ctr"/>
          <a:lstStyle/>
          <a:p>
            <a:r>
              <a:rPr lang="ja-JP" altLang="ja-JP">
                <a:latin typeface="HGMinchoE" panose="02020909000000000000" pitchFamily="49" charset="-128"/>
                <a:ea typeface="HGMinchoE" panose="02020909000000000000" pitchFamily="49" charset="-128"/>
              </a:rPr>
              <a:t>最初の</a:t>
            </a:r>
            <a:r>
              <a:rPr lang="en-US" altLang="ja-JP">
                <a:latin typeface="HGMinchoE" panose="02020909000000000000" pitchFamily="49" charset="-128"/>
                <a:ea typeface="HGMinchoE" panose="02020909000000000000" pitchFamily="49" charset="-128"/>
              </a:rPr>
              <a:t>3</a:t>
            </a:r>
            <a:r>
              <a:rPr lang="ja-JP" altLang="ja-JP">
                <a:latin typeface="HGMinchoE" panose="02020909000000000000" pitchFamily="49" charset="-128"/>
                <a:ea typeface="HGMinchoE" panose="02020909000000000000" pitchFamily="49" charset="-128"/>
              </a:rPr>
              <a:t>か月（2Q：7-9月）の取組イメージ</a:t>
            </a:r>
            <a:endParaRPr kumimoji="1" lang="ja-JP" altLang="en-US">
              <a:latin typeface="HGMinchoE" panose="02020909000000000000" pitchFamily="49" charset="-128"/>
              <a:ea typeface="HGMinchoE" panose="02020909000000000000" pitchFamily="49" charset="-128"/>
            </a:endParaRPr>
          </a:p>
        </p:txBody>
      </p:sp>
      <p:sp>
        <p:nvSpPr>
          <p:cNvPr id="3" name="コンテンツ プレースホルダー 2">
            <a:extLst>
              <a:ext uri="{FF2B5EF4-FFF2-40B4-BE49-F238E27FC236}">
                <a16:creationId xmlns:a16="http://schemas.microsoft.com/office/drawing/2014/main" id="{A421FFD3-CB16-2746-79BA-7F60972841E4}"/>
              </a:ext>
            </a:extLst>
          </p:cNvPr>
          <p:cNvSpPr>
            <a:spLocks noGrp="1"/>
          </p:cNvSpPr>
          <p:nvPr>
            <p:ph idx="1"/>
          </p:nvPr>
        </p:nvSpPr>
        <p:spPr>
          <a:xfrm>
            <a:off x="605530" y="1062882"/>
            <a:ext cx="5726114" cy="404645"/>
          </a:xfrm>
        </p:spPr>
        <p:txBody>
          <a:bodyPr>
            <a:normAutofit/>
          </a:bodyPr>
          <a:lstStyle/>
          <a:p>
            <a:pPr marL="0" indent="0">
              <a:buNone/>
            </a:pPr>
            <a:r>
              <a:rPr lang="en-US" altLang="ja-JP" b="1"/>
              <a:t>1. LLM</a:t>
            </a:r>
            <a:r>
              <a:rPr lang="ja-JP" altLang="en-US" b="1"/>
              <a:t>との対話の中で計画案を具体化していく</a:t>
            </a:r>
            <a:endParaRPr lang="ja-JP" altLang="ja-JP" b="1"/>
          </a:p>
          <a:p>
            <a:endParaRPr kumimoji="1" lang="ja-JP" altLang="en-US"/>
          </a:p>
        </p:txBody>
      </p:sp>
      <p:sp>
        <p:nvSpPr>
          <p:cNvPr id="4" name="日付プレースホルダー 3">
            <a:extLst>
              <a:ext uri="{FF2B5EF4-FFF2-40B4-BE49-F238E27FC236}">
                <a16:creationId xmlns:a16="http://schemas.microsoft.com/office/drawing/2014/main" id="{1E37C397-1E3C-9C60-59D6-15235091DE13}"/>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DB185221-EB95-DE46-5DC4-E5E697994A18}"/>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B3B91617-188B-FF7B-A976-7F171DEB4A95}"/>
              </a:ext>
            </a:extLst>
          </p:cNvPr>
          <p:cNvSpPr>
            <a:spLocks noGrp="1"/>
          </p:cNvSpPr>
          <p:nvPr>
            <p:ph type="sldNum" sz="quarter" idx="12"/>
          </p:nvPr>
        </p:nvSpPr>
        <p:spPr/>
        <p:txBody>
          <a:bodyPr/>
          <a:lstStyle/>
          <a:p>
            <a:fld id="{6539E37A-E522-3D47-AAB7-DDF67C94A05D}" type="slidenum">
              <a:rPr lang="en-US" altLang="ja-JP"/>
              <a:t>3</a:t>
            </a:fld>
            <a:endParaRPr kumimoji="1" lang="ja-JP" altLang="en-US"/>
          </a:p>
        </p:txBody>
      </p:sp>
      <p:sp>
        <p:nvSpPr>
          <p:cNvPr id="10" name="Rounded Rectangle 77">
            <a:extLst>
              <a:ext uri="{FF2B5EF4-FFF2-40B4-BE49-F238E27FC236}">
                <a16:creationId xmlns:a16="http://schemas.microsoft.com/office/drawing/2014/main" id="{A48E008A-6496-3B9B-EDB5-0181C0644DBC}"/>
              </a:ext>
            </a:extLst>
          </p:cNvPr>
          <p:cNvSpPr/>
          <p:nvPr/>
        </p:nvSpPr>
        <p:spPr>
          <a:xfrm>
            <a:off x="4493179" y="5698868"/>
            <a:ext cx="7318456" cy="530352"/>
          </a:xfrm>
          <a:prstGeom prst="roundRect">
            <a:avLst>
              <a:gd name="adj" fmla="val 9000"/>
            </a:avLst>
          </a:prstGeom>
          <a:solidFill>
            <a:srgbClr val="FCFDFF"/>
          </a:solidFill>
          <a:ln w="13970">
            <a:solidFill>
              <a:srgbClr val="E6A6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79">
            <a:extLst>
              <a:ext uri="{FF2B5EF4-FFF2-40B4-BE49-F238E27FC236}">
                <a16:creationId xmlns:a16="http://schemas.microsoft.com/office/drawing/2014/main" id="{A6D76D41-1471-FD8B-01C8-FE305D7C917A}"/>
              </a:ext>
            </a:extLst>
          </p:cNvPr>
          <p:cNvSpPr txBox="1"/>
          <p:nvPr/>
        </p:nvSpPr>
        <p:spPr>
          <a:xfrm>
            <a:off x="4871650" y="5843752"/>
            <a:ext cx="6725718" cy="280077"/>
          </a:xfrm>
          <a:prstGeom prst="rect">
            <a:avLst/>
          </a:prstGeom>
          <a:noFill/>
          <a:ln>
            <a:noFill/>
          </a:ln>
        </p:spPr>
        <p:txBody>
          <a:bodyPr wrap="square" lIns="36576" tIns="36576" rIns="36576" bIns="36576" anchor="t">
            <a:spAutoFit/>
          </a:bodyPr>
          <a:lstStyle/>
          <a:p>
            <a:r>
              <a:rPr lang="en" sz="1340" b="1">
                <a:solidFill>
                  <a:srgbClr val="0B2B5B"/>
                </a:solidFill>
                <a:latin typeface="Noto Sans CJK JP"/>
              </a:rPr>
              <a:t>LLMと</a:t>
            </a:r>
            <a:r>
              <a:rPr lang="ja-JP" altLang="en-US" sz="1340" b="1">
                <a:solidFill>
                  <a:srgbClr val="0B2B5B"/>
                </a:solidFill>
                <a:latin typeface="Noto Sans CJK JP"/>
              </a:rPr>
              <a:t>の対話を通じて、開発構想を人流予測に必要なパラメータへ段階的に変換する。</a:t>
            </a:r>
          </a:p>
        </p:txBody>
      </p:sp>
      <p:sp>
        <p:nvSpPr>
          <p:cNvPr id="12" name="Rounded Rectangle 5">
            <a:extLst>
              <a:ext uri="{FF2B5EF4-FFF2-40B4-BE49-F238E27FC236}">
                <a16:creationId xmlns:a16="http://schemas.microsoft.com/office/drawing/2014/main" id="{AD297800-830A-8224-51EB-6C7132C8F991}"/>
              </a:ext>
            </a:extLst>
          </p:cNvPr>
          <p:cNvSpPr/>
          <p:nvPr/>
        </p:nvSpPr>
        <p:spPr>
          <a:xfrm>
            <a:off x="4491176" y="1513580"/>
            <a:ext cx="2732499" cy="1871007"/>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6">
            <a:extLst>
              <a:ext uri="{FF2B5EF4-FFF2-40B4-BE49-F238E27FC236}">
                <a16:creationId xmlns:a16="http://schemas.microsoft.com/office/drawing/2014/main" id="{A94F91C9-6AAF-3928-51C1-B3F22EB6C263}"/>
              </a:ext>
            </a:extLst>
          </p:cNvPr>
          <p:cNvSpPr/>
          <p:nvPr/>
        </p:nvSpPr>
        <p:spPr>
          <a:xfrm>
            <a:off x="4600904" y="1559300"/>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500" b="1">
                <a:solidFill>
                  <a:srgbClr val="FFFFFF"/>
                </a:solidFill>
                <a:latin typeface="Noto Sans CJK JP"/>
              </a:rPr>
              <a:t>1</a:t>
            </a:r>
            <a:endParaRPr sz="1500" b="1">
              <a:solidFill>
                <a:srgbClr val="FFFFFF"/>
              </a:solidFill>
              <a:latin typeface="Noto Sans CJK JP"/>
            </a:endParaRPr>
          </a:p>
        </p:txBody>
      </p:sp>
      <p:sp>
        <p:nvSpPr>
          <p:cNvPr id="14" name="TextBox 7">
            <a:extLst>
              <a:ext uri="{FF2B5EF4-FFF2-40B4-BE49-F238E27FC236}">
                <a16:creationId xmlns:a16="http://schemas.microsoft.com/office/drawing/2014/main" id="{56A6C7B2-6281-21A7-E8F4-53405DA8428F}"/>
              </a:ext>
            </a:extLst>
          </p:cNvPr>
          <p:cNvSpPr txBox="1"/>
          <p:nvPr/>
        </p:nvSpPr>
        <p:spPr>
          <a:xfrm>
            <a:off x="4970682" y="1578091"/>
            <a:ext cx="1667169" cy="337114"/>
          </a:xfrm>
          <a:prstGeom prst="roundRect">
            <a:avLst/>
          </a:prstGeom>
          <a:noFill/>
          <a:ln>
            <a:noFill/>
          </a:ln>
        </p:spPr>
        <p:txBody>
          <a:bodyPr wrap="square" lIns="36576" tIns="36576" rIns="36576" bIns="36576" anchor="t">
            <a:spAutoFit/>
          </a:bodyPr>
          <a:lstStyle/>
          <a:p>
            <a:pPr algn="l"/>
            <a:r>
              <a:rPr sz="1500" b="1">
                <a:solidFill>
                  <a:srgbClr val="0B2B5B"/>
                </a:solidFill>
                <a:latin typeface="Noto Sans CJK JP"/>
              </a:rPr>
              <a:t>対象エ</a:t>
            </a:r>
            <a:r>
              <a:rPr lang="ja-JP" altLang="en-US" sz="1500" b="1">
                <a:solidFill>
                  <a:srgbClr val="0B2B5B"/>
                </a:solidFill>
                <a:latin typeface="Noto Sans CJK JP"/>
              </a:rPr>
              <a:t>リ</a:t>
            </a:r>
            <a:r>
              <a:rPr sz="1500" b="1">
                <a:solidFill>
                  <a:srgbClr val="0B2B5B"/>
                </a:solidFill>
                <a:latin typeface="Noto Sans CJK JP"/>
              </a:rPr>
              <a:t>ア</a:t>
            </a:r>
            <a:r>
              <a:rPr lang="ja-JP" altLang="en-US" sz="1500" b="1">
                <a:solidFill>
                  <a:srgbClr val="0B2B5B"/>
                </a:solidFill>
                <a:latin typeface="Noto Sans CJK JP"/>
              </a:rPr>
              <a:t>の整理</a:t>
            </a:r>
            <a:endParaRPr sz="1500" b="1">
              <a:solidFill>
                <a:srgbClr val="0B2B5B"/>
              </a:solidFill>
              <a:latin typeface="Noto Sans CJK JP"/>
            </a:endParaRPr>
          </a:p>
        </p:txBody>
      </p:sp>
      <p:sp>
        <p:nvSpPr>
          <p:cNvPr id="15" name="Rounded Rectangle 5">
            <a:extLst>
              <a:ext uri="{FF2B5EF4-FFF2-40B4-BE49-F238E27FC236}">
                <a16:creationId xmlns:a16="http://schemas.microsoft.com/office/drawing/2014/main" id="{33F500D9-CF9C-5B34-C4C6-099286B7D9CE}"/>
              </a:ext>
            </a:extLst>
          </p:cNvPr>
          <p:cNvSpPr/>
          <p:nvPr/>
        </p:nvSpPr>
        <p:spPr>
          <a:xfrm>
            <a:off x="7472934" y="1513580"/>
            <a:ext cx="2732499" cy="1871007"/>
          </a:xfrm>
          <a:prstGeom prst="roundRect">
            <a:avLst>
              <a:gd name="adj" fmla="val 9000"/>
            </a:avLst>
          </a:prstGeom>
          <a:solidFill>
            <a:srgbClr val="BAEAC4">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6">
            <a:extLst>
              <a:ext uri="{FF2B5EF4-FFF2-40B4-BE49-F238E27FC236}">
                <a16:creationId xmlns:a16="http://schemas.microsoft.com/office/drawing/2014/main" id="{CB0FD11A-87D3-A96A-2088-A465B47E0A29}"/>
              </a:ext>
            </a:extLst>
          </p:cNvPr>
          <p:cNvSpPr/>
          <p:nvPr/>
        </p:nvSpPr>
        <p:spPr>
          <a:xfrm>
            <a:off x="7582662" y="1559300"/>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2</a:t>
            </a:r>
            <a:endParaRPr sz="1500" b="1">
              <a:solidFill>
                <a:srgbClr val="FFFFFF"/>
              </a:solidFill>
              <a:latin typeface="Noto Sans CJK JP"/>
            </a:endParaRPr>
          </a:p>
        </p:txBody>
      </p:sp>
      <p:sp>
        <p:nvSpPr>
          <p:cNvPr id="17" name="TextBox 7">
            <a:extLst>
              <a:ext uri="{FF2B5EF4-FFF2-40B4-BE49-F238E27FC236}">
                <a16:creationId xmlns:a16="http://schemas.microsoft.com/office/drawing/2014/main" id="{ABAB1503-61F5-57E2-398A-87E8B5145005}"/>
              </a:ext>
            </a:extLst>
          </p:cNvPr>
          <p:cNvSpPr txBox="1"/>
          <p:nvPr/>
        </p:nvSpPr>
        <p:spPr>
          <a:xfrm>
            <a:off x="7942140" y="1611857"/>
            <a:ext cx="1678227" cy="304699"/>
          </a:xfrm>
          <a:prstGeom prst="rect">
            <a:avLst/>
          </a:prstGeom>
          <a:noFill/>
          <a:ln>
            <a:noFill/>
          </a:ln>
        </p:spPr>
        <p:txBody>
          <a:bodyPr wrap="square" lIns="36576" tIns="36576" rIns="36576" bIns="36576" anchor="t">
            <a:spAutoFit/>
          </a:bodyPr>
          <a:lstStyle/>
          <a:p>
            <a:pPr algn="l"/>
            <a:r>
              <a:rPr lang="ja-JP" altLang="en-US" sz="1500" b="1">
                <a:solidFill>
                  <a:srgbClr val="0B2B5B"/>
                </a:solidFill>
                <a:latin typeface="Noto Sans CJK JP"/>
              </a:rPr>
              <a:t>用途・規模の整理</a:t>
            </a:r>
            <a:endParaRPr sz="1500" b="1">
              <a:solidFill>
                <a:srgbClr val="0B2B5B"/>
              </a:solidFill>
              <a:latin typeface="Noto Sans CJK JP"/>
            </a:endParaRPr>
          </a:p>
        </p:txBody>
      </p:sp>
      <p:sp>
        <p:nvSpPr>
          <p:cNvPr id="18" name="Rounded Rectangle 5">
            <a:extLst>
              <a:ext uri="{FF2B5EF4-FFF2-40B4-BE49-F238E27FC236}">
                <a16:creationId xmlns:a16="http://schemas.microsoft.com/office/drawing/2014/main" id="{C6D69BE9-D12E-262B-B9C9-6ABA9913A1A3}"/>
              </a:ext>
            </a:extLst>
          </p:cNvPr>
          <p:cNvSpPr/>
          <p:nvPr/>
        </p:nvSpPr>
        <p:spPr>
          <a:xfrm>
            <a:off x="4501475" y="3644809"/>
            <a:ext cx="2732499" cy="1871007"/>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6">
            <a:extLst>
              <a:ext uri="{FF2B5EF4-FFF2-40B4-BE49-F238E27FC236}">
                <a16:creationId xmlns:a16="http://schemas.microsoft.com/office/drawing/2014/main" id="{009B14BC-2912-59AC-EB9D-6E7A53F5900F}"/>
              </a:ext>
            </a:extLst>
          </p:cNvPr>
          <p:cNvSpPr/>
          <p:nvPr/>
        </p:nvSpPr>
        <p:spPr>
          <a:xfrm>
            <a:off x="4611203" y="3690529"/>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3</a:t>
            </a:r>
            <a:endParaRPr sz="1500" b="1">
              <a:solidFill>
                <a:srgbClr val="FFFFFF"/>
              </a:solidFill>
              <a:latin typeface="Noto Sans CJK JP"/>
            </a:endParaRPr>
          </a:p>
        </p:txBody>
      </p:sp>
      <p:sp>
        <p:nvSpPr>
          <p:cNvPr id="20" name="TextBox 7">
            <a:extLst>
              <a:ext uri="{FF2B5EF4-FFF2-40B4-BE49-F238E27FC236}">
                <a16:creationId xmlns:a16="http://schemas.microsoft.com/office/drawing/2014/main" id="{6816F2C6-7793-6653-D498-0B1EBA2BB962}"/>
              </a:ext>
            </a:extLst>
          </p:cNvPr>
          <p:cNvSpPr txBox="1"/>
          <p:nvPr/>
        </p:nvSpPr>
        <p:spPr>
          <a:xfrm>
            <a:off x="4970682" y="3734929"/>
            <a:ext cx="1564435" cy="304699"/>
          </a:xfrm>
          <a:prstGeom prst="rect">
            <a:avLst/>
          </a:prstGeom>
          <a:noFill/>
          <a:ln>
            <a:noFill/>
          </a:ln>
        </p:spPr>
        <p:txBody>
          <a:bodyPr wrap="square" lIns="36576" tIns="36576" rIns="36576" bIns="36576" anchor="t">
            <a:spAutoFit/>
          </a:bodyPr>
          <a:lstStyle/>
          <a:p>
            <a:pPr algn="l"/>
            <a:r>
              <a:rPr lang="ja-JP" altLang="en-US" sz="1500" b="1">
                <a:solidFill>
                  <a:srgbClr val="0B2B5B"/>
                </a:solidFill>
                <a:latin typeface="Noto Sans CJK JP"/>
              </a:rPr>
              <a:t>建物属性</a:t>
            </a:r>
            <a:endParaRPr sz="1500" b="1">
              <a:solidFill>
                <a:srgbClr val="0B2B5B"/>
              </a:solidFill>
              <a:latin typeface="Noto Sans CJK JP"/>
            </a:endParaRPr>
          </a:p>
        </p:txBody>
      </p:sp>
      <p:sp>
        <p:nvSpPr>
          <p:cNvPr id="21" name="Rounded Rectangle 5">
            <a:extLst>
              <a:ext uri="{FF2B5EF4-FFF2-40B4-BE49-F238E27FC236}">
                <a16:creationId xmlns:a16="http://schemas.microsoft.com/office/drawing/2014/main" id="{63521FC1-95D6-B0F7-C2F0-0B4700C56632}"/>
              </a:ext>
            </a:extLst>
          </p:cNvPr>
          <p:cNvSpPr/>
          <p:nvPr/>
        </p:nvSpPr>
        <p:spPr>
          <a:xfrm>
            <a:off x="7483233" y="3644809"/>
            <a:ext cx="2732499" cy="1871007"/>
          </a:xfrm>
          <a:prstGeom prst="roundRect">
            <a:avLst>
              <a:gd name="adj" fmla="val 9000"/>
            </a:avLst>
          </a:prstGeom>
          <a:solidFill>
            <a:srgbClr val="F2B3ED">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6">
            <a:extLst>
              <a:ext uri="{FF2B5EF4-FFF2-40B4-BE49-F238E27FC236}">
                <a16:creationId xmlns:a16="http://schemas.microsoft.com/office/drawing/2014/main" id="{6D00757E-6F02-4FE5-27BA-49BC15C21C04}"/>
              </a:ext>
            </a:extLst>
          </p:cNvPr>
          <p:cNvSpPr/>
          <p:nvPr/>
        </p:nvSpPr>
        <p:spPr>
          <a:xfrm>
            <a:off x="7592961" y="3690529"/>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00" b="1">
                <a:solidFill>
                  <a:srgbClr val="FFFFFF"/>
                </a:solidFill>
                <a:latin typeface="Noto Sans CJK JP"/>
              </a:rPr>
              <a:t>4</a:t>
            </a:r>
            <a:endParaRPr sz="1500" b="1">
              <a:solidFill>
                <a:srgbClr val="FFFFFF"/>
              </a:solidFill>
              <a:latin typeface="Noto Sans CJK JP"/>
            </a:endParaRPr>
          </a:p>
        </p:txBody>
      </p:sp>
      <p:sp>
        <p:nvSpPr>
          <p:cNvPr id="23" name="TextBox 7">
            <a:extLst>
              <a:ext uri="{FF2B5EF4-FFF2-40B4-BE49-F238E27FC236}">
                <a16:creationId xmlns:a16="http://schemas.microsoft.com/office/drawing/2014/main" id="{05917BDB-ED8A-EA90-FC3D-2989200E4B48}"/>
              </a:ext>
            </a:extLst>
          </p:cNvPr>
          <p:cNvSpPr txBox="1"/>
          <p:nvPr/>
        </p:nvSpPr>
        <p:spPr>
          <a:xfrm>
            <a:off x="7952441" y="3734929"/>
            <a:ext cx="2149004" cy="304699"/>
          </a:xfrm>
          <a:prstGeom prst="rect">
            <a:avLst/>
          </a:prstGeom>
          <a:noFill/>
          <a:ln>
            <a:noFill/>
          </a:ln>
        </p:spPr>
        <p:txBody>
          <a:bodyPr wrap="square" lIns="36576" tIns="36576" rIns="36576" bIns="36576" anchor="t">
            <a:spAutoFit/>
          </a:bodyPr>
          <a:lstStyle/>
          <a:p>
            <a:pPr algn="l"/>
            <a:r>
              <a:rPr lang="ja-JP" altLang="en-US" sz="1500" b="1">
                <a:solidFill>
                  <a:srgbClr val="0B2B5B"/>
                </a:solidFill>
                <a:latin typeface="Noto Sans CJK JP"/>
              </a:rPr>
              <a:t>配置・接続条件</a:t>
            </a:r>
            <a:endParaRPr sz="1500" b="1">
              <a:solidFill>
                <a:srgbClr val="0B2B5B"/>
              </a:solidFill>
              <a:latin typeface="Noto Sans CJK JP"/>
            </a:endParaRPr>
          </a:p>
        </p:txBody>
      </p:sp>
      <p:sp>
        <p:nvSpPr>
          <p:cNvPr id="26" name="テキスト ボックス 25">
            <a:extLst>
              <a:ext uri="{FF2B5EF4-FFF2-40B4-BE49-F238E27FC236}">
                <a16:creationId xmlns:a16="http://schemas.microsoft.com/office/drawing/2014/main" id="{3DAD0CFF-82AA-144C-7F8D-747EC4BAD557}"/>
              </a:ext>
            </a:extLst>
          </p:cNvPr>
          <p:cNvSpPr txBox="1"/>
          <p:nvPr/>
        </p:nvSpPr>
        <p:spPr>
          <a:xfrm>
            <a:off x="4600904" y="1978669"/>
            <a:ext cx="2416249" cy="103489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ja-JP" altLang="en-US" sz="1400">
                <a:latin typeface="+mn-ea"/>
              </a:rPr>
              <a:t>対象エリアの特定</a:t>
            </a:r>
            <a:endParaRPr kumimoji="1" lang="en-US" altLang="ja-JP" sz="1400">
              <a:latin typeface="+mn-ea"/>
            </a:endParaRPr>
          </a:p>
          <a:p>
            <a:pPr marL="285750" indent="-285750">
              <a:lnSpc>
                <a:spcPct val="150000"/>
              </a:lnSpc>
              <a:buFont typeface="Arial" panose="020B0604020202020204" pitchFamily="34" charset="0"/>
              <a:buChar char="•"/>
            </a:pPr>
            <a:r>
              <a:rPr lang="ja-JP" altLang="ja-JP" sz="1400"/>
              <a:t>敷地面積：約</a:t>
            </a:r>
            <a:r>
              <a:rPr lang="en-US" altLang="ja-JP" sz="1400"/>
              <a:t>2,0</a:t>
            </a:r>
            <a:r>
              <a:rPr lang="ja-JP" altLang="ja-JP" sz="1400"/>
              <a:t>00㎡</a:t>
            </a:r>
            <a:endParaRPr lang="en-US" altLang="ja-JP" sz="1400"/>
          </a:p>
          <a:p>
            <a:pPr marL="285750" indent="-285750">
              <a:lnSpc>
                <a:spcPct val="150000"/>
              </a:lnSpc>
              <a:buFont typeface="Arial" panose="020B0604020202020204" pitchFamily="34" charset="0"/>
              <a:buChar char="•"/>
            </a:pPr>
            <a:r>
              <a:rPr lang="ja-JP" altLang="ja-JP" sz="1400"/>
              <a:t>周辺動線を整理</a:t>
            </a:r>
            <a:endParaRPr kumimoji="1" lang="ja-JP" altLang="en-US" sz="1400">
              <a:latin typeface="+mn-ea"/>
            </a:endParaRPr>
          </a:p>
        </p:txBody>
      </p:sp>
      <p:sp>
        <p:nvSpPr>
          <p:cNvPr id="27" name="テキスト ボックス 26">
            <a:extLst>
              <a:ext uri="{FF2B5EF4-FFF2-40B4-BE49-F238E27FC236}">
                <a16:creationId xmlns:a16="http://schemas.microsoft.com/office/drawing/2014/main" id="{C43E0E04-64D1-08F1-66EE-5D56B55C97AD}"/>
              </a:ext>
            </a:extLst>
          </p:cNvPr>
          <p:cNvSpPr txBox="1"/>
          <p:nvPr/>
        </p:nvSpPr>
        <p:spPr>
          <a:xfrm>
            <a:off x="7577435" y="1988712"/>
            <a:ext cx="2627998" cy="103489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en-US" altLang="ja-JP" sz="1400">
                <a:latin typeface="+mn-ea"/>
              </a:rPr>
              <a:t>20</a:t>
            </a:r>
            <a:r>
              <a:rPr kumimoji="1" lang="ja-JP" altLang="en-US" sz="1400">
                <a:latin typeface="+mn-ea"/>
              </a:rPr>
              <a:t>階程度の高層ホテル</a:t>
            </a:r>
          </a:p>
          <a:p>
            <a:pPr marL="285750" indent="-285750">
              <a:lnSpc>
                <a:spcPct val="150000"/>
              </a:lnSpc>
              <a:buFont typeface="Arial" panose="020B0604020202020204" pitchFamily="34" charset="0"/>
              <a:buChar char="•"/>
            </a:pPr>
            <a:r>
              <a:rPr kumimoji="1" lang="ja-JP" altLang="en-US" sz="1400">
                <a:latin typeface="+mn-ea"/>
              </a:rPr>
              <a:t>延床面積：約</a:t>
            </a:r>
            <a:r>
              <a:rPr kumimoji="1" lang="en-US" altLang="ja-JP" sz="1400">
                <a:latin typeface="+mn-ea"/>
              </a:rPr>
              <a:t>20,000㎡</a:t>
            </a:r>
          </a:p>
          <a:p>
            <a:pPr marL="285750" indent="-285750">
              <a:lnSpc>
                <a:spcPct val="150000"/>
              </a:lnSpc>
              <a:buFont typeface="Arial" panose="020B0604020202020204" pitchFamily="34" charset="0"/>
              <a:buChar char="•"/>
            </a:pPr>
            <a:r>
              <a:rPr kumimoji="1" lang="ja-JP" altLang="en-US" sz="1400">
                <a:latin typeface="+mn-ea"/>
              </a:rPr>
              <a:t>商業・公園・遊歩道を併設</a:t>
            </a:r>
          </a:p>
        </p:txBody>
      </p:sp>
      <p:grpSp>
        <p:nvGrpSpPr>
          <p:cNvPr id="30" name="グループ化 29">
            <a:extLst>
              <a:ext uri="{FF2B5EF4-FFF2-40B4-BE49-F238E27FC236}">
                <a16:creationId xmlns:a16="http://schemas.microsoft.com/office/drawing/2014/main" id="{3C9FE906-DAD6-F5AE-F21A-A2AC2D52D040}"/>
              </a:ext>
            </a:extLst>
          </p:cNvPr>
          <p:cNvGrpSpPr/>
          <p:nvPr/>
        </p:nvGrpSpPr>
        <p:grpSpPr>
          <a:xfrm>
            <a:off x="10661214" y="1578091"/>
            <a:ext cx="992220" cy="1507388"/>
            <a:chOff x="1096976" y="5391625"/>
            <a:chExt cx="992220" cy="1507388"/>
          </a:xfrm>
        </p:grpSpPr>
        <p:grpSp>
          <p:nvGrpSpPr>
            <p:cNvPr id="31" name="グラフィックス 5" descr="ユーザー 単色塗りつぶし">
              <a:extLst>
                <a:ext uri="{FF2B5EF4-FFF2-40B4-BE49-F238E27FC236}">
                  <a16:creationId xmlns:a16="http://schemas.microsoft.com/office/drawing/2014/main" id="{2F4D0496-47A8-3378-51F4-BC3A78F3A366}"/>
                </a:ext>
              </a:extLst>
            </p:cNvPr>
            <p:cNvGrpSpPr/>
            <p:nvPr/>
          </p:nvGrpSpPr>
          <p:grpSpPr>
            <a:xfrm>
              <a:off x="1096976" y="5391625"/>
              <a:ext cx="992220" cy="1054234"/>
              <a:chOff x="774295" y="5401243"/>
              <a:chExt cx="992220" cy="1054234"/>
            </a:xfrm>
            <a:solidFill>
              <a:srgbClr val="000000"/>
            </a:solidFill>
          </p:grpSpPr>
          <p:sp>
            <p:nvSpPr>
              <p:cNvPr id="33" name="円/楕円 32">
                <a:extLst>
                  <a:ext uri="{FF2B5EF4-FFF2-40B4-BE49-F238E27FC236}">
                    <a16:creationId xmlns:a16="http://schemas.microsoft.com/office/drawing/2014/main" id="{863664CA-A4DD-74DC-D0CD-B3F8C7A609FB}"/>
                  </a:ext>
                </a:extLst>
              </p:cNvPr>
              <p:cNvSpPr/>
              <p:nvPr/>
            </p:nvSpPr>
            <p:spPr>
              <a:xfrm>
                <a:off x="1022350" y="5401243"/>
                <a:ext cx="496110" cy="496110"/>
              </a:xfrm>
              <a:prstGeom prst="ellipse">
                <a:avLst/>
              </a:prstGeom>
              <a:solidFill>
                <a:srgbClr val="000000"/>
              </a:solidFill>
              <a:ln w="15478" cap="flat">
                <a:noFill/>
                <a:prstDash val="solid"/>
                <a:miter/>
              </a:ln>
            </p:spPr>
            <p:txBody>
              <a:bodyPr/>
              <a:lstStyle/>
              <a:p>
                <a:endParaRPr lang="ja-JP" altLang="en-US"/>
              </a:p>
            </p:txBody>
          </p:sp>
          <p:sp>
            <p:nvSpPr>
              <p:cNvPr id="34" name="フリーフォーム 33">
                <a:extLst>
                  <a:ext uri="{FF2B5EF4-FFF2-40B4-BE49-F238E27FC236}">
                    <a16:creationId xmlns:a16="http://schemas.microsoft.com/office/drawing/2014/main" id="{1ADA9A37-D641-9731-E000-62D56064CC34}"/>
                  </a:ext>
                </a:extLst>
              </p:cNvPr>
              <p:cNvSpPr/>
              <p:nvPr/>
            </p:nvSpPr>
            <p:spPr>
              <a:xfrm>
                <a:off x="774295" y="5959367"/>
                <a:ext cx="992220" cy="496110"/>
              </a:xfrm>
              <a:custGeom>
                <a:avLst/>
                <a:gdLst>
                  <a:gd name="csX0" fmla="*/ 992221 w 992220"/>
                  <a:gd name="csY0" fmla="*/ 496110 h 496110"/>
                  <a:gd name="csX1" fmla="*/ 992221 w 992220"/>
                  <a:gd name="csY1" fmla="*/ 248055 h 496110"/>
                  <a:gd name="csX2" fmla="*/ 942610 w 992220"/>
                  <a:gd name="csY2" fmla="*/ 148833 h 496110"/>
                  <a:gd name="csX3" fmla="*/ 700756 w 992220"/>
                  <a:gd name="csY3" fmla="*/ 31007 h 496110"/>
                  <a:gd name="csX4" fmla="*/ 496110 w 992220"/>
                  <a:gd name="csY4" fmla="*/ 0 h 496110"/>
                  <a:gd name="csX5" fmla="*/ 291465 w 992220"/>
                  <a:gd name="csY5" fmla="*/ 31007 h 496110"/>
                  <a:gd name="csX6" fmla="*/ 49611 w 992220"/>
                  <a:gd name="csY6" fmla="*/ 148833 h 496110"/>
                  <a:gd name="csX7" fmla="*/ 0 w 992220"/>
                  <a:gd name="csY7" fmla="*/ 248055 h 496110"/>
                  <a:gd name="csX8" fmla="*/ 0 w 992220"/>
                  <a:gd name="csY8" fmla="*/ 496110 h 496110"/>
                  <a:gd name="csX9" fmla="*/ 992221 w 992220"/>
                  <a:gd name="csY9" fmla="*/ 496110 h 4961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92220" h="496110">
                    <a:moveTo>
                      <a:pt x="992221" y="496110"/>
                    </a:moveTo>
                    <a:lnTo>
                      <a:pt x="992221" y="248055"/>
                    </a:lnTo>
                    <a:cubicBezTo>
                      <a:pt x="992221" y="210847"/>
                      <a:pt x="973617" y="173639"/>
                      <a:pt x="942610" y="148833"/>
                    </a:cubicBezTo>
                    <a:cubicBezTo>
                      <a:pt x="874395" y="93021"/>
                      <a:pt x="787575" y="55812"/>
                      <a:pt x="700756" y="31007"/>
                    </a:cubicBezTo>
                    <a:cubicBezTo>
                      <a:pt x="638742" y="12403"/>
                      <a:pt x="570527" y="0"/>
                      <a:pt x="496110" y="0"/>
                    </a:cubicBezTo>
                    <a:cubicBezTo>
                      <a:pt x="427895" y="0"/>
                      <a:pt x="359680" y="12403"/>
                      <a:pt x="291465" y="31007"/>
                    </a:cubicBezTo>
                    <a:cubicBezTo>
                      <a:pt x="204646" y="55812"/>
                      <a:pt x="117826" y="99222"/>
                      <a:pt x="49611" y="148833"/>
                    </a:cubicBezTo>
                    <a:cubicBezTo>
                      <a:pt x="18604" y="173639"/>
                      <a:pt x="0" y="210847"/>
                      <a:pt x="0" y="248055"/>
                    </a:cubicBezTo>
                    <a:lnTo>
                      <a:pt x="0" y="496110"/>
                    </a:lnTo>
                    <a:lnTo>
                      <a:pt x="992221" y="496110"/>
                    </a:lnTo>
                    <a:close/>
                  </a:path>
                </a:pathLst>
              </a:custGeom>
              <a:solidFill>
                <a:srgbClr val="000000"/>
              </a:solidFill>
              <a:ln w="15478" cap="flat">
                <a:noFill/>
                <a:prstDash val="solid"/>
                <a:miter/>
              </a:ln>
            </p:spPr>
            <p:txBody>
              <a:bodyPr/>
              <a:lstStyle/>
              <a:p>
                <a:endParaRPr lang="ja-JP" altLang="en-US"/>
              </a:p>
            </p:txBody>
          </p:sp>
        </p:grpSp>
        <p:sp>
          <p:nvSpPr>
            <p:cNvPr id="32" name="テキスト ボックス 31">
              <a:extLst>
                <a:ext uri="{FF2B5EF4-FFF2-40B4-BE49-F238E27FC236}">
                  <a16:creationId xmlns:a16="http://schemas.microsoft.com/office/drawing/2014/main" id="{E8F0E08D-C14E-188E-7CED-FC0857581B86}"/>
                </a:ext>
              </a:extLst>
            </p:cNvPr>
            <p:cNvSpPr txBox="1"/>
            <p:nvPr/>
          </p:nvSpPr>
          <p:spPr>
            <a:xfrm>
              <a:off x="1155967" y="6529681"/>
              <a:ext cx="877163" cy="369332"/>
            </a:xfrm>
            <a:prstGeom prst="rect">
              <a:avLst/>
            </a:prstGeom>
            <a:noFill/>
          </p:spPr>
          <p:txBody>
            <a:bodyPr wrap="none" rtlCol="0">
              <a:spAutoFit/>
            </a:bodyPr>
            <a:lstStyle/>
            <a:p>
              <a:r>
                <a:rPr kumimoji="1" lang="ja-JP" altLang="en-US"/>
                <a:t>ユーザ</a:t>
              </a:r>
            </a:p>
          </p:txBody>
        </p:sp>
      </p:grpSp>
      <p:grpSp>
        <p:nvGrpSpPr>
          <p:cNvPr id="36" name="グループ化 35">
            <a:extLst>
              <a:ext uri="{FF2B5EF4-FFF2-40B4-BE49-F238E27FC236}">
                <a16:creationId xmlns:a16="http://schemas.microsoft.com/office/drawing/2014/main" id="{1EF67900-9BB9-B332-A4E6-DDE9A8DAE2DC}"/>
              </a:ext>
            </a:extLst>
          </p:cNvPr>
          <p:cNvGrpSpPr/>
          <p:nvPr/>
        </p:nvGrpSpPr>
        <p:grpSpPr>
          <a:xfrm>
            <a:off x="10679076" y="4026949"/>
            <a:ext cx="956495" cy="1599017"/>
            <a:chOff x="10500880" y="3922314"/>
            <a:chExt cx="956495" cy="1599017"/>
          </a:xfrm>
        </p:grpSpPr>
        <p:sp>
          <p:nvSpPr>
            <p:cNvPr id="29" name="グラフィックス 9" descr="人工知能 単色塗りつぶし">
              <a:extLst>
                <a:ext uri="{FF2B5EF4-FFF2-40B4-BE49-F238E27FC236}">
                  <a16:creationId xmlns:a16="http://schemas.microsoft.com/office/drawing/2014/main" id="{EA818BFD-F3CC-D9DC-F17B-E2FD004076FE}"/>
                </a:ext>
              </a:extLst>
            </p:cNvPr>
            <p:cNvSpPr/>
            <p:nvPr/>
          </p:nvSpPr>
          <p:spPr>
            <a:xfrm flipH="1">
              <a:off x="10500880" y="3922314"/>
              <a:ext cx="956495" cy="1133846"/>
            </a:xfrm>
            <a:custGeom>
              <a:avLst/>
              <a:gdLst>
                <a:gd name="csX0" fmla="*/ 942292 w 956495"/>
                <a:gd name="csY0" fmla="*/ 613476 h 1133846"/>
                <a:gd name="csX1" fmla="*/ 845250 w 956495"/>
                <a:gd name="csY1" fmla="*/ 444707 h 1133846"/>
                <a:gd name="csX2" fmla="*/ 845250 w 956495"/>
                <a:gd name="csY2" fmla="*/ 437675 h 1133846"/>
                <a:gd name="csX3" fmla="*/ 437392 w 956495"/>
                <a:gd name="csY3" fmla="*/ 283 h 1133846"/>
                <a:gd name="csX4" fmla="*/ 0 w 956495"/>
                <a:gd name="csY4" fmla="*/ 406734 h 1133846"/>
                <a:gd name="csX5" fmla="*/ 0 w 956495"/>
                <a:gd name="csY5" fmla="*/ 437675 h 1133846"/>
                <a:gd name="csX6" fmla="*/ 165956 w 956495"/>
                <a:gd name="csY6" fmla="*/ 778026 h 1133846"/>
                <a:gd name="csX7" fmla="*/ 165956 w 956495"/>
                <a:gd name="csY7" fmla="*/ 1133846 h 1133846"/>
                <a:gd name="csX8" fmla="*/ 610380 w 956495"/>
                <a:gd name="csY8" fmla="*/ 1133846 h 1133846"/>
                <a:gd name="csX9" fmla="*/ 610380 w 956495"/>
                <a:gd name="csY9" fmla="*/ 965078 h 1133846"/>
                <a:gd name="csX10" fmla="*/ 679294 w 956495"/>
                <a:gd name="csY10" fmla="*/ 965078 h 1133846"/>
                <a:gd name="csX11" fmla="*/ 845250 w 956495"/>
                <a:gd name="csY11" fmla="*/ 799122 h 1133846"/>
                <a:gd name="csX12" fmla="*/ 845250 w 956495"/>
                <a:gd name="csY12" fmla="*/ 796309 h 1133846"/>
                <a:gd name="csX13" fmla="*/ 845250 w 956495"/>
                <a:gd name="csY13" fmla="*/ 711924 h 1133846"/>
                <a:gd name="csX14" fmla="*/ 907132 w 956495"/>
                <a:gd name="csY14" fmla="*/ 711924 h 1133846"/>
                <a:gd name="csX15" fmla="*/ 942292 w 956495"/>
                <a:gd name="csY15" fmla="*/ 613476 h 1133846"/>
                <a:gd name="csX16" fmla="*/ 63288 w 956495"/>
                <a:gd name="csY16" fmla="*/ 297035 h 1133846"/>
                <a:gd name="csX17" fmla="*/ 140641 w 956495"/>
                <a:gd name="csY17" fmla="*/ 297035 h 1133846"/>
                <a:gd name="csX18" fmla="*/ 140641 w 956495"/>
                <a:gd name="csY18" fmla="*/ 240778 h 1133846"/>
                <a:gd name="csX19" fmla="*/ 133609 w 956495"/>
                <a:gd name="csY19" fmla="*/ 191554 h 1133846"/>
                <a:gd name="csX20" fmla="*/ 182833 w 956495"/>
                <a:gd name="csY20" fmla="*/ 184522 h 1133846"/>
                <a:gd name="csX21" fmla="*/ 189865 w 956495"/>
                <a:gd name="csY21" fmla="*/ 233746 h 1133846"/>
                <a:gd name="csX22" fmla="*/ 182833 w 956495"/>
                <a:gd name="csY22" fmla="*/ 240778 h 1133846"/>
                <a:gd name="csX23" fmla="*/ 182833 w 956495"/>
                <a:gd name="csY23" fmla="*/ 297035 h 1133846"/>
                <a:gd name="csX24" fmla="*/ 239089 w 956495"/>
                <a:gd name="csY24" fmla="*/ 297035 h 1133846"/>
                <a:gd name="csX25" fmla="*/ 239089 w 956495"/>
                <a:gd name="csY25" fmla="*/ 395483 h 1133846"/>
                <a:gd name="csX26" fmla="*/ 246121 w 956495"/>
                <a:gd name="csY26" fmla="*/ 444707 h 1133846"/>
                <a:gd name="csX27" fmla="*/ 196897 w 956495"/>
                <a:gd name="csY27" fmla="*/ 451739 h 1133846"/>
                <a:gd name="csX28" fmla="*/ 189865 w 956495"/>
                <a:gd name="csY28" fmla="*/ 402515 h 1133846"/>
                <a:gd name="csX29" fmla="*/ 196897 w 956495"/>
                <a:gd name="csY29" fmla="*/ 395483 h 1133846"/>
                <a:gd name="csX30" fmla="*/ 196897 w 956495"/>
                <a:gd name="csY30" fmla="*/ 339227 h 1133846"/>
                <a:gd name="csX31" fmla="*/ 50631 w 956495"/>
                <a:gd name="csY31" fmla="*/ 339227 h 1133846"/>
                <a:gd name="csX32" fmla="*/ 63288 w 956495"/>
                <a:gd name="csY32" fmla="*/ 297035 h 1133846"/>
                <a:gd name="csX33" fmla="*/ 454269 w 956495"/>
                <a:gd name="csY33" fmla="*/ 534717 h 1133846"/>
                <a:gd name="csX34" fmla="*/ 419109 w 956495"/>
                <a:gd name="csY34" fmla="*/ 499557 h 1133846"/>
                <a:gd name="csX35" fmla="*/ 419109 w 956495"/>
                <a:gd name="csY35" fmla="*/ 493931 h 1133846"/>
                <a:gd name="csX36" fmla="*/ 382543 w 956495"/>
                <a:gd name="csY36" fmla="*/ 457365 h 1133846"/>
                <a:gd name="csX37" fmla="*/ 323473 w 956495"/>
                <a:gd name="csY37" fmla="*/ 516434 h 1133846"/>
                <a:gd name="csX38" fmla="*/ 323473 w 956495"/>
                <a:gd name="csY38" fmla="*/ 620508 h 1133846"/>
                <a:gd name="csX39" fmla="*/ 330505 w 956495"/>
                <a:gd name="csY39" fmla="*/ 669732 h 1133846"/>
                <a:gd name="csX40" fmla="*/ 281281 w 956495"/>
                <a:gd name="csY40" fmla="*/ 676764 h 1133846"/>
                <a:gd name="csX41" fmla="*/ 274249 w 956495"/>
                <a:gd name="csY41" fmla="*/ 627540 h 1133846"/>
                <a:gd name="csX42" fmla="*/ 281281 w 956495"/>
                <a:gd name="csY42" fmla="*/ 620508 h 1133846"/>
                <a:gd name="csX43" fmla="*/ 281281 w 956495"/>
                <a:gd name="csY43" fmla="*/ 606444 h 1133846"/>
                <a:gd name="csX44" fmla="*/ 187052 w 956495"/>
                <a:gd name="csY44" fmla="*/ 606444 h 1133846"/>
                <a:gd name="csX45" fmla="*/ 120951 w 956495"/>
                <a:gd name="csY45" fmla="*/ 529092 h 1133846"/>
                <a:gd name="csX46" fmla="*/ 82978 w 956495"/>
                <a:gd name="csY46" fmla="*/ 496744 h 1133846"/>
                <a:gd name="csX47" fmla="*/ 115325 w 956495"/>
                <a:gd name="csY47" fmla="*/ 458771 h 1133846"/>
                <a:gd name="csX48" fmla="*/ 153298 w 956495"/>
                <a:gd name="csY48" fmla="*/ 491119 h 1133846"/>
                <a:gd name="csX49" fmla="*/ 153298 w 956495"/>
                <a:gd name="csY49" fmla="*/ 500963 h 1133846"/>
                <a:gd name="csX50" fmla="*/ 206742 w 956495"/>
                <a:gd name="csY50" fmla="*/ 564252 h 1133846"/>
                <a:gd name="csX51" fmla="*/ 281281 w 956495"/>
                <a:gd name="csY51" fmla="*/ 564252 h 1133846"/>
                <a:gd name="csX52" fmla="*/ 281281 w 956495"/>
                <a:gd name="csY52" fmla="*/ 499557 h 1133846"/>
                <a:gd name="csX53" fmla="*/ 353008 w 956495"/>
                <a:gd name="csY53" fmla="*/ 427830 h 1133846"/>
                <a:gd name="csX54" fmla="*/ 309409 w 956495"/>
                <a:gd name="csY54" fmla="*/ 382825 h 1133846"/>
                <a:gd name="csX55" fmla="*/ 309409 w 956495"/>
                <a:gd name="csY55" fmla="*/ 128266 h 1133846"/>
                <a:gd name="csX56" fmla="*/ 302377 w 956495"/>
                <a:gd name="csY56" fmla="*/ 79042 h 1133846"/>
                <a:gd name="csX57" fmla="*/ 351602 w 956495"/>
                <a:gd name="csY57" fmla="*/ 72010 h 1133846"/>
                <a:gd name="csX58" fmla="*/ 358634 w 956495"/>
                <a:gd name="csY58" fmla="*/ 121234 h 1133846"/>
                <a:gd name="csX59" fmla="*/ 351602 w 956495"/>
                <a:gd name="csY59" fmla="*/ 128266 h 1133846"/>
                <a:gd name="csX60" fmla="*/ 351602 w 956495"/>
                <a:gd name="csY60" fmla="*/ 170458 h 1133846"/>
                <a:gd name="csX61" fmla="*/ 464114 w 956495"/>
                <a:gd name="csY61" fmla="*/ 170458 h 1133846"/>
                <a:gd name="csX62" fmla="*/ 464114 w 956495"/>
                <a:gd name="csY62" fmla="*/ 268906 h 1133846"/>
                <a:gd name="csX63" fmla="*/ 471146 w 956495"/>
                <a:gd name="csY63" fmla="*/ 318131 h 1133846"/>
                <a:gd name="csX64" fmla="*/ 421922 w 956495"/>
                <a:gd name="csY64" fmla="*/ 325163 h 1133846"/>
                <a:gd name="csX65" fmla="*/ 414890 w 956495"/>
                <a:gd name="csY65" fmla="*/ 275938 h 1133846"/>
                <a:gd name="csX66" fmla="*/ 421922 w 956495"/>
                <a:gd name="csY66" fmla="*/ 268906 h 1133846"/>
                <a:gd name="csX67" fmla="*/ 421922 w 956495"/>
                <a:gd name="csY67" fmla="*/ 212650 h 1133846"/>
                <a:gd name="csX68" fmla="*/ 351602 w 956495"/>
                <a:gd name="csY68" fmla="*/ 212650 h 1133846"/>
                <a:gd name="csX69" fmla="*/ 351602 w 956495"/>
                <a:gd name="csY69" fmla="*/ 365948 h 1133846"/>
                <a:gd name="csX70" fmla="*/ 450050 w 956495"/>
                <a:gd name="csY70" fmla="*/ 464397 h 1133846"/>
                <a:gd name="csX71" fmla="*/ 454269 w 956495"/>
                <a:gd name="csY71" fmla="*/ 464397 h 1133846"/>
                <a:gd name="csX72" fmla="*/ 489429 w 956495"/>
                <a:gd name="csY72" fmla="*/ 499557 h 1133846"/>
                <a:gd name="csX73" fmla="*/ 454269 w 956495"/>
                <a:gd name="csY73" fmla="*/ 534717 h 1133846"/>
                <a:gd name="csX74" fmla="*/ 454269 w 956495"/>
                <a:gd name="csY74" fmla="*/ 534717 h 1133846"/>
                <a:gd name="csX75" fmla="*/ 625851 w 956495"/>
                <a:gd name="csY75" fmla="*/ 250623 h 1133846"/>
                <a:gd name="csX76" fmla="*/ 590691 w 956495"/>
                <a:gd name="csY76" fmla="*/ 215463 h 1133846"/>
                <a:gd name="csX77" fmla="*/ 590691 w 956495"/>
                <a:gd name="csY77" fmla="*/ 212650 h 1133846"/>
                <a:gd name="csX78" fmla="*/ 534434 w 956495"/>
                <a:gd name="csY78" fmla="*/ 162020 h 1133846"/>
                <a:gd name="csX79" fmla="*/ 534434 w 956495"/>
                <a:gd name="csY79" fmla="*/ 59352 h 1133846"/>
                <a:gd name="csX80" fmla="*/ 576627 w 956495"/>
                <a:gd name="csY80" fmla="*/ 74822 h 1133846"/>
                <a:gd name="csX81" fmla="*/ 576627 w 956495"/>
                <a:gd name="csY81" fmla="*/ 143736 h 1133846"/>
                <a:gd name="csX82" fmla="*/ 618819 w 956495"/>
                <a:gd name="csY82" fmla="*/ 181709 h 1133846"/>
                <a:gd name="csX83" fmla="*/ 625851 w 956495"/>
                <a:gd name="csY83" fmla="*/ 181709 h 1133846"/>
                <a:gd name="csX84" fmla="*/ 661011 w 956495"/>
                <a:gd name="csY84" fmla="*/ 216869 h 1133846"/>
                <a:gd name="csX85" fmla="*/ 625851 w 956495"/>
                <a:gd name="csY85" fmla="*/ 250623 h 1133846"/>
                <a:gd name="csX86" fmla="*/ 625851 w 956495"/>
                <a:gd name="csY86" fmla="*/ 250623 h 11338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956495" h="1133846">
                  <a:moveTo>
                    <a:pt x="942292" y="613476"/>
                  </a:moveTo>
                  <a:lnTo>
                    <a:pt x="845250" y="444707"/>
                  </a:lnTo>
                  <a:lnTo>
                    <a:pt x="845250" y="437675"/>
                  </a:lnTo>
                  <a:cubicBezTo>
                    <a:pt x="853689" y="204212"/>
                    <a:pt x="670856" y="8721"/>
                    <a:pt x="437392" y="283"/>
                  </a:cubicBezTo>
                  <a:cubicBezTo>
                    <a:pt x="203929" y="-8156"/>
                    <a:pt x="8438" y="173271"/>
                    <a:pt x="0" y="406734"/>
                  </a:cubicBezTo>
                  <a:cubicBezTo>
                    <a:pt x="0" y="416579"/>
                    <a:pt x="0" y="427830"/>
                    <a:pt x="0" y="437675"/>
                  </a:cubicBezTo>
                  <a:cubicBezTo>
                    <a:pt x="0" y="571284"/>
                    <a:pt x="60475" y="696454"/>
                    <a:pt x="165956" y="778026"/>
                  </a:cubicBezTo>
                  <a:lnTo>
                    <a:pt x="165956" y="1133846"/>
                  </a:lnTo>
                  <a:lnTo>
                    <a:pt x="610380" y="1133846"/>
                  </a:lnTo>
                  <a:lnTo>
                    <a:pt x="610380" y="965078"/>
                  </a:lnTo>
                  <a:lnTo>
                    <a:pt x="679294" y="965078"/>
                  </a:lnTo>
                  <a:cubicBezTo>
                    <a:pt x="770711" y="965078"/>
                    <a:pt x="845250" y="890538"/>
                    <a:pt x="845250" y="799122"/>
                  </a:cubicBezTo>
                  <a:cubicBezTo>
                    <a:pt x="845250" y="797715"/>
                    <a:pt x="845250" y="797715"/>
                    <a:pt x="845250" y="796309"/>
                  </a:cubicBezTo>
                  <a:lnTo>
                    <a:pt x="845250" y="711924"/>
                  </a:lnTo>
                  <a:lnTo>
                    <a:pt x="907132" y="711924"/>
                  </a:lnTo>
                  <a:cubicBezTo>
                    <a:pt x="943699" y="707705"/>
                    <a:pt x="976046" y="665513"/>
                    <a:pt x="942292" y="613476"/>
                  </a:cubicBezTo>
                  <a:close/>
                  <a:moveTo>
                    <a:pt x="63288" y="297035"/>
                  </a:moveTo>
                  <a:lnTo>
                    <a:pt x="140641" y="297035"/>
                  </a:lnTo>
                  <a:lnTo>
                    <a:pt x="140641" y="240778"/>
                  </a:lnTo>
                  <a:cubicBezTo>
                    <a:pt x="125170" y="229527"/>
                    <a:pt x="122357" y="207025"/>
                    <a:pt x="133609" y="191554"/>
                  </a:cubicBezTo>
                  <a:cubicBezTo>
                    <a:pt x="144860" y="176084"/>
                    <a:pt x="167362" y="173271"/>
                    <a:pt x="182833" y="184522"/>
                  </a:cubicBezTo>
                  <a:cubicBezTo>
                    <a:pt x="198303" y="195773"/>
                    <a:pt x="201116" y="218276"/>
                    <a:pt x="189865" y="233746"/>
                  </a:cubicBezTo>
                  <a:cubicBezTo>
                    <a:pt x="188458" y="236559"/>
                    <a:pt x="185646" y="239372"/>
                    <a:pt x="182833" y="240778"/>
                  </a:cubicBezTo>
                  <a:lnTo>
                    <a:pt x="182833" y="297035"/>
                  </a:lnTo>
                  <a:lnTo>
                    <a:pt x="239089" y="297035"/>
                  </a:lnTo>
                  <a:lnTo>
                    <a:pt x="239089" y="395483"/>
                  </a:lnTo>
                  <a:cubicBezTo>
                    <a:pt x="254560" y="406734"/>
                    <a:pt x="257372" y="429237"/>
                    <a:pt x="246121" y="444707"/>
                  </a:cubicBezTo>
                  <a:cubicBezTo>
                    <a:pt x="234870" y="460178"/>
                    <a:pt x="212367" y="462990"/>
                    <a:pt x="196897" y="451739"/>
                  </a:cubicBezTo>
                  <a:cubicBezTo>
                    <a:pt x="181426" y="440488"/>
                    <a:pt x="178614" y="417985"/>
                    <a:pt x="189865" y="402515"/>
                  </a:cubicBezTo>
                  <a:cubicBezTo>
                    <a:pt x="191271" y="399702"/>
                    <a:pt x="194084" y="396889"/>
                    <a:pt x="196897" y="395483"/>
                  </a:cubicBezTo>
                  <a:lnTo>
                    <a:pt x="196897" y="339227"/>
                  </a:lnTo>
                  <a:lnTo>
                    <a:pt x="50631" y="339227"/>
                  </a:lnTo>
                  <a:cubicBezTo>
                    <a:pt x="54850" y="325163"/>
                    <a:pt x="57663" y="311099"/>
                    <a:pt x="63288" y="297035"/>
                  </a:cubicBezTo>
                  <a:close/>
                  <a:moveTo>
                    <a:pt x="454269" y="534717"/>
                  </a:moveTo>
                  <a:cubicBezTo>
                    <a:pt x="434580" y="534717"/>
                    <a:pt x="419109" y="519247"/>
                    <a:pt x="419109" y="499557"/>
                  </a:cubicBezTo>
                  <a:cubicBezTo>
                    <a:pt x="419109" y="498151"/>
                    <a:pt x="419109" y="495338"/>
                    <a:pt x="419109" y="493931"/>
                  </a:cubicBezTo>
                  <a:lnTo>
                    <a:pt x="382543" y="457365"/>
                  </a:lnTo>
                  <a:lnTo>
                    <a:pt x="323473" y="516434"/>
                  </a:lnTo>
                  <a:lnTo>
                    <a:pt x="323473" y="620508"/>
                  </a:lnTo>
                  <a:cubicBezTo>
                    <a:pt x="338944" y="631759"/>
                    <a:pt x="341757" y="654262"/>
                    <a:pt x="330505" y="669732"/>
                  </a:cubicBezTo>
                  <a:cubicBezTo>
                    <a:pt x="319254" y="685203"/>
                    <a:pt x="296752" y="688015"/>
                    <a:pt x="281281" y="676764"/>
                  </a:cubicBezTo>
                  <a:cubicBezTo>
                    <a:pt x="265811" y="665513"/>
                    <a:pt x="262998" y="643010"/>
                    <a:pt x="274249" y="627540"/>
                  </a:cubicBezTo>
                  <a:cubicBezTo>
                    <a:pt x="275656" y="624727"/>
                    <a:pt x="278468" y="621914"/>
                    <a:pt x="281281" y="620508"/>
                  </a:cubicBezTo>
                  <a:lnTo>
                    <a:pt x="281281" y="606444"/>
                  </a:lnTo>
                  <a:lnTo>
                    <a:pt x="187052" y="606444"/>
                  </a:lnTo>
                  <a:lnTo>
                    <a:pt x="120951" y="529092"/>
                  </a:lnTo>
                  <a:cubicBezTo>
                    <a:pt x="101261" y="530498"/>
                    <a:pt x="84384" y="516434"/>
                    <a:pt x="82978" y="496744"/>
                  </a:cubicBezTo>
                  <a:cubicBezTo>
                    <a:pt x="81572" y="477055"/>
                    <a:pt x="95636" y="460178"/>
                    <a:pt x="115325" y="458771"/>
                  </a:cubicBezTo>
                  <a:cubicBezTo>
                    <a:pt x="135015" y="457365"/>
                    <a:pt x="151892" y="471429"/>
                    <a:pt x="153298" y="491119"/>
                  </a:cubicBezTo>
                  <a:cubicBezTo>
                    <a:pt x="153298" y="493931"/>
                    <a:pt x="153298" y="498151"/>
                    <a:pt x="153298" y="500963"/>
                  </a:cubicBezTo>
                  <a:lnTo>
                    <a:pt x="206742" y="564252"/>
                  </a:lnTo>
                  <a:lnTo>
                    <a:pt x="281281" y="564252"/>
                  </a:lnTo>
                  <a:lnTo>
                    <a:pt x="281281" y="499557"/>
                  </a:lnTo>
                  <a:lnTo>
                    <a:pt x="353008" y="427830"/>
                  </a:lnTo>
                  <a:lnTo>
                    <a:pt x="309409" y="382825"/>
                  </a:lnTo>
                  <a:lnTo>
                    <a:pt x="309409" y="128266"/>
                  </a:lnTo>
                  <a:cubicBezTo>
                    <a:pt x="293939" y="117015"/>
                    <a:pt x="291126" y="94512"/>
                    <a:pt x="302377" y="79042"/>
                  </a:cubicBezTo>
                  <a:cubicBezTo>
                    <a:pt x="313629" y="63571"/>
                    <a:pt x="336131" y="60758"/>
                    <a:pt x="351602" y="72010"/>
                  </a:cubicBezTo>
                  <a:cubicBezTo>
                    <a:pt x="367072" y="83261"/>
                    <a:pt x="369885" y="105763"/>
                    <a:pt x="358634" y="121234"/>
                  </a:cubicBezTo>
                  <a:cubicBezTo>
                    <a:pt x="357227" y="124047"/>
                    <a:pt x="354414" y="126859"/>
                    <a:pt x="351602" y="128266"/>
                  </a:cubicBezTo>
                  <a:lnTo>
                    <a:pt x="351602" y="170458"/>
                  </a:lnTo>
                  <a:lnTo>
                    <a:pt x="464114" y="170458"/>
                  </a:lnTo>
                  <a:lnTo>
                    <a:pt x="464114" y="268906"/>
                  </a:lnTo>
                  <a:cubicBezTo>
                    <a:pt x="479585" y="280158"/>
                    <a:pt x="482397" y="302660"/>
                    <a:pt x="471146" y="318131"/>
                  </a:cubicBezTo>
                  <a:cubicBezTo>
                    <a:pt x="459895" y="333601"/>
                    <a:pt x="437392" y="336414"/>
                    <a:pt x="421922" y="325163"/>
                  </a:cubicBezTo>
                  <a:cubicBezTo>
                    <a:pt x="406451" y="313911"/>
                    <a:pt x="403639" y="291409"/>
                    <a:pt x="414890" y="275938"/>
                  </a:cubicBezTo>
                  <a:cubicBezTo>
                    <a:pt x="416296" y="273126"/>
                    <a:pt x="419109" y="270313"/>
                    <a:pt x="421922" y="268906"/>
                  </a:cubicBezTo>
                  <a:lnTo>
                    <a:pt x="421922" y="212650"/>
                  </a:lnTo>
                  <a:lnTo>
                    <a:pt x="351602" y="212650"/>
                  </a:lnTo>
                  <a:lnTo>
                    <a:pt x="351602" y="365948"/>
                  </a:lnTo>
                  <a:lnTo>
                    <a:pt x="450050" y="464397"/>
                  </a:lnTo>
                  <a:cubicBezTo>
                    <a:pt x="451456" y="464397"/>
                    <a:pt x="452863" y="464397"/>
                    <a:pt x="454269" y="464397"/>
                  </a:cubicBezTo>
                  <a:cubicBezTo>
                    <a:pt x="473959" y="464397"/>
                    <a:pt x="489429" y="479867"/>
                    <a:pt x="489429" y="499557"/>
                  </a:cubicBezTo>
                  <a:cubicBezTo>
                    <a:pt x="489429" y="519247"/>
                    <a:pt x="473959" y="534717"/>
                    <a:pt x="454269" y="534717"/>
                  </a:cubicBezTo>
                  <a:lnTo>
                    <a:pt x="454269" y="534717"/>
                  </a:lnTo>
                  <a:close/>
                  <a:moveTo>
                    <a:pt x="625851" y="250623"/>
                  </a:moveTo>
                  <a:cubicBezTo>
                    <a:pt x="606161" y="250623"/>
                    <a:pt x="590691" y="235153"/>
                    <a:pt x="590691" y="215463"/>
                  </a:cubicBezTo>
                  <a:cubicBezTo>
                    <a:pt x="590691" y="214057"/>
                    <a:pt x="590691" y="214057"/>
                    <a:pt x="590691" y="212650"/>
                  </a:cubicBezTo>
                  <a:lnTo>
                    <a:pt x="534434" y="162020"/>
                  </a:lnTo>
                  <a:lnTo>
                    <a:pt x="534434" y="59352"/>
                  </a:lnTo>
                  <a:cubicBezTo>
                    <a:pt x="548498" y="63571"/>
                    <a:pt x="562563" y="69197"/>
                    <a:pt x="576627" y="74822"/>
                  </a:cubicBezTo>
                  <a:lnTo>
                    <a:pt x="576627" y="143736"/>
                  </a:lnTo>
                  <a:lnTo>
                    <a:pt x="618819" y="181709"/>
                  </a:lnTo>
                  <a:cubicBezTo>
                    <a:pt x="621632" y="181709"/>
                    <a:pt x="623038" y="181709"/>
                    <a:pt x="625851" y="181709"/>
                  </a:cubicBezTo>
                  <a:cubicBezTo>
                    <a:pt x="645541" y="181709"/>
                    <a:pt x="661011" y="197180"/>
                    <a:pt x="661011" y="216869"/>
                  </a:cubicBezTo>
                  <a:cubicBezTo>
                    <a:pt x="661011" y="236559"/>
                    <a:pt x="645541" y="250623"/>
                    <a:pt x="625851" y="250623"/>
                  </a:cubicBezTo>
                  <a:lnTo>
                    <a:pt x="625851" y="250623"/>
                  </a:lnTo>
                  <a:close/>
                </a:path>
              </a:pathLst>
            </a:custGeom>
            <a:solidFill>
              <a:srgbClr val="000000"/>
            </a:solidFill>
            <a:ln w="13990" cap="flat">
              <a:noFill/>
              <a:prstDash val="solid"/>
              <a:miter/>
            </a:ln>
          </p:spPr>
          <p:txBody>
            <a:bodyPr/>
            <a:lstStyle/>
            <a:p>
              <a:endParaRPr lang="ja-JP" altLang="en-US"/>
            </a:p>
          </p:txBody>
        </p:sp>
        <p:sp>
          <p:nvSpPr>
            <p:cNvPr id="35" name="テキスト ボックス 34">
              <a:extLst>
                <a:ext uri="{FF2B5EF4-FFF2-40B4-BE49-F238E27FC236}">
                  <a16:creationId xmlns:a16="http://schemas.microsoft.com/office/drawing/2014/main" id="{20E4CE7C-7893-ED73-602B-9EC38EB7DC62}"/>
                </a:ext>
              </a:extLst>
            </p:cNvPr>
            <p:cNvSpPr txBox="1"/>
            <p:nvPr/>
          </p:nvSpPr>
          <p:spPr>
            <a:xfrm>
              <a:off x="10690426" y="5151999"/>
              <a:ext cx="577402" cy="369332"/>
            </a:xfrm>
            <a:prstGeom prst="rect">
              <a:avLst/>
            </a:prstGeom>
            <a:noFill/>
          </p:spPr>
          <p:txBody>
            <a:bodyPr wrap="none" rtlCol="0">
              <a:spAutoFit/>
            </a:bodyPr>
            <a:lstStyle/>
            <a:p>
              <a:r>
                <a:rPr kumimoji="1" lang="en-US" altLang="ja-JP"/>
                <a:t>LLM</a:t>
              </a:r>
              <a:endParaRPr kumimoji="1" lang="ja-JP" altLang="en-US"/>
            </a:p>
          </p:txBody>
        </p:sp>
      </p:grpSp>
      <p:sp>
        <p:nvSpPr>
          <p:cNvPr id="37" name="下矢印 36">
            <a:extLst>
              <a:ext uri="{FF2B5EF4-FFF2-40B4-BE49-F238E27FC236}">
                <a16:creationId xmlns:a16="http://schemas.microsoft.com/office/drawing/2014/main" id="{C3C4F32A-BF1F-154E-B124-A00E9AE6D804}"/>
              </a:ext>
            </a:extLst>
          </p:cNvPr>
          <p:cNvSpPr/>
          <p:nvPr/>
        </p:nvSpPr>
        <p:spPr>
          <a:xfrm>
            <a:off x="10909269" y="3185222"/>
            <a:ext cx="166858" cy="635126"/>
          </a:xfrm>
          <a:prstGeom prst="downArrow">
            <a:avLst/>
          </a:prstGeom>
          <a:solidFill>
            <a:srgbClr val="0E27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下矢印 37">
            <a:extLst>
              <a:ext uri="{FF2B5EF4-FFF2-40B4-BE49-F238E27FC236}">
                <a16:creationId xmlns:a16="http://schemas.microsoft.com/office/drawing/2014/main" id="{C8C6CDB7-BB6C-D0CA-EB06-7FB46AD79B25}"/>
              </a:ext>
            </a:extLst>
          </p:cNvPr>
          <p:cNvSpPr/>
          <p:nvPr/>
        </p:nvSpPr>
        <p:spPr>
          <a:xfrm rot="10800000">
            <a:off x="11184429" y="3180650"/>
            <a:ext cx="166858" cy="635126"/>
          </a:xfrm>
          <a:prstGeom prst="downArrow">
            <a:avLst/>
          </a:prstGeom>
          <a:solidFill>
            <a:srgbClr val="0E27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76BCFB49-65C0-6E86-46BB-79631DBD717E}"/>
              </a:ext>
            </a:extLst>
          </p:cNvPr>
          <p:cNvSpPr txBox="1"/>
          <p:nvPr/>
        </p:nvSpPr>
        <p:spPr>
          <a:xfrm>
            <a:off x="4633910" y="4129747"/>
            <a:ext cx="2460533" cy="103489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ja-JP" altLang="ja-JP" sz="1400"/>
              <a:t>客室部分割合</a:t>
            </a:r>
            <a:r>
              <a:rPr lang="ja-JP" altLang="en-US" sz="1400"/>
              <a:t>：</a:t>
            </a:r>
            <a:r>
              <a:rPr lang="en-US" altLang="ja-JP" sz="1400"/>
              <a:t>50%</a:t>
            </a:r>
          </a:p>
          <a:p>
            <a:pPr marL="285750" indent="-285750">
              <a:lnSpc>
                <a:spcPct val="150000"/>
              </a:lnSpc>
              <a:buFont typeface="Arial" panose="020B0604020202020204" pitchFamily="34" charset="0"/>
              <a:buChar char="•"/>
            </a:pPr>
            <a:r>
              <a:rPr lang="ja-JP" altLang="en-US" sz="1400"/>
              <a:t>客室平均面積：</a:t>
            </a:r>
            <a:r>
              <a:rPr lang="en-US" altLang="ja-JP" sz="1400"/>
              <a:t>50</a:t>
            </a:r>
            <a:r>
              <a:rPr lang="ja-JP" altLang="ja-JP" sz="1400"/>
              <a:t>㎡</a:t>
            </a:r>
            <a:endParaRPr lang="en-US" altLang="ja-JP" sz="1400"/>
          </a:p>
          <a:p>
            <a:pPr marL="285750" indent="-285750">
              <a:lnSpc>
                <a:spcPct val="150000"/>
              </a:lnSpc>
              <a:buFont typeface="Arial" panose="020B0604020202020204" pitchFamily="34" charset="0"/>
              <a:buChar char="•"/>
            </a:pPr>
            <a:r>
              <a:rPr lang="ja-JP" altLang="en-US" sz="1400"/>
              <a:t>客室数</a:t>
            </a:r>
            <a:r>
              <a:rPr lang="en-US" altLang="ja-JP" sz="1400"/>
              <a:t>:200</a:t>
            </a:r>
            <a:r>
              <a:rPr lang="ja-JP" altLang="en-US" sz="1400"/>
              <a:t>室</a:t>
            </a:r>
            <a:endParaRPr lang="en-US" altLang="ja-JP" sz="1400"/>
          </a:p>
        </p:txBody>
      </p:sp>
      <p:sp>
        <p:nvSpPr>
          <p:cNvPr id="40" name="コンテンツ プレースホルダー 2">
            <a:extLst>
              <a:ext uri="{FF2B5EF4-FFF2-40B4-BE49-F238E27FC236}">
                <a16:creationId xmlns:a16="http://schemas.microsoft.com/office/drawing/2014/main" id="{662114D5-0607-8C38-7800-E7BD92C7E33B}"/>
              </a:ext>
            </a:extLst>
          </p:cNvPr>
          <p:cNvSpPr txBox="1">
            <a:spLocks/>
          </p:cNvSpPr>
          <p:nvPr/>
        </p:nvSpPr>
        <p:spPr>
          <a:xfrm>
            <a:off x="89588" y="1578091"/>
            <a:ext cx="3996544" cy="404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600" b="1">
                <a:solidFill>
                  <a:schemeClr val="tx2">
                    <a:lumMod val="90000"/>
                    <a:lumOff val="10000"/>
                  </a:schemeClr>
                </a:solidFill>
                <a:latin typeface="HGMinchoE" panose="02020909000000000000" pitchFamily="49" charset="-128"/>
                <a:ea typeface="HGMinchoE" panose="02020909000000000000" pitchFamily="49" charset="-128"/>
              </a:rPr>
              <a:t>例：大阪梅田駅前にホテル新設</a:t>
            </a:r>
            <a:endParaRPr lang="ja-JP" altLang="en-US" sz="1600">
              <a:solidFill>
                <a:schemeClr val="tx2">
                  <a:lumMod val="90000"/>
                  <a:lumOff val="10000"/>
                </a:schemeClr>
              </a:solidFill>
              <a:latin typeface="HGMinchoE" panose="02020909000000000000" pitchFamily="49" charset="-128"/>
              <a:ea typeface="HGMinchoE" panose="02020909000000000000" pitchFamily="49" charset="-128"/>
            </a:endParaRPr>
          </a:p>
        </p:txBody>
      </p:sp>
      <p:sp>
        <p:nvSpPr>
          <p:cNvPr id="41" name="テキスト ボックス 40">
            <a:extLst>
              <a:ext uri="{FF2B5EF4-FFF2-40B4-BE49-F238E27FC236}">
                <a16:creationId xmlns:a16="http://schemas.microsoft.com/office/drawing/2014/main" id="{2F9DC8E9-C41A-3553-35F0-0E86AF3EF1B5}"/>
              </a:ext>
            </a:extLst>
          </p:cNvPr>
          <p:cNvSpPr txBox="1"/>
          <p:nvPr/>
        </p:nvSpPr>
        <p:spPr>
          <a:xfrm>
            <a:off x="7592961" y="4129747"/>
            <a:ext cx="2612472" cy="71173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ja-JP" altLang="en-US" sz="1400"/>
              <a:t>建物配置・入口位置</a:t>
            </a:r>
          </a:p>
          <a:p>
            <a:pPr marL="285750" indent="-285750">
              <a:lnSpc>
                <a:spcPct val="150000"/>
              </a:lnSpc>
              <a:buFont typeface="Arial" panose="020B0604020202020204" pitchFamily="34" charset="0"/>
              <a:buChar char="•"/>
            </a:pPr>
            <a:r>
              <a:rPr lang="ja-JP" altLang="en-US" sz="1400"/>
              <a:t>駅・地下街との接続</a:t>
            </a:r>
          </a:p>
        </p:txBody>
      </p:sp>
      <p:graphicFrame>
        <p:nvGraphicFramePr>
          <p:cNvPr id="215" name="表 214">
            <a:extLst>
              <a:ext uri="{FF2B5EF4-FFF2-40B4-BE49-F238E27FC236}">
                <a16:creationId xmlns:a16="http://schemas.microsoft.com/office/drawing/2014/main" id="{2A99B880-78DE-29E1-2480-A36EEDCCB780}"/>
              </a:ext>
            </a:extLst>
          </p:cNvPr>
          <p:cNvGraphicFramePr>
            <a:graphicFrameLocks noGrp="1"/>
          </p:cNvGraphicFramePr>
          <p:nvPr>
            <p:extLst>
              <p:ext uri="{D42A27DB-BD31-4B8C-83A1-F6EECF244321}">
                <p14:modId xmlns:p14="http://schemas.microsoft.com/office/powerpoint/2010/main" val="2412766080"/>
              </p:ext>
            </p:extLst>
          </p:nvPr>
        </p:nvGraphicFramePr>
        <p:xfrm>
          <a:off x="818057" y="5046970"/>
          <a:ext cx="2650530" cy="524130"/>
        </p:xfrm>
        <a:graphic>
          <a:graphicData uri="http://schemas.openxmlformats.org/drawingml/2006/table">
            <a:tbl>
              <a:tblPr firstRow="1" firstCol="1" bandRow="1">
                <a:tableStyleId>{5C22544A-7EE6-4342-B048-85BDC9FD1C3A}</a:tableStyleId>
              </a:tblPr>
              <a:tblGrid>
                <a:gridCol w="883510">
                  <a:extLst>
                    <a:ext uri="{9D8B030D-6E8A-4147-A177-3AD203B41FA5}">
                      <a16:colId xmlns:a16="http://schemas.microsoft.com/office/drawing/2014/main" val="646960523"/>
                    </a:ext>
                  </a:extLst>
                </a:gridCol>
                <a:gridCol w="883510">
                  <a:extLst>
                    <a:ext uri="{9D8B030D-6E8A-4147-A177-3AD203B41FA5}">
                      <a16:colId xmlns:a16="http://schemas.microsoft.com/office/drawing/2014/main" val="2734930776"/>
                    </a:ext>
                  </a:extLst>
                </a:gridCol>
                <a:gridCol w="883510">
                  <a:extLst>
                    <a:ext uri="{9D8B030D-6E8A-4147-A177-3AD203B41FA5}">
                      <a16:colId xmlns:a16="http://schemas.microsoft.com/office/drawing/2014/main" val="37053510"/>
                    </a:ext>
                  </a:extLst>
                </a:gridCol>
              </a:tblGrid>
              <a:tr h="262065">
                <a:tc>
                  <a:txBody>
                    <a:bodyPr/>
                    <a:lstStyle/>
                    <a:p>
                      <a:pPr algn="ctr"/>
                      <a:r>
                        <a:rPr kumimoji="1" lang="ja-JP" altLang="en-US" sz="900">
                          <a:solidFill>
                            <a:schemeClr val="tx2">
                              <a:lumMod val="90000"/>
                              <a:lumOff val="10000"/>
                            </a:schemeClr>
                          </a:solidFill>
                        </a:rPr>
                        <a:t>客室部分割合</a:t>
                      </a:r>
                    </a:p>
                  </a:txBody>
                  <a:tcPr anchor="ctr">
                    <a:solidFill>
                      <a:srgbClr val="BACCEC"/>
                    </a:solidFill>
                  </a:tcPr>
                </a:tc>
                <a:tc>
                  <a:txBody>
                    <a:bodyPr/>
                    <a:lstStyle/>
                    <a:p>
                      <a:pPr algn="ctr"/>
                      <a:r>
                        <a:rPr lang="ja-JP" altLang="ja-JP" sz="900">
                          <a:solidFill>
                            <a:schemeClr val="tx2">
                              <a:lumMod val="90000"/>
                              <a:lumOff val="10000"/>
                            </a:schemeClr>
                          </a:solidFill>
                        </a:rPr>
                        <a:t>客室平均面積</a:t>
                      </a:r>
                      <a:endParaRPr kumimoji="1" lang="ja-JP" altLang="en-US" sz="900">
                        <a:solidFill>
                          <a:schemeClr val="tx2">
                            <a:lumMod val="90000"/>
                            <a:lumOff val="10000"/>
                          </a:schemeClr>
                        </a:solidFill>
                      </a:endParaRPr>
                    </a:p>
                  </a:txBody>
                  <a:tcPr anchor="ctr">
                    <a:solidFill>
                      <a:srgbClr val="BACCEC"/>
                    </a:solidFill>
                  </a:tcPr>
                </a:tc>
                <a:tc>
                  <a:txBody>
                    <a:bodyPr/>
                    <a:lstStyle/>
                    <a:p>
                      <a:pPr algn="ctr"/>
                      <a:r>
                        <a:rPr lang="ja-JP" altLang="en-US" sz="900">
                          <a:solidFill>
                            <a:schemeClr val="tx2">
                              <a:lumMod val="90000"/>
                              <a:lumOff val="10000"/>
                            </a:schemeClr>
                          </a:solidFill>
                        </a:rPr>
                        <a:t>客室数</a:t>
                      </a:r>
                      <a:endParaRPr kumimoji="1" lang="ja-JP" altLang="en-US" sz="900">
                        <a:solidFill>
                          <a:schemeClr val="tx2">
                            <a:lumMod val="90000"/>
                            <a:lumOff val="10000"/>
                          </a:schemeClr>
                        </a:solidFill>
                      </a:endParaRPr>
                    </a:p>
                  </a:txBody>
                  <a:tcPr anchor="ctr">
                    <a:solidFill>
                      <a:srgbClr val="BACCEC"/>
                    </a:solidFill>
                  </a:tcPr>
                </a:tc>
                <a:extLst>
                  <a:ext uri="{0D108BD9-81ED-4DB2-BD59-A6C34878D82A}">
                    <a16:rowId xmlns:a16="http://schemas.microsoft.com/office/drawing/2014/main" val="2737853201"/>
                  </a:ext>
                </a:extLst>
              </a:tr>
              <a:tr h="262065">
                <a:tc>
                  <a:txBody>
                    <a:bodyPr/>
                    <a:lstStyle/>
                    <a:p>
                      <a:pPr algn="ctr"/>
                      <a:r>
                        <a:rPr kumimoji="1" lang="en-US" altLang="ja-JP" sz="900" b="0">
                          <a:solidFill>
                            <a:schemeClr val="tx2">
                              <a:lumMod val="90000"/>
                              <a:lumOff val="10000"/>
                            </a:schemeClr>
                          </a:solidFill>
                        </a:rPr>
                        <a:t>50%</a:t>
                      </a:r>
                      <a:endParaRPr kumimoji="1" lang="ja-JP" altLang="en-US" sz="900" b="0">
                        <a:solidFill>
                          <a:schemeClr val="tx2">
                            <a:lumMod val="90000"/>
                            <a:lumOff val="10000"/>
                          </a:schemeClr>
                        </a:solidFill>
                      </a:endParaRPr>
                    </a:p>
                  </a:txBody>
                  <a:tcPr anchor="ctr">
                    <a:solidFill>
                      <a:schemeClr val="bg2">
                        <a:lumMod val="90000"/>
                      </a:schemeClr>
                    </a:solidFill>
                  </a:tcPr>
                </a:tc>
                <a:tc>
                  <a:txBody>
                    <a:bodyPr/>
                    <a:lstStyle/>
                    <a:p>
                      <a:pPr algn="ctr"/>
                      <a:r>
                        <a:rPr lang="ja-JP" altLang="ja-JP" sz="900" b="0"/>
                        <a:t>50㎡</a:t>
                      </a:r>
                      <a:endParaRPr kumimoji="1" lang="ja-JP" altLang="en-US" sz="900" b="0">
                        <a:solidFill>
                          <a:schemeClr val="tx2">
                            <a:lumMod val="90000"/>
                            <a:lumOff val="10000"/>
                          </a:schemeClr>
                        </a:solidFill>
                      </a:endParaRPr>
                    </a:p>
                  </a:txBody>
                  <a:tcPr anchor="ctr">
                    <a:solidFill>
                      <a:schemeClr val="bg2">
                        <a:lumMod val="90000"/>
                      </a:schemeClr>
                    </a:solidFill>
                  </a:tcPr>
                </a:tc>
                <a:tc>
                  <a:txBody>
                    <a:bodyPr/>
                    <a:lstStyle/>
                    <a:p>
                      <a:pPr algn="ctr"/>
                      <a:r>
                        <a:rPr lang="en-US" altLang="ja-JP" sz="900" b="0"/>
                        <a:t>200</a:t>
                      </a:r>
                      <a:r>
                        <a:rPr lang="ja-JP" altLang="en-US" sz="900" b="0"/>
                        <a:t>室</a:t>
                      </a:r>
                      <a:endParaRPr lang="en-US" altLang="ja-JP" sz="900" b="0"/>
                    </a:p>
                  </a:txBody>
                  <a:tcPr anchor="ctr">
                    <a:solidFill>
                      <a:schemeClr val="bg2">
                        <a:lumMod val="90000"/>
                      </a:schemeClr>
                    </a:solidFill>
                  </a:tcPr>
                </a:tc>
                <a:extLst>
                  <a:ext uri="{0D108BD9-81ED-4DB2-BD59-A6C34878D82A}">
                    <a16:rowId xmlns:a16="http://schemas.microsoft.com/office/drawing/2014/main" val="783521823"/>
                  </a:ext>
                </a:extLst>
              </a:tr>
            </a:tbl>
          </a:graphicData>
        </a:graphic>
      </p:graphicFrame>
    </p:spTree>
    <p:extLst>
      <p:ext uri="{BB962C8B-B14F-4D97-AF65-F5344CB8AC3E}">
        <p14:creationId xmlns:p14="http://schemas.microsoft.com/office/powerpoint/2010/main" val="1415970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2F83A1-85EF-2CC3-C4A9-97F1712868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A6E1118-DEF8-1B2A-FF8E-B50BCF51EF21}"/>
              </a:ext>
            </a:extLst>
          </p:cNvPr>
          <p:cNvSpPr>
            <a:spLocks noGrp="1"/>
          </p:cNvSpPr>
          <p:nvPr>
            <p:ph type="title"/>
          </p:nvPr>
        </p:nvSpPr>
        <p:spPr/>
        <p:txBody>
          <a:bodyPr/>
          <a:lstStyle/>
          <a:p>
            <a:r>
              <a:rPr lang="ja-JP" altLang="ja-JP"/>
              <a:t>最初の</a:t>
            </a:r>
            <a:r>
              <a:rPr lang="en-US" altLang="ja-JP"/>
              <a:t>3</a:t>
            </a:r>
            <a:r>
              <a:rPr lang="ja-JP" altLang="ja-JP"/>
              <a:t>か月（2Q：7-9月）の取組イメージ</a:t>
            </a:r>
            <a:endParaRPr kumimoji="1" lang="ja-JP" altLang="en-US"/>
          </a:p>
        </p:txBody>
      </p:sp>
      <p:sp>
        <p:nvSpPr>
          <p:cNvPr id="4" name="日付プレースホルダー 3">
            <a:extLst>
              <a:ext uri="{FF2B5EF4-FFF2-40B4-BE49-F238E27FC236}">
                <a16:creationId xmlns:a16="http://schemas.microsoft.com/office/drawing/2014/main" id="{FDE3D4D3-094B-A309-611D-629C8755B835}"/>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8539EEDE-FA19-1A8F-9157-466141519234}"/>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CA92EB1A-C97C-3808-6E64-65BBB0C02E3E}"/>
              </a:ext>
            </a:extLst>
          </p:cNvPr>
          <p:cNvSpPr>
            <a:spLocks noGrp="1"/>
          </p:cNvSpPr>
          <p:nvPr>
            <p:ph type="sldNum" sz="quarter" idx="12"/>
          </p:nvPr>
        </p:nvSpPr>
        <p:spPr/>
        <p:txBody>
          <a:bodyPr/>
          <a:lstStyle/>
          <a:p>
            <a:fld id="{6539E37A-E522-3D47-AAB7-DDF67C94A05D}" type="slidenum">
              <a:rPr lang="en-US" altLang="ja-JP"/>
              <a:t>4</a:t>
            </a:fld>
            <a:endParaRPr kumimoji="1" lang="ja-JP" altLang="en-US"/>
          </a:p>
        </p:txBody>
      </p:sp>
      <p:sp>
        <p:nvSpPr>
          <p:cNvPr id="7" name="Rounded Rectangle 5">
            <a:extLst>
              <a:ext uri="{FF2B5EF4-FFF2-40B4-BE49-F238E27FC236}">
                <a16:creationId xmlns:a16="http://schemas.microsoft.com/office/drawing/2014/main" id="{BBE54782-B56D-4A96-E065-86282EE3B67F}"/>
              </a:ext>
            </a:extLst>
          </p:cNvPr>
          <p:cNvSpPr/>
          <p:nvPr/>
        </p:nvSpPr>
        <p:spPr>
          <a:xfrm>
            <a:off x="164592" y="1618488"/>
            <a:ext cx="1993392" cy="4325112"/>
          </a:xfrm>
          <a:prstGeom prst="roundRect">
            <a:avLst>
              <a:gd name="adj" fmla="val 9000"/>
            </a:avLst>
          </a:prstGeom>
          <a:solidFill>
            <a:srgbClr val="FFFFFF"/>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6">
            <a:extLst>
              <a:ext uri="{FF2B5EF4-FFF2-40B4-BE49-F238E27FC236}">
                <a16:creationId xmlns:a16="http://schemas.microsoft.com/office/drawing/2014/main" id="{64E14A98-0F4D-3295-AC35-45EF9D6913E0}"/>
              </a:ext>
            </a:extLst>
          </p:cNvPr>
          <p:cNvSpPr/>
          <p:nvPr/>
        </p:nvSpPr>
        <p:spPr>
          <a:xfrm>
            <a:off x="274937" y="1715117"/>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Noto Sans CJK JP"/>
              </a:rPr>
              <a:t>1</a:t>
            </a:r>
          </a:p>
        </p:txBody>
      </p:sp>
      <p:sp>
        <p:nvSpPr>
          <p:cNvPr id="9" name="TextBox 7">
            <a:extLst>
              <a:ext uri="{FF2B5EF4-FFF2-40B4-BE49-F238E27FC236}">
                <a16:creationId xmlns:a16="http://schemas.microsoft.com/office/drawing/2014/main" id="{CD75E8A5-CCCE-970D-1B31-073DE8550CD4}"/>
              </a:ext>
            </a:extLst>
          </p:cNvPr>
          <p:cNvSpPr txBox="1"/>
          <p:nvPr/>
        </p:nvSpPr>
        <p:spPr>
          <a:xfrm>
            <a:off x="604121" y="1733405"/>
            <a:ext cx="1280160" cy="201168"/>
          </a:xfrm>
          <a:prstGeom prst="rect">
            <a:avLst/>
          </a:prstGeom>
          <a:noFill/>
          <a:ln>
            <a:noFill/>
          </a:ln>
        </p:spPr>
        <p:txBody>
          <a:bodyPr wrap="square" lIns="36576" tIns="36576" rIns="36576" bIns="36576" anchor="t">
            <a:spAutoFit/>
          </a:bodyPr>
          <a:lstStyle/>
          <a:p>
            <a:pPr algn="l"/>
            <a:r>
              <a:rPr sz="1500" b="1">
                <a:solidFill>
                  <a:srgbClr val="0B2B5B"/>
                </a:solidFill>
                <a:latin typeface="Noto Sans CJK JP"/>
              </a:rPr>
              <a:t>採用案の入力</a:t>
            </a:r>
          </a:p>
        </p:txBody>
      </p:sp>
      <p:pic>
        <p:nvPicPr>
          <p:cNvPr id="10" name="Picture 8" descr="plan_diagram.png">
            <a:extLst>
              <a:ext uri="{FF2B5EF4-FFF2-40B4-BE49-F238E27FC236}">
                <a16:creationId xmlns:a16="http://schemas.microsoft.com/office/drawing/2014/main" id="{6F2795D0-0581-0A0B-BBB8-2BEF3651A526}"/>
              </a:ext>
            </a:extLst>
          </p:cNvPr>
          <p:cNvPicPr>
            <a:picLocks noChangeAspect="1"/>
          </p:cNvPicPr>
          <p:nvPr/>
        </p:nvPicPr>
        <p:blipFill>
          <a:blip r:embed="rId4"/>
          <a:stretch>
            <a:fillRect/>
          </a:stretch>
        </p:blipFill>
        <p:spPr>
          <a:xfrm>
            <a:off x="283464" y="2051720"/>
            <a:ext cx="1737360" cy="1874520"/>
          </a:xfrm>
          <a:prstGeom prst="rect">
            <a:avLst/>
          </a:prstGeom>
        </p:spPr>
      </p:pic>
      <p:sp>
        <p:nvSpPr>
          <p:cNvPr id="11" name="TextBox 9">
            <a:extLst>
              <a:ext uri="{FF2B5EF4-FFF2-40B4-BE49-F238E27FC236}">
                <a16:creationId xmlns:a16="http://schemas.microsoft.com/office/drawing/2014/main" id="{5E53FD0E-5CA3-4A4B-BE99-12E00009D28C}"/>
              </a:ext>
            </a:extLst>
          </p:cNvPr>
          <p:cNvSpPr txBox="1"/>
          <p:nvPr/>
        </p:nvSpPr>
        <p:spPr>
          <a:xfrm>
            <a:off x="338328" y="3818441"/>
            <a:ext cx="1645920" cy="1098762"/>
          </a:xfrm>
          <a:prstGeom prst="rect">
            <a:avLst/>
          </a:prstGeom>
          <a:noFill/>
          <a:ln>
            <a:noFill/>
          </a:ln>
        </p:spPr>
        <p:txBody>
          <a:bodyPr wrap="square" lIns="36576" tIns="36576" rIns="36576" bIns="36576" anchor="t">
            <a:spAutoFit/>
          </a:bodyPr>
          <a:lstStyle/>
          <a:p>
            <a:pPr algn="l"/>
            <a:r>
              <a:rPr sz="1110" b="0">
                <a:solidFill>
                  <a:srgbClr val="1E1E1E"/>
                </a:solidFill>
                <a:latin typeface="Noto Sans CJK JP"/>
              </a:rPr>
              <a:t>・駅接続を重視
・低層に商業</a:t>
            </a:r>
            <a:endParaRPr lang="en-US" sz="1110" b="0">
              <a:solidFill>
                <a:srgbClr val="1E1E1E"/>
              </a:solidFill>
              <a:latin typeface="Noto Sans CJK JP"/>
            </a:endParaRPr>
          </a:p>
          <a:p>
            <a:pPr algn="l"/>
            <a:r>
              <a:rPr sz="1110" b="0">
                <a:solidFill>
                  <a:srgbClr val="1E1E1E"/>
                </a:solidFill>
                <a:latin typeface="Noto Sans CJK JP"/>
              </a:rPr>
              <a:t>・にぎわい
・広場</a:t>
            </a:r>
            <a:endParaRPr lang="en-US" sz="1110" b="0">
              <a:solidFill>
                <a:srgbClr val="1E1E1E"/>
              </a:solidFill>
              <a:latin typeface="Noto Sans CJK JP"/>
            </a:endParaRPr>
          </a:p>
          <a:p>
            <a:pPr algn="l"/>
            <a:r>
              <a:rPr sz="1110" b="0">
                <a:solidFill>
                  <a:srgbClr val="1E1E1E"/>
                </a:solidFill>
                <a:latin typeface="Noto Sans CJK JP"/>
              </a:rPr>
              <a:t>・公開空地を確保
・中高層にオフィス機能</a:t>
            </a:r>
          </a:p>
        </p:txBody>
      </p:sp>
      <p:grpSp>
        <p:nvGrpSpPr>
          <p:cNvPr id="88" name="グループ化 87">
            <a:extLst>
              <a:ext uri="{FF2B5EF4-FFF2-40B4-BE49-F238E27FC236}">
                <a16:creationId xmlns:a16="http://schemas.microsoft.com/office/drawing/2014/main" id="{47CB676C-D50D-1AA3-6566-537EAAD1F598}"/>
              </a:ext>
            </a:extLst>
          </p:cNvPr>
          <p:cNvGrpSpPr/>
          <p:nvPr/>
        </p:nvGrpSpPr>
        <p:grpSpPr>
          <a:xfrm>
            <a:off x="329184" y="5056632"/>
            <a:ext cx="1737360" cy="521208"/>
            <a:chOff x="310896" y="5138928"/>
            <a:chExt cx="1737360" cy="521208"/>
          </a:xfrm>
        </p:grpSpPr>
        <p:sp>
          <p:nvSpPr>
            <p:cNvPr id="12" name="Rounded Rectangle 10">
              <a:extLst>
                <a:ext uri="{FF2B5EF4-FFF2-40B4-BE49-F238E27FC236}">
                  <a16:creationId xmlns:a16="http://schemas.microsoft.com/office/drawing/2014/main" id="{062C3ED3-667F-4BAD-97C6-A783EB4E31AB}"/>
                </a:ext>
              </a:extLst>
            </p:cNvPr>
            <p:cNvSpPr/>
            <p:nvPr/>
          </p:nvSpPr>
          <p:spPr>
            <a:xfrm>
              <a:off x="310896" y="5138928"/>
              <a:ext cx="1737360" cy="521208"/>
            </a:xfrm>
            <a:prstGeom prst="roundRect">
              <a:avLst>
                <a:gd name="adj" fmla="val 9000"/>
              </a:avLst>
            </a:prstGeom>
            <a:solidFill>
              <a:srgbClr val="EBF4FC"/>
            </a:solidFill>
            <a:ln w="12700">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1">
              <a:extLst>
                <a:ext uri="{FF2B5EF4-FFF2-40B4-BE49-F238E27FC236}">
                  <a16:creationId xmlns:a16="http://schemas.microsoft.com/office/drawing/2014/main" id="{FCEBCB73-3A4F-9F2C-6C6C-83A0A416FC4D}"/>
                </a:ext>
              </a:extLst>
            </p:cNvPr>
            <p:cNvSpPr txBox="1"/>
            <p:nvPr/>
          </p:nvSpPr>
          <p:spPr>
            <a:xfrm>
              <a:off x="402336" y="5202936"/>
              <a:ext cx="1554480" cy="201168"/>
            </a:xfrm>
            <a:prstGeom prst="rect">
              <a:avLst/>
            </a:prstGeom>
            <a:noFill/>
            <a:ln>
              <a:noFill/>
            </a:ln>
          </p:spPr>
          <p:txBody>
            <a:bodyPr wrap="square" lIns="36576" tIns="36576" rIns="36576" bIns="36576" anchor="t">
              <a:spAutoFit/>
            </a:bodyPr>
            <a:lstStyle/>
            <a:p>
              <a:pPr algn="ctr"/>
              <a:r>
                <a:rPr sz="1140" b="1">
                  <a:solidFill>
                    <a:srgbClr val="173F78"/>
                  </a:solidFill>
                  <a:latin typeface="Noto Sans CJK JP"/>
                </a:rPr>
                <a:t>この計画で人流はどう変わる？</a:t>
              </a:r>
            </a:p>
          </p:txBody>
        </p:sp>
      </p:grpSp>
      <p:sp>
        <p:nvSpPr>
          <p:cNvPr id="14" name="Right Arrow 12">
            <a:extLst>
              <a:ext uri="{FF2B5EF4-FFF2-40B4-BE49-F238E27FC236}">
                <a16:creationId xmlns:a16="http://schemas.microsoft.com/office/drawing/2014/main" id="{F2839042-E91C-ADCC-C39C-096D6E026F2E}"/>
              </a:ext>
            </a:extLst>
          </p:cNvPr>
          <p:cNvSpPr/>
          <p:nvPr/>
        </p:nvSpPr>
        <p:spPr>
          <a:xfrm>
            <a:off x="2194560" y="3127248"/>
            <a:ext cx="210311" cy="320040"/>
          </a:xfrm>
          <a:prstGeom prst="rightArrow">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3">
            <a:extLst>
              <a:ext uri="{FF2B5EF4-FFF2-40B4-BE49-F238E27FC236}">
                <a16:creationId xmlns:a16="http://schemas.microsoft.com/office/drawing/2014/main" id="{57CD9CF8-E892-968A-B8FD-4E0134F70433}"/>
              </a:ext>
            </a:extLst>
          </p:cNvPr>
          <p:cNvSpPr>
            <a:spLocks noGrp="1" noRot="1" noMove="1" noResize="1" noEditPoints="1" noAdjustHandles="1" noChangeArrowheads="1" noChangeShapeType="1"/>
          </p:cNvSpPr>
          <p:nvPr/>
        </p:nvSpPr>
        <p:spPr>
          <a:xfrm>
            <a:off x="2286000" y="1618488"/>
            <a:ext cx="4187952" cy="4325112"/>
          </a:xfrm>
          <a:prstGeom prst="roundRect">
            <a:avLst>
              <a:gd name="adj" fmla="val 9000"/>
            </a:avLst>
          </a:prstGeom>
          <a:solidFill>
            <a:srgbClr val="FFFFFF"/>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4">
            <a:extLst>
              <a:ext uri="{FF2B5EF4-FFF2-40B4-BE49-F238E27FC236}">
                <a16:creationId xmlns:a16="http://schemas.microsoft.com/office/drawing/2014/main" id="{C42E13F6-C8AE-A5D4-404A-FCF5E88D10CE}"/>
              </a:ext>
            </a:extLst>
          </p:cNvPr>
          <p:cNvSpPr/>
          <p:nvPr/>
        </p:nvSpPr>
        <p:spPr>
          <a:xfrm>
            <a:off x="2459736" y="1709928"/>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Noto Sans CJK JP"/>
              </a:rPr>
              <a:t>2</a:t>
            </a:r>
          </a:p>
        </p:txBody>
      </p:sp>
      <p:sp>
        <p:nvSpPr>
          <p:cNvPr id="17" name="TextBox 15">
            <a:extLst>
              <a:ext uri="{FF2B5EF4-FFF2-40B4-BE49-F238E27FC236}">
                <a16:creationId xmlns:a16="http://schemas.microsoft.com/office/drawing/2014/main" id="{206BE4BF-00B2-8CE1-E1C4-3C0007339F74}"/>
              </a:ext>
            </a:extLst>
          </p:cNvPr>
          <p:cNvSpPr txBox="1"/>
          <p:nvPr/>
        </p:nvSpPr>
        <p:spPr>
          <a:xfrm>
            <a:off x="2788920" y="1728216"/>
            <a:ext cx="1005840" cy="201168"/>
          </a:xfrm>
          <a:prstGeom prst="rect">
            <a:avLst/>
          </a:prstGeom>
          <a:noFill/>
          <a:ln>
            <a:noFill/>
          </a:ln>
        </p:spPr>
        <p:txBody>
          <a:bodyPr wrap="square" lIns="36576" tIns="36576" rIns="36576" bIns="36576" anchor="t">
            <a:spAutoFit/>
          </a:bodyPr>
          <a:lstStyle/>
          <a:p>
            <a:pPr algn="l"/>
            <a:r>
              <a:rPr sz="1500" b="1">
                <a:solidFill>
                  <a:srgbClr val="0B2B5B"/>
                </a:solidFill>
                <a:latin typeface="Noto Sans CJK JP"/>
              </a:rPr>
              <a:t>人流予測</a:t>
            </a:r>
          </a:p>
        </p:txBody>
      </p:sp>
      <p:grpSp>
        <p:nvGrpSpPr>
          <p:cNvPr id="90" name="グループ化 89">
            <a:extLst>
              <a:ext uri="{FF2B5EF4-FFF2-40B4-BE49-F238E27FC236}">
                <a16:creationId xmlns:a16="http://schemas.microsoft.com/office/drawing/2014/main" id="{B6C74E6D-DE85-DE9A-9A81-5C3594DF2447}"/>
              </a:ext>
            </a:extLst>
          </p:cNvPr>
          <p:cNvGrpSpPr/>
          <p:nvPr/>
        </p:nvGrpSpPr>
        <p:grpSpPr>
          <a:xfrm>
            <a:off x="2757055" y="2026920"/>
            <a:ext cx="1298448" cy="262128"/>
            <a:chOff x="2843784" y="2029968"/>
            <a:chExt cx="1298448" cy="262128"/>
          </a:xfrm>
        </p:grpSpPr>
        <p:sp>
          <p:nvSpPr>
            <p:cNvPr id="18" name="Rounded Rectangle 16">
              <a:extLst>
                <a:ext uri="{FF2B5EF4-FFF2-40B4-BE49-F238E27FC236}">
                  <a16:creationId xmlns:a16="http://schemas.microsoft.com/office/drawing/2014/main" id="{60DCF5F5-68E7-DE6A-6003-2D5D1B8B6872}"/>
                </a:ext>
              </a:extLst>
            </p:cNvPr>
            <p:cNvSpPr/>
            <p:nvPr/>
          </p:nvSpPr>
          <p:spPr>
            <a:xfrm>
              <a:off x="2843784" y="2036064"/>
              <a:ext cx="1298448" cy="256032"/>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7">
              <a:extLst>
                <a:ext uri="{FF2B5EF4-FFF2-40B4-BE49-F238E27FC236}">
                  <a16:creationId xmlns:a16="http://schemas.microsoft.com/office/drawing/2014/main" id="{16E548F5-E807-FE9D-C572-5AA97F10FA18}"/>
                </a:ext>
              </a:extLst>
            </p:cNvPr>
            <p:cNvSpPr txBox="1"/>
            <p:nvPr/>
          </p:nvSpPr>
          <p:spPr>
            <a:xfrm>
              <a:off x="3163824" y="2029968"/>
              <a:ext cx="676656" cy="146304"/>
            </a:xfrm>
            <a:prstGeom prst="rect">
              <a:avLst/>
            </a:prstGeom>
            <a:noFill/>
            <a:ln>
              <a:noFill/>
            </a:ln>
          </p:spPr>
          <p:txBody>
            <a:bodyPr wrap="square" lIns="36576" tIns="36576" rIns="36576" bIns="36576" anchor="t">
              <a:spAutoFit/>
            </a:bodyPr>
            <a:lstStyle/>
            <a:p>
              <a:pPr algn="ctr"/>
              <a:r>
                <a:rPr sz="1400" b="1">
                  <a:solidFill>
                    <a:srgbClr val="FFFFFF"/>
                  </a:solidFill>
                  <a:latin typeface="Noto Sans CJK JP"/>
                </a:rPr>
                <a:t>Before</a:t>
              </a:r>
            </a:p>
          </p:txBody>
        </p:sp>
      </p:grpSp>
      <p:grpSp>
        <p:nvGrpSpPr>
          <p:cNvPr id="91" name="グループ化 90">
            <a:extLst>
              <a:ext uri="{FF2B5EF4-FFF2-40B4-BE49-F238E27FC236}">
                <a16:creationId xmlns:a16="http://schemas.microsoft.com/office/drawing/2014/main" id="{62382023-5072-E87B-4970-48CD07A3E6F4}"/>
              </a:ext>
            </a:extLst>
          </p:cNvPr>
          <p:cNvGrpSpPr/>
          <p:nvPr/>
        </p:nvGrpSpPr>
        <p:grpSpPr>
          <a:xfrm>
            <a:off x="4618769" y="2029967"/>
            <a:ext cx="1298448" cy="265176"/>
            <a:chOff x="4681728" y="2029968"/>
            <a:chExt cx="1298448" cy="265176"/>
          </a:xfrm>
        </p:grpSpPr>
        <p:sp>
          <p:nvSpPr>
            <p:cNvPr id="20" name="Rounded Rectangle 18">
              <a:extLst>
                <a:ext uri="{FF2B5EF4-FFF2-40B4-BE49-F238E27FC236}">
                  <a16:creationId xmlns:a16="http://schemas.microsoft.com/office/drawing/2014/main" id="{39065249-8358-85C6-03E8-FA412261A018}"/>
                </a:ext>
              </a:extLst>
            </p:cNvPr>
            <p:cNvSpPr/>
            <p:nvPr/>
          </p:nvSpPr>
          <p:spPr>
            <a:xfrm>
              <a:off x="4681728" y="2039112"/>
              <a:ext cx="1298448" cy="256032"/>
            </a:xfrm>
            <a:prstGeom prst="roundRect">
              <a:avLst>
                <a:gd name="adj" fmla="val 9000"/>
              </a:avLst>
            </a:prstGeom>
            <a:solidFill>
              <a:srgbClr val="D94C3D"/>
            </a:solidFill>
            <a:ln w="12700">
              <a:solidFill>
                <a:srgbClr val="D9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19">
              <a:extLst>
                <a:ext uri="{FF2B5EF4-FFF2-40B4-BE49-F238E27FC236}">
                  <a16:creationId xmlns:a16="http://schemas.microsoft.com/office/drawing/2014/main" id="{B4367F52-AF23-AA1E-DEF1-F7B3B925BC2B}"/>
                </a:ext>
              </a:extLst>
            </p:cNvPr>
            <p:cNvSpPr txBox="1"/>
            <p:nvPr/>
          </p:nvSpPr>
          <p:spPr>
            <a:xfrm>
              <a:off x="5029200" y="2029968"/>
              <a:ext cx="640080" cy="146304"/>
            </a:xfrm>
            <a:prstGeom prst="rect">
              <a:avLst/>
            </a:prstGeom>
            <a:noFill/>
            <a:ln>
              <a:noFill/>
            </a:ln>
          </p:spPr>
          <p:txBody>
            <a:bodyPr wrap="square" lIns="36576" tIns="36576" rIns="36576" bIns="36576" anchor="t">
              <a:spAutoFit/>
            </a:bodyPr>
            <a:lstStyle/>
            <a:p>
              <a:pPr algn="ctr"/>
              <a:r>
                <a:rPr sz="1400" b="1">
                  <a:solidFill>
                    <a:srgbClr val="FFFFFF"/>
                  </a:solidFill>
                  <a:latin typeface="Noto Sans CJK JP"/>
                </a:rPr>
                <a:t>After</a:t>
              </a:r>
            </a:p>
          </p:txBody>
        </p:sp>
      </p:grpSp>
      <p:pic>
        <p:nvPicPr>
          <p:cNvPr id="22" name="Picture 20" descr="flow_before.png">
            <a:extLst>
              <a:ext uri="{FF2B5EF4-FFF2-40B4-BE49-F238E27FC236}">
                <a16:creationId xmlns:a16="http://schemas.microsoft.com/office/drawing/2014/main" id="{D02B983A-C1BE-2E70-23EF-E5D696D909CB}"/>
              </a:ext>
            </a:extLst>
          </p:cNvPr>
          <p:cNvPicPr>
            <a:picLocks noChangeAspect="1"/>
          </p:cNvPicPr>
          <p:nvPr/>
        </p:nvPicPr>
        <p:blipFill>
          <a:blip r:embed="rId5"/>
          <a:stretch>
            <a:fillRect/>
          </a:stretch>
        </p:blipFill>
        <p:spPr>
          <a:xfrm>
            <a:off x="2595881" y="2409444"/>
            <a:ext cx="1627632" cy="2313432"/>
          </a:xfrm>
          <a:prstGeom prst="rect">
            <a:avLst/>
          </a:prstGeom>
        </p:spPr>
      </p:pic>
      <p:pic>
        <p:nvPicPr>
          <p:cNvPr id="23" name="Picture 21" descr="flow_after.png">
            <a:extLst>
              <a:ext uri="{FF2B5EF4-FFF2-40B4-BE49-F238E27FC236}">
                <a16:creationId xmlns:a16="http://schemas.microsoft.com/office/drawing/2014/main" id="{CB4D498F-8014-C88F-7A84-9DF357B44BE3}"/>
              </a:ext>
            </a:extLst>
          </p:cNvPr>
          <p:cNvPicPr>
            <a:picLocks noChangeAspect="1"/>
          </p:cNvPicPr>
          <p:nvPr/>
        </p:nvPicPr>
        <p:blipFill>
          <a:blip r:embed="rId6"/>
          <a:stretch>
            <a:fillRect/>
          </a:stretch>
        </p:blipFill>
        <p:spPr>
          <a:xfrm>
            <a:off x="4468368" y="2395727"/>
            <a:ext cx="1627632" cy="2313432"/>
          </a:xfrm>
          <a:prstGeom prst="rect">
            <a:avLst/>
          </a:prstGeom>
        </p:spPr>
      </p:pic>
      <p:sp>
        <p:nvSpPr>
          <p:cNvPr id="24" name="Chevron 22">
            <a:extLst>
              <a:ext uri="{FF2B5EF4-FFF2-40B4-BE49-F238E27FC236}">
                <a16:creationId xmlns:a16="http://schemas.microsoft.com/office/drawing/2014/main" id="{F0D45841-6398-40EE-9922-34C97901E500}"/>
              </a:ext>
            </a:extLst>
          </p:cNvPr>
          <p:cNvSpPr/>
          <p:nvPr/>
        </p:nvSpPr>
        <p:spPr>
          <a:xfrm>
            <a:off x="4242816" y="3273552"/>
            <a:ext cx="164592" cy="292608"/>
          </a:xfrm>
          <a:prstGeom prst="chevron">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3">
            <a:extLst>
              <a:ext uri="{FF2B5EF4-FFF2-40B4-BE49-F238E27FC236}">
                <a16:creationId xmlns:a16="http://schemas.microsoft.com/office/drawing/2014/main" id="{4C8B5B92-4908-6F6A-1D94-DAA34D35E985}"/>
              </a:ext>
            </a:extLst>
          </p:cNvPr>
          <p:cNvSpPr/>
          <p:nvPr/>
        </p:nvSpPr>
        <p:spPr>
          <a:xfrm>
            <a:off x="2761488" y="4910328"/>
            <a:ext cx="3401568" cy="310896"/>
          </a:xfrm>
          <a:prstGeom prst="roundRect">
            <a:avLst>
              <a:gd name="adj" fmla="val 9000"/>
            </a:avLst>
          </a:prstGeom>
          <a:solidFill>
            <a:srgbClr val="F8FAFC"/>
          </a:solidFill>
          <a:ln w="10160">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4">
            <a:extLst>
              <a:ext uri="{FF2B5EF4-FFF2-40B4-BE49-F238E27FC236}">
                <a16:creationId xmlns:a16="http://schemas.microsoft.com/office/drawing/2014/main" id="{160B2C68-97D9-BAF8-5AA5-D3BB3258997F}"/>
              </a:ext>
            </a:extLst>
          </p:cNvPr>
          <p:cNvSpPr txBox="1"/>
          <p:nvPr/>
        </p:nvSpPr>
        <p:spPr>
          <a:xfrm>
            <a:off x="2871216" y="4974336"/>
            <a:ext cx="3182112" cy="109728"/>
          </a:xfrm>
          <a:prstGeom prst="rect">
            <a:avLst/>
          </a:prstGeom>
          <a:noFill/>
          <a:ln>
            <a:noFill/>
          </a:ln>
        </p:spPr>
        <p:txBody>
          <a:bodyPr wrap="square" lIns="36576" tIns="36576" rIns="36576" bIns="36576" anchor="t">
            <a:spAutoFit/>
          </a:bodyPr>
          <a:lstStyle/>
          <a:p>
            <a:pPr algn="ctr"/>
            <a:r>
              <a:rPr sz="1019" b="0">
                <a:solidFill>
                  <a:srgbClr val="3C3C3C"/>
                </a:solidFill>
                <a:latin typeface="Noto Sans CJK JP"/>
              </a:rPr>
              <a:t>青＝開発前    赤＝開発後    →＝移動方向</a:t>
            </a:r>
          </a:p>
        </p:txBody>
      </p:sp>
      <p:sp>
        <p:nvSpPr>
          <p:cNvPr id="27" name="Rounded Rectangle 25">
            <a:extLst>
              <a:ext uri="{FF2B5EF4-FFF2-40B4-BE49-F238E27FC236}">
                <a16:creationId xmlns:a16="http://schemas.microsoft.com/office/drawing/2014/main" id="{CB3F7B8F-4AD1-3460-F3B5-575AC1BBB67C}"/>
              </a:ext>
            </a:extLst>
          </p:cNvPr>
          <p:cNvSpPr/>
          <p:nvPr/>
        </p:nvSpPr>
        <p:spPr>
          <a:xfrm>
            <a:off x="2798064" y="5340096"/>
            <a:ext cx="3310128" cy="384048"/>
          </a:xfrm>
          <a:prstGeom prst="roundRect">
            <a:avLst>
              <a:gd name="adj" fmla="val 9000"/>
            </a:avLst>
          </a:prstGeom>
          <a:solidFill>
            <a:srgbClr val="EBF4FC"/>
          </a:solidFill>
          <a:ln w="12700">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6">
            <a:extLst>
              <a:ext uri="{FF2B5EF4-FFF2-40B4-BE49-F238E27FC236}">
                <a16:creationId xmlns:a16="http://schemas.microsoft.com/office/drawing/2014/main" id="{3E22F70D-5B70-67FC-37FC-DEDFFE395C37}"/>
              </a:ext>
            </a:extLst>
          </p:cNvPr>
          <p:cNvSpPr txBox="1"/>
          <p:nvPr/>
        </p:nvSpPr>
        <p:spPr>
          <a:xfrm>
            <a:off x="2926080" y="5394960"/>
            <a:ext cx="3054096" cy="182880"/>
          </a:xfrm>
          <a:prstGeom prst="rect">
            <a:avLst/>
          </a:prstGeom>
          <a:noFill/>
          <a:ln>
            <a:noFill/>
          </a:ln>
        </p:spPr>
        <p:txBody>
          <a:bodyPr wrap="square" lIns="36576" tIns="36576" rIns="36576" bIns="36576" anchor="t">
            <a:spAutoFit/>
          </a:bodyPr>
          <a:lstStyle/>
          <a:p>
            <a:pPr algn="ctr"/>
            <a:r>
              <a:rPr sz="1170" b="1">
                <a:solidFill>
                  <a:srgbClr val="173F78"/>
                </a:solidFill>
                <a:latin typeface="Noto Sans CJK JP"/>
              </a:rPr>
              <a:t>駅・商業・広場への流れを比較</a:t>
            </a:r>
          </a:p>
        </p:txBody>
      </p:sp>
      <p:sp>
        <p:nvSpPr>
          <p:cNvPr id="29" name="Right Arrow 27">
            <a:extLst>
              <a:ext uri="{FF2B5EF4-FFF2-40B4-BE49-F238E27FC236}">
                <a16:creationId xmlns:a16="http://schemas.microsoft.com/office/drawing/2014/main" id="{96A2525F-0FB1-475E-F4E1-1AF2B8ADAE99}"/>
              </a:ext>
            </a:extLst>
          </p:cNvPr>
          <p:cNvSpPr/>
          <p:nvPr/>
        </p:nvSpPr>
        <p:spPr>
          <a:xfrm>
            <a:off x="6510528" y="3127248"/>
            <a:ext cx="210311" cy="320040"/>
          </a:xfrm>
          <a:prstGeom prst="rightArrow">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8">
            <a:extLst>
              <a:ext uri="{FF2B5EF4-FFF2-40B4-BE49-F238E27FC236}">
                <a16:creationId xmlns:a16="http://schemas.microsoft.com/office/drawing/2014/main" id="{95E0F0C9-C0A5-DFE4-6A51-EDD59C6662E0}"/>
              </a:ext>
            </a:extLst>
          </p:cNvPr>
          <p:cNvSpPr/>
          <p:nvPr/>
        </p:nvSpPr>
        <p:spPr>
          <a:xfrm>
            <a:off x="6601968" y="1618488"/>
            <a:ext cx="1700784" cy="4325112"/>
          </a:xfrm>
          <a:prstGeom prst="roundRect">
            <a:avLst>
              <a:gd name="adj" fmla="val 9000"/>
            </a:avLst>
          </a:prstGeom>
          <a:solidFill>
            <a:srgbClr val="FFFFFF"/>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29">
            <a:extLst>
              <a:ext uri="{FF2B5EF4-FFF2-40B4-BE49-F238E27FC236}">
                <a16:creationId xmlns:a16="http://schemas.microsoft.com/office/drawing/2014/main" id="{A151DAE5-7A92-682A-AE31-EC47AEB6D7D0}"/>
              </a:ext>
            </a:extLst>
          </p:cNvPr>
          <p:cNvSpPr/>
          <p:nvPr/>
        </p:nvSpPr>
        <p:spPr>
          <a:xfrm>
            <a:off x="6725412" y="1694738"/>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Noto Sans CJK JP"/>
              </a:rPr>
              <a:t>3</a:t>
            </a:r>
          </a:p>
        </p:txBody>
      </p:sp>
      <p:sp>
        <p:nvSpPr>
          <p:cNvPr id="32" name="TextBox 30">
            <a:extLst>
              <a:ext uri="{FF2B5EF4-FFF2-40B4-BE49-F238E27FC236}">
                <a16:creationId xmlns:a16="http://schemas.microsoft.com/office/drawing/2014/main" id="{3E37DE21-ACEF-7D4B-7F04-25EEA9F52C24}"/>
              </a:ext>
            </a:extLst>
          </p:cNvPr>
          <p:cNvSpPr txBox="1"/>
          <p:nvPr/>
        </p:nvSpPr>
        <p:spPr>
          <a:xfrm>
            <a:off x="7054596" y="1713025"/>
            <a:ext cx="1207008" cy="304699"/>
          </a:xfrm>
          <a:prstGeom prst="rect">
            <a:avLst/>
          </a:prstGeom>
          <a:noFill/>
          <a:ln>
            <a:noFill/>
          </a:ln>
        </p:spPr>
        <p:txBody>
          <a:bodyPr wrap="square" lIns="36576" tIns="36576" rIns="36576" bIns="36576" anchor="t">
            <a:spAutoFit/>
          </a:bodyPr>
          <a:lstStyle/>
          <a:p>
            <a:pPr algn="l"/>
            <a:r>
              <a:rPr sz="1500" b="1">
                <a:solidFill>
                  <a:srgbClr val="0B2B5B"/>
                </a:solidFill>
                <a:latin typeface="Noto Sans CJK JP"/>
              </a:rPr>
              <a:t>効果・課題</a:t>
            </a:r>
          </a:p>
        </p:txBody>
      </p:sp>
      <p:sp>
        <p:nvSpPr>
          <p:cNvPr id="33" name="Rounded Rectangle 31">
            <a:extLst>
              <a:ext uri="{FF2B5EF4-FFF2-40B4-BE49-F238E27FC236}">
                <a16:creationId xmlns:a16="http://schemas.microsoft.com/office/drawing/2014/main" id="{B416EA44-5FB3-6F8E-D1B7-2C735418980C}"/>
              </a:ext>
            </a:extLst>
          </p:cNvPr>
          <p:cNvSpPr/>
          <p:nvPr/>
        </p:nvSpPr>
        <p:spPr>
          <a:xfrm>
            <a:off x="6748272" y="2066543"/>
            <a:ext cx="1408176" cy="475488"/>
          </a:xfrm>
          <a:prstGeom prst="roundRect">
            <a:avLst>
              <a:gd name="adj" fmla="val 9000"/>
            </a:avLst>
          </a:prstGeom>
          <a:solidFill>
            <a:srgbClr val="FAFCFF"/>
          </a:solidFill>
          <a:ln w="12700">
            <a:solidFill>
              <a:srgbClr val="D0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2">
            <a:extLst>
              <a:ext uri="{FF2B5EF4-FFF2-40B4-BE49-F238E27FC236}">
                <a16:creationId xmlns:a16="http://schemas.microsoft.com/office/drawing/2014/main" id="{2A468B43-9A04-B432-6A93-E85D360BB563}"/>
              </a:ext>
            </a:extLst>
          </p:cNvPr>
          <p:cNvSpPr/>
          <p:nvPr/>
        </p:nvSpPr>
        <p:spPr>
          <a:xfrm>
            <a:off x="6839712" y="2139696"/>
            <a:ext cx="182880" cy="182880"/>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3">
            <a:extLst>
              <a:ext uri="{FF2B5EF4-FFF2-40B4-BE49-F238E27FC236}">
                <a16:creationId xmlns:a16="http://schemas.microsoft.com/office/drawing/2014/main" id="{5BC4343C-5DB9-7E0D-CF4D-01B6C567977D}"/>
              </a:ext>
            </a:extLst>
          </p:cNvPr>
          <p:cNvSpPr txBox="1"/>
          <p:nvPr/>
        </p:nvSpPr>
        <p:spPr>
          <a:xfrm>
            <a:off x="7068312" y="2139695"/>
            <a:ext cx="932688" cy="229294"/>
          </a:xfrm>
          <a:prstGeom prst="rect">
            <a:avLst/>
          </a:prstGeom>
          <a:noFill/>
          <a:ln>
            <a:noFill/>
          </a:ln>
        </p:spPr>
        <p:txBody>
          <a:bodyPr wrap="square" lIns="36576" tIns="36576" rIns="36576" bIns="36576" anchor="t">
            <a:spAutoFit/>
          </a:bodyPr>
          <a:lstStyle/>
          <a:p>
            <a:pPr algn="l"/>
            <a:r>
              <a:rPr sz="1010" b="1">
                <a:solidFill>
                  <a:srgbClr val="1E1E1E"/>
                </a:solidFill>
                <a:latin typeface="Noto Sans CJK JP"/>
              </a:rPr>
              <a:t>駅前歩行者量</a:t>
            </a:r>
          </a:p>
        </p:txBody>
      </p:sp>
      <p:sp>
        <p:nvSpPr>
          <p:cNvPr id="36" name="TextBox 34">
            <a:extLst>
              <a:ext uri="{FF2B5EF4-FFF2-40B4-BE49-F238E27FC236}">
                <a16:creationId xmlns:a16="http://schemas.microsoft.com/office/drawing/2014/main" id="{5E937DF8-1049-9B4E-E7DC-5CBBCC5D6C07}"/>
              </a:ext>
            </a:extLst>
          </p:cNvPr>
          <p:cNvSpPr txBox="1"/>
          <p:nvPr/>
        </p:nvSpPr>
        <p:spPr>
          <a:xfrm>
            <a:off x="7498080" y="2296197"/>
            <a:ext cx="649224" cy="297004"/>
          </a:xfrm>
          <a:prstGeom prst="rect">
            <a:avLst/>
          </a:prstGeom>
          <a:noFill/>
          <a:ln>
            <a:noFill/>
          </a:ln>
        </p:spPr>
        <p:txBody>
          <a:bodyPr wrap="square" lIns="36576" tIns="36576" rIns="36576" bIns="36576" anchor="t">
            <a:spAutoFit/>
          </a:bodyPr>
          <a:lstStyle/>
          <a:p>
            <a:pPr algn="r"/>
            <a:r>
              <a:rPr sz="1450" b="1">
                <a:solidFill>
                  <a:srgbClr val="1B519F"/>
                </a:solidFill>
                <a:latin typeface="Noto Sans CJK JP"/>
              </a:rPr>
              <a:t>+18%</a:t>
            </a:r>
          </a:p>
        </p:txBody>
      </p:sp>
      <p:sp>
        <p:nvSpPr>
          <p:cNvPr id="37" name="Rounded Rectangle 35">
            <a:extLst>
              <a:ext uri="{FF2B5EF4-FFF2-40B4-BE49-F238E27FC236}">
                <a16:creationId xmlns:a16="http://schemas.microsoft.com/office/drawing/2014/main" id="{A43FCB5D-4E25-C691-AA43-7616D7EEBE4D}"/>
              </a:ext>
            </a:extLst>
          </p:cNvPr>
          <p:cNvSpPr/>
          <p:nvPr/>
        </p:nvSpPr>
        <p:spPr>
          <a:xfrm>
            <a:off x="6748272" y="2715768"/>
            <a:ext cx="1408176" cy="475488"/>
          </a:xfrm>
          <a:prstGeom prst="roundRect">
            <a:avLst>
              <a:gd name="adj" fmla="val 9000"/>
            </a:avLst>
          </a:prstGeom>
          <a:solidFill>
            <a:srgbClr val="FAFCFF"/>
          </a:solidFill>
          <a:ln w="12700">
            <a:solidFill>
              <a:srgbClr val="D0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6">
            <a:extLst>
              <a:ext uri="{FF2B5EF4-FFF2-40B4-BE49-F238E27FC236}">
                <a16:creationId xmlns:a16="http://schemas.microsoft.com/office/drawing/2014/main" id="{2A0DF57A-2BD9-E83A-7B36-B9570E57D2C0}"/>
              </a:ext>
            </a:extLst>
          </p:cNvPr>
          <p:cNvSpPr/>
          <p:nvPr/>
        </p:nvSpPr>
        <p:spPr>
          <a:xfrm>
            <a:off x="6839712" y="2788920"/>
            <a:ext cx="182880" cy="182880"/>
          </a:xfrm>
          <a:prstGeom prst="ellipse">
            <a:avLst/>
          </a:prstGeom>
          <a:solidFill>
            <a:srgbClr val="E36F7A"/>
          </a:solidFill>
          <a:ln>
            <a:solidFill>
              <a:srgbClr val="E36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7">
            <a:extLst>
              <a:ext uri="{FF2B5EF4-FFF2-40B4-BE49-F238E27FC236}">
                <a16:creationId xmlns:a16="http://schemas.microsoft.com/office/drawing/2014/main" id="{2F45A013-91D4-044A-61CA-0F5D6C674D1E}"/>
              </a:ext>
            </a:extLst>
          </p:cNvPr>
          <p:cNvSpPr txBox="1"/>
          <p:nvPr/>
        </p:nvSpPr>
        <p:spPr>
          <a:xfrm>
            <a:off x="7068312" y="2788920"/>
            <a:ext cx="932688" cy="229294"/>
          </a:xfrm>
          <a:prstGeom prst="rect">
            <a:avLst/>
          </a:prstGeom>
          <a:noFill/>
          <a:ln>
            <a:noFill/>
          </a:ln>
        </p:spPr>
        <p:txBody>
          <a:bodyPr wrap="square" lIns="36576" tIns="36576" rIns="36576" bIns="36576" anchor="t">
            <a:spAutoFit/>
          </a:bodyPr>
          <a:lstStyle/>
          <a:p>
            <a:pPr algn="l"/>
            <a:r>
              <a:rPr sz="1010" b="1">
                <a:solidFill>
                  <a:srgbClr val="1E1E1E"/>
                </a:solidFill>
                <a:latin typeface="Noto Sans CJK JP"/>
              </a:rPr>
              <a:t>商業施設来訪</a:t>
            </a:r>
          </a:p>
        </p:txBody>
      </p:sp>
      <p:sp>
        <p:nvSpPr>
          <p:cNvPr id="40" name="TextBox 38">
            <a:extLst>
              <a:ext uri="{FF2B5EF4-FFF2-40B4-BE49-F238E27FC236}">
                <a16:creationId xmlns:a16="http://schemas.microsoft.com/office/drawing/2014/main" id="{E2ED2DBF-3C1B-3164-861F-89D5088CE8A4}"/>
              </a:ext>
            </a:extLst>
          </p:cNvPr>
          <p:cNvSpPr txBox="1"/>
          <p:nvPr/>
        </p:nvSpPr>
        <p:spPr>
          <a:xfrm>
            <a:off x="7534656" y="2942864"/>
            <a:ext cx="630936" cy="297004"/>
          </a:xfrm>
          <a:prstGeom prst="rect">
            <a:avLst/>
          </a:prstGeom>
          <a:noFill/>
          <a:ln>
            <a:noFill/>
          </a:ln>
        </p:spPr>
        <p:txBody>
          <a:bodyPr wrap="square" lIns="36576" tIns="36576" rIns="36576" bIns="36576" anchor="t">
            <a:spAutoFit/>
          </a:bodyPr>
          <a:lstStyle/>
          <a:p>
            <a:pPr algn="r"/>
            <a:r>
              <a:rPr sz="1450" b="1">
                <a:solidFill>
                  <a:srgbClr val="E36F7A"/>
                </a:solidFill>
                <a:latin typeface="Noto Sans CJK JP"/>
              </a:rPr>
              <a:t>+22%</a:t>
            </a:r>
          </a:p>
        </p:txBody>
      </p:sp>
      <p:sp>
        <p:nvSpPr>
          <p:cNvPr id="41" name="Rounded Rectangle 39">
            <a:extLst>
              <a:ext uri="{FF2B5EF4-FFF2-40B4-BE49-F238E27FC236}">
                <a16:creationId xmlns:a16="http://schemas.microsoft.com/office/drawing/2014/main" id="{BDB018B4-F2A0-168D-0C2E-41C9E64DB759}"/>
              </a:ext>
            </a:extLst>
          </p:cNvPr>
          <p:cNvSpPr/>
          <p:nvPr/>
        </p:nvSpPr>
        <p:spPr>
          <a:xfrm>
            <a:off x="6748272" y="3364991"/>
            <a:ext cx="1408176" cy="475488"/>
          </a:xfrm>
          <a:prstGeom prst="roundRect">
            <a:avLst>
              <a:gd name="adj" fmla="val 9000"/>
            </a:avLst>
          </a:prstGeom>
          <a:solidFill>
            <a:srgbClr val="FAFCFF"/>
          </a:solidFill>
          <a:ln w="12700">
            <a:solidFill>
              <a:srgbClr val="D0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0">
            <a:extLst>
              <a:ext uri="{FF2B5EF4-FFF2-40B4-BE49-F238E27FC236}">
                <a16:creationId xmlns:a16="http://schemas.microsoft.com/office/drawing/2014/main" id="{5F3F1932-F222-2238-3100-74C19A62D8C2}"/>
              </a:ext>
            </a:extLst>
          </p:cNvPr>
          <p:cNvSpPr/>
          <p:nvPr/>
        </p:nvSpPr>
        <p:spPr>
          <a:xfrm>
            <a:off x="6839712" y="3438144"/>
            <a:ext cx="182880" cy="182880"/>
          </a:xfrm>
          <a:prstGeom prst="ellipse">
            <a:avLst/>
          </a:prstGeom>
          <a:solidFill>
            <a:srgbClr val="6DA658"/>
          </a:solidFill>
          <a:ln>
            <a:solidFill>
              <a:srgbClr val="6DA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1">
            <a:extLst>
              <a:ext uri="{FF2B5EF4-FFF2-40B4-BE49-F238E27FC236}">
                <a16:creationId xmlns:a16="http://schemas.microsoft.com/office/drawing/2014/main" id="{F05FB347-3537-3D4D-EB52-8EC9C79A14D8}"/>
              </a:ext>
            </a:extLst>
          </p:cNvPr>
          <p:cNvSpPr txBox="1"/>
          <p:nvPr/>
        </p:nvSpPr>
        <p:spPr>
          <a:xfrm>
            <a:off x="7068312" y="3438144"/>
            <a:ext cx="932686" cy="229294"/>
          </a:xfrm>
          <a:prstGeom prst="rect">
            <a:avLst/>
          </a:prstGeom>
          <a:noFill/>
          <a:ln>
            <a:noFill/>
          </a:ln>
        </p:spPr>
        <p:txBody>
          <a:bodyPr wrap="square" lIns="36576" tIns="36576" rIns="36576" bIns="36576" anchor="t">
            <a:spAutoFit/>
          </a:bodyPr>
          <a:lstStyle/>
          <a:p>
            <a:pPr algn="l"/>
            <a:r>
              <a:rPr sz="1010" b="1">
                <a:solidFill>
                  <a:srgbClr val="1E1E1E"/>
                </a:solidFill>
                <a:latin typeface="Noto Sans CJK JP"/>
              </a:rPr>
              <a:t>広場周辺滞在</a:t>
            </a:r>
          </a:p>
        </p:txBody>
      </p:sp>
      <p:sp>
        <p:nvSpPr>
          <p:cNvPr id="44" name="TextBox 42">
            <a:extLst>
              <a:ext uri="{FF2B5EF4-FFF2-40B4-BE49-F238E27FC236}">
                <a16:creationId xmlns:a16="http://schemas.microsoft.com/office/drawing/2014/main" id="{15F8560C-936F-D937-5210-32CE25352708}"/>
              </a:ext>
            </a:extLst>
          </p:cNvPr>
          <p:cNvSpPr txBox="1"/>
          <p:nvPr/>
        </p:nvSpPr>
        <p:spPr>
          <a:xfrm>
            <a:off x="7494593" y="3601465"/>
            <a:ext cx="685800" cy="297004"/>
          </a:xfrm>
          <a:prstGeom prst="rect">
            <a:avLst/>
          </a:prstGeom>
          <a:noFill/>
          <a:ln>
            <a:noFill/>
          </a:ln>
        </p:spPr>
        <p:txBody>
          <a:bodyPr wrap="square" lIns="36576" tIns="36576" rIns="36576" bIns="36576" anchor="t">
            <a:spAutoFit/>
          </a:bodyPr>
          <a:lstStyle/>
          <a:p>
            <a:pPr algn="r"/>
            <a:r>
              <a:rPr sz="1450" b="1">
                <a:solidFill>
                  <a:srgbClr val="6DA658"/>
                </a:solidFill>
                <a:latin typeface="Noto Sans CJK JP"/>
              </a:rPr>
              <a:t>+15%</a:t>
            </a:r>
          </a:p>
        </p:txBody>
      </p:sp>
      <p:sp>
        <p:nvSpPr>
          <p:cNvPr id="45" name="Rounded Rectangle 43">
            <a:extLst>
              <a:ext uri="{FF2B5EF4-FFF2-40B4-BE49-F238E27FC236}">
                <a16:creationId xmlns:a16="http://schemas.microsoft.com/office/drawing/2014/main" id="{65EFB4C2-7141-F64D-2F48-6AA8683DC0DD}"/>
              </a:ext>
            </a:extLst>
          </p:cNvPr>
          <p:cNvSpPr/>
          <p:nvPr/>
        </p:nvSpPr>
        <p:spPr>
          <a:xfrm>
            <a:off x="6748272" y="4014215"/>
            <a:ext cx="1408176" cy="475488"/>
          </a:xfrm>
          <a:prstGeom prst="roundRect">
            <a:avLst>
              <a:gd name="adj" fmla="val 9000"/>
            </a:avLst>
          </a:prstGeom>
          <a:solidFill>
            <a:srgbClr val="FAFCFF"/>
          </a:solidFill>
          <a:ln w="12700">
            <a:solidFill>
              <a:srgbClr val="D0DA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4">
            <a:extLst>
              <a:ext uri="{FF2B5EF4-FFF2-40B4-BE49-F238E27FC236}">
                <a16:creationId xmlns:a16="http://schemas.microsoft.com/office/drawing/2014/main" id="{65FD69BC-BEDC-781C-8296-EC2E839A62C5}"/>
              </a:ext>
            </a:extLst>
          </p:cNvPr>
          <p:cNvSpPr/>
          <p:nvPr/>
        </p:nvSpPr>
        <p:spPr>
          <a:xfrm>
            <a:off x="6839712" y="4087368"/>
            <a:ext cx="182880" cy="182880"/>
          </a:xfrm>
          <a:prstGeom prst="ellipse">
            <a:avLst/>
          </a:prstGeom>
          <a:solidFill>
            <a:srgbClr val="F2A246"/>
          </a:solidFill>
          <a:ln>
            <a:solidFill>
              <a:srgbClr val="F2A2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5">
            <a:extLst>
              <a:ext uri="{FF2B5EF4-FFF2-40B4-BE49-F238E27FC236}">
                <a16:creationId xmlns:a16="http://schemas.microsoft.com/office/drawing/2014/main" id="{C4952355-6D1F-1FB4-2424-08E186A90A55}"/>
              </a:ext>
            </a:extLst>
          </p:cNvPr>
          <p:cNvSpPr txBox="1"/>
          <p:nvPr/>
        </p:nvSpPr>
        <p:spPr>
          <a:xfrm>
            <a:off x="7068312" y="4087367"/>
            <a:ext cx="1024128" cy="229294"/>
          </a:xfrm>
          <a:prstGeom prst="rect">
            <a:avLst/>
          </a:prstGeom>
          <a:noFill/>
          <a:ln>
            <a:noFill/>
          </a:ln>
        </p:spPr>
        <p:txBody>
          <a:bodyPr wrap="square" lIns="36576" tIns="36576" rIns="36576" bIns="36576" anchor="t">
            <a:spAutoFit/>
          </a:bodyPr>
          <a:lstStyle/>
          <a:p>
            <a:pPr algn="l"/>
            <a:r>
              <a:rPr sz="1010" b="1">
                <a:solidFill>
                  <a:srgbClr val="1E1E1E"/>
                </a:solidFill>
                <a:latin typeface="Noto Sans CJK JP"/>
              </a:rPr>
              <a:t>一部動線の混雑</a:t>
            </a:r>
          </a:p>
        </p:txBody>
      </p:sp>
      <p:sp>
        <p:nvSpPr>
          <p:cNvPr id="48" name="TextBox 46">
            <a:extLst>
              <a:ext uri="{FF2B5EF4-FFF2-40B4-BE49-F238E27FC236}">
                <a16:creationId xmlns:a16="http://schemas.microsoft.com/office/drawing/2014/main" id="{E224446F-97DD-FC9D-D198-FF0E1A24DE8A}"/>
              </a:ext>
            </a:extLst>
          </p:cNvPr>
          <p:cNvSpPr txBox="1"/>
          <p:nvPr/>
        </p:nvSpPr>
        <p:spPr>
          <a:xfrm>
            <a:off x="7360920" y="4241311"/>
            <a:ext cx="768096" cy="297004"/>
          </a:xfrm>
          <a:prstGeom prst="rect">
            <a:avLst/>
          </a:prstGeom>
          <a:noFill/>
          <a:ln>
            <a:noFill/>
          </a:ln>
        </p:spPr>
        <p:txBody>
          <a:bodyPr wrap="square" lIns="36576" tIns="36576" rIns="36576" bIns="36576" anchor="t">
            <a:spAutoFit/>
          </a:bodyPr>
          <a:lstStyle/>
          <a:p>
            <a:pPr algn="r"/>
            <a:r>
              <a:rPr sz="1450" b="1">
                <a:solidFill>
                  <a:srgbClr val="F2A246"/>
                </a:solidFill>
                <a:latin typeface="Noto Sans CJK JP"/>
              </a:rPr>
              <a:t>要対応</a:t>
            </a:r>
          </a:p>
        </p:txBody>
      </p:sp>
      <p:sp>
        <p:nvSpPr>
          <p:cNvPr id="49" name="TextBox 47">
            <a:extLst>
              <a:ext uri="{FF2B5EF4-FFF2-40B4-BE49-F238E27FC236}">
                <a16:creationId xmlns:a16="http://schemas.microsoft.com/office/drawing/2014/main" id="{710E717B-392F-710A-FD7B-FDC1BDAE831F}"/>
              </a:ext>
            </a:extLst>
          </p:cNvPr>
          <p:cNvSpPr txBox="1"/>
          <p:nvPr/>
        </p:nvSpPr>
        <p:spPr>
          <a:xfrm>
            <a:off x="6698489" y="4588631"/>
            <a:ext cx="1576832" cy="627864"/>
          </a:xfrm>
          <a:prstGeom prst="rect">
            <a:avLst/>
          </a:prstGeom>
          <a:noFill/>
          <a:ln>
            <a:noFill/>
          </a:ln>
        </p:spPr>
        <p:txBody>
          <a:bodyPr wrap="square" lIns="36576" tIns="36576" rIns="36576" bIns="36576" anchor="t">
            <a:spAutoFit/>
          </a:bodyPr>
          <a:lstStyle/>
          <a:p>
            <a:pPr algn="l"/>
            <a:r>
              <a:rPr sz="900" b="0">
                <a:solidFill>
                  <a:srgbClr val="1E1E1E"/>
                </a:solidFill>
                <a:latin typeface="Noto Sans CJK JP"/>
              </a:rPr>
              <a:t>・駅から商業</a:t>
            </a:r>
            <a:endParaRPr lang="en-US" sz="900" b="0">
              <a:solidFill>
                <a:srgbClr val="1E1E1E"/>
              </a:solidFill>
              <a:latin typeface="Noto Sans CJK JP"/>
            </a:endParaRPr>
          </a:p>
          <a:p>
            <a:pPr algn="l"/>
            <a:r>
              <a:rPr sz="900" b="0">
                <a:solidFill>
                  <a:srgbClr val="1E1E1E"/>
                </a:solidFill>
                <a:latin typeface="Noto Sans CJK JP"/>
              </a:rPr>
              <a:t>・広場への流れが強化
・新たな滞在スポットが形成
・一部接続部で混雑が発生</a:t>
            </a:r>
          </a:p>
        </p:txBody>
      </p:sp>
      <p:grpSp>
        <p:nvGrpSpPr>
          <p:cNvPr id="92" name="グループ化 91">
            <a:extLst>
              <a:ext uri="{FF2B5EF4-FFF2-40B4-BE49-F238E27FC236}">
                <a16:creationId xmlns:a16="http://schemas.microsoft.com/office/drawing/2014/main" id="{DEE15C45-DE22-F6A0-CB8D-1A3BF66DCC85}"/>
              </a:ext>
            </a:extLst>
          </p:cNvPr>
          <p:cNvGrpSpPr/>
          <p:nvPr/>
        </p:nvGrpSpPr>
        <p:grpSpPr>
          <a:xfrm>
            <a:off x="6793992" y="5325600"/>
            <a:ext cx="1298448" cy="413657"/>
            <a:chOff x="6784848" y="5413247"/>
            <a:chExt cx="1298448" cy="413657"/>
          </a:xfrm>
        </p:grpSpPr>
        <p:sp>
          <p:nvSpPr>
            <p:cNvPr id="50" name="Rounded Rectangle 48">
              <a:extLst>
                <a:ext uri="{FF2B5EF4-FFF2-40B4-BE49-F238E27FC236}">
                  <a16:creationId xmlns:a16="http://schemas.microsoft.com/office/drawing/2014/main" id="{2AEC4A14-7339-859B-E1E8-FFB244FF0F4D}"/>
                </a:ext>
              </a:extLst>
            </p:cNvPr>
            <p:cNvSpPr/>
            <p:nvPr/>
          </p:nvSpPr>
          <p:spPr>
            <a:xfrm>
              <a:off x="6784848" y="5413247"/>
              <a:ext cx="1298448" cy="413657"/>
            </a:xfrm>
            <a:prstGeom prst="roundRect">
              <a:avLst>
                <a:gd name="adj" fmla="val 9000"/>
              </a:avLst>
            </a:prstGeom>
            <a:solidFill>
              <a:srgbClr val="EBF4FC"/>
            </a:solidFill>
            <a:ln w="12700">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49">
              <a:extLst>
                <a:ext uri="{FF2B5EF4-FFF2-40B4-BE49-F238E27FC236}">
                  <a16:creationId xmlns:a16="http://schemas.microsoft.com/office/drawing/2014/main" id="{0E21D9C5-3854-DA91-2E01-2328311DBBB6}"/>
                </a:ext>
              </a:extLst>
            </p:cNvPr>
            <p:cNvSpPr txBox="1"/>
            <p:nvPr/>
          </p:nvSpPr>
          <p:spPr>
            <a:xfrm>
              <a:off x="6863848" y="5429571"/>
              <a:ext cx="1143000" cy="164592"/>
            </a:xfrm>
            <a:prstGeom prst="rect">
              <a:avLst/>
            </a:prstGeom>
            <a:noFill/>
            <a:ln>
              <a:noFill/>
            </a:ln>
          </p:spPr>
          <p:txBody>
            <a:bodyPr wrap="square" lIns="36576" tIns="36576" rIns="36576" bIns="36576" anchor="t">
              <a:spAutoFit/>
            </a:bodyPr>
            <a:lstStyle/>
            <a:p>
              <a:pPr algn="ctr"/>
              <a:r>
                <a:rPr sz="1030" b="1">
                  <a:solidFill>
                    <a:srgbClr val="173F78"/>
                  </a:solidFill>
                  <a:latin typeface="Noto Sans CJK JP"/>
                </a:rPr>
                <a:t>どこを直せば、より良い案になる？</a:t>
              </a:r>
            </a:p>
          </p:txBody>
        </p:sp>
      </p:grpSp>
      <p:sp>
        <p:nvSpPr>
          <p:cNvPr id="52" name="Right Arrow 50">
            <a:extLst>
              <a:ext uri="{FF2B5EF4-FFF2-40B4-BE49-F238E27FC236}">
                <a16:creationId xmlns:a16="http://schemas.microsoft.com/office/drawing/2014/main" id="{08441BF4-C23C-2475-8468-BD6AF43608CC}"/>
              </a:ext>
            </a:extLst>
          </p:cNvPr>
          <p:cNvSpPr/>
          <p:nvPr/>
        </p:nvSpPr>
        <p:spPr>
          <a:xfrm>
            <a:off x="8339327" y="3127248"/>
            <a:ext cx="210312" cy="320040"/>
          </a:xfrm>
          <a:prstGeom prst="rightArrow">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1">
            <a:extLst>
              <a:ext uri="{FF2B5EF4-FFF2-40B4-BE49-F238E27FC236}">
                <a16:creationId xmlns:a16="http://schemas.microsoft.com/office/drawing/2014/main" id="{255B6E24-3BF2-4BE5-A611-EE9BDD00F975}"/>
              </a:ext>
            </a:extLst>
          </p:cNvPr>
          <p:cNvSpPr/>
          <p:nvPr/>
        </p:nvSpPr>
        <p:spPr>
          <a:xfrm>
            <a:off x="8430768" y="1618488"/>
            <a:ext cx="1883664" cy="4325112"/>
          </a:xfrm>
          <a:prstGeom prst="roundRect">
            <a:avLst>
              <a:gd name="adj" fmla="val 9000"/>
            </a:avLst>
          </a:prstGeom>
          <a:solidFill>
            <a:srgbClr val="FFFFFF"/>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2">
            <a:extLst>
              <a:ext uri="{FF2B5EF4-FFF2-40B4-BE49-F238E27FC236}">
                <a16:creationId xmlns:a16="http://schemas.microsoft.com/office/drawing/2014/main" id="{F4728096-2BBD-D52E-9FE5-45FCE0331681}"/>
              </a:ext>
            </a:extLst>
          </p:cNvPr>
          <p:cNvSpPr/>
          <p:nvPr/>
        </p:nvSpPr>
        <p:spPr>
          <a:xfrm>
            <a:off x="8549640" y="1694737"/>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Noto Sans CJK JP"/>
              </a:rPr>
              <a:t>4</a:t>
            </a:r>
          </a:p>
        </p:txBody>
      </p:sp>
      <p:sp>
        <p:nvSpPr>
          <p:cNvPr id="55" name="TextBox 53">
            <a:extLst>
              <a:ext uri="{FF2B5EF4-FFF2-40B4-BE49-F238E27FC236}">
                <a16:creationId xmlns:a16="http://schemas.microsoft.com/office/drawing/2014/main" id="{EB52A65C-61DE-04A7-F5D7-668A7F9F1605}"/>
              </a:ext>
            </a:extLst>
          </p:cNvPr>
          <p:cNvSpPr txBox="1"/>
          <p:nvPr/>
        </p:nvSpPr>
        <p:spPr>
          <a:xfrm>
            <a:off x="8878824" y="1713025"/>
            <a:ext cx="1472184" cy="304699"/>
          </a:xfrm>
          <a:prstGeom prst="rect">
            <a:avLst/>
          </a:prstGeom>
          <a:noFill/>
          <a:ln>
            <a:noFill/>
          </a:ln>
        </p:spPr>
        <p:txBody>
          <a:bodyPr wrap="square" lIns="36576" tIns="36576" rIns="36576" bIns="36576" anchor="t">
            <a:spAutoFit/>
          </a:bodyPr>
          <a:lstStyle/>
          <a:p>
            <a:pPr algn="l"/>
            <a:r>
              <a:rPr sz="1500" b="1">
                <a:solidFill>
                  <a:srgbClr val="0B2B5B"/>
                </a:solidFill>
                <a:latin typeface="Noto Sans CJK JP"/>
              </a:rPr>
              <a:t>計画内容の調整</a:t>
            </a:r>
          </a:p>
        </p:txBody>
      </p:sp>
      <p:pic>
        <p:nvPicPr>
          <p:cNvPr id="56" name="Picture 54" descr="adjusted_plan.png">
            <a:extLst>
              <a:ext uri="{FF2B5EF4-FFF2-40B4-BE49-F238E27FC236}">
                <a16:creationId xmlns:a16="http://schemas.microsoft.com/office/drawing/2014/main" id="{E349B47A-CBAF-1C0B-543C-9BB1927C57D3}"/>
              </a:ext>
            </a:extLst>
          </p:cNvPr>
          <p:cNvPicPr>
            <a:picLocks noChangeAspect="1"/>
          </p:cNvPicPr>
          <p:nvPr/>
        </p:nvPicPr>
        <p:blipFill>
          <a:blip r:embed="rId7"/>
          <a:stretch>
            <a:fillRect/>
          </a:stretch>
        </p:blipFill>
        <p:spPr>
          <a:xfrm>
            <a:off x="8604504" y="2167127"/>
            <a:ext cx="1572768" cy="1920240"/>
          </a:xfrm>
          <a:prstGeom prst="rect">
            <a:avLst/>
          </a:prstGeom>
        </p:spPr>
      </p:pic>
      <p:grpSp>
        <p:nvGrpSpPr>
          <p:cNvPr id="97" name="グループ化 96">
            <a:extLst>
              <a:ext uri="{FF2B5EF4-FFF2-40B4-BE49-F238E27FC236}">
                <a16:creationId xmlns:a16="http://schemas.microsoft.com/office/drawing/2014/main" id="{29FC8F9C-3410-9CD4-0176-C60FB8A4FD7B}"/>
              </a:ext>
            </a:extLst>
          </p:cNvPr>
          <p:cNvGrpSpPr/>
          <p:nvPr/>
        </p:nvGrpSpPr>
        <p:grpSpPr>
          <a:xfrm>
            <a:off x="8627364" y="2352547"/>
            <a:ext cx="539496" cy="215265"/>
            <a:chOff x="8577072" y="2121408"/>
            <a:chExt cx="539496" cy="215265"/>
          </a:xfrm>
        </p:grpSpPr>
        <p:sp>
          <p:nvSpPr>
            <p:cNvPr id="57" name="Rounded Rectangle 55">
              <a:extLst>
                <a:ext uri="{FF2B5EF4-FFF2-40B4-BE49-F238E27FC236}">
                  <a16:creationId xmlns:a16="http://schemas.microsoft.com/office/drawing/2014/main" id="{CA220FE4-C3E4-8409-9EFC-50278584339D}"/>
                </a:ext>
              </a:extLst>
            </p:cNvPr>
            <p:cNvSpPr/>
            <p:nvPr/>
          </p:nvSpPr>
          <p:spPr>
            <a:xfrm>
              <a:off x="8577072" y="2121408"/>
              <a:ext cx="530352" cy="201168"/>
            </a:xfrm>
            <a:prstGeom prst="roundRect">
              <a:avLst>
                <a:gd name="adj" fmla="val 9000"/>
              </a:avLst>
            </a:prstGeom>
            <a:solidFill>
              <a:srgbClr val="F5FBF3"/>
            </a:solidFill>
            <a:ln w="12700">
              <a:solidFill>
                <a:srgbClr val="6DA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6">
              <a:extLst>
                <a:ext uri="{FF2B5EF4-FFF2-40B4-BE49-F238E27FC236}">
                  <a16:creationId xmlns:a16="http://schemas.microsoft.com/office/drawing/2014/main" id="{0576DDA5-681A-890C-9A78-A9FCAAAF8A94}"/>
                </a:ext>
              </a:extLst>
            </p:cNvPr>
            <p:cNvSpPr txBox="1"/>
            <p:nvPr/>
          </p:nvSpPr>
          <p:spPr>
            <a:xfrm>
              <a:off x="8586216" y="2139696"/>
              <a:ext cx="530352" cy="196977"/>
            </a:xfrm>
            <a:prstGeom prst="rect">
              <a:avLst/>
            </a:prstGeom>
            <a:noFill/>
            <a:ln>
              <a:noFill/>
            </a:ln>
          </p:spPr>
          <p:txBody>
            <a:bodyPr wrap="square" lIns="36576" tIns="36576" rIns="36576" bIns="36576" anchor="t">
              <a:spAutoFit/>
            </a:bodyPr>
            <a:lstStyle/>
            <a:p>
              <a:pPr algn="ctr"/>
              <a:r>
                <a:rPr sz="800" b="1">
                  <a:solidFill>
                    <a:srgbClr val="376E2C"/>
                  </a:solidFill>
                  <a:latin typeface="Noto Sans CJK JP"/>
                </a:rPr>
                <a:t>動線分散</a:t>
              </a:r>
            </a:p>
          </p:txBody>
        </p:sp>
      </p:grpSp>
      <p:grpSp>
        <p:nvGrpSpPr>
          <p:cNvPr id="98" name="グループ化 97">
            <a:extLst>
              <a:ext uri="{FF2B5EF4-FFF2-40B4-BE49-F238E27FC236}">
                <a16:creationId xmlns:a16="http://schemas.microsoft.com/office/drawing/2014/main" id="{C8612DBB-6F51-DA3B-A082-DF102D522AD9}"/>
              </a:ext>
            </a:extLst>
          </p:cNvPr>
          <p:cNvGrpSpPr/>
          <p:nvPr/>
        </p:nvGrpSpPr>
        <p:grpSpPr>
          <a:xfrm>
            <a:off x="9550908" y="2346682"/>
            <a:ext cx="521208" cy="338376"/>
            <a:chOff x="9665208" y="2103120"/>
            <a:chExt cx="521208" cy="338376"/>
          </a:xfrm>
        </p:grpSpPr>
        <p:sp>
          <p:nvSpPr>
            <p:cNvPr id="59" name="Rounded Rectangle 57">
              <a:extLst>
                <a:ext uri="{FF2B5EF4-FFF2-40B4-BE49-F238E27FC236}">
                  <a16:creationId xmlns:a16="http://schemas.microsoft.com/office/drawing/2014/main" id="{BC16BC71-C384-37D5-385E-CAE237056921}"/>
                </a:ext>
              </a:extLst>
            </p:cNvPr>
            <p:cNvSpPr/>
            <p:nvPr/>
          </p:nvSpPr>
          <p:spPr>
            <a:xfrm>
              <a:off x="9665208" y="2103120"/>
              <a:ext cx="512064" cy="301752"/>
            </a:xfrm>
            <a:prstGeom prst="roundRect">
              <a:avLst>
                <a:gd name="adj" fmla="val 9000"/>
              </a:avLst>
            </a:prstGeom>
            <a:solidFill>
              <a:srgbClr val="F5FBF3"/>
            </a:solidFill>
            <a:ln w="12700">
              <a:solidFill>
                <a:srgbClr val="6DA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8">
              <a:extLst>
                <a:ext uri="{FF2B5EF4-FFF2-40B4-BE49-F238E27FC236}">
                  <a16:creationId xmlns:a16="http://schemas.microsoft.com/office/drawing/2014/main" id="{2AB8883B-3B43-8875-438E-238941EEFB05}"/>
                </a:ext>
              </a:extLst>
            </p:cNvPr>
            <p:cNvSpPr txBox="1"/>
            <p:nvPr/>
          </p:nvSpPr>
          <p:spPr>
            <a:xfrm>
              <a:off x="9674352" y="2121408"/>
              <a:ext cx="512064" cy="320088"/>
            </a:xfrm>
            <a:prstGeom prst="rect">
              <a:avLst/>
            </a:prstGeom>
            <a:noFill/>
            <a:ln>
              <a:noFill/>
            </a:ln>
          </p:spPr>
          <p:txBody>
            <a:bodyPr wrap="square" lIns="36576" tIns="36576" rIns="36576" bIns="36576" anchor="t">
              <a:spAutoFit/>
            </a:bodyPr>
            <a:lstStyle/>
            <a:p>
              <a:pPr algn="ctr"/>
              <a:r>
                <a:rPr sz="800" b="1">
                  <a:solidFill>
                    <a:srgbClr val="376E2C"/>
                  </a:solidFill>
                  <a:latin typeface="Noto Sans CJK JP"/>
                </a:rPr>
                <a:t>広場機能
強化</a:t>
              </a:r>
            </a:p>
          </p:txBody>
        </p:sp>
      </p:grpSp>
      <p:grpSp>
        <p:nvGrpSpPr>
          <p:cNvPr id="96" name="グループ化 95">
            <a:extLst>
              <a:ext uri="{FF2B5EF4-FFF2-40B4-BE49-F238E27FC236}">
                <a16:creationId xmlns:a16="http://schemas.microsoft.com/office/drawing/2014/main" id="{CA27B0E2-3ADB-6F39-75ED-CBAC700E7885}"/>
              </a:ext>
            </a:extLst>
          </p:cNvPr>
          <p:cNvGrpSpPr/>
          <p:nvPr/>
        </p:nvGrpSpPr>
        <p:grpSpPr>
          <a:xfrm>
            <a:off x="9541764" y="3616695"/>
            <a:ext cx="475488" cy="367604"/>
            <a:chOff x="9555480" y="4096511"/>
            <a:chExt cx="475488" cy="367604"/>
          </a:xfrm>
        </p:grpSpPr>
        <p:sp>
          <p:nvSpPr>
            <p:cNvPr id="61" name="Rounded Rectangle 59">
              <a:extLst>
                <a:ext uri="{FF2B5EF4-FFF2-40B4-BE49-F238E27FC236}">
                  <a16:creationId xmlns:a16="http://schemas.microsoft.com/office/drawing/2014/main" id="{2F62D78B-D301-29D8-3671-60AE0301F5BD}"/>
                </a:ext>
              </a:extLst>
            </p:cNvPr>
            <p:cNvSpPr/>
            <p:nvPr/>
          </p:nvSpPr>
          <p:spPr>
            <a:xfrm>
              <a:off x="9555480" y="4096511"/>
              <a:ext cx="475488" cy="367604"/>
            </a:xfrm>
            <a:prstGeom prst="roundRect">
              <a:avLst>
                <a:gd name="adj" fmla="val 9000"/>
              </a:avLst>
            </a:prstGeom>
            <a:solidFill>
              <a:srgbClr val="FFF9F1"/>
            </a:solidFill>
            <a:ln w="12700">
              <a:solidFill>
                <a:srgbClr val="F2A2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0">
              <a:extLst>
                <a:ext uri="{FF2B5EF4-FFF2-40B4-BE49-F238E27FC236}">
                  <a16:creationId xmlns:a16="http://schemas.microsoft.com/office/drawing/2014/main" id="{EC5EB864-5142-3DA7-B2E1-72A29EFC3E5E}"/>
                </a:ext>
              </a:extLst>
            </p:cNvPr>
            <p:cNvSpPr txBox="1"/>
            <p:nvPr/>
          </p:nvSpPr>
          <p:spPr>
            <a:xfrm>
              <a:off x="9564624" y="4114800"/>
              <a:ext cx="457200" cy="237744"/>
            </a:xfrm>
            <a:prstGeom prst="rect">
              <a:avLst/>
            </a:prstGeom>
            <a:noFill/>
            <a:ln>
              <a:noFill/>
            </a:ln>
          </p:spPr>
          <p:txBody>
            <a:bodyPr wrap="square" lIns="36576" tIns="36576" rIns="36576" bIns="36576" anchor="t">
              <a:spAutoFit/>
            </a:bodyPr>
            <a:lstStyle/>
            <a:p>
              <a:pPr algn="ctr"/>
              <a:r>
                <a:rPr sz="780" b="1">
                  <a:solidFill>
                    <a:srgbClr val="8F5B17"/>
                  </a:solidFill>
                  <a:latin typeface="Noto Sans CJK JP"/>
                </a:rPr>
                <a:t>駅接続
強化</a:t>
              </a:r>
            </a:p>
          </p:txBody>
        </p:sp>
      </p:grpSp>
      <p:grpSp>
        <p:nvGrpSpPr>
          <p:cNvPr id="94" name="グループ化 93">
            <a:extLst>
              <a:ext uri="{FF2B5EF4-FFF2-40B4-BE49-F238E27FC236}">
                <a16:creationId xmlns:a16="http://schemas.microsoft.com/office/drawing/2014/main" id="{2C27208D-533D-5794-AE5A-260448EA25EB}"/>
              </a:ext>
            </a:extLst>
          </p:cNvPr>
          <p:cNvGrpSpPr/>
          <p:nvPr/>
        </p:nvGrpSpPr>
        <p:grpSpPr>
          <a:xfrm>
            <a:off x="8674169" y="3614934"/>
            <a:ext cx="521208" cy="332220"/>
            <a:chOff x="8686800" y="4142232"/>
            <a:chExt cx="521208" cy="332220"/>
          </a:xfrm>
        </p:grpSpPr>
        <p:sp>
          <p:nvSpPr>
            <p:cNvPr id="63" name="Rounded Rectangle 61">
              <a:extLst>
                <a:ext uri="{FF2B5EF4-FFF2-40B4-BE49-F238E27FC236}">
                  <a16:creationId xmlns:a16="http://schemas.microsoft.com/office/drawing/2014/main" id="{976A6208-D2A5-BD8D-F675-A5C2E5C498D0}"/>
                </a:ext>
              </a:extLst>
            </p:cNvPr>
            <p:cNvSpPr/>
            <p:nvPr/>
          </p:nvSpPr>
          <p:spPr>
            <a:xfrm>
              <a:off x="8686800" y="4142232"/>
              <a:ext cx="512064" cy="313932"/>
            </a:xfrm>
            <a:prstGeom prst="roundRect">
              <a:avLst>
                <a:gd name="adj" fmla="val 9000"/>
              </a:avLst>
            </a:prstGeom>
            <a:solidFill>
              <a:srgbClr val="FFF7F7"/>
            </a:solidFill>
            <a:ln w="12700">
              <a:solidFill>
                <a:srgbClr val="D9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2">
              <a:extLst>
                <a:ext uri="{FF2B5EF4-FFF2-40B4-BE49-F238E27FC236}">
                  <a16:creationId xmlns:a16="http://schemas.microsoft.com/office/drawing/2014/main" id="{5B01F6F7-6B05-17ED-DD66-38A32CA3B9C4}"/>
                </a:ext>
              </a:extLst>
            </p:cNvPr>
            <p:cNvSpPr txBox="1"/>
            <p:nvPr/>
          </p:nvSpPr>
          <p:spPr>
            <a:xfrm>
              <a:off x="8695944" y="4160520"/>
              <a:ext cx="512064" cy="313932"/>
            </a:xfrm>
            <a:prstGeom prst="rect">
              <a:avLst/>
            </a:prstGeom>
            <a:noFill/>
            <a:ln>
              <a:noFill/>
            </a:ln>
          </p:spPr>
          <p:txBody>
            <a:bodyPr wrap="square" lIns="36576" tIns="36576" rIns="36576" bIns="36576" anchor="t">
              <a:spAutoFit/>
            </a:bodyPr>
            <a:lstStyle/>
            <a:p>
              <a:pPr algn="ctr"/>
              <a:r>
                <a:rPr sz="780" b="1">
                  <a:solidFill>
                    <a:srgbClr val="74232D"/>
                  </a:solidFill>
                  <a:latin typeface="Noto Sans CJK JP"/>
                </a:rPr>
                <a:t>商業配置
再調整</a:t>
              </a:r>
            </a:p>
          </p:txBody>
        </p:sp>
      </p:grpSp>
      <p:grpSp>
        <p:nvGrpSpPr>
          <p:cNvPr id="93" name="グループ化 92">
            <a:extLst>
              <a:ext uri="{FF2B5EF4-FFF2-40B4-BE49-F238E27FC236}">
                <a16:creationId xmlns:a16="http://schemas.microsoft.com/office/drawing/2014/main" id="{B9844A8F-D94F-4C56-10C8-C2BFEAF9F9DF}"/>
              </a:ext>
            </a:extLst>
          </p:cNvPr>
          <p:cNvGrpSpPr/>
          <p:nvPr/>
        </p:nvGrpSpPr>
        <p:grpSpPr>
          <a:xfrm>
            <a:off x="8610600" y="5303520"/>
            <a:ext cx="1481328" cy="457200"/>
            <a:chOff x="8613648" y="5230368"/>
            <a:chExt cx="1481328" cy="457200"/>
          </a:xfrm>
        </p:grpSpPr>
        <p:sp>
          <p:nvSpPr>
            <p:cNvPr id="65" name="Rounded Rectangle 63">
              <a:extLst>
                <a:ext uri="{FF2B5EF4-FFF2-40B4-BE49-F238E27FC236}">
                  <a16:creationId xmlns:a16="http://schemas.microsoft.com/office/drawing/2014/main" id="{B50A8CF9-1B1D-B88F-1975-849D29E09DEF}"/>
                </a:ext>
              </a:extLst>
            </p:cNvPr>
            <p:cNvSpPr/>
            <p:nvPr/>
          </p:nvSpPr>
          <p:spPr>
            <a:xfrm>
              <a:off x="8613648" y="5230368"/>
              <a:ext cx="1481328" cy="457200"/>
            </a:xfrm>
            <a:prstGeom prst="roundRect">
              <a:avLst>
                <a:gd name="adj" fmla="val 9000"/>
              </a:avLst>
            </a:prstGeom>
            <a:solidFill>
              <a:srgbClr val="EBF4FC"/>
            </a:solidFill>
            <a:ln w="12700">
              <a:solidFill>
                <a:srgbClr val="D2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4">
              <a:extLst>
                <a:ext uri="{FF2B5EF4-FFF2-40B4-BE49-F238E27FC236}">
                  <a16:creationId xmlns:a16="http://schemas.microsoft.com/office/drawing/2014/main" id="{648663A2-2978-6D05-9293-31BD4AE5BCDD}"/>
                </a:ext>
              </a:extLst>
            </p:cNvPr>
            <p:cNvSpPr txBox="1"/>
            <p:nvPr/>
          </p:nvSpPr>
          <p:spPr>
            <a:xfrm>
              <a:off x="8686800" y="5294376"/>
              <a:ext cx="1335024" cy="182880"/>
            </a:xfrm>
            <a:prstGeom prst="rect">
              <a:avLst/>
            </a:prstGeom>
            <a:noFill/>
            <a:ln>
              <a:noFill/>
            </a:ln>
          </p:spPr>
          <p:txBody>
            <a:bodyPr wrap="square" lIns="36576" tIns="36576" rIns="36576" bIns="36576" anchor="t">
              <a:spAutoFit/>
            </a:bodyPr>
            <a:lstStyle/>
            <a:p>
              <a:pPr algn="ctr"/>
              <a:r>
                <a:rPr sz="1060" b="1">
                  <a:solidFill>
                    <a:srgbClr val="173F78"/>
                  </a:solidFill>
                  <a:latin typeface="Noto Sans CJK JP"/>
                </a:rPr>
                <a:t>評価結果を踏まえて次の案へ反映</a:t>
              </a:r>
            </a:p>
          </p:txBody>
        </p:sp>
      </p:grpSp>
      <p:sp>
        <p:nvSpPr>
          <p:cNvPr id="67" name="Right Arrow 65">
            <a:extLst>
              <a:ext uri="{FF2B5EF4-FFF2-40B4-BE49-F238E27FC236}">
                <a16:creationId xmlns:a16="http://schemas.microsoft.com/office/drawing/2014/main" id="{C86E05DC-A2E1-FA5F-708B-84DD3C9D8EE3}"/>
              </a:ext>
            </a:extLst>
          </p:cNvPr>
          <p:cNvSpPr/>
          <p:nvPr/>
        </p:nvSpPr>
        <p:spPr>
          <a:xfrm>
            <a:off x="10405872" y="3127248"/>
            <a:ext cx="182879" cy="320040"/>
          </a:xfrm>
          <a:prstGeom prst="rightArrow">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6">
            <a:extLst>
              <a:ext uri="{FF2B5EF4-FFF2-40B4-BE49-F238E27FC236}">
                <a16:creationId xmlns:a16="http://schemas.microsoft.com/office/drawing/2014/main" id="{293DF94F-DE9E-9B75-ED3C-64DA51D09516}"/>
              </a:ext>
            </a:extLst>
          </p:cNvPr>
          <p:cNvSpPr/>
          <p:nvPr/>
        </p:nvSpPr>
        <p:spPr>
          <a:xfrm>
            <a:off x="10469880" y="1618488"/>
            <a:ext cx="1517904" cy="4325112"/>
          </a:xfrm>
          <a:prstGeom prst="roundRect">
            <a:avLst>
              <a:gd name="adj" fmla="val 9000"/>
            </a:avLst>
          </a:prstGeom>
          <a:solidFill>
            <a:srgbClr val="FFFFFF"/>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7">
            <a:extLst>
              <a:ext uri="{FF2B5EF4-FFF2-40B4-BE49-F238E27FC236}">
                <a16:creationId xmlns:a16="http://schemas.microsoft.com/office/drawing/2014/main" id="{FC06F6E1-ED6B-9FDC-361B-B3FF86996CCB}"/>
              </a:ext>
            </a:extLst>
          </p:cNvPr>
          <p:cNvSpPr/>
          <p:nvPr/>
        </p:nvSpPr>
        <p:spPr>
          <a:xfrm>
            <a:off x="10570464" y="1627632"/>
            <a:ext cx="1298448" cy="329184"/>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8">
            <a:extLst>
              <a:ext uri="{FF2B5EF4-FFF2-40B4-BE49-F238E27FC236}">
                <a16:creationId xmlns:a16="http://schemas.microsoft.com/office/drawing/2014/main" id="{B7DC7EA9-9BD6-ED4E-EB97-3E7258BED102}"/>
              </a:ext>
            </a:extLst>
          </p:cNvPr>
          <p:cNvSpPr txBox="1"/>
          <p:nvPr/>
        </p:nvSpPr>
        <p:spPr>
          <a:xfrm>
            <a:off x="10634472" y="1673352"/>
            <a:ext cx="1234440" cy="269304"/>
          </a:xfrm>
          <a:prstGeom prst="rect">
            <a:avLst/>
          </a:prstGeom>
          <a:noFill/>
          <a:ln>
            <a:noFill/>
          </a:ln>
        </p:spPr>
        <p:txBody>
          <a:bodyPr wrap="square" lIns="36576" tIns="36576" rIns="36576" bIns="36576" anchor="t">
            <a:spAutoFit/>
          </a:bodyPr>
          <a:lstStyle/>
          <a:p>
            <a:pPr algn="ctr"/>
            <a:r>
              <a:rPr sz="1270" b="1">
                <a:solidFill>
                  <a:srgbClr val="FFFFFF"/>
                </a:solidFill>
                <a:latin typeface="Noto Sans CJK JP"/>
              </a:rPr>
              <a:t>調整後の方向性</a:t>
            </a:r>
          </a:p>
        </p:txBody>
      </p:sp>
      <p:sp>
        <p:nvSpPr>
          <p:cNvPr id="71" name="Oval 69">
            <a:extLst>
              <a:ext uri="{FF2B5EF4-FFF2-40B4-BE49-F238E27FC236}">
                <a16:creationId xmlns:a16="http://schemas.microsoft.com/office/drawing/2014/main" id="{EC756AEC-EF12-4FAB-A840-EE43FE27593F}"/>
              </a:ext>
            </a:extLst>
          </p:cNvPr>
          <p:cNvSpPr/>
          <p:nvPr/>
        </p:nvSpPr>
        <p:spPr>
          <a:xfrm>
            <a:off x="10625328" y="2084831"/>
            <a:ext cx="219456" cy="219456"/>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0">
            <a:extLst>
              <a:ext uri="{FF2B5EF4-FFF2-40B4-BE49-F238E27FC236}">
                <a16:creationId xmlns:a16="http://schemas.microsoft.com/office/drawing/2014/main" id="{0D9AE5B8-4A8A-C894-679A-8944A0A99B93}"/>
              </a:ext>
            </a:extLst>
          </p:cNvPr>
          <p:cNvSpPr txBox="1"/>
          <p:nvPr/>
        </p:nvSpPr>
        <p:spPr>
          <a:xfrm>
            <a:off x="10927080" y="2057153"/>
            <a:ext cx="981456" cy="366254"/>
          </a:xfrm>
          <a:prstGeom prst="rect">
            <a:avLst/>
          </a:prstGeom>
          <a:noFill/>
          <a:ln>
            <a:noFill/>
          </a:ln>
        </p:spPr>
        <p:txBody>
          <a:bodyPr wrap="square" lIns="36576" tIns="36576" rIns="36576" bIns="36576" anchor="ctr">
            <a:spAutoFit/>
          </a:bodyPr>
          <a:lstStyle/>
          <a:p>
            <a:pPr algn="l"/>
            <a:r>
              <a:rPr sz="950" b="1">
                <a:solidFill>
                  <a:srgbClr val="1E1E1E"/>
                </a:solidFill>
                <a:latin typeface="Noto Sans CJK JP"/>
              </a:rPr>
              <a:t>歩行者ネットワークの再設計</a:t>
            </a:r>
          </a:p>
        </p:txBody>
      </p:sp>
      <p:cxnSp>
        <p:nvCxnSpPr>
          <p:cNvPr id="73" name="Connector 71">
            <a:extLst>
              <a:ext uri="{FF2B5EF4-FFF2-40B4-BE49-F238E27FC236}">
                <a16:creationId xmlns:a16="http://schemas.microsoft.com/office/drawing/2014/main" id="{407BDADC-3176-4AB7-84D3-0F9B77A2CFD1}"/>
              </a:ext>
            </a:extLst>
          </p:cNvPr>
          <p:cNvCxnSpPr/>
          <p:nvPr/>
        </p:nvCxnSpPr>
        <p:spPr>
          <a:xfrm>
            <a:off x="10588751" y="2483895"/>
            <a:ext cx="1280160" cy="0"/>
          </a:xfrm>
          <a:prstGeom prst="line">
            <a:avLst/>
          </a:prstGeom>
          <a:ln>
            <a:solidFill>
              <a:srgbClr val="E1E4E8"/>
            </a:solidFill>
          </a:ln>
        </p:spPr>
        <p:style>
          <a:lnRef idx="2">
            <a:schemeClr val="accent1"/>
          </a:lnRef>
          <a:fillRef idx="0">
            <a:schemeClr val="accent1"/>
          </a:fillRef>
          <a:effectRef idx="1">
            <a:schemeClr val="accent1"/>
          </a:effectRef>
          <a:fontRef idx="minor">
            <a:schemeClr val="tx1"/>
          </a:fontRef>
        </p:style>
      </p:cxnSp>
      <p:sp>
        <p:nvSpPr>
          <p:cNvPr id="74" name="Oval 72">
            <a:extLst>
              <a:ext uri="{FF2B5EF4-FFF2-40B4-BE49-F238E27FC236}">
                <a16:creationId xmlns:a16="http://schemas.microsoft.com/office/drawing/2014/main" id="{D2B1DECD-D310-2C08-6F9E-8B7F5EB2B5C2}"/>
              </a:ext>
            </a:extLst>
          </p:cNvPr>
          <p:cNvSpPr/>
          <p:nvPr/>
        </p:nvSpPr>
        <p:spPr>
          <a:xfrm>
            <a:off x="10625328" y="2889503"/>
            <a:ext cx="219456" cy="219456"/>
          </a:xfrm>
          <a:prstGeom prst="ellipse">
            <a:avLst/>
          </a:prstGeom>
          <a:solidFill>
            <a:srgbClr val="6DA658"/>
          </a:solidFill>
          <a:ln>
            <a:solidFill>
              <a:srgbClr val="6DA6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3">
            <a:extLst>
              <a:ext uri="{FF2B5EF4-FFF2-40B4-BE49-F238E27FC236}">
                <a16:creationId xmlns:a16="http://schemas.microsoft.com/office/drawing/2014/main" id="{DE85DB56-F631-46E1-1AE4-914CF0774437}"/>
              </a:ext>
            </a:extLst>
          </p:cNvPr>
          <p:cNvSpPr txBox="1"/>
          <p:nvPr/>
        </p:nvSpPr>
        <p:spPr>
          <a:xfrm>
            <a:off x="10927079" y="2861825"/>
            <a:ext cx="941831" cy="366254"/>
          </a:xfrm>
          <a:prstGeom prst="rect">
            <a:avLst/>
          </a:prstGeom>
          <a:noFill/>
          <a:ln>
            <a:noFill/>
          </a:ln>
        </p:spPr>
        <p:txBody>
          <a:bodyPr wrap="square" lIns="36576" tIns="36576" rIns="36576" bIns="36576" anchor="ctr">
            <a:spAutoFit/>
          </a:bodyPr>
          <a:lstStyle/>
          <a:p>
            <a:pPr algn="l"/>
            <a:r>
              <a:rPr sz="950" b="1">
                <a:solidFill>
                  <a:srgbClr val="1E1E1E"/>
                </a:solidFill>
                <a:latin typeface="Noto Sans CJK JP"/>
              </a:rPr>
              <a:t>広場・滞在機能の強化</a:t>
            </a:r>
          </a:p>
        </p:txBody>
      </p:sp>
      <p:cxnSp>
        <p:nvCxnSpPr>
          <p:cNvPr id="76" name="Connector 74">
            <a:extLst>
              <a:ext uri="{FF2B5EF4-FFF2-40B4-BE49-F238E27FC236}">
                <a16:creationId xmlns:a16="http://schemas.microsoft.com/office/drawing/2014/main" id="{52B7FA2C-571D-6BFC-8A11-07DC3622B3E7}"/>
              </a:ext>
            </a:extLst>
          </p:cNvPr>
          <p:cNvCxnSpPr/>
          <p:nvPr/>
        </p:nvCxnSpPr>
        <p:spPr>
          <a:xfrm>
            <a:off x="10588751" y="3282070"/>
            <a:ext cx="1280160" cy="0"/>
          </a:xfrm>
          <a:prstGeom prst="line">
            <a:avLst/>
          </a:prstGeom>
          <a:ln>
            <a:solidFill>
              <a:srgbClr val="E1E4E8"/>
            </a:solidFill>
          </a:ln>
        </p:spPr>
        <p:style>
          <a:lnRef idx="2">
            <a:schemeClr val="accent1"/>
          </a:lnRef>
          <a:fillRef idx="0">
            <a:schemeClr val="accent1"/>
          </a:fillRef>
          <a:effectRef idx="1">
            <a:schemeClr val="accent1"/>
          </a:effectRef>
          <a:fontRef idx="minor">
            <a:schemeClr val="tx1"/>
          </a:fontRef>
        </p:style>
      </p:cxnSp>
      <p:sp>
        <p:nvSpPr>
          <p:cNvPr id="77" name="Oval 75">
            <a:extLst>
              <a:ext uri="{FF2B5EF4-FFF2-40B4-BE49-F238E27FC236}">
                <a16:creationId xmlns:a16="http://schemas.microsoft.com/office/drawing/2014/main" id="{07775921-9DB3-A36B-77E5-366E56876FC0}"/>
              </a:ext>
            </a:extLst>
          </p:cNvPr>
          <p:cNvSpPr/>
          <p:nvPr/>
        </p:nvSpPr>
        <p:spPr>
          <a:xfrm>
            <a:off x="10625328" y="3694176"/>
            <a:ext cx="219456" cy="219456"/>
          </a:xfrm>
          <a:prstGeom prst="ellipse">
            <a:avLst/>
          </a:prstGeom>
          <a:solidFill>
            <a:srgbClr val="E36F7A"/>
          </a:solidFill>
          <a:ln>
            <a:solidFill>
              <a:srgbClr val="E36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6">
            <a:extLst>
              <a:ext uri="{FF2B5EF4-FFF2-40B4-BE49-F238E27FC236}">
                <a16:creationId xmlns:a16="http://schemas.microsoft.com/office/drawing/2014/main" id="{AFBB5323-69FD-C780-58B6-C81F36050000}"/>
              </a:ext>
            </a:extLst>
          </p:cNvPr>
          <p:cNvSpPr txBox="1"/>
          <p:nvPr/>
        </p:nvSpPr>
        <p:spPr>
          <a:xfrm>
            <a:off x="10927080" y="3666497"/>
            <a:ext cx="896112" cy="366254"/>
          </a:xfrm>
          <a:prstGeom prst="rect">
            <a:avLst/>
          </a:prstGeom>
          <a:noFill/>
          <a:ln>
            <a:noFill/>
          </a:ln>
        </p:spPr>
        <p:txBody>
          <a:bodyPr wrap="square" lIns="36576" tIns="36576" rIns="36576" bIns="36576" anchor="ctr">
            <a:spAutoFit/>
          </a:bodyPr>
          <a:lstStyle/>
          <a:p>
            <a:pPr algn="l"/>
            <a:r>
              <a:rPr sz="950" b="1">
                <a:solidFill>
                  <a:srgbClr val="1E1E1E"/>
                </a:solidFill>
                <a:latin typeface="Noto Sans CJK JP"/>
              </a:rPr>
              <a:t>商業配置の</a:t>
            </a:r>
            <a:endParaRPr lang="en-US" sz="950" b="1">
              <a:solidFill>
                <a:srgbClr val="1E1E1E"/>
              </a:solidFill>
              <a:latin typeface="Noto Sans CJK JP"/>
            </a:endParaRPr>
          </a:p>
          <a:p>
            <a:pPr algn="l"/>
            <a:r>
              <a:rPr sz="950" b="1">
                <a:solidFill>
                  <a:srgbClr val="1E1E1E"/>
                </a:solidFill>
                <a:latin typeface="Noto Sans CJK JP"/>
              </a:rPr>
              <a:t>最適化</a:t>
            </a:r>
          </a:p>
        </p:txBody>
      </p:sp>
      <p:cxnSp>
        <p:nvCxnSpPr>
          <p:cNvPr id="79" name="Connector 77">
            <a:extLst>
              <a:ext uri="{FF2B5EF4-FFF2-40B4-BE49-F238E27FC236}">
                <a16:creationId xmlns:a16="http://schemas.microsoft.com/office/drawing/2014/main" id="{EB12832C-D949-8FF7-6250-C7319C230592}"/>
              </a:ext>
            </a:extLst>
          </p:cNvPr>
          <p:cNvCxnSpPr/>
          <p:nvPr/>
        </p:nvCxnSpPr>
        <p:spPr>
          <a:xfrm>
            <a:off x="10588752" y="4005072"/>
            <a:ext cx="1280160" cy="0"/>
          </a:xfrm>
          <a:prstGeom prst="line">
            <a:avLst/>
          </a:prstGeom>
          <a:ln>
            <a:solidFill>
              <a:srgbClr val="E1E4E8"/>
            </a:solidFill>
          </a:ln>
        </p:spPr>
        <p:style>
          <a:lnRef idx="2">
            <a:schemeClr val="accent1"/>
          </a:lnRef>
          <a:fillRef idx="0">
            <a:schemeClr val="accent1"/>
          </a:fillRef>
          <a:effectRef idx="1">
            <a:schemeClr val="accent1"/>
          </a:effectRef>
          <a:fontRef idx="minor">
            <a:schemeClr val="tx1"/>
          </a:fontRef>
        </p:style>
      </p:cxnSp>
      <p:sp>
        <p:nvSpPr>
          <p:cNvPr id="80" name="Oval 78">
            <a:extLst>
              <a:ext uri="{FF2B5EF4-FFF2-40B4-BE49-F238E27FC236}">
                <a16:creationId xmlns:a16="http://schemas.microsoft.com/office/drawing/2014/main" id="{1814FBC2-884B-F836-D478-EC221DE4096A}"/>
              </a:ext>
            </a:extLst>
          </p:cNvPr>
          <p:cNvSpPr/>
          <p:nvPr/>
        </p:nvSpPr>
        <p:spPr>
          <a:xfrm>
            <a:off x="10625328" y="4498848"/>
            <a:ext cx="219456" cy="219456"/>
          </a:xfrm>
          <a:prstGeom prst="ellipse">
            <a:avLst/>
          </a:prstGeom>
          <a:solidFill>
            <a:srgbClr val="F2A246"/>
          </a:solidFill>
          <a:ln>
            <a:solidFill>
              <a:srgbClr val="F2A2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79">
            <a:extLst>
              <a:ext uri="{FF2B5EF4-FFF2-40B4-BE49-F238E27FC236}">
                <a16:creationId xmlns:a16="http://schemas.microsoft.com/office/drawing/2014/main" id="{82FE3087-86C3-FFA5-4B1E-EC3869DA9BE5}"/>
              </a:ext>
            </a:extLst>
          </p:cNvPr>
          <p:cNvSpPr txBox="1"/>
          <p:nvPr/>
        </p:nvSpPr>
        <p:spPr>
          <a:xfrm>
            <a:off x="10927080" y="4489704"/>
            <a:ext cx="896112" cy="329184"/>
          </a:xfrm>
          <a:prstGeom prst="rect">
            <a:avLst/>
          </a:prstGeom>
          <a:noFill/>
          <a:ln>
            <a:noFill/>
          </a:ln>
        </p:spPr>
        <p:txBody>
          <a:bodyPr wrap="square" lIns="36576" tIns="36576" rIns="36576" bIns="36576" anchor="ctr">
            <a:spAutoFit/>
          </a:bodyPr>
          <a:lstStyle/>
          <a:p>
            <a:pPr algn="l"/>
            <a:r>
              <a:rPr sz="950" b="1">
                <a:solidFill>
                  <a:srgbClr val="1E1E1E"/>
                </a:solidFill>
                <a:latin typeface="Noto Sans CJK JP"/>
              </a:rPr>
              <a:t>再予測による
継続的な改善</a:t>
            </a:r>
          </a:p>
        </p:txBody>
      </p:sp>
      <p:cxnSp>
        <p:nvCxnSpPr>
          <p:cNvPr id="82" name="Connector 80">
            <a:extLst>
              <a:ext uri="{FF2B5EF4-FFF2-40B4-BE49-F238E27FC236}">
                <a16:creationId xmlns:a16="http://schemas.microsoft.com/office/drawing/2014/main" id="{0DCCE48C-1AF7-4F12-C643-2926416430ED}"/>
              </a:ext>
            </a:extLst>
          </p:cNvPr>
          <p:cNvCxnSpPr/>
          <p:nvPr/>
        </p:nvCxnSpPr>
        <p:spPr>
          <a:xfrm>
            <a:off x="10588752" y="4809744"/>
            <a:ext cx="1280160" cy="0"/>
          </a:xfrm>
          <a:prstGeom prst="line">
            <a:avLst/>
          </a:prstGeom>
          <a:ln>
            <a:solidFill>
              <a:srgbClr val="E1E4E8"/>
            </a:solidFill>
          </a:ln>
        </p:spPr>
        <p:style>
          <a:lnRef idx="2">
            <a:schemeClr val="accent1"/>
          </a:lnRef>
          <a:fillRef idx="0">
            <a:schemeClr val="accent1"/>
          </a:fillRef>
          <a:effectRef idx="1">
            <a:schemeClr val="accent1"/>
          </a:effectRef>
          <a:fontRef idx="minor">
            <a:schemeClr val="tx1"/>
          </a:fontRef>
        </p:style>
      </p:cxnSp>
      <p:grpSp>
        <p:nvGrpSpPr>
          <p:cNvPr id="99" name="グループ化 98">
            <a:extLst>
              <a:ext uri="{FF2B5EF4-FFF2-40B4-BE49-F238E27FC236}">
                <a16:creationId xmlns:a16="http://schemas.microsoft.com/office/drawing/2014/main" id="{5217BC18-860D-27EC-9D07-8353FDB384D5}"/>
              </a:ext>
            </a:extLst>
          </p:cNvPr>
          <p:cNvGrpSpPr/>
          <p:nvPr/>
        </p:nvGrpSpPr>
        <p:grpSpPr>
          <a:xfrm>
            <a:off x="10588752" y="5084064"/>
            <a:ext cx="1261872" cy="694944"/>
            <a:chOff x="10588752" y="5084064"/>
            <a:chExt cx="1261872" cy="694944"/>
          </a:xfrm>
        </p:grpSpPr>
        <p:sp>
          <p:nvSpPr>
            <p:cNvPr id="83" name="Rounded Rectangle 81">
              <a:extLst>
                <a:ext uri="{FF2B5EF4-FFF2-40B4-BE49-F238E27FC236}">
                  <a16:creationId xmlns:a16="http://schemas.microsoft.com/office/drawing/2014/main" id="{B5E02885-95B4-520D-35DD-517842876714}"/>
                </a:ext>
              </a:extLst>
            </p:cNvPr>
            <p:cNvSpPr/>
            <p:nvPr/>
          </p:nvSpPr>
          <p:spPr>
            <a:xfrm>
              <a:off x="10588752" y="5084064"/>
              <a:ext cx="1261872" cy="694944"/>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2">
              <a:extLst>
                <a:ext uri="{FF2B5EF4-FFF2-40B4-BE49-F238E27FC236}">
                  <a16:creationId xmlns:a16="http://schemas.microsoft.com/office/drawing/2014/main" id="{03403664-E37F-7477-0C73-0111E390B2C0}"/>
                </a:ext>
              </a:extLst>
            </p:cNvPr>
            <p:cNvSpPr txBox="1"/>
            <p:nvPr/>
          </p:nvSpPr>
          <p:spPr>
            <a:xfrm>
              <a:off x="10616184" y="5120641"/>
              <a:ext cx="1234440" cy="627864"/>
            </a:xfrm>
            <a:prstGeom prst="rect">
              <a:avLst/>
            </a:prstGeom>
            <a:noFill/>
            <a:ln>
              <a:noFill/>
            </a:ln>
          </p:spPr>
          <p:txBody>
            <a:bodyPr wrap="square" lIns="36576" tIns="36576" rIns="36576" bIns="36576" anchor="t">
              <a:spAutoFit/>
            </a:bodyPr>
            <a:lstStyle/>
            <a:p>
              <a:pPr algn="ctr"/>
              <a:r>
                <a:rPr sz="900" b="1">
                  <a:solidFill>
                    <a:srgbClr val="FFFFFF"/>
                  </a:solidFill>
                  <a:latin typeface="Noto Sans CJK JP"/>
                </a:rPr>
                <a:t>人流予測→評価→修正
を繰り返し、計画案</a:t>
              </a:r>
              <a:r>
                <a:rPr lang="ja-JP" altLang="en-US" sz="900" b="1">
                  <a:solidFill>
                    <a:srgbClr val="FFFFFF"/>
                  </a:solidFill>
                  <a:latin typeface="Noto Sans CJK JP"/>
                </a:rPr>
                <a:t>を</a:t>
              </a:r>
              <a:r>
                <a:rPr sz="900" b="1">
                  <a:solidFill>
                    <a:srgbClr val="FFFFFF"/>
                  </a:solidFill>
                  <a:latin typeface="Noto Sans CJK JP"/>
                </a:rPr>
                <a:t>より妥当で説得力のあるものへ磨いていく</a:t>
              </a:r>
            </a:p>
          </p:txBody>
        </p:sp>
      </p:grpSp>
      <p:grpSp>
        <p:nvGrpSpPr>
          <p:cNvPr id="89" name="グループ化 88">
            <a:extLst>
              <a:ext uri="{FF2B5EF4-FFF2-40B4-BE49-F238E27FC236}">
                <a16:creationId xmlns:a16="http://schemas.microsoft.com/office/drawing/2014/main" id="{2C398244-B768-2AA5-C400-A24D1D418D49}"/>
              </a:ext>
            </a:extLst>
          </p:cNvPr>
          <p:cNvGrpSpPr/>
          <p:nvPr/>
        </p:nvGrpSpPr>
        <p:grpSpPr>
          <a:xfrm>
            <a:off x="563880" y="5820156"/>
            <a:ext cx="11064240" cy="530352"/>
            <a:chOff x="566928" y="5742432"/>
            <a:chExt cx="11064240" cy="530352"/>
          </a:xfrm>
        </p:grpSpPr>
        <p:sp>
          <p:nvSpPr>
            <p:cNvPr id="85" name="Rounded Rectangle 83">
              <a:extLst>
                <a:ext uri="{FF2B5EF4-FFF2-40B4-BE49-F238E27FC236}">
                  <a16:creationId xmlns:a16="http://schemas.microsoft.com/office/drawing/2014/main" id="{0C9DC30E-4D9C-00D4-CBB3-E99C47B0ED65}"/>
                </a:ext>
              </a:extLst>
            </p:cNvPr>
            <p:cNvSpPr/>
            <p:nvPr/>
          </p:nvSpPr>
          <p:spPr>
            <a:xfrm>
              <a:off x="566928" y="5742432"/>
              <a:ext cx="11064240" cy="530352"/>
            </a:xfrm>
            <a:prstGeom prst="roundRect">
              <a:avLst>
                <a:gd name="adj" fmla="val 9000"/>
              </a:avLst>
            </a:prstGeom>
            <a:solidFill>
              <a:srgbClr val="FCFDFF"/>
            </a:solidFill>
            <a:ln w="13970">
              <a:solidFill>
                <a:srgbClr val="E6A6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5">
              <a:extLst>
                <a:ext uri="{FF2B5EF4-FFF2-40B4-BE49-F238E27FC236}">
                  <a16:creationId xmlns:a16="http://schemas.microsoft.com/office/drawing/2014/main" id="{82D6D283-92B9-711C-7D6A-BBA40E6622B3}"/>
                </a:ext>
              </a:extLst>
            </p:cNvPr>
            <p:cNvSpPr txBox="1"/>
            <p:nvPr/>
          </p:nvSpPr>
          <p:spPr>
            <a:xfrm>
              <a:off x="1194381" y="5897880"/>
              <a:ext cx="10149840" cy="219456"/>
            </a:xfrm>
            <a:prstGeom prst="rect">
              <a:avLst/>
            </a:prstGeom>
            <a:noFill/>
            <a:ln>
              <a:noFill/>
            </a:ln>
          </p:spPr>
          <p:txBody>
            <a:bodyPr wrap="square" lIns="36576" tIns="36576" rIns="36576" bIns="36576" anchor="t">
              <a:spAutoFit/>
            </a:bodyPr>
            <a:lstStyle/>
            <a:p>
              <a:pPr algn="l"/>
              <a:r>
                <a:rPr sz="1310" b="1">
                  <a:solidFill>
                    <a:srgbClr val="0B2B5B"/>
                  </a:solidFill>
                  <a:latin typeface="Noto Sans CJK JP"/>
                </a:rPr>
                <a:t>人流予測を用いて計画の効果と課題を可視化し、対話的に修正を重ねることで、開発計画の粒度と妥当性が高まる。</a:t>
              </a:r>
            </a:p>
          </p:txBody>
        </p:sp>
      </p:grpSp>
      <p:sp>
        <p:nvSpPr>
          <p:cNvPr id="100" name="コンテンツ プレースホルダー 2">
            <a:extLst>
              <a:ext uri="{FF2B5EF4-FFF2-40B4-BE49-F238E27FC236}">
                <a16:creationId xmlns:a16="http://schemas.microsoft.com/office/drawing/2014/main" id="{060FC22C-6A6F-4A47-AF40-085183484B5F}"/>
              </a:ext>
            </a:extLst>
          </p:cNvPr>
          <p:cNvSpPr>
            <a:spLocks noGrp="1"/>
          </p:cNvSpPr>
          <p:nvPr>
            <p:ph idx="1"/>
          </p:nvPr>
        </p:nvSpPr>
        <p:spPr>
          <a:xfrm>
            <a:off x="189866" y="1018333"/>
            <a:ext cx="8363145" cy="404645"/>
          </a:xfrm>
        </p:spPr>
        <p:txBody>
          <a:bodyPr/>
          <a:lstStyle/>
          <a:p>
            <a:pPr marL="0" indent="0">
              <a:buNone/>
            </a:pPr>
            <a:r>
              <a:rPr lang="en-US" altLang="ja-JP" b="1"/>
              <a:t>2. </a:t>
            </a:r>
            <a:r>
              <a:rPr lang="ja-JP" altLang="en-US" b="1"/>
              <a:t>人流予測を用いながら効果・課題を検討し、計画内容を調整する</a:t>
            </a:r>
            <a:endParaRPr lang="ja-JP" altLang="ja-JP" b="1"/>
          </a:p>
          <a:p>
            <a:endParaRPr kumimoji="1" lang="ja-JP" altLang="en-US"/>
          </a:p>
        </p:txBody>
      </p:sp>
    </p:spTree>
    <p:extLst>
      <p:ext uri="{BB962C8B-B14F-4D97-AF65-F5344CB8AC3E}">
        <p14:creationId xmlns:p14="http://schemas.microsoft.com/office/powerpoint/2010/main" val="185458065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E6FF5-1EEA-F6BF-99B6-78B330B9166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63DA6A-2541-AA53-4C4A-D8D3A7CC69B4}"/>
              </a:ext>
            </a:extLst>
          </p:cNvPr>
          <p:cNvSpPr>
            <a:spLocks noGrp="1"/>
          </p:cNvSpPr>
          <p:nvPr>
            <p:ph type="title"/>
          </p:nvPr>
        </p:nvSpPr>
        <p:spPr/>
        <p:txBody>
          <a:bodyPr/>
          <a:lstStyle/>
          <a:p>
            <a:r>
              <a:rPr lang="ja-JP" altLang="ja-JP"/>
              <a:t>最初の</a:t>
            </a:r>
            <a:r>
              <a:rPr lang="en-US" altLang="ja-JP"/>
              <a:t>3</a:t>
            </a:r>
            <a:r>
              <a:rPr lang="ja-JP" altLang="ja-JP"/>
              <a:t>か月（2Q：7-9月）の取組イメージ</a:t>
            </a:r>
            <a:endParaRPr kumimoji="1" lang="ja-JP" altLang="en-US"/>
          </a:p>
        </p:txBody>
      </p:sp>
      <p:sp>
        <p:nvSpPr>
          <p:cNvPr id="4" name="日付プレースホルダー 3">
            <a:extLst>
              <a:ext uri="{FF2B5EF4-FFF2-40B4-BE49-F238E27FC236}">
                <a16:creationId xmlns:a16="http://schemas.microsoft.com/office/drawing/2014/main" id="{F14F3E9F-54B5-737E-B597-51F3EC21C135}"/>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6EFC864B-0371-E5D8-569D-87B8300C193C}"/>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A73D1B36-91BF-80AE-0546-0E2B326B1761}"/>
              </a:ext>
            </a:extLst>
          </p:cNvPr>
          <p:cNvSpPr>
            <a:spLocks noGrp="1"/>
          </p:cNvSpPr>
          <p:nvPr>
            <p:ph type="sldNum" sz="quarter" idx="12"/>
          </p:nvPr>
        </p:nvSpPr>
        <p:spPr/>
        <p:txBody>
          <a:bodyPr/>
          <a:lstStyle/>
          <a:p>
            <a:fld id="{6539E37A-E522-3D47-AAB7-DDF67C94A05D}" type="slidenum">
              <a:rPr lang="en-US" altLang="ja-JP"/>
              <a:t>5</a:t>
            </a:fld>
            <a:endParaRPr kumimoji="1" lang="ja-JP" altLang="en-US"/>
          </a:p>
        </p:txBody>
      </p:sp>
      <p:sp>
        <p:nvSpPr>
          <p:cNvPr id="101" name="コンテンツ プレースホルダー 2">
            <a:extLst>
              <a:ext uri="{FF2B5EF4-FFF2-40B4-BE49-F238E27FC236}">
                <a16:creationId xmlns:a16="http://schemas.microsoft.com/office/drawing/2014/main" id="{F27F1490-4230-CA3F-7BC8-CA56D166DECA}"/>
              </a:ext>
            </a:extLst>
          </p:cNvPr>
          <p:cNvSpPr txBox="1">
            <a:spLocks/>
          </p:cNvSpPr>
          <p:nvPr/>
        </p:nvSpPr>
        <p:spPr>
          <a:xfrm>
            <a:off x="343250" y="954137"/>
            <a:ext cx="3996544" cy="404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b="1">
                <a:solidFill>
                  <a:schemeClr val="tx2">
                    <a:lumMod val="90000"/>
                    <a:lumOff val="10000"/>
                  </a:schemeClr>
                </a:solidFill>
                <a:latin typeface="HGMinchoE" panose="02020909000000000000" pitchFamily="49" charset="-128"/>
                <a:ea typeface="HGMinchoE" panose="02020909000000000000" pitchFamily="49" charset="-128"/>
              </a:rPr>
              <a:t>例：大阪梅田駅前にホテル新設</a:t>
            </a:r>
            <a:endParaRPr lang="ja-JP" altLang="en-US">
              <a:solidFill>
                <a:schemeClr val="tx2">
                  <a:lumMod val="90000"/>
                  <a:lumOff val="10000"/>
                </a:schemeClr>
              </a:solidFill>
              <a:latin typeface="HGMinchoE" panose="02020909000000000000" pitchFamily="49" charset="-128"/>
              <a:ea typeface="HGMinchoE" panose="02020909000000000000" pitchFamily="49" charset="-128"/>
            </a:endParaRPr>
          </a:p>
        </p:txBody>
      </p:sp>
      <p:sp>
        <p:nvSpPr>
          <p:cNvPr id="102" name="コンテンツ プレースホルダー 2">
            <a:extLst>
              <a:ext uri="{FF2B5EF4-FFF2-40B4-BE49-F238E27FC236}">
                <a16:creationId xmlns:a16="http://schemas.microsoft.com/office/drawing/2014/main" id="{598A26F1-0FE1-B8D0-9C64-5F42E29A5861}"/>
              </a:ext>
            </a:extLst>
          </p:cNvPr>
          <p:cNvSpPr>
            <a:spLocks noGrp="1"/>
          </p:cNvSpPr>
          <p:nvPr>
            <p:ph idx="1"/>
          </p:nvPr>
        </p:nvSpPr>
        <p:spPr>
          <a:xfrm>
            <a:off x="4338195" y="1212073"/>
            <a:ext cx="2211178" cy="404645"/>
          </a:xfrm>
        </p:spPr>
        <p:txBody>
          <a:bodyPr>
            <a:normAutofit/>
          </a:bodyPr>
          <a:lstStyle/>
          <a:p>
            <a:pPr marL="0" indent="0">
              <a:buNone/>
            </a:pPr>
            <a:r>
              <a:rPr lang="en-US" altLang="ja-JP" b="1"/>
              <a:t>2.</a:t>
            </a:r>
            <a:r>
              <a:rPr lang="ja-JP" altLang="en-US" b="1"/>
              <a:t>人流を予測する</a:t>
            </a:r>
            <a:endParaRPr lang="ja-JP" altLang="ja-JP" b="1"/>
          </a:p>
          <a:p>
            <a:endParaRPr kumimoji="1" lang="ja-JP" altLang="en-US"/>
          </a:p>
        </p:txBody>
      </p:sp>
      <p:pic>
        <p:nvPicPr>
          <p:cNvPr id="104" name="図 103">
            <a:extLst>
              <a:ext uri="{FF2B5EF4-FFF2-40B4-BE49-F238E27FC236}">
                <a16:creationId xmlns:a16="http://schemas.microsoft.com/office/drawing/2014/main" id="{B328B9F8-3926-658F-30A3-DEA4C8E372C6}"/>
              </a:ext>
            </a:extLst>
          </p:cNvPr>
          <p:cNvPicPr>
            <a:picLocks noChangeAspect="1"/>
          </p:cNvPicPr>
          <p:nvPr/>
        </p:nvPicPr>
        <p:blipFill>
          <a:blip r:embed="rId3"/>
          <a:srcRect/>
          <a:stretch/>
        </p:blipFill>
        <p:spPr>
          <a:xfrm>
            <a:off x="649685" y="1422978"/>
            <a:ext cx="3383674" cy="4804980"/>
          </a:xfrm>
          <a:prstGeom prst="rect">
            <a:avLst/>
          </a:prstGeom>
        </p:spPr>
      </p:pic>
      <p:sp>
        <p:nvSpPr>
          <p:cNvPr id="106" name="テキスト ボックス 105">
            <a:extLst>
              <a:ext uri="{FF2B5EF4-FFF2-40B4-BE49-F238E27FC236}">
                <a16:creationId xmlns:a16="http://schemas.microsoft.com/office/drawing/2014/main" id="{60EBDE0A-2010-169C-F00A-E90C55D8C76F}"/>
              </a:ext>
            </a:extLst>
          </p:cNvPr>
          <p:cNvSpPr txBox="1"/>
          <p:nvPr/>
        </p:nvSpPr>
        <p:spPr>
          <a:xfrm>
            <a:off x="1235460" y="3899991"/>
            <a:ext cx="644751" cy="253916"/>
          </a:xfrm>
          <a:prstGeom prst="rect">
            <a:avLst/>
          </a:prstGeom>
          <a:noFill/>
        </p:spPr>
        <p:txBody>
          <a:bodyPr wrap="square" rtlCol="0">
            <a:spAutoFit/>
          </a:bodyPr>
          <a:lstStyle/>
          <a:p>
            <a:r>
              <a:rPr kumimoji="1" lang="en-US" altLang="ja-JP" sz="1050"/>
              <a:t>1,98</a:t>
            </a:r>
            <a:r>
              <a:rPr lang="ja-JP" altLang="ja-JP" sz="1050"/>
              <a:t>0㎡</a:t>
            </a:r>
            <a:endParaRPr kumimoji="1" lang="en-US" altLang="ja-JP" sz="1050"/>
          </a:p>
        </p:txBody>
      </p:sp>
      <p:sp>
        <p:nvSpPr>
          <p:cNvPr id="109" name="正方形/長方形 108">
            <a:extLst>
              <a:ext uri="{FF2B5EF4-FFF2-40B4-BE49-F238E27FC236}">
                <a16:creationId xmlns:a16="http://schemas.microsoft.com/office/drawing/2014/main" id="{1E29B9C6-2C8B-B653-8B1F-2515FC14203A}"/>
              </a:ext>
            </a:extLst>
          </p:cNvPr>
          <p:cNvSpPr/>
          <p:nvPr/>
        </p:nvSpPr>
        <p:spPr>
          <a:xfrm rot="21007099">
            <a:off x="1478102" y="2877394"/>
            <a:ext cx="421475" cy="600768"/>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正方形/長方形 246">
            <a:extLst>
              <a:ext uri="{FF2B5EF4-FFF2-40B4-BE49-F238E27FC236}">
                <a16:creationId xmlns:a16="http://schemas.microsoft.com/office/drawing/2014/main" id="{1F51A804-74DC-6FEA-3631-E7C6E2658A21}"/>
              </a:ext>
            </a:extLst>
          </p:cNvPr>
          <p:cNvSpPr/>
          <p:nvPr/>
        </p:nvSpPr>
        <p:spPr>
          <a:xfrm rot="21007099">
            <a:off x="1286658" y="2931056"/>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正方形/長方形 246">
            <a:extLst>
              <a:ext uri="{FF2B5EF4-FFF2-40B4-BE49-F238E27FC236}">
                <a16:creationId xmlns:a16="http://schemas.microsoft.com/office/drawing/2014/main" id="{AF9918BD-3269-F38B-56EB-205ABC677ADD}"/>
              </a:ext>
            </a:extLst>
          </p:cNvPr>
          <p:cNvSpPr/>
          <p:nvPr/>
        </p:nvSpPr>
        <p:spPr>
          <a:xfrm rot="21007099">
            <a:off x="1700558" y="2853614"/>
            <a:ext cx="272063" cy="1397919"/>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0 w 421475"/>
              <a:gd name="csY0" fmla="*/ 0 h 1397919"/>
              <a:gd name="csX1" fmla="*/ 421475 w 421475"/>
              <a:gd name="csY1" fmla="*/ 0 h 1397919"/>
              <a:gd name="csX2" fmla="*/ 421475 w 421475"/>
              <a:gd name="csY2" fmla="*/ 600768 h 1397919"/>
              <a:gd name="csX3" fmla="*/ 154414 w 421475"/>
              <a:gd name="csY3" fmla="*/ 1397919 h 1397919"/>
              <a:gd name="csX4" fmla="*/ 0 w 421475"/>
              <a:gd name="csY4" fmla="*/ 0 h 1397919"/>
              <a:gd name="csX0" fmla="*/ 5165 w 267061"/>
              <a:gd name="csY0" fmla="*/ 804496 h 1397919"/>
              <a:gd name="csX1" fmla="*/ 267061 w 267061"/>
              <a:gd name="csY1" fmla="*/ 0 h 1397919"/>
              <a:gd name="csX2" fmla="*/ 267061 w 267061"/>
              <a:gd name="csY2" fmla="*/ 600768 h 1397919"/>
              <a:gd name="csX3" fmla="*/ 0 w 267061"/>
              <a:gd name="csY3" fmla="*/ 1397919 h 1397919"/>
              <a:gd name="csX4" fmla="*/ 5165 w 267061"/>
              <a:gd name="csY4" fmla="*/ 804496 h 1397919"/>
              <a:gd name="csX0" fmla="*/ 238 w 272063"/>
              <a:gd name="csY0" fmla="*/ 805988 h 1397919"/>
              <a:gd name="csX1" fmla="*/ 272063 w 272063"/>
              <a:gd name="csY1" fmla="*/ 0 h 1397919"/>
              <a:gd name="csX2" fmla="*/ 272063 w 272063"/>
              <a:gd name="csY2" fmla="*/ 600768 h 1397919"/>
              <a:gd name="csX3" fmla="*/ 5002 w 272063"/>
              <a:gd name="csY3" fmla="*/ 1397919 h 1397919"/>
              <a:gd name="csX4" fmla="*/ 238 w 272063"/>
              <a:gd name="csY4" fmla="*/ 805988 h 1397919"/>
            </a:gdLst>
            <a:ahLst/>
            <a:cxnLst>
              <a:cxn ang="0">
                <a:pos x="csX0" y="csY0"/>
              </a:cxn>
              <a:cxn ang="0">
                <a:pos x="csX1" y="csY1"/>
              </a:cxn>
              <a:cxn ang="0">
                <a:pos x="csX2" y="csY2"/>
              </a:cxn>
              <a:cxn ang="0">
                <a:pos x="csX3" y="csY3"/>
              </a:cxn>
              <a:cxn ang="0">
                <a:pos x="csX4" y="csY4"/>
              </a:cxn>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正方形/長方形 252">
            <a:extLst>
              <a:ext uri="{FF2B5EF4-FFF2-40B4-BE49-F238E27FC236}">
                <a16:creationId xmlns:a16="http://schemas.microsoft.com/office/drawing/2014/main" id="{0B5C1FDD-5E8C-CCBD-ED95-60C7B3CD452C}"/>
              </a:ext>
            </a:extLst>
          </p:cNvPr>
          <p:cNvSpPr/>
          <p:nvPr/>
        </p:nvSpPr>
        <p:spPr>
          <a:xfrm rot="21007099">
            <a:off x="1342753" y="3495540"/>
            <a:ext cx="684421" cy="808641"/>
          </a:xfrm>
          <a:custGeom>
            <a:avLst/>
            <a:gdLst>
              <a:gd name="csX0" fmla="*/ 0 w 421475"/>
              <a:gd name="csY0" fmla="*/ 0 h 600768"/>
              <a:gd name="csX1" fmla="*/ 421475 w 421475"/>
              <a:gd name="csY1" fmla="*/ 0 h 600768"/>
              <a:gd name="csX2" fmla="*/ 421475 w 421475"/>
              <a:gd name="csY2" fmla="*/ 600768 h 600768"/>
              <a:gd name="csX3" fmla="*/ 0 w 421475"/>
              <a:gd name="csY3" fmla="*/ 600768 h 600768"/>
              <a:gd name="csX4" fmla="*/ 0 w 421475"/>
              <a:gd name="csY4" fmla="*/ 0 h 600768"/>
              <a:gd name="csX0" fmla="*/ 262946 w 684421"/>
              <a:gd name="csY0" fmla="*/ 0 h 796674"/>
              <a:gd name="csX1" fmla="*/ 684421 w 684421"/>
              <a:gd name="csY1" fmla="*/ 0 h 796674"/>
              <a:gd name="csX2" fmla="*/ 684421 w 684421"/>
              <a:gd name="csY2" fmla="*/ 600768 h 796674"/>
              <a:gd name="csX3" fmla="*/ 0 w 684421"/>
              <a:gd name="csY3" fmla="*/ 796674 h 796674"/>
              <a:gd name="csX4" fmla="*/ 262946 w 684421"/>
              <a:gd name="csY4" fmla="*/ 0 h 796674"/>
              <a:gd name="csX0" fmla="*/ 262946 w 684421"/>
              <a:gd name="csY0" fmla="*/ 0 h 808641"/>
              <a:gd name="csX1" fmla="*/ 684421 w 684421"/>
              <a:gd name="csY1" fmla="*/ 0 h 808641"/>
              <a:gd name="csX2" fmla="*/ 416167 w 684421"/>
              <a:gd name="csY2" fmla="*/ 808641 h 808641"/>
              <a:gd name="csX3" fmla="*/ 0 w 684421"/>
              <a:gd name="csY3" fmla="*/ 796674 h 808641"/>
              <a:gd name="csX4" fmla="*/ 262946 w 684421"/>
              <a:gd name="csY4" fmla="*/ 0 h 808641"/>
            </a:gdLst>
            <a:ahLst/>
            <a:cxnLst>
              <a:cxn ang="0">
                <a:pos x="csX0" y="csY0"/>
              </a:cxn>
              <a:cxn ang="0">
                <a:pos x="csX1" y="csY1"/>
              </a:cxn>
              <a:cxn ang="0">
                <a:pos x="csX2" y="csY2"/>
              </a:cxn>
              <a:cxn ang="0">
                <a:pos x="csX3" y="csY3"/>
              </a:cxn>
              <a:cxn ang="0">
                <a:pos x="csX4" y="csY4"/>
              </a:cxn>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 name="テキスト ボックス 112">
            <a:extLst>
              <a:ext uri="{FF2B5EF4-FFF2-40B4-BE49-F238E27FC236}">
                <a16:creationId xmlns:a16="http://schemas.microsoft.com/office/drawing/2014/main" id="{065D5CF3-D2A7-07A0-9A53-60CCD58D2D50}"/>
              </a:ext>
            </a:extLst>
          </p:cNvPr>
          <p:cNvSpPr txBox="1"/>
          <p:nvPr/>
        </p:nvSpPr>
        <p:spPr>
          <a:xfrm>
            <a:off x="1449200" y="3044190"/>
            <a:ext cx="495649" cy="276999"/>
          </a:xfrm>
          <a:prstGeom prst="rect">
            <a:avLst/>
          </a:prstGeom>
          <a:noFill/>
        </p:spPr>
        <p:txBody>
          <a:bodyPr wrap="none" rtlCol="0">
            <a:spAutoFit/>
          </a:bodyPr>
          <a:lstStyle/>
          <a:p>
            <a:r>
              <a:rPr kumimoji="1" lang="en-US" altLang="ja-JP" sz="1200"/>
              <a:t>20</a:t>
            </a:r>
            <a:r>
              <a:rPr kumimoji="1" lang="ja-JP" altLang="en-US" sz="1200"/>
              <a:t>階</a:t>
            </a:r>
          </a:p>
        </p:txBody>
      </p:sp>
      <p:sp>
        <p:nvSpPr>
          <p:cNvPr id="115" name="フリーフォーム 114">
            <a:extLst>
              <a:ext uri="{FF2B5EF4-FFF2-40B4-BE49-F238E27FC236}">
                <a16:creationId xmlns:a16="http://schemas.microsoft.com/office/drawing/2014/main" id="{2AA57182-1D04-1749-3926-969977426BE1}"/>
              </a:ext>
            </a:extLst>
          </p:cNvPr>
          <p:cNvSpPr/>
          <p:nvPr/>
        </p:nvSpPr>
        <p:spPr>
          <a:xfrm>
            <a:off x="1614076" y="3425050"/>
            <a:ext cx="647926" cy="370894"/>
          </a:xfrm>
          <a:custGeom>
            <a:avLst/>
            <a:gdLst>
              <a:gd name="csX0" fmla="*/ 654689 w 654689"/>
              <a:gd name="csY0" fmla="*/ 0 h 302996"/>
              <a:gd name="csX1" fmla="*/ 0 w 654689"/>
              <a:gd name="csY1" fmla="*/ 124445 h 302996"/>
              <a:gd name="csX2" fmla="*/ 21643 w 654689"/>
              <a:gd name="csY2" fmla="*/ 302996 h 302996"/>
              <a:gd name="csX0" fmla="*/ 654689 w 654689"/>
              <a:gd name="csY0" fmla="*/ 0 h 389741"/>
              <a:gd name="csX1" fmla="*/ 0 w 654689"/>
              <a:gd name="csY1" fmla="*/ 124445 h 389741"/>
              <a:gd name="csX2" fmla="*/ 40986 w 654689"/>
              <a:gd name="csY2" fmla="*/ 389741 h 389741"/>
              <a:gd name="csX0" fmla="*/ 657913 w 657913"/>
              <a:gd name="csY0" fmla="*/ 0 h 389741"/>
              <a:gd name="csX1" fmla="*/ 0 w 657913"/>
              <a:gd name="csY1" fmla="*/ 127781 h 389741"/>
              <a:gd name="csX2" fmla="*/ 44210 w 657913"/>
              <a:gd name="csY2" fmla="*/ 389741 h 389741"/>
            </a:gdLst>
            <a:ahLst/>
            <a:cxnLst>
              <a:cxn ang="0">
                <a:pos x="csX0" y="csY0"/>
              </a:cxn>
              <a:cxn ang="0">
                <a:pos x="csX1" y="csY1"/>
              </a:cxn>
              <a:cxn ang="0">
                <a:pos x="csX2" y="csY2"/>
              </a:cxn>
            </a:cxnLst>
            <a:rect l="l" t="t" r="r" b="b"/>
            <a:pathLst>
              <a:path w="657913" h="389741">
                <a:moveTo>
                  <a:pt x="657913" y="0"/>
                </a:moveTo>
                <a:lnTo>
                  <a:pt x="0" y="127781"/>
                </a:lnTo>
                <a:cubicBezTo>
                  <a:pt x="7214" y="187298"/>
                  <a:pt x="36996" y="330224"/>
                  <a:pt x="44210" y="389741"/>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6" name="フリーフォーム 115">
            <a:extLst>
              <a:ext uri="{FF2B5EF4-FFF2-40B4-BE49-F238E27FC236}">
                <a16:creationId xmlns:a16="http://schemas.microsoft.com/office/drawing/2014/main" id="{9AB3E461-0EE6-D6BD-D619-044E7951D6D4}"/>
              </a:ext>
            </a:extLst>
          </p:cNvPr>
          <p:cNvSpPr/>
          <p:nvPr/>
        </p:nvSpPr>
        <p:spPr>
          <a:xfrm>
            <a:off x="1715819" y="4170680"/>
            <a:ext cx="802298" cy="323948"/>
          </a:xfrm>
          <a:custGeom>
            <a:avLst/>
            <a:gdLst>
              <a:gd name="csX0" fmla="*/ 773723 w 773723"/>
              <a:gd name="csY0" fmla="*/ 56271 h 196948"/>
              <a:gd name="csX1" fmla="*/ 28135 w 773723"/>
              <a:gd name="csY1" fmla="*/ 196948 h 196948"/>
              <a:gd name="csX2" fmla="*/ 0 w 773723"/>
              <a:gd name="csY2" fmla="*/ 0 h 196948"/>
              <a:gd name="csX0" fmla="*/ 802298 w 802298"/>
              <a:gd name="csY0" fmla="*/ 183271 h 323948"/>
              <a:gd name="csX1" fmla="*/ 56710 w 802298"/>
              <a:gd name="csY1" fmla="*/ 323948 h 323948"/>
              <a:gd name="csX2" fmla="*/ 0 w 802298"/>
              <a:gd name="csY2" fmla="*/ 0 h 323948"/>
            </a:gdLst>
            <a:ahLst/>
            <a:cxnLst>
              <a:cxn ang="0">
                <a:pos x="csX0" y="csY0"/>
              </a:cxn>
              <a:cxn ang="0">
                <a:pos x="csX1" y="csY1"/>
              </a:cxn>
              <a:cxn ang="0">
                <a:pos x="csX2" y="csY2"/>
              </a:cxn>
            </a:cxnLst>
            <a:rect l="l" t="t" r="r" b="b"/>
            <a:pathLst>
              <a:path w="802298" h="323948">
                <a:moveTo>
                  <a:pt x="802298" y="183271"/>
                </a:moveTo>
                <a:lnTo>
                  <a:pt x="56710" y="323948"/>
                </a:lnTo>
                <a:cubicBezTo>
                  <a:pt x="47332" y="258299"/>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フリーフォーム 116">
            <a:extLst>
              <a:ext uri="{FF2B5EF4-FFF2-40B4-BE49-F238E27FC236}">
                <a16:creationId xmlns:a16="http://schemas.microsoft.com/office/drawing/2014/main" id="{8DF25B40-FB02-4F44-C99E-2707154B043D}"/>
              </a:ext>
            </a:extLst>
          </p:cNvPr>
          <p:cNvSpPr/>
          <p:nvPr/>
        </p:nvSpPr>
        <p:spPr>
          <a:xfrm>
            <a:off x="756168" y="3546416"/>
            <a:ext cx="838200" cy="311150"/>
          </a:xfrm>
          <a:custGeom>
            <a:avLst/>
            <a:gdLst>
              <a:gd name="csX0" fmla="*/ 838200 w 838200"/>
              <a:gd name="csY0" fmla="*/ 0 h 311150"/>
              <a:gd name="csX1" fmla="*/ 415925 w 838200"/>
              <a:gd name="csY1" fmla="*/ 82550 h 311150"/>
              <a:gd name="csX2" fmla="*/ 0 w 838200"/>
              <a:gd name="csY2" fmla="*/ 311150 h 311150"/>
            </a:gdLst>
            <a:ahLst/>
            <a:cxnLst>
              <a:cxn ang="0">
                <a:pos x="csX0" y="csY0"/>
              </a:cxn>
              <a:cxn ang="0">
                <a:pos x="csX1" y="csY1"/>
              </a:cxn>
              <a:cxn ang="0">
                <a:pos x="csX2" y="csY2"/>
              </a:cxn>
            </a:cxnLst>
            <a:rect l="l" t="t" r="r" b="b"/>
            <a:pathLst>
              <a:path w="838200" h="311150">
                <a:moveTo>
                  <a:pt x="838200" y="0"/>
                </a:moveTo>
                <a:lnTo>
                  <a:pt x="415925" y="82550"/>
                </a:lnTo>
                <a:lnTo>
                  <a:pt x="0" y="311150"/>
                </a:lnTo>
              </a:path>
            </a:pathLst>
          </a:custGeom>
          <a:noFill/>
          <a:ln w="38100">
            <a:solidFill>
              <a:srgbClr val="F2B3E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9" name="グループ化 118">
            <a:extLst>
              <a:ext uri="{FF2B5EF4-FFF2-40B4-BE49-F238E27FC236}">
                <a16:creationId xmlns:a16="http://schemas.microsoft.com/office/drawing/2014/main" id="{04FC4451-5535-823E-18F8-A2310A2DDF78}"/>
              </a:ext>
            </a:extLst>
          </p:cNvPr>
          <p:cNvGrpSpPr/>
          <p:nvPr/>
        </p:nvGrpSpPr>
        <p:grpSpPr>
          <a:xfrm>
            <a:off x="4955470" y="1670976"/>
            <a:ext cx="1298448" cy="262128"/>
            <a:chOff x="2843784" y="2029968"/>
            <a:chExt cx="1298448" cy="262128"/>
          </a:xfrm>
        </p:grpSpPr>
        <p:sp>
          <p:nvSpPr>
            <p:cNvPr id="120" name="Rounded Rectangle 16">
              <a:extLst>
                <a:ext uri="{FF2B5EF4-FFF2-40B4-BE49-F238E27FC236}">
                  <a16:creationId xmlns:a16="http://schemas.microsoft.com/office/drawing/2014/main" id="{0C214181-2DAE-B023-2CC2-43398DEAD776}"/>
                </a:ext>
              </a:extLst>
            </p:cNvPr>
            <p:cNvSpPr/>
            <p:nvPr/>
          </p:nvSpPr>
          <p:spPr>
            <a:xfrm>
              <a:off x="2843784" y="2036064"/>
              <a:ext cx="1298448" cy="256032"/>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7">
              <a:extLst>
                <a:ext uri="{FF2B5EF4-FFF2-40B4-BE49-F238E27FC236}">
                  <a16:creationId xmlns:a16="http://schemas.microsoft.com/office/drawing/2014/main" id="{579DFA51-9248-DE3F-2A60-EC202A49DC80}"/>
                </a:ext>
              </a:extLst>
            </p:cNvPr>
            <p:cNvSpPr txBox="1"/>
            <p:nvPr/>
          </p:nvSpPr>
          <p:spPr>
            <a:xfrm>
              <a:off x="3163824" y="2029968"/>
              <a:ext cx="676656" cy="146304"/>
            </a:xfrm>
            <a:prstGeom prst="rect">
              <a:avLst/>
            </a:prstGeom>
            <a:noFill/>
            <a:ln>
              <a:noFill/>
            </a:ln>
          </p:spPr>
          <p:txBody>
            <a:bodyPr wrap="square" lIns="36576" tIns="36576" rIns="36576" bIns="36576" anchor="t">
              <a:spAutoFit/>
            </a:bodyPr>
            <a:lstStyle/>
            <a:p>
              <a:pPr algn="ctr"/>
              <a:r>
                <a:rPr sz="1400" b="1">
                  <a:solidFill>
                    <a:srgbClr val="FFFFFF"/>
                  </a:solidFill>
                  <a:latin typeface="Noto Sans CJK JP"/>
                </a:rPr>
                <a:t>Before</a:t>
              </a:r>
            </a:p>
          </p:txBody>
        </p:sp>
      </p:grpSp>
      <p:grpSp>
        <p:nvGrpSpPr>
          <p:cNvPr id="122" name="グループ化 121">
            <a:extLst>
              <a:ext uri="{FF2B5EF4-FFF2-40B4-BE49-F238E27FC236}">
                <a16:creationId xmlns:a16="http://schemas.microsoft.com/office/drawing/2014/main" id="{DFD05FD9-78DC-F785-7002-4F56A3128240}"/>
              </a:ext>
            </a:extLst>
          </p:cNvPr>
          <p:cNvGrpSpPr/>
          <p:nvPr/>
        </p:nvGrpSpPr>
        <p:grpSpPr>
          <a:xfrm>
            <a:off x="7243784" y="1646073"/>
            <a:ext cx="1298448" cy="265176"/>
            <a:chOff x="4681728" y="2029968"/>
            <a:chExt cx="1298448" cy="265176"/>
          </a:xfrm>
        </p:grpSpPr>
        <p:sp>
          <p:nvSpPr>
            <p:cNvPr id="123" name="Rounded Rectangle 18">
              <a:extLst>
                <a:ext uri="{FF2B5EF4-FFF2-40B4-BE49-F238E27FC236}">
                  <a16:creationId xmlns:a16="http://schemas.microsoft.com/office/drawing/2014/main" id="{DAB5462A-7B90-F602-155A-8C83691DE7C7}"/>
                </a:ext>
              </a:extLst>
            </p:cNvPr>
            <p:cNvSpPr/>
            <p:nvPr/>
          </p:nvSpPr>
          <p:spPr>
            <a:xfrm>
              <a:off x="4681728" y="2039112"/>
              <a:ext cx="1298448" cy="256032"/>
            </a:xfrm>
            <a:prstGeom prst="roundRect">
              <a:avLst>
                <a:gd name="adj" fmla="val 9000"/>
              </a:avLst>
            </a:prstGeom>
            <a:solidFill>
              <a:srgbClr val="D94C3D"/>
            </a:solidFill>
            <a:ln w="12700">
              <a:solidFill>
                <a:srgbClr val="D94C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9">
              <a:extLst>
                <a:ext uri="{FF2B5EF4-FFF2-40B4-BE49-F238E27FC236}">
                  <a16:creationId xmlns:a16="http://schemas.microsoft.com/office/drawing/2014/main" id="{FE33D435-3BA5-5651-ED20-032CFEA48A03}"/>
                </a:ext>
              </a:extLst>
            </p:cNvPr>
            <p:cNvSpPr txBox="1"/>
            <p:nvPr/>
          </p:nvSpPr>
          <p:spPr>
            <a:xfrm>
              <a:off x="5029200" y="2029968"/>
              <a:ext cx="640080" cy="146304"/>
            </a:xfrm>
            <a:prstGeom prst="rect">
              <a:avLst/>
            </a:prstGeom>
            <a:noFill/>
            <a:ln>
              <a:noFill/>
            </a:ln>
          </p:spPr>
          <p:txBody>
            <a:bodyPr wrap="square" lIns="36576" tIns="36576" rIns="36576" bIns="36576" anchor="t">
              <a:spAutoFit/>
            </a:bodyPr>
            <a:lstStyle/>
            <a:p>
              <a:pPr algn="ctr"/>
              <a:r>
                <a:rPr sz="1400" b="1">
                  <a:solidFill>
                    <a:srgbClr val="FFFFFF"/>
                  </a:solidFill>
                  <a:latin typeface="Noto Sans CJK JP"/>
                </a:rPr>
                <a:t>After</a:t>
              </a:r>
            </a:p>
          </p:txBody>
        </p:sp>
      </p:grpSp>
      <p:pic>
        <p:nvPicPr>
          <p:cNvPr id="125" name="図 124">
            <a:extLst>
              <a:ext uri="{FF2B5EF4-FFF2-40B4-BE49-F238E27FC236}">
                <a16:creationId xmlns:a16="http://schemas.microsoft.com/office/drawing/2014/main" id="{A98BE586-7944-65CE-945B-072E50645C91}"/>
              </a:ext>
            </a:extLst>
          </p:cNvPr>
          <p:cNvPicPr>
            <a:picLocks noChangeAspect="1"/>
          </p:cNvPicPr>
          <p:nvPr/>
        </p:nvPicPr>
        <p:blipFill>
          <a:blip r:embed="rId3"/>
          <a:srcRect/>
          <a:stretch/>
        </p:blipFill>
        <p:spPr>
          <a:xfrm>
            <a:off x="4680529" y="2155879"/>
            <a:ext cx="1866616" cy="2650684"/>
          </a:xfrm>
          <a:prstGeom prst="rect">
            <a:avLst/>
          </a:prstGeom>
        </p:spPr>
      </p:pic>
      <p:pic>
        <p:nvPicPr>
          <p:cNvPr id="126" name="図 125">
            <a:extLst>
              <a:ext uri="{FF2B5EF4-FFF2-40B4-BE49-F238E27FC236}">
                <a16:creationId xmlns:a16="http://schemas.microsoft.com/office/drawing/2014/main" id="{B0E6FD01-CC64-95E7-47BB-46BB409F165B}"/>
              </a:ext>
            </a:extLst>
          </p:cNvPr>
          <p:cNvPicPr>
            <a:picLocks noChangeAspect="1"/>
          </p:cNvPicPr>
          <p:nvPr/>
        </p:nvPicPr>
        <p:blipFill>
          <a:blip r:embed="rId4"/>
          <a:srcRect/>
          <a:stretch/>
        </p:blipFill>
        <p:spPr>
          <a:xfrm>
            <a:off x="6975760" y="2155879"/>
            <a:ext cx="1871071" cy="2650684"/>
          </a:xfrm>
          <a:prstGeom prst="rect">
            <a:avLst/>
          </a:prstGeom>
        </p:spPr>
      </p:pic>
      <p:sp>
        <p:nvSpPr>
          <p:cNvPr id="127" name="Rounded Rectangle 5">
            <a:extLst>
              <a:ext uri="{FF2B5EF4-FFF2-40B4-BE49-F238E27FC236}">
                <a16:creationId xmlns:a16="http://schemas.microsoft.com/office/drawing/2014/main" id="{5D72920D-2AA5-C468-7F6C-70244EC9B407}"/>
              </a:ext>
            </a:extLst>
          </p:cNvPr>
          <p:cNvSpPr/>
          <p:nvPr/>
        </p:nvSpPr>
        <p:spPr>
          <a:xfrm>
            <a:off x="9088688" y="1655217"/>
            <a:ext cx="2732499" cy="142738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7">
            <a:extLst>
              <a:ext uri="{FF2B5EF4-FFF2-40B4-BE49-F238E27FC236}">
                <a16:creationId xmlns:a16="http://schemas.microsoft.com/office/drawing/2014/main" id="{9CD89372-741A-0D06-04DB-0F42B6DF20B4}"/>
              </a:ext>
            </a:extLst>
          </p:cNvPr>
          <p:cNvSpPr txBox="1"/>
          <p:nvPr/>
        </p:nvSpPr>
        <p:spPr>
          <a:xfrm>
            <a:off x="9624104" y="1850154"/>
            <a:ext cx="1667169" cy="337114"/>
          </a:xfrm>
          <a:prstGeom prst="roundRect">
            <a:avLst/>
          </a:prstGeom>
          <a:noFill/>
          <a:ln>
            <a:noFill/>
          </a:ln>
        </p:spPr>
        <p:txBody>
          <a:bodyPr wrap="square" lIns="36576" tIns="36576" rIns="36576" bIns="36576" anchor="t">
            <a:spAutoFit/>
          </a:bodyPr>
          <a:lstStyle/>
          <a:p>
            <a:pPr algn="l"/>
            <a:r>
              <a:rPr lang="ja-JP" altLang="en-US" sz="1500" b="1">
                <a:solidFill>
                  <a:srgbClr val="0B2B5B"/>
                </a:solidFill>
                <a:latin typeface="Noto Sans CJK JP"/>
              </a:rPr>
              <a:t>例</a:t>
            </a:r>
            <a:r>
              <a:rPr lang="en-US" altLang="ja-JP" sz="1500" b="1">
                <a:solidFill>
                  <a:srgbClr val="0B2B5B"/>
                </a:solidFill>
                <a:latin typeface="Noto Sans CJK JP"/>
              </a:rPr>
              <a:t>1</a:t>
            </a:r>
            <a:r>
              <a:rPr lang="ja-JP" altLang="en-US" sz="1500" b="1">
                <a:solidFill>
                  <a:srgbClr val="0B2B5B"/>
                </a:solidFill>
                <a:latin typeface="Noto Sans CJK JP"/>
              </a:rPr>
              <a:t>：計画の変更</a:t>
            </a:r>
            <a:endParaRPr sz="1500" b="1">
              <a:solidFill>
                <a:srgbClr val="0B2B5B"/>
              </a:solidFill>
              <a:latin typeface="Noto Sans CJK JP"/>
            </a:endParaRPr>
          </a:p>
        </p:txBody>
      </p:sp>
      <p:sp>
        <p:nvSpPr>
          <p:cNvPr id="130" name="テキスト ボックス 129">
            <a:extLst>
              <a:ext uri="{FF2B5EF4-FFF2-40B4-BE49-F238E27FC236}">
                <a16:creationId xmlns:a16="http://schemas.microsoft.com/office/drawing/2014/main" id="{A86E2089-EE23-F1AD-1BC1-CB9A73BF3C11}"/>
              </a:ext>
            </a:extLst>
          </p:cNvPr>
          <p:cNvSpPr txBox="1"/>
          <p:nvPr/>
        </p:nvSpPr>
        <p:spPr>
          <a:xfrm>
            <a:off x="9198416" y="2225766"/>
            <a:ext cx="2416249" cy="711733"/>
          </a:xfrm>
          <a:prstGeom prst="rect">
            <a:avLst/>
          </a:prstGeom>
          <a:noFill/>
        </p:spPr>
        <p:txBody>
          <a:bodyPr wrap="square" rtlCol="0">
            <a:spAutoFit/>
          </a:bodyPr>
          <a:lstStyle/>
          <a:p>
            <a:pPr>
              <a:lnSpc>
                <a:spcPct val="150000"/>
              </a:lnSpc>
            </a:pPr>
            <a:r>
              <a:rPr kumimoji="1" lang="ja-JP" altLang="en-US" sz="1400">
                <a:latin typeface="+mn-ea"/>
              </a:rPr>
              <a:t>商業施設のバランスを・・のように変えようかな。</a:t>
            </a:r>
          </a:p>
        </p:txBody>
      </p:sp>
      <p:sp>
        <p:nvSpPr>
          <p:cNvPr id="131" name="Rounded Rectangle 5">
            <a:extLst>
              <a:ext uri="{FF2B5EF4-FFF2-40B4-BE49-F238E27FC236}">
                <a16:creationId xmlns:a16="http://schemas.microsoft.com/office/drawing/2014/main" id="{47471212-0946-5E6B-98AD-5D3E9A03D262}"/>
              </a:ext>
            </a:extLst>
          </p:cNvPr>
          <p:cNvSpPr/>
          <p:nvPr/>
        </p:nvSpPr>
        <p:spPr>
          <a:xfrm>
            <a:off x="4980538" y="4930612"/>
            <a:ext cx="3512003" cy="1291132"/>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a:solidFill>
                  <a:schemeClr val="tx2">
                    <a:lumMod val="90000"/>
                    <a:lumOff val="10000"/>
                  </a:schemeClr>
                </a:solidFill>
              </a:rPr>
              <a:t>平日の来訪者：〇〇万人</a:t>
            </a:r>
            <a:endParaRPr lang="en-US" altLang="ja-JP" sz="1600">
              <a:solidFill>
                <a:schemeClr val="tx2">
                  <a:lumMod val="90000"/>
                  <a:lumOff val="10000"/>
                </a:schemeClr>
              </a:solidFill>
            </a:endParaRPr>
          </a:p>
          <a:p>
            <a:pPr algn="ctr"/>
            <a:r>
              <a:rPr lang="ja-JP" altLang="en-US" sz="1600">
                <a:solidFill>
                  <a:schemeClr val="tx2">
                    <a:lumMod val="90000"/>
                    <a:lumOff val="10000"/>
                  </a:schemeClr>
                </a:solidFill>
              </a:rPr>
              <a:t>休日の来訪者：△△万人</a:t>
            </a:r>
            <a:endParaRPr lang="en-US" altLang="ja-JP" sz="1600">
              <a:solidFill>
                <a:schemeClr val="tx2">
                  <a:lumMod val="90000"/>
                  <a:lumOff val="10000"/>
                </a:schemeClr>
              </a:solidFill>
            </a:endParaRPr>
          </a:p>
          <a:p>
            <a:pPr algn="ctr"/>
            <a:r>
              <a:rPr lang="en-US" sz="1600">
                <a:solidFill>
                  <a:schemeClr val="tx2">
                    <a:lumMod val="90000"/>
                    <a:lumOff val="10000"/>
                  </a:schemeClr>
                </a:solidFill>
              </a:rPr>
              <a:t>~~</a:t>
            </a:r>
            <a:r>
              <a:rPr lang="ja-JP" altLang="en-US" sz="1600">
                <a:solidFill>
                  <a:schemeClr val="tx2">
                    <a:lumMod val="90000"/>
                    <a:lumOff val="10000"/>
                  </a:schemeClr>
                </a:solidFill>
              </a:rPr>
              <a:t>の道を使う人が特に増えました</a:t>
            </a:r>
            <a:endParaRPr lang="en-US" altLang="ja-JP" sz="1600">
              <a:solidFill>
                <a:schemeClr val="tx2">
                  <a:lumMod val="90000"/>
                  <a:lumOff val="10000"/>
                </a:schemeClr>
              </a:solidFill>
            </a:endParaRPr>
          </a:p>
          <a:p>
            <a:pPr algn="ctr"/>
            <a:r>
              <a:rPr lang="en-US" sz="1600">
                <a:solidFill>
                  <a:schemeClr val="tx2">
                    <a:lumMod val="90000"/>
                    <a:lumOff val="10000"/>
                  </a:schemeClr>
                </a:solidFill>
              </a:rPr>
              <a:t>・・・</a:t>
            </a:r>
            <a:endParaRPr sz="1600">
              <a:solidFill>
                <a:schemeClr val="tx2">
                  <a:lumMod val="90000"/>
                  <a:lumOff val="10000"/>
                </a:schemeClr>
              </a:solidFill>
            </a:endParaRPr>
          </a:p>
        </p:txBody>
      </p:sp>
      <p:sp>
        <p:nvSpPr>
          <p:cNvPr id="132" name="Rounded Rectangle 5">
            <a:extLst>
              <a:ext uri="{FF2B5EF4-FFF2-40B4-BE49-F238E27FC236}">
                <a16:creationId xmlns:a16="http://schemas.microsoft.com/office/drawing/2014/main" id="{BE80DE9F-DFD9-28A1-13B5-28A18107182F}"/>
              </a:ext>
            </a:extLst>
          </p:cNvPr>
          <p:cNvSpPr/>
          <p:nvPr/>
        </p:nvSpPr>
        <p:spPr>
          <a:xfrm>
            <a:off x="9099997" y="3212241"/>
            <a:ext cx="2732499" cy="142738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7">
            <a:extLst>
              <a:ext uri="{FF2B5EF4-FFF2-40B4-BE49-F238E27FC236}">
                <a16:creationId xmlns:a16="http://schemas.microsoft.com/office/drawing/2014/main" id="{370A8F6C-0E05-4F01-0270-11721816DAD6}"/>
              </a:ext>
            </a:extLst>
          </p:cNvPr>
          <p:cNvSpPr txBox="1"/>
          <p:nvPr/>
        </p:nvSpPr>
        <p:spPr>
          <a:xfrm>
            <a:off x="9284525" y="3417289"/>
            <a:ext cx="2341449" cy="337114"/>
          </a:xfrm>
          <a:prstGeom prst="roundRect">
            <a:avLst/>
          </a:prstGeom>
          <a:noFill/>
          <a:ln>
            <a:noFill/>
          </a:ln>
        </p:spPr>
        <p:txBody>
          <a:bodyPr wrap="square" lIns="36576" tIns="36576" rIns="36576" bIns="36576" anchor="t">
            <a:spAutoFit/>
          </a:bodyPr>
          <a:lstStyle/>
          <a:p>
            <a:pPr algn="ctr"/>
            <a:r>
              <a:rPr lang="ja-JP" altLang="en-US" sz="1500" b="1">
                <a:solidFill>
                  <a:srgbClr val="0B2B5B"/>
                </a:solidFill>
                <a:latin typeface="Noto Sans CJK JP"/>
              </a:rPr>
              <a:t>例</a:t>
            </a:r>
            <a:r>
              <a:rPr lang="en-US" altLang="ja-JP" sz="1500" b="1">
                <a:solidFill>
                  <a:srgbClr val="0B2B5B"/>
                </a:solidFill>
                <a:latin typeface="Noto Sans CJK JP"/>
              </a:rPr>
              <a:t>2</a:t>
            </a:r>
            <a:r>
              <a:rPr lang="ja-JP" altLang="en-US" sz="1500" b="1">
                <a:solidFill>
                  <a:srgbClr val="0B2B5B"/>
                </a:solidFill>
                <a:latin typeface="Noto Sans CJK JP"/>
              </a:rPr>
              <a:t>：特定のシナリオ</a:t>
            </a:r>
            <a:endParaRPr sz="1500" b="1">
              <a:solidFill>
                <a:srgbClr val="0B2B5B"/>
              </a:solidFill>
              <a:latin typeface="Noto Sans CJK JP"/>
            </a:endParaRPr>
          </a:p>
        </p:txBody>
      </p:sp>
      <p:sp>
        <p:nvSpPr>
          <p:cNvPr id="134" name="テキスト ボックス 133">
            <a:extLst>
              <a:ext uri="{FF2B5EF4-FFF2-40B4-BE49-F238E27FC236}">
                <a16:creationId xmlns:a16="http://schemas.microsoft.com/office/drawing/2014/main" id="{D4553A52-E922-5230-59A0-FC02BBDAED99}"/>
              </a:ext>
            </a:extLst>
          </p:cNvPr>
          <p:cNvSpPr txBox="1"/>
          <p:nvPr/>
        </p:nvSpPr>
        <p:spPr>
          <a:xfrm>
            <a:off x="9209725" y="3782790"/>
            <a:ext cx="2416249" cy="711733"/>
          </a:xfrm>
          <a:prstGeom prst="rect">
            <a:avLst/>
          </a:prstGeom>
          <a:noFill/>
        </p:spPr>
        <p:txBody>
          <a:bodyPr wrap="square" rtlCol="0">
            <a:spAutoFit/>
          </a:bodyPr>
          <a:lstStyle/>
          <a:p>
            <a:pPr>
              <a:lnSpc>
                <a:spcPct val="150000"/>
              </a:lnSpc>
            </a:pPr>
            <a:r>
              <a:rPr kumimoji="1" lang="ja-JP" altLang="en-US" sz="1400">
                <a:latin typeface="+mn-ea"/>
              </a:rPr>
              <a:t>一日中雨の場合の減少状況を見たいな。</a:t>
            </a:r>
          </a:p>
        </p:txBody>
      </p:sp>
      <p:sp>
        <p:nvSpPr>
          <p:cNvPr id="135" name="Rounded Rectangle 5">
            <a:extLst>
              <a:ext uri="{FF2B5EF4-FFF2-40B4-BE49-F238E27FC236}">
                <a16:creationId xmlns:a16="http://schemas.microsoft.com/office/drawing/2014/main" id="{DC19770B-343B-23B1-97C1-541A66451B07}"/>
              </a:ext>
            </a:extLst>
          </p:cNvPr>
          <p:cNvSpPr/>
          <p:nvPr/>
        </p:nvSpPr>
        <p:spPr>
          <a:xfrm>
            <a:off x="9088688" y="4766577"/>
            <a:ext cx="2732499" cy="142738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TextBox 7">
            <a:extLst>
              <a:ext uri="{FF2B5EF4-FFF2-40B4-BE49-F238E27FC236}">
                <a16:creationId xmlns:a16="http://schemas.microsoft.com/office/drawing/2014/main" id="{D7085D2D-45D2-43BF-CEF4-A39AC8E3B3C3}"/>
              </a:ext>
            </a:extLst>
          </p:cNvPr>
          <p:cNvSpPr txBox="1"/>
          <p:nvPr/>
        </p:nvSpPr>
        <p:spPr>
          <a:xfrm>
            <a:off x="9273216" y="4862476"/>
            <a:ext cx="2341449" cy="337114"/>
          </a:xfrm>
          <a:prstGeom prst="roundRect">
            <a:avLst/>
          </a:prstGeom>
          <a:noFill/>
          <a:ln>
            <a:noFill/>
          </a:ln>
        </p:spPr>
        <p:txBody>
          <a:bodyPr wrap="square" lIns="36576" tIns="36576" rIns="36576" bIns="36576" anchor="t">
            <a:spAutoFit/>
          </a:bodyPr>
          <a:lstStyle/>
          <a:p>
            <a:pPr algn="ctr"/>
            <a:r>
              <a:rPr lang="ja-JP" altLang="en-US" sz="1500" b="1">
                <a:solidFill>
                  <a:srgbClr val="0B2B5B"/>
                </a:solidFill>
                <a:latin typeface="Noto Sans CJK JP"/>
              </a:rPr>
              <a:t>例</a:t>
            </a:r>
            <a:r>
              <a:rPr lang="en-US" altLang="ja-JP" sz="1500" b="1">
                <a:solidFill>
                  <a:srgbClr val="0B2B5B"/>
                </a:solidFill>
                <a:latin typeface="Noto Sans CJK JP"/>
              </a:rPr>
              <a:t>3</a:t>
            </a:r>
            <a:r>
              <a:rPr lang="ja-JP" altLang="en-US" sz="1500" b="1">
                <a:solidFill>
                  <a:srgbClr val="0B2B5B"/>
                </a:solidFill>
                <a:latin typeface="Noto Sans CJK JP"/>
              </a:rPr>
              <a:t>：上方・下方シナリオ</a:t>
            </a:r>
            <a:endParaRPr sz="1500" b="1">
              <a:solidFill>
                <a:srgbClr val="0B2B5B"/>
              </a:solidFill>
              <a:latin typeface="Noto Sans CJK JP"/>
            </a:endParaRPr>
          </a:p>
        </p:txBody>
      </p:sp>
      <p:sp>
        <p:nvSpPr>
          <p:cNvPr id="137" name="テキスト ボックス 136">
            <a:extLst>
              <a:ext uri="{FF2B5EF4-FFF2-40B4-BE49-F238E27FC236}">
                <a16:creationId xmlns:a16="http://schemas.microsoft.com/office/drawing/2014/main" id="{F6728286-47DA-B92F-9487-186E7DC76252}"/>
              </a:ext>
            </a:extLst>
          </p:cNvPr>
          <p:cNvSpPr txBox="1"/>
          <p:nvPr/>
        </p:nvSpPr>
        <p:spPr>
          <a:xfrm>
            <a:off x="9209724" y="5148342"/>
            <a:ext cx="2416249" cy="900246"/>
          </a:xfrm>
          <a:prstGeom prst="rect">
            <a:avLst/>
          </a:prstGeom>
          <a:noFill/>
        </p:spPr>
        <p:txBody>
          <a:bodyPr wrap="square" rtlCol="0">
            <a:spAutoFit/>
          </a:bodyPr>
          <a:lstStyle/>
          <a:p>
            <a:pPr>
              <a:lnSpc>
                <a:spcPct val="150000"/>
              </a:lnSpc>
            </a:pPr>
            <a:r>
              <a:rPr kumimoji="1" lang="ja-JP" altLang="en-US" sz="1200">
                <a:latin typeface="+mn-ea"/>
              </a:rPr>
              <a:t>開業一年間でヒットしうまく行った場合の上方シナリオと下方シナリオを知りたいな。</a:t>
            </a:r>
          </a:p>
        </p:txBody>
      </p:sp>
      <p:sp>
        <p:nvSpPr>
          <p:cNvPr id="138" name="コンテンツ プレースホルダー 2">
            <a:extLst>
              <a:ext uri="{FF2B5EF4-FFF2-40B4-BE49-F238E27FC236}">
                <a16:creationId xmlns:a16="http://schemas.microsoft.com/office/drawing/2014/main" id="{F934E9E5-4E99-6839-09C5-25FC5181C9AB}"/>
              </a:ext>
            </a:extLst>
          </p:cNvPr>
          <p:cNvSpPr txBox="1">
            <a:spLocks/>
          </p:cNvSpPr>
          <p:nvPr/>
        </p:nvSpPr>
        <p:spPr>
          <a:xfrm>
            <a:off x="9044091" y="1212073"/>
            <a:ext cx="2821695" cy="404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b="1"/>
              <a:t>状況ごとの人流比較</a:t>
            </a:r>
            <a:endParaRPr lang="ja-JP" altLang="en-US"/>
          </a:p>
        </p:txBody>
      </p:sp>
      <p:cxnSp>
        <p:nvCxnSpPr>
          <p:cNvPr id="15" name="直線矢印コネクタ 14">
            <a:extLst>
              <a:ext uri="{FF2B5EF4-FFF2-40B4-BE49-F238E27FC236}">
                <a16:creationId xmlns:a16="http://schemas.microsoft.com/office/drawing/2014/main" id="{470192CC-F805-A63D-4CD0-444E97B52B0B}"/>
              </a:ext>
            </a:extLst>
          </p:cNvPr>
          <p:cNvCxnSpPr/>
          <p:nvPr/>
        </p:nvCxnSpPr>
        <p:spPr>
          <a:xfrm flipV="1">
            <a:off x="4888319" y="3277057"/>
            <a:ext cx="555465" cy="90010"/>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19" name="直線矢印コネクタ 18">
            <a:extLst>
              <a:ext uri="{FF2B5EF4-FFF2-40B4-BE49-F238E27FC236}">
                <a16:creationId xmlns:a16="http://schemas.microsoft.com/office/drawing/2014/main" id="{048093A6-6DC1-B63F-6A4B-20E16592C517}"/>
              </a:ext>
            </a:extLst>
          </p:cNvPr>
          <p:cNvCxnSpPr>
            <a:cxnSpLocks/>
          </p:cNvCxnSpPr>
          <p:nvPr/>
        </p:nvCxnSpPr>
        <p:spPr>
          <a:xfrm flipV="1">
            <a:off x="4997777" y="4194085"/>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2" name="直線矢印コネクタ 21">
            <a:extLst>
              <a:ext uri="{FF2B5EF4-FFF2-40B4-BE49-F238E27FC236}">
                <a16:creationId xmlns:a16="http://schemas.microsoft.com/office/drawing/2014/main" id="{110F0104-2E4C-75E3-E44C-C8356721C11B}"/>
              </a:ext>
            </a:extLst>
          </p:cNvPr>
          <p:cNvCxnSpPr>
            <a:cxnSpLocks/>
          </p:cNvCxnSpPr>
          <p:nvPr/>
        </p:nvCxnSpPr>
        <p:spPr>
          <a:xfrm>
            <a:off x="5465930" y="3277057"/>
            <a:ext cx="138764" cy="917028"/>
          </a:xfrm>
          <a:prstGeom prst="straightConnector1">
            <a:avLst/>
          </a:prstGeom>
          <a:ln w="31750">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5" name="直線矢印コネクタ 24">
            <a:extLst>
              <a:ext uri="{FF2B5EF4-FFF2-40B4-BE49-F238E27FC236}">
                <a16:creationId xmlns:a16="http://schemas.microsoft.com/office/drawing/2014/main" id="{E7265852-D95F-FD85-B0A2-4E361DAA35F8}"/>
              </a:ext>
            </a:extLst>
          </p:cNvPr>
          <p:cNvCxnSpPr>
            <a:cxnSpLocks/>
          </p:cNvCxnSpPr>
          <p:nvPr/>
        </p:nvCxnSpPr>
        <p:spPr>
          <a:xfrm flipV="1">
            <a:off x="5673084" y="4216557"/>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6" name="直線矢印コネクタ 25">
            <a:extLst>
              <a:ext uri="{FF2B5EF4-FFF2-40B4-BE49-F238E27FC236}">
                <a16:creationId xmlns:a16="http://schemas.microsoft.com/office/drawing/2014/main" id="{0232EAA0-54B4-0A19-F5E7-11294C2497BA}"/>
              </a:ext>
            </a:extLst>
          </p:cNvPr>
          <p:cNvCxnSpPr>
            <a:cxnSpLocks/>
          </p:cNvCxnSpPr>
          <p:nvPr/>
        </p:nvCxnSpPr>
        <p:spPr>
          <a:xfrm>
            <a:off x="5308395" y="2618910"/>
            <a:ext cx="95752" cy="610791"/>
          </a:xfrm>
          <a:prstGeom prst="straightConnector1">
            <a:avLst/>
          </a:prstGeom>
          <a:ln w="15875">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29" name="直線矢印コネクタ 28">
            <a:extLst>
              <a:ext uri="{FF2B5EF4-FFF2-40B4-BE49-F238E27FC236}">
                <a16:creationId xmlns:a16="http://schemas.microsoft.com/office/drawing/2014/main" id="{BC34AB95-6834-6F12-AE31-D49F3D0A8FD0}"/>
              </a:ext>
            </a:extLst>
          </p:cNvPr>
          <p:cNvCxnSpPr>
            <a:cxnSpLocks/>
          </p:cNvCxnSpPr>
          <p:nvPr/>
        </p:nvCxnSpPr>
        <p:spPr>
          <a:xfrm>
            <a:off x="5124665" y="3812444"/>
            <a:ext cx="59313" cy="381641"/>
          </a:xfrm>
          <a:prstGeom prst="straightConnector1">
            <a:avLst/>
          </a:prstGeom>
          <a:ln w="12700">
            <a:headEnd type="triangle"/>
            <a:tailEnd type="triangle"/>
          </a:ln>
        </p:spPr>
        <p:style>
          <a:lnRef idx="2">
            <a:schemeClr val="accent4"/>
          </a:lnRef>
          <a:fillRef idx="0">
            <a:schemeClr val="accent4"/>
          </a:fillRef>
          <a:effectRef idx="1">
            <a:schemeClr val="accent4"/>
          </a:effectRef>
          <a:fontRef idx="minor">
            <a:schemeClr val="tx1"/>
          </a:fontRef>
        </p:style>
      </p:cxnSp>
      <p:pic>
        <p:nvPicPr>
          <p:cNvPr id="31" name="図 30">
            <a:extLst>
              <a:ext uri="{FF2B5EF4-FFF2-40B4-BE49-F238E27FC236}">
                <a16:creationId xmlns:a16="http://schemas.microsoft.com/office/drawing/2014/main" id="{F2FE2C76-CE20-57A9-D1F9-1618F87D27CE}"/>
              </a:ext>
            </a:extLst>
          </p:cNvPr>
          <p:cNvPicPr>
            <a:picLocks noChangeAspect="1"/>
          </p:cNvPicPr>
          <p:nvPr/>
        </p:nvPicPr>
        <p:blipFill>
          <a:blip r:embed="rId3"/>
          <a:srcRect/>
          <a:stretch/>
        </p:blipFill>
        <p:spPr>
          <a:xfrm>
            <a:off x="6985805" y="2162792"/>
            <a:ext cx="1866616" cy="2650684"/>
          </a:xfrm>
          <a:prstGeom prst="rect">
            <a:avLst/>
          </a:prstGeom>
        </p:spPr>
      </p:pic>
      <p:cxnSp>
        <p:nvCxnSpPr>
          <p:cNvPr id="32" name="直線矢印コネクタ 31">
            <a:extLst>
              <a:ext uri="{FF2B5EF4-FFF2-40B4-BE49-F238E27FC236}">
                <a16:creationId xmlns:a16="http://schemas.microsoft.com/office/drawing/2014/main" id="{C072F1B8-F073-D375-FA35-EF07DCF8B8E0}"/>
              </a:ext>
            </a:extLst>
          </p:cNvPr>
          <p:cNvCxnSpPr/>
          <p:nvPr/>
        </p:nvCxnSpPr>
        <p:spPr>
          <a:xfrm flipV="1">
            <a:off x="7193595" y="3283970"/>
            <a:ext cx="555465" cy="90010"/>
          </a:xfrm>
          <a:prstGeom prst="straightConnector1">
            <a:avLst/>
          </a:prstGeom>
          <a:ln w="412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4" name="直線矢印コネクタ 33">
            <a:extLst>
              <a:ext uri="{FF2B5EF4-FFF2-40B4-BE49-F238E27FC236}">
                <a16:creationId xmlns:a16="http://schemas.microsoft.com/office/drawing/2014/main" id="{D1292F6C-30DE-939B-9758-8D70341CB70C}"/>
              </a:ext>
            </a:extLst>
          </p:cNvPr>
          <p:cNvCxnSpPr>
            <a:cxnSpLocks/>
          </p:cNvCxnSpPr>
          <p:nvPr/>
        </p:nvCxnSpPr>
        <p:spPr>
          <a:xfrm flipV="1">
            <a:off x="7303053" y="4200998"/>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5" name="直線矢印コネクタ 34">
            <a:extLst>
              <a:ext uri="{FF2B5EF4-FFF2-40B4-BE49-F238E27FC236}">
                <a16:creationId xmlns:a16="http://schemas.microsoft.com/office/drawing/2014/main" id="{E034EBC6-DAC2-F167-0636-BEE3654BADDE}"/>
              </a:ext>
            </a:extLst>
          </p:cNvPr>
          <p:cNvCxnSpPr>
            <a:cxnSpLocks/>
          </p:cNvCxnSpPr>
          <p:nvPr/>
        </p:nvCxnSpPr>
        <p:spPr>
          <a:xfrm>
            <a:off x="7771206" y="3283970"/>
            <a:ext cx="138764" cy="917028"/>
          </a:xfrm>
          <a:prstGeom prst="straightConnector1">
            <a:avLst/>
          </a:prstGeom>
          <a:ln w="25400">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6" name="直線矢印コネクタ 35">
            <a:extLst>
              <a:ext uri="{FF2B5EF4-FFF2-40B4-BE49-F238E27FC236}">
                <a16:creationId xmlns:a16="http://schemas.microsoft.com/office/drawing/2014/main" id="{46924E5A-6C63-88D8-B9AC-E320CC3F6BD0}"/>
              </a:ext>
            </a:extLst>
          </p:cNvPr>
          <p:cNvCxnSpPr>
            <a:cxnSpLocks/>
          </p:cNvCxnSpPr>
          <p:nvPr/>
        </p:nvCxnSpPr>
        <p:spPr>
          <a:xfrm flipV="1">
            <a:off x="7978360" y="4223470"/>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7" name="直線矢印コネクタ 36">
            <a:extLst>
              <a:ext uri="{FF2B5EF4-FFF2-40B4-BE49-F238E27FC236}">
                <a16:creationId xmlns:a16="http://schemas.microsoft.com/office/drawing/2014/main" id="{CA717A52-5D35-0E68-1603-27C78B085D28}"/>
              </a:ext>
            </a:extLst>
          </p:cNvPr>
          <p:cNvCxnSpPr>
            <a:cxnSpLocks/>
          </p:cNvCxnSpPr>
          <p:nvPr/>
        </p:nvCxnSpPr>
        <p:spPr>
          <a:xfrm>
            <a:off x="7613671" y="2625823"/>
            <a:ext cx="95752" cy="610791"/>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 name="直線矢印コネクタ 37">
            <a:extLst>
              <a:ext uri="{FF2B5EF4-FFF2-40B4-BE49-F238E27FC236}">
                <a16:creationId xmlns:a16="http://schemas.microsoft.com/office/drawing/2014/main" id="{7EA08612-FC50-06EC-3984-30D1568DB131}"/>
              </a:ext>
            </a:extLst>
          </p:cNvPr>
          <p:cNvCxnSpPr>
            <a:cxnSpLocks/>
          </p:cNvCxnSpPr>
          <p:nvPr/>
        </p:nvCxnSpPr>
        <p:spPr>
          <a:xfrm>
            <a:off x="7429941" y="3819357"/>
            <a:ext cx="59313" cy="381641"/>
          </a:xfrm>
          <a:prstGeom prst="straightConnector1">
            <a:avLst/>
          </a:prstGeom>
          <a:ln w="28575">
            <a:headEnd type="triangle"/>
            <a:tailEnd type="triangle"/>
          </a:ln>
        </p:spPr>
        <p:style>
          <a:lnRef idx="2">
            <a:schemeClr val="accent6"/>
          </a:lnRef>
          <a:fillRef idx="0">
            <a:schemeClr val="accent6"/>
          </a:fillRef>
          <a:effectRef idx="1">
            <a:schemeClr val="accent6"/>
          </a:effectRef>
          <a:fontRef idx="minor">
            <a:schemeClr val="tx1"/>
          </a:fontRef>
        </p:style>
      </p:cxnSp>
      <p:cxnSp>
        <p:nvCxnSpPr>
          <p:cNvPr id="39" name="直線矢印コネクタ 38">
            <a:extLst>
              <a:ext uri="{FF2B5EF4-FFF2-40B4-BE49-F238E27FC236}">
                <a16:creationId xmlns:a16="http://schemas.microsoft.com/office/drawing/2014/main" id="{E8C40642-1745-97A9-0F9A-6D3F01EF90A2}"/>
              </a:ext>
            </a:extLst>
          </p:cNvPr>
          <p:cNvCxnSpPr>
            <a:cxnSpLocks/>
          </p:cNvCxnSpPr>
          <p:nvPr/>
        </p:nvCxnSpPr>
        <p:spPr>
          <a:xfrm>
            <a:off x="7537167" y="3359660"/>
            <a:ext cx="54089" cy="413628"/>
          </a:xfrm>
          <a:prstGeom prst="straightConnector1">
            <a:avLst/>
          </a:prstGeom>
          <a:ln w="285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708325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E576B1-22A1-0D05-6DB9-A4AD50C6CE11}"/>
              </a:ext>
            </a:extLst>
          </p:cNvPr>
          <p:cNvSpPr>
            <a:spLocks noGrp="1"/>
          </p:cNvSpPr>
          <p:nvPr>
            <p:ph type="title"/>
          </p:nvPr>
        </p:nvSpPr>
        <p:spPr/>
        <p:txBody>
          <a:bodyPr/>
          <a:lstStyle/>
          <a:p>
            <a:r>
              <a:rPr kumimoji="1" lang="ja-JP" altLang="en-US"/>
              <a:t>研究の立ち位置</a:t>
            </a:r>
          </a:p>
        </p:txBody>
      </p:sp>
      <p:sp>
        <p:nvSpPr>
          <p:cNvPr id="4" name="日付プレースホルダー 3">
            <a:extLst>
              <a:ext uri="{FF2B5EF4-FFF2-40B4-BE49-F238E27FC236}">
                <a16:creationId xmlns:a16="http://schemas.microsoft.com/office/drawing/2014/main" id="{BE9387B3-A02B-3389-7A72-675A0DF4C767}"/>
              </a:ext>
            </a:extLst>
          </p:cNvPr>
          <p:cNvSpPr>
            <a:spLocks noGrp="1"/>
          </p:cNvSpPr>
          <p:nvPr>
            <p:ph type="dt" sz="half" idx="10"/>
          </p:nvPr>
        </p:nvSpPr>
        <p:spPr/>
        <p:txBody>
          <a:bodyPr/>
          <a:lstStyle/>
          <a:p>
            <a:r>
              <a:rPr lang="en-US" altLang="ja-JP"/>
              <a:t>2026/6</a:t>
            </a:r>
            <a:endParaRPr kumimoji="1" lang="ja-JP" altLang="en-US"/>
          </a:p>
        </p:txBody>
      </p:sp>
      <p:sp>
        <p:nvSpPr>
          <p:cNvPr id="5" name="フッター プレースホルダー 4">
            <a:extLst>
              <a:ext uri="{FF2B5EF4-FFF2-40B4-BE49-F238E27FC236}">
                <a16:creationId xmlns:a16="http://schemas.microsoft.com/office/drawing/2014/main" id="{665A0854-A25E-86D0-D931-BC6F83E9840C}"/>
              </a:ext>
            </a:extLst>
          </p:cNvPr>
          <p:cNvSpPr>
            <a:spLocks noGrp="1"/>
          </p:cNvSpPr>
          <p:nvPr>
            <p:ph type="ftr" sz="quarter" idx="11"/>
          </p:nvPr>
        </p:nvSpPr>
        <p:spPr/>
        <p:txBody>
          <a:bodyPr/>
          <a:lstStyle/>
          <a:p>
            <a:r>
              <a:rPr kumimoji="1" lang="ja-JP" altLang="en-US"/>
              <a:t>関本・中居研究室</a:t>
            </a:r>
          </a:p>
        </p:txBody>
      </p:sp>
      <p:sp>
        <p:nvSpPr>
          <p:cNvPr id="6" name="スライド番号プレースホルダー 5">
            <a:extLst>
              <a:ext uri="{FF2B5EF4-FFF2-40B4-BE49-F238E27FC236}">
                <a16:creationId xmlns:a16="http://schemas.microsoft.com/office/drawing/2014/main" id="{83DE9FBD-C16D-C3C4-2F2E-38E16C008899}"/>
              </a:ext>
            </a:extLst>
          </p:cNvPr>
          <p:cNvSpPr>
            <a:spLocks noGrp="1"/>
          </p:cNvSpPr>
          <p:nvPr>
            <p:ph type="sldNum" sz="quarter" idx="12"/>
          </p:nvPr>
        </p:nvSpPr>
        <p:spPr/>
        <p:txBody>
          <a:bodyPr/>
          <a:lstStyle/>
          <a:p>
            <a:fld id="{6539E37A-E522-3D47-AAB7-DDF67C94A05D}" type="slidenum">
              <a:rPr lang="en-US" altLang="ja-JP"/>
              <a:t>6</a:t>
            </a:fld>
            <a:endParaRPr kumimoji="1" lang="ja-JP" altLang="en-US"/>
          </a:p>
        </p:txBody>
      </p:sp>
      <p:sp>
        <p:nvSpPr>
          <p:cNvPr id="3" name="Text 1">
            <a:extLst>
              <a:ext uri="{FF2B5EF4-FFF2-40B4-BE49-F238E27FC236}">
                <a16:creationId xmlns:a16="http://schemas.microsoft.com/office/drawing/2014/main" id="{B0F513A8-4B1E-A5AA-E7F6-C3900D19CAEC}"/>
              </a:ext>
            </a:extLst>
          </p:cNvPr>
          <p:cNvSpPr/>
          <p:nvPr/>
        </p:nvSpPr>
        <p:spPr>
          <a:xfrm>
            <a:off x="778764" y="1078015"/>
            <a:ext cx="10561320" cy="384048"/>
          </a:xfrm>
          <a:prstGeom prst="rect">
            <a:avLst/>
          </a:prstGeom>
          <a:noFill/>
          <a:ln/>
        </p:spPr>
        <p:txBody>
          <a:bodyPr wrap="square" lIns="0" tIns="0" rIns="0" bIns="0" rtlCol="0" anchor="ctr">
            <a:normAutofit/>
          </a:bodyPr>
          <a:lstStyle/>
          <a:p>
            <a:pPr marL="0" indent="0" algn="ctr">
              <a:buNone/>
            </a:pPr>
            <a:r>
              <a:rPr lang="en-US" sz="1820" b="1" dirty="0">
                <a:solidFill>
                  <a:srgbClr val="1E2A3A"/>
                </a:solidFill>
                <a:latin typeface="Yu Gothic" pitchFamily="34" charset="0"/>
                <a:ea typeface="Yu Gothic" pitchFamily="34" charset="-122"/>
                <a:cs typeface="Yu Gothic" pitchFamily="34" charset="-120"/>
              </a:rPr>
              <a:t>自然言語の開発構想を、人流予測・評価に接続できるシナリオへ変換する</a:t>
            </a:r>
            <a:endParaRPr lang="en-US" sz="1820" dirty="0"/>
          </a:p>
        </p:txBody>
      </p:sp>
      <p:sp>
        <p:nvSpPr>
          <p:cNvPr id="7" name="Shape 2">
            <a:extLst>
              <a:ext uri="{FF2B5EF4-FFF2-40B4-BE49-F238E27FC236}">
                <a16:creationId xmlns:a16="http://schemas.microsoft.com/office/drawing/2014/main" id="{22478B96-375E-2F91-AA24-4808AFDD2B9B}"/>
              </a:ext>
            </a:extLst>
          </p:cNvPr>
          <p:cNvSpPr/>
          <p:nvPr/>
        </p:nvSpPr>
        <p:spPr>
          <a:xfrm>
            <a:off x="778764" y="1526071"/>
            <a:ext cx="10561320" cy="0"/>
          </a:xfrm>
          <a:prstGeom prst="line">
            <a:avLst/>
          </a:prstGeom>
          <a:noFill/>
          <a:ln w="12700">
            <a:solidFill>
              <a:srgbClr val="D8DCE2"/>
            </a:solidFill>
            <a:prstDash val="solid"/>
          </a:ln>
        </p:spPr>
        <p:txBody>
          <a:bodyPr/>
          <a:lstStyle/>
          <a:p>
            <a:endParaRPr lang="ja-JP" altLang="en-US"/>
          </a:p>
        </p:txBody>
      </p:sp>
      <p:sp>
        <p:nvSpPr>
          <p:cNvPr id="8" name="Text 3">
            <a:extLst>
              <a:ext uri="{FF2B5EF4-FFF2-40B4-BE49-F238E27FC236}">
                <a16:creationId xmlns:a16="http://schemas.microsoft.com/office/drawing/2014/main" id="{B296164D-21C7-BCE0-B88E-E3DEC6D8C153}"/>
              </a:ext>
            </a:extLst>
          </p:cNvPr>
          <p:cNvSpPr/>
          <p:nvPr/>
        </p:nvSpPr>
        <p:spPr>
          <a:xfrm>
            <a:off x="586740" y="2010703"/>
            <a:ext cx="2834640" cy="512064"/>
          </a:xfrm>
          <a:prstGeom prst="rect">
            <a:avLst/>
          </a:prstGeom>
          <a:solidFill>
            <a:srgbClr val="EEF4FB"/>
          </a:solidFill>
          <a:ln w="12700">
            <a:solidFill>
              <a:srgbClr val="5A8FBE"/>
            </a:solidFill>
          </a:ln>
        </p:spPr>
        <p:txBody>
          <a:bodyPr wrap="square" lIns="1270" tIns="1270" rIns="1270" bIns="1270" rtlCol="0" anchor="ctr">
            <a:normAutofit/>
          </a:bodyPr>
          <a:lstStyle/>
          <a:p>
            <a:pPr marL="0" indent="0" algn="ctr">
              <a:buNone/>
            </a:pPr>
            <a:r>
              <a:rPr lang="en-US" sz="1550" b="1" dirty="0">
                <a:solidFill>
                  <a:srgbClr val="1E2A3A"/>
                </a:solidFill>
                <a:latin typeface="Yu Gothic" pitchFamily="34" charset="0"/>
                <a:ea typeface="Yu Gothic" pitchFamily="34" charset="-122"/>
                <a:cs typeface="Yu Gothic" pitchFamily="34" charset="-120"/>
              </a:rPr>
              <a:t>都市計画・開発構想</a:t>
            </a:r>
            <a:endParaRPr lang="en-US" sz="1550" dirty="0"/>
          </a:p>
        </p:txBody>
      </p:sp>
      <p:sp>
        <p:nvSpPr>
          <p:cNvPr id="9" name="Text 4">
            <a:extLst>
              <a:ext uri="{FF2B5EF4-FFF2-40B4-BE49-F238E27FC236}">
                <a16:creationId xmlns:a16="http://schemas.microsoft.com/office/drawing/2014/main" id="{6115F0FE-2A0E-4E05-65A5-0B5854EA528B}"/>
              </a:ext>
            </a:extLst>
          </p:cNvPr>
          <p:cNvSpPr/>
          <p:nvPr/>
        </p:nvSpPr>
        <p:spPr>
          <a:xfrm>
            <a:off x="586740" y="2522767"/>
            <a:ext cx="2834640" cy="1728216"/>
          </a:xfrm>
          <a:prstGeom prst="rect">
            <a:avLst/>
          </a:prstGeom>
          <a:solidFill>
            <a:srgbClr val="FFFFFF"/>
          </a:solidFill>
          <a:ln w="12700">
            <a:solidFill>
              <a:srgbClr val="5A8FBE"/>
            </a:solidFill>
          </a:ln>
        </p:spPr>
        <p:txBody>
          <a:bodyPr wrap="square" lIns="1905" tIns="1905" rIns="1905" bIns="1905" rtlCol="0" anchor="t">
            <a:normAutofit/>
          </a:bodyPr>
          <a:lstStyle/>
          <a:p>
            <a:pPr marL="0" indent="0">
              <a:lnSpc>
                <a:spcPct val="150000"/>
              </a:lnSpc>
              <a:buNone/>
            </a:pPr>
            <a:r>
              <a:rPr lang="en-US" sz="1600" dirty="0">
                <a:solidFill>
                  <a:srgbClr val="333333"/>
                </a:solidFill>
                <a:latin typeface="Yu Gothic" pitchFamily="34" charset="0"/>
                <a:ea typeface="Yu Gothic" pitchFamily="34" charset="-122"/>
                <a:cs typeface="Yu Gothic" pitchFamily="34" charset="-120"/>
              </a:rPr>
              <a:t>・定性的な計画意図</a:t>
            </a:r>
            <a:endParaRPr lang="en-US" sz="1600" dirty="0"/>
          </a:p>
          <a:p>
            <a:pPr marL="0" indent="0">
              <a:lnSpc>
                <a:spcPct val="150000"/>
              </a:lnSpc>
              <a:buNone/>
            </a:pPr>
            <a:r>
              <a:rPr lang="en-US" sz="1600" dirty="0">
                <a:solidFill>
                  <a:srgbClr val="333333"/>
                </a:solidFill>
                <a:latin typeface="Yu Gothic" pitchFamily="34" charset="0"/>
                <a:ea typeface="Yu Gothic" pitchFamily="34" charset="-122"/>
                <a:cs typeface="Yu Gothic" pitchFamily="34" charset="-120"/>
              </a:rPr>
              <a:t>・用途、規模、配置の検討</a:t>
            </a:r>
            <a:endParaRPr lang="en-US" sz="1600" dirty="0"/>
          </a:p>
          <a:p>
            <a:pPr marL="0" indent="0">
              <a:lnSpc>
                <a:spcPct val="150000"/>
              </a:lnSpc>
              <a:buNone/>
            </a:pPr>
            <a:r>
              <a:rPr lang="en-US" sz="1600" dirty="0">
                <a:solidFill>
                  <a:srgbClr val="333333"/>
                </a:solidFill>
                <a:latin typeface="Yu Gothic" pitchFamily="34" charset="0"/>
                <a:ea typeface="Yu Gothic" pitchFamily="34" charset="-122"/>
                <a:cs typeface="Yu Gothic" pitchFamily="34" charset="-120"/>
              </a:rPr>
              <a:t>・複数案の比較</a:t>
            </a:r>
            <a:endParaRPr lang="en-US" sz="1600" dirty="0"/>
          </a:p>
          <a:p>
            <a:pPr marL="0" indent="0">
              <a:lnSpc>
                <a:spcPct val="150000"/>
              </a:lnSpc>
              <a:buNone/>
            </a:pPr>
            <a:r>
              <a:rPr lang="en-US" sz="1600" dirty="0">
                <a:solidFill>
                  <a:srgbClr val="333333"/>
                </a:solidFill>
                <a:latin typeface="Yu Gothic" pitchFamily="34" charset="0"/>
                <a:ea typeface="Yu Gothic" pitchFamily="34" charset="-122"/>
                <a:cs typeface="Yu Gothic" pitchFamily="34" charset="-120"/>
              </a:rPr>
              <a:t>・関係者との合意形成</a:t>
            </a:r>
            <a:endParaRPr lang="en-US" sz="1600" dirty="0"/>
          </a:p>
        </p:txBody>
      </p:sp>
      <p:sp>
        <p:nvSpPr>
          <p:cNvPr id="10" name="Text 5">
            <a:extLst>
              <a:ext uri="{FF2B5EF4-FFF2-40B4-BE49-F238E27FC236}">
                <a16:creationId xmlns:a16="http://schemas.microsoft.com/office/drawing/2014/main" id="{25C239E2-C315-5C70-EFD1-0D62244A5223}"/>
              </a:ext>
            </a:extLst>
          </p:cNvPr>
          <p:cNvSpPr/>
          <p:nvPr/>
        </p:nvSpPr>
        <p:spPr>
          <a:xfrm>
            <a:off x="3558540" y="2833663"/>
            <a:ext cx="548640" cy="594360"/>
          </a:xfrm>
          <a:prstGeom prst="rect">
            <a:avLst/>
          </a:prstGeom>
          <a:noFill/>
          <a:ln/>
        </p:spPr>
        <p:txBody>
          <a:bodyPr wrap="square" lIns="0" tIns="0" rIns="0" bIns="0" rtlCol="0" anchor="ctr">
            <a:normAutofit/>
          </a:bodyPr>
          <a:lstStyle/>
          <a:p>
            <a:pPr marL="0" indent="0" algn="ctr">
              <a:buNone/>
            </a:pPr>
            <a:r>
              <a:rPr lang="en-US" sz="3400" b="1" dirty="0">
                <a:solidFill>
                  <a:srgbClr val="687483"/>
                </a:solidFill>
                <a:latin typeface="Yu Gothic" pitchFamily="34" charset="0"/>
                <a:ea typeface="Yu Gothic" pitchFamily="34" charset="-122"/>
                <a:cs typeface="Yu Gothic" pitchFamily="34" charset="-120"/>
              </a:rPr>
              <a:t>→</a:t>
            </a:r>
            <a:endParaRPr lang="en-US" sz="3400" dirty="0"/>
          </a:p>
        </p:txBody>
      </p:sp>
      <p:sp>
        <p:nvSpPr>
          <p:cNvPr id="11" name="Text 6">
            <a:extLst>
              <a:ext uri="{FF2B5EF4-FFF2-40B4-BE49-F238E27FC236}">
                <a16:creationId xmlns:a16="http://schemas.microsoft.com/office/drawing/2014/main" id="{47830ABE-EC3E-80E3-BBE9-07F9B694708A}"/>
              </a:ext>
            </a:extLst>
          </p:cNvPr>
          <p:cNvSpPr/>
          <p:nvPr/>
        </p:nvSpPr>
        <p:spPr>
          <a:xfrm>
            <a:off x="4335780" y="1763815"/>
            <a:ext cx="3520440" cy="512064"/>
          </a:xfrm>
          <a:prstGeom prst="rect">
            <a:avLst/>
          </a:prstGeom>
          <a:solidFill>
            <a:srgbClr val="FFF3E8"/>
          </a:solidFill>
          <a:ln w="12700">
            <a:solidFill>
              <a:srgbClr val="D47B2B"/>
            </a:solidFill>
          </a:ln>
        </p:spPr>
        <p:txBody>
          <a:bodyPr wrap="square" lIns="1270" tIns="1270" rIns="1270" bIns="1270" rtlCol="0" anchor="ctr">
            <a:normAutofit/>
          </a:bodyPr>
          <a:lstStyle/>
          <a:p>
            <a:pPr marL="0" indent="0" algn="ctr">
              <a:buNone/>
            </a:pPr>
            <a:r>
              <a:rPr lang="en-US" sz="1550" b="1" dirty="0">
                <a:solidFill>
                  <a:srgbClr val="D47B2B"/>
                </a:solidFill>
                <a:latin typeface="Yu Gothic" pitchFamily="34" charset="0"/>
                <a:ea typeface="Yu Gothic" pitchFamily="34" charset="-122"/>
                <a:cs typeface="Yu Gothic" pitchFamily="34" charset="-120"/>
              </a:rPr>
              <a:t>本研究の対象</a:t>
            </a:r>
            <a:endParaRPr lang="en-US" sz="1550" dirty="0"/>
          </a:p>
        </p:txBody>
      </p:sp>
      <p:sp>
        <p:nvSpPr>
          <p:cNvPr id="12" name="Text 7">
            <a:extLst>
              <a:ext uri="{FF2B5EF4-FFF2-40B4-BE49-F238E27FC236}">
                <a16:creationId xmlns:a16="http://schemas.microsoft.com/office/drawing/2014/main" id="{E09ECA7A-2969-74A2-0325-5C4D138D7782}"/>
              </a:ext>
            </a:extLst>
          </p:cNvPr>
          <p:cNvSpPr/>
          <p:nvPr/>
        </p:nvSpPr>
        <p:spPr>
          <a:xfrm>
            <a:off x="4335780" y="2275879"/>
            <a:ext cx="3520440" cy="2201457"/>
          </a:xfrm>
          <a:prstGeom prst="rect">
            <a:avLst/>
          </a:prstGeom>
          <a:solidFill>
            <a:srgbClr val="FFFFFF"/>
          </a:solidFill>
          <a:ln w="12700">
            <a:solidFill>
              <a:srgbClr val="D47B2B"/>
            </a:solidFill>
          </a:ln>
        </p:spPr>
        <p:txBody>
          <a:bodyPr wrap="square" lIns="1905" tIns="1905" rIns="1905" bIns="1905" rtlCol="0" anchor="t">
            <a:normAutofit/>
          </a:bodyPr>
          <a:lstStyle/>
          <a:p>
            <a:pPr marL="0" indent="0">
              <a:lnSpc>
                <a:spcPct val="150000"/>
              </a:lnSpc>
              <a:buNone/>
            </a:pPr>
            <a:r>
              <a:rPr lang="en-US" b="1" dirty="0">
                <a:solidFill>
                  <a:srgbClr val="333333"/>
                </a:solidFill>
                <a:latin typeface="Yu Gothic" pitchFamily="34" charset="0"/>
                <a:ea typeface="Yu Gothic" pitchFamily="34" charset="-122"/>
                <a:cs typeface="Yu Gothic" pitchFamily="34" charset="-120"/>
              </a:rPr>
              <a:t>・LLMとの対話で条件を整理</a:t>
            </a:r>
            <a:endParaRPr lang="en-US" b="1" dirty="0"/>
          </a:p>
          <a:p>
            <a:pPr marL="0" indent="0">
              <a:lnSpc>
                <a:spcPct val="150000"/>
              </a:lnSpc>
              <a:buNone/>
            </a:pPr>
            <a:r>
              <a:rPr lang="en-US" b="1" dirty="0">
                <a:solidFill>
                  <a:srgbClr val="333333"/>
                </a:solidFill>
                <a:latin typeface="Yu Gothic" pitchFamily="34" charset="0"/>
                <a:ea typeface="Yu Gothic" pitchFamily="34" charset="-122"/>
                <a:cs typeface="Yu Gothic" pitchFamily="34" charset="-120"/>
              </a:rPr>
              <a:t>・計画案をパラメータ化</a:t>
            </a:r>
            <a:endParaRPr lang="en-US" b="1" dirty="0"/>
          </a:p>
          <a:p>
            <a:pPr marL="0" indent="0">
              <a:lnSpc>
                <a:spcPct val="150000"/>
              </a:lnSpc>
              <a:buNone/>
            </a:pPr>
            <a:r>
              <a:rPr lang="en-US" b="1" dirty="0">
                <a:solidFill>
                  <a:srgbClr val="333333"/>
                </a:solidFill>
                <a:latin typeface="Yu Gothic" pitchFamily="34" charset="0"/>
                <a:ea typeface="Yu Gothic" pitchFamily="34" charset="-122"/>
                <a:cs typeface="Yu Gothic" pitchFamily="34" charset="-120"/>
              </a:rPr>
              <a:t>・開発パターンを複数生成</a:t>
            </a:r>
            <a:endParaRPr lang="en-US" b="1" dirty="0"/>
          </a:p>
          <a:p>
            <a:pPr marL="0" indent="0">
              <a:lnSpc>
                <a:spcPct val="150000"/>
              </a:lnSpc>
              <a:buNone/>
            </a:pPr>
            <a:r>
              <a:rPr lang="en-US" b="1" dirty="0">
                <a:solidFill>
                  <a:srgbClr val="333333"/>
                </a:solidFill>
                <a:latin typeface="Yu Gothic" pitchFamily="34" charset="0"/>
                <a:ea typeface="Yu Gothic" pitchFamily="34" charset="-122"/>
                <a:cs typeface="Yu Gothic" pitchFamily="34" charset="-120"/>
              </a:rPr>
              <a:t>・予測／評価モデルへ接続</a:t>
            </a:r>
            <a:endParaRPr lang="en-US" b="1" dirty="0"/>
          </a:p>
        </p:txBody>
      </p:sp>
      <p:sp>
        <p:nvSpPr>
          <p:cNvPr id="13" name="Text 8">
            <a:extLst>
              <a:ext uri="{FF2B5EF4-FFF2-40B4-BE49-F238E27FC236}">
                <a16:creationId xmlns:a16="http://schemas.microsoft.com/office/drawing/2014/main" id="{2468DC0F-6C11-88D2-8DC7-89FE6A9FDADB}"/>
              </a:ext>
            </a:extLst>
          </p:cNvPr>
          <p:cNvSpPr/>
          <p:nvPr/>
        </p:nvSpPr>
        <p:spPr>
          <a:xfrm>
            <a:off x="4546092" y="4049815"/>
            <a:ext cx="3090672" cy="310896"/>
          </a:xfrm>
          <a:prstGeom prst="rect">
            <a:avLst/>
          </a:prstGeom>
          <a:solidFill>
            <a:srgbClr val="FFFFFF"/>
          </a:solidFill>
          <a:ln w="6350">
            <a:solidFill>
              <a:srgbClr val="F1C59C"/>
            </a:solidFill>
          </a:ln>
        </p:spPr>
        <p:txBody>
          <a:bodyPr wrap="square" lIns="254" tIns="254" rIns="254" bIns="254" rtlCol="0" anchor="ctr">
            <a:normAutofit fontScale="92500"/>
          </a:bodyPr>
          <a:lstStyle/>
          <a:p>
            <a:pPr marL="0" indent="0" algn="ctr">
              <a:buNone/>
            </a:pPr>
            <a:r>
              <a:rPr lang="en-US" sz="1180" b="1" dirty="0">
                <a:solidFill>
                  <a:srgbClr val="D47B2B"/>
                </a:solidFill>
                <a:latin typeface="Yu Gothic" pitchFamily="34" charset="0"/>
                <a:ea typeface="Yu Gothic" pitchFamily="34" charset="-122"/>
                <a:cs typeface="Yu Gothic" pitchFamily="34" charset="-120"/>
              </a:rPr>
              <a:t>曖昧な計画案を「比較可能な入力」にする部分</a:t>
            </a:r>
            <a:endParaRPr lang="en-US" sz="1180" dirty="0"/>
          </a:p>
        </p:txBody>
      </p:sp>
      <p:sp>
        <p:nvSpPr>
          <p:cNvPr id="14" name="Text 9">
            <a:extLst>
              <a:ext uri="{FF2B5EF4-FFF2-40B4-BE49-F238E27FC236}">
                <a16:creationId xmlns:a16="http://schemas.microsoft.com/office/drawing/2014/main" id="{D4DB04F9-D1FE-0E88-F037-223E843D564D}"/>
              </a:ext>
            </a:extLst>
          </p:cNvPr>
          <p:cNvSpPr/>
          <p:nvPr/>
        </p:nvSpPr>
        <p:spPr>
          <a:xfrm>
            <a:off x="8057388" y="2833663"/>
            <a:ext cx="548640" cy="594360"/>
          </a:xfrm>
          <a:prstGeom prst="rect">
            <a:avLst/>
          </a:prstGeom>
          <a:noFill/>
          <a:ln/>
        </p:spPr>
        <p:txBody>
          <a:bodyPr wrap="square" lIns="0" tIns="0" rIns="0" bIns="0" rtlCol="0" anchor="ctr">
            <a:normAutofit/>
          </a:bodyPr>
          <a:lstStyle/>
          <a:p>
            <a:pPr marL="0" indent="0" algn="ctr">
              <a:buNone/>
            </a:pPr>
            <a:r>
              <a:rPr lang="en-US" sz="3400" b="1" dirty="0">
                <a:solidFill>
                  <a:srgbClr val="687483"/>
                </a:solidFill>
                <a:latin typeface="Yu Gothic" pitchFamily="34" charset="0"/>
                <a:ea typeface="Yu Gothic" pitchFamily="34" charset="-122"/>
                <a:cs typeface="Yu Gothic" pitchFamily="34" charset="-120"/>
              </a:rPr>
              <a:t>→</a:t>
            </a:r>
            <a:endParaRPr lang="en-US" sz="3400" dirty="0"/>
          </a:p>
        </p:txBody>
      </p:sp>
      <p:sp>
        <p:nvSpPr>
          <p:cNvPr id="15" name="Text 10">
            <a:extLst>
              <a:ext uri="{FF2B5EF4-FFF2-40B4-BE49-F238E27FC236}">
                <a16:creationId xmlns:a16="http://schemas.microsoft.com/office/drawing/2014/main" id="{70B3B082-A957-2D80-3DC4-AC247AD0C48E}"/>
              </a:ext>
            </a:extLst>
          </p:cNvPr>
          <p:cNvSpPr/>
          <p:nvPr/>
        </p:nvSpPr>
        <p:spPr>
          <a:xfrm>
            <a:off x="8816340" y="2010703"/>
            <a:ext cx="2834640" cy="512064"/>
          </a:xfrm>
          <a:prstGeom prst="rect">
            <a:avLst/>
          </a:prstGeom>
          <a:solidFill>
            <a:srgbClr val="EFF7F0"/>
          </a:solidFill>
          <a:ln w="12700">
            <a:solidFill>
              <a:srgbClr val="4B8B57"/>
            </a:solidFill>
          </a:ln>
        </p:spPr>
        <p:txBody>
          <a:bodyPr wrap="square" lIns="1270" tIns="1270" rIns="1270" bIns="1270" rtlCol="0" anchor="ctr">
            <a:normAutofit/>
          </a:bodyPr>
          <a:lstStyle/>
          <a:p>
            <a:pPr marL="0" indent="0" algn="ctr">
              <a:buNone/>
            </a:pPr>
            <a:r>
              <a:rPr lang="en-US" sz="1550" b="1" dirty="0">
                <a:solidFill>
                  <a:srgbClr val="1E2A3A"/>
                </a:solidFill>
                <a:latin typeface="Yu Gothic" pitchFamily="34" charset="0"/>
                <a:ea typeface="Yu Gothic" pitchFamily="34" charset="-122"/>
                <a:cs typeface="Yu Gothic" pitchFamily="34" charset="-120"/>
              </a:rPr>
              <a:t>人流予測・変化評価</a:t>
            </a:r>
            <a:endParaRPr lang="en-US" sz="1550" dirty="0"/>
          </a:p>
        </p:txBody>
      </p:sp>
      <p:sp>
        <p:nvSpPr>
          <p:cNvPr id="16" name="Text 11">
            <a:extLst>
              <a:ext uri="{FF2B5EF4-FFF2-40B4-BE49-F238E27FC236}">
                <a16:creationId xmlns:a16="http://schemas.microsoft.com/office/drawing/2014/main" id="{BF3F17D7-468C-9E1A-635D-08D256E0877F}"/>
              </a:ext>
            </a:extLst>
          </p:cNvPr>
          <p:cNvSpPr/>
          <p:nvPr/>
        </p:nvSpPr>
        <p:spPr>
          <a:xfrm>
            <a:off x="8816340" y="2522767"/>
            <a:ext cx="2834640" cy="1728216"/>
          </a:xfrm>
          <a:prstGeom prst="rect">
            <a:avLst/>
          </a:prstGeom>
          <a:solidFill>
            <a:srgbClr val="FFFFFF"/>
          </a:solidFill>
          <a:ln w="12700">
            <a:solidFill>
              <a:srgbClr val="4B8B57"/>
            </a:solidFill>
          </a:ln>
        </p:spPr>
        <p:txBody>
          <a:bodyPr wrap="square" lIns="1905" tIns="1905" rIns="1905" bIns="1905" rtlCol="0" anchor="t">
            <a:normAutofit/>
          </a:bodyPr>
          <a:lstStyle/>
          <a:p>
            <a:pPr marL="0" indent="0">
              <a:lnSpc>
                <a:spcPct val="150000"/>
              </a:lnSpc>
              <a:buNone/>
            </a:pPr>
            <a:r>
              <a:rPr lang="en-US" sz="1600" dirty="0">
                <a:solidFill>
                  <a:srgbClr val="333333"/>
                </a:solidFill>
                <a:latin typeface="Yu Gothic" pitchFamily="34" charset="0"/>
                <a:ea typeface="Yu Gothic" pitchFamily="34" charset="-122"/>
                <a:cs typeface="Yu Gothic" pitchFamily="34" charset="-120"/>
              </a:rPr>
              <a:t>・歩行者量／滞在の変化</a:t>
            </a:r>
            <a:endParaRPr lang="en-US" sz="1600" dirty="0"/>
          </a:p>
          <a:p>
            <a:pPr marL="0" indent="0">
              <a:lnSpc>
                <a:spcPct val="150000"/>
              </a:lnSpc>
              <a:buNone/>
            </a:pPr>
            <a:r>
              <a:rPr lang="en-US" sz="1600" dirty="0">
                <a:solidFill>
                  <a:srgbClr val="333333"/>
                </a:solidFill>
                <a:latin typeface="Yu Gothic" pitchFamily="34" charset="0"/>
                <a:ea typeface="Yu Gothic" pitchFamily="34" charset="-122"/>
                <a:cs typeface="Yu Gothic" pitchFamily="34" charset="-120"/>
              </a:rPr>
              <a:t>・混雑、回遊性の可視化</a:t>
            </a:r>
            <a:endParaRPr lang="en-US" sz="1600" dirty="0"/>
          </a:p>
          <a:p>
            <a:pPr marL="0" indent="0">
              <a:lnSpc>
                <a:spcPct val="150000"/>
              </a:lnSpc>
              <a:buNone/>
            </a:pPr>
            <a:r>
              <a:rPr lang="en-US" sz="1600" dirty="0">
                <a:solidFill>
                  <a:srgbClr val="333333"/>
                </a:solidFill>
                <a:latin typeface="Yu Gothic" pitchFamily="34" charset="0"/>
                <a:ea typeface="Yu Gothic" pitchFamily="34" charset="-122"/>
                <a:cs typeface="Yu Gothic" pitchFamily="34" charset="-120"/>
              </a:rPr>
              <a:t>・効果と課題の把握</a:t>
            </a:r>
            <a:endParaRPr lang="en-US" sz="1600" dirty="0"/>
          </a:p>
          <a:p>
            <a:pPr marL="0" indent="0">
              <a:lnSpc>
                <a:spcPct val="150000"/>
              </a:lnSpc>
              <a:buNone/>
            </a:pPr>
            <a:r>
              <a:rPr lang="en-US" sz="1600" dirty="0">
                <a:solidFill>
                  <a:srgbClr val="333333"/>
                </a:solidFill>
                <a:latin typeface="Yu Gothic" pitchFamily="34" charset="0"/>
                <a:ea typeface="Yu Gothic" pitchFamily="34" charset="-122"/>
                <a:cs typeface="Yu Gothic" pitchFamily="34" charset="-120"/>
              </a:rPr>
              <a:t>・計画案へのフィードバック</a:t>
            </a:r>
            <a:endParaRPr lang="en-US" sz="1600" dirty="0"/>
          </a:p>
        </p:txBody>
      </p:sp>
      <p:sp>
        <p:nvSpPr>
          <p:cNvPr id="17" name="Shape 12">
            <a:extLst>
              <a:ext uri="{FF2B5EF4-FFF2-40B4-BE49-F238E27FC236}">
                <a16:creationId xmlns:a16="http://schemas.microsoft.com/office/drawing/2014/main" id="{FE8964AB-7EE4-6549-6ED4-D147001DFE1D}"/>
              </a:ext>
            </a:extLst>
          </p:cNvPr>
          <p:cNvSpPr/>
          <p:nvPr/>
        </p:nvSpPr>
        <p:spPr>
          <a:xfrm>
            <a:off x="778764" y="4872775"/>
            <a:ext cx="10561320" cy="0"/>
          </a:xfrm>
          <a:prstGeom prst="line">
            <a:avLst/>
          </a:prstGeom>
          <a:noFill/>
          <a:ln w="12700">
            <a:solidFill>
              <a:srgbClr val="D8DCE2"/>
            </a:solidFill>
            <a:prstDash val="solid"/>
          </a:ln>
        </p:spPr>
        <p:txBody>
          <a:bodyPr/>
          <a:lstStyle/>
          <a:p>
            <a:endParaRPr lang="ja-JP" altLang="en-US"/>
          </a:p>
        </p:txBody>
      </p:sp>
      <p:sp>
        <p:nvSpPr>
          <p:cNvPr id="18" name="Text 13">
            <a:extLst>
              <a:ext uri="{FF2B5EF4-FFF2-40B4-BE49-F238E27FC236}">
                <a16:creationId xmlns:a16="http://schemas.microsoft.com/office/drawing/2014/main" id="{B9D6AB23-F37B-F960-8D2D-5598DC82CF6E}"/>
              </a:ext>
            </a:extLst>
          </p:cNvPr>
          <p:cNvSpPr/>
          <p:nvPr/>
        </p:nvSpPr>
        <p:spPr>
          <a:xfrm>
            <a:off x="797052" y="5092231"/>
            <a:ext cx="1481328" cy="310896"/>
          </a:xfrm>
          <a:prstGeom prst="rect">
            <a:avLst/>
          </a:prstGeom>
          <a:noFill/>
          <a:ln/>
        </p:spPr>
        <p:txBody>
          <a:bodyPr wrap="square" lIns="0" tIns="0" rIns="0" bIns="0" rtlCol="0" anchor="ctr">
            <a:normAutofit/>
          </a:bodyPr>
          <a:lstStyle/>
          <a:p>
            <a:pPr marL="0" indent="0" algn="l">
              <a:buNone/>
            </a:pPr>
            <a:r>
              <a:rPr lang="en-US" sz="1350" b="1" dirty="0">
                <a:solidFill>
                  <a:srgbClr val="D47B2B"/>
                </a:solidFill>
                <a:latin typeface="Yu Gothic" pitchFamily="34" charset="0"/>
                <a:ea typeface="Yu Gothic" pitchFamily="34" charset="-122"/>
                <a:cs typeface="Yu Gothic" pitchFamily="34" charset="-120"/>
              </a:rPr>
              <a:t>本研究の貢献</a:t>
            </a:r>
            <a:endParaRPr lang="en-US" sz="1350" dirty="0"/>
          </a:p>
        </p:txBody>
      </p:sp>
      <p:sp>
        <p:nvSpPr>
          <p:cNvPr id="19" name="Text 14">
            <a:extLst>
              <a:ext uri="{FF2B5EF4-FFF2-40B4-BE49-F238E27FC236}">
                <a16:creationId xmlns:a16="http://schemas.microsoft.com/office/drawing/2014/main" id="{CAA2EA0C-2C82-5AF7-91CF-AB2295DB757E}"/>
              </a:ext>
            </a:extLst>
          </p:cNvPr>
          <p:cNvSpPr/>
          <p:nvPr/>
        </p:nvSpPr>
        <p:spPr>
          <a:xfrm>
            <a:off x="2324100" y="5046511"/>
            <a:ext cx="8942832" cy="438912"/>
          </a:xfrm>
          <a:prstGeom prst="rect">
            <a:avLst/>
          </a:prstGeom>
          <a:noFill/>
          <a:ln/>
        </p:spPr>
        <p:txBody>
          <a:bodyPr wrap="square" lIns="254" tIns="254" rIns="254" bIns="254" rtlCol="0" anchor="ctr">
            <a:normAutofit/>
          </a:bodyPr>
          <a:lstStyle/>
          <a:p>
            <a:pPr marL="0" indent="0">
              <a:buNone/>
            </a:pPr>
            <a:r>
              <a:rPr lang="en-US" sz="1380" b="1" dirty="0">
                <a:solidFill>
                  <a:srgbClr val="333333"/>
                </a:solidFill>
                <a:latin typeface="Yu Gothic" pitchFamily="34" charset="0"/>
                <a:ea typeface="Yu Gothic" pitchFamily="34" charset="-122"/>
                <a:cs typeface="Yu Gothic" pitchFamily="34" charset="-120"/>
              </a:rPr>
              <a:t>計画初期段階の曖昧な開発イメージを、比較・評価可能なシナリオ群へ変換するワークフローを構築する。</a:t>
            </a:r>
            <a:endParaRPr lang="en-US" sz="1380" b="1" dirty="0"/>
          </a:p>
        </p:txBody>
      </p:sp>
      <p:sp>
        <p:nvSpPr>
          <p:cNvPr id="20" name="Text 15">
            <a:extLst>
              <a:ext uri="{FF2B5EF4-FFF2-40B4-BE49-F238E27FC236}">
                <a16:creationId xmlns:a16="http://schemas.microsoft.com/office/drawing/2014/main" id="{34C80C5F-92F6-0705-AD37-941A58D633F8}"/>
              </a:ext>
            </a:extLst>
          </p:cNvPr>
          <p:cNvSpPr/>
          <p:nvPr/>
        </p:nvSpPr>
        <p:spPr>
          <a:xfrm>
            <a:off x="797052" y="5567719"/>
            <a:ext cx="1481328" cy="310896"/>
          </a:xfrm>
          <a:prstGeom prst="rect">
            <a:avLst/>
          </a:prstGeom>
          <a:noFill/>
          <a:ln/>
        </p:spPr>
        <p:txBody>
          <a:bodyPr wrap="square" lIns="0" tIns="0" rIns="0" bIns="0" rtlCol="0" anchor="ctr">
            <a:normAutofit/>
          </a:bodyPr>
          <a:lstStyle/>
          <a:p>
            <a:pPr marL="0" indent="0" algn="l">
              <a:buNone/>
            </a:pPr>
            <a:r>
              <a:rPr lang="en-US" sz="1350" b="1" dirty="0">
                <a:solidFill>
                  <a:srgbClr val="687483"/>
                </a:solidFill>
                <a:latin typeface="Yu Gothic" pitchFamily="34" charset="0"/>
                <a:ea typeface="Yu Gothic" pitchFamily="34" charset="-122"/>
                <a:cs typeface="Yu Gothic" pitchFamily="34" charset="-120"/>
              </a:rPr>
              <a:t>研究の境界</a:t>
            </a:r>
            <a:endParaRPr lang="en-US" sz="1350" dirty="0"/>
          </a:p>
        </p:txBody>
      </p:sp>
      <p:sp>
        <p:nvSpPr>
          <p:cNvPr id="21" name="Text 16">
            <a:extLst>
              <a:ext uri="{FF2B5EF4-FFF2-40B4-BE49-F238E27FC236}">
                <a16:creationId xmlns:a16="http://schemas.microsoft.com/office/drawing/2014/main" id="{4C68D025-D1D8-0B1C-46EA-7E7C5EFE5747}"/>
              </a:ext>
            </a:extLst>
          </p:cNvPr>
          <p:cNvSpPr/>
          <p:nvPr/>
        </p:nvSpPr>
        <p:spPr>
          <a:xfrm>
            <a:off x="2324100" y="5521999"/>
            <a:ext cx="8942832" cy="438912"/>
          </a:xfrm>
          <a:prstGeom prst="rect">
            <a:avLst/>
          </a:prstGeom>
          <a:noFill/>
          <a:ln/>
        </p:spPr>
        <p:txBody>
          <a:bodyPr wrap="square" lIns="254" tIns="254" rIns="254" bIns="254" rtlCol="0" anchor="ctr">
            <a:normAutofit/>
          </a:bodyPr>
          <a:lstStyle/>
          <a:p>
            <a:pPr marL="0" indent="0">
              <a:buNone/>
            </a:pPr>
            <a:r>
              <a:rPr lang="en-US" sz="1380" dirty="0">
                <a:solidFill>
                  <a:srgbClr val="333333"/>
                </a:solidFill>
                <a:latin typeface="Yu Gothic" pitchFamily="34" charset="0"/>
                <a:ea typeface="Yu Gothic" pitchFamily="34" charset="-122"/>
                <a:cs typeface="Yu Gothic" pitchFamily="34" charset="-120"/>
              </a:rPr>
              <a:t>高精度な需要予測そのものではなく、計画案を検討・比較するための初期分析支援として位置づける。</a:t>
            </a:r>
            <a:endParaRPr lang="en-US" sz="1380" dirty="0"/>
          </a:p>
        </p:txBody>
      </p:sp>
    </p:spTree>
    <p:extLst>
      <p:ext uri="{BB962C8B-B14F-4D97-AF65-F5344CB8AC3E}">
        <p14:creationId xmlns:p14="http://schemas.microsoft.com/office/powerpoint/2010/main" val="3905925931"/>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E4C036-3F18-6E1D-162E-A82FAD22AE36}"/>
              </a:ext>
            </a:extLst>
          </p:cNvPr>
          <p:cNvSpPr>
            <a:spLocks noGrp="1"/>
          </p:cNvSpPr>
          <p:nvPr>
            <p:ph type="title"/>
          </p:nvPr>
        </p:nvSpPr>
        <p:spPr/>
        <p:txBody>
          <a:bodyPr/>
          <a:lstStyle/>
          <a:p>
            <a:r>
              <a:rPr lang="ja-JP" altLang="ja-JP">
                <a:latin typeface="HGMinchoE" panose="02020909000000000000" pitchFamily="49" charset="-128"/>
                <a:ea typeface="HGMinchoE" panose="02020909000000000000" pitchFamily="49" charset="-128"/>
              </a:rPr>
              <a:t>その後の年度内（3-4Q</a:t>
            </a:r>
            <a:r>
              <a:rPr lang="en-US" altLang="ja-JP">
                <a:latin typeface="HGMinchoE" panose="02020909000000000000" pitchFamily="49" charset="-128"/>
                <a:ea typeface="HGMinchoE" panose="02020909000000000000" pitchFamily="49" charset="-128"/>
              </a:rPr>
              <a:t>:10-3</a:t>
            </a:r>
            <a:r>
              <a:rPr lang="ja-JP" altLang="en-US">
                <a:latin typeface="HGMinchoE" panose="02020909000000000000" pitchFamily="49" charset="-128"/>
                <a:ea typeface="HGMinchoE" panose="02020909000000000000" pitchFamily="49" charset="-128"/>
              </a:rPr>
              <a:t>月</a:t>
            </a:r>
            <a:r>
              <a:rPr lang="ja-JP" altLang="ja-JP">
                <a:latin typeface="HGMinchoE" panose="02020909000000000000" pitchFamily="49" charset="-128"/>
                <a:ea typeface="HGMinchoE" panose="02020909000000000000" pitchFamily="49" charset="-128"/>
              </a:rPr>
              <a:t>）の取組イメージ</a:t>
            </a:r>
            <a:endParaRPr kumimoji="1" lang="ja-JP" altLang="en-US">
              <a:latin typeface="HGMinchoE" panose="02020909000000000000" pitchFamily="49" charset="-128"/>
              <a:ea typeface="HGMinchoE" panose="02020909000000000000" pitchFamily="49" charset="-128"/>
            </a:endParaRPr>
          </a:p>
        </p:txBody>
      </p:sp>
      <p:sp>
        <p:nvSpPr>
          <p:cNvPr id="4" name="日付プレースホルダー 3">
            <a:extLst>
              <a:ext uri="{FF2B5EF4-FFF2-40B4-BE49-F238E27FC236}">
                <a16:creationId xmlns:a16="http://schemas.microsoft.com/office/drawing/2014/main" id="{1C4FBD14-DE56-0D3B-4F8B-C604B1070FBF}"/>
              </a:ext>
            </a:extLst>
          </p:cNvPr>
          <p:cNvSpPr>
            <a:spLocks noGrp="1"/>
          </p:cNvSpPr>
          <p:nvPr>
            <p:ph type="dt" sz="half" idx="10"/>
          </p:nvPr>
        </p:nvSpPr>
        <p:spPr/>
        <p:txBody>
          <a:bodyPr/>
          <a:lstStyle/>
          <a:p>
            <a:r>
              <a:rPr lang="en-US" altLang="ja-JP"/>
              <a:t>2026/6</a:t>
            </a:r>
            <a:endParaRPr kumimoji="1" lang="ja-JP" altLang="en-US"/>
          </a:p>
        </p:txBody>
      </p:sp>
      <p:sp>
        <p:nvSpPr>
          <p:cNvPr id="13" name="フッター プレースホルダー 12">
            <a:extLst>
              <a:ext uri="{FF2B5EF4-FFF2-40B4-BE49-F238E27FC236}">
                <a16:creationId xmlns:a16="http://schemas.microsoft.com/office/drawing/2014/main" id="{1A8E4A53-370A-7A19-FA44-D6158DDE1CE2}"/>
              </a:ext>
            </a:extLst>
          </p:cNvPr>
          <p:cNvSpPr>
            <a:spLocks noGrp="1"/>
          </p:cNvSpPr>
          <p:nvPr>
            <p:ph type="ftr" sz="quarter" idx="11"/>
          </p:nvPr>
        </p:nvSpPr>
        <p:spPr/>
        <p:txBody>
          <a:bodyPr/>
          <a:lstStyle/>
          <a:p>
            <a:r>
              <a:rPr kumimoji="1" lang="ja-JP" altLang="en-US"/>
              <a:t>関本・中居研究室</a:t>
            </a:r>
          </a:p>
        </p:txBody>
      </p:sp>
      <p:sp>
        <p:nvSpPr>
          <p:cNvPr id="15" name="スライド番号プレースホルダー 14">
            <a:extLst>
              <a:ext uri="{FF2B5EF4-FFF2-40B4-BE49-F238E27FC236}">
                <a16:creationId xmlns:a16="http://schemas.microsoft.com/office/drawing/2014/main" id="{93A80ED0-0708-2A89-E5DF-4884CAD76733}"/>
              </a:ext>
            </a:extLst>
          </p:cNvPr>
          <p:cNvSpPr>
            <a:spLocks noGrp="1"/>
          </p:cNvSpPr>
          <p:nvPr>
            <p:ph type="sldNum" sz="quarter" idx="12"/>
          </p:nvPr>
        </p:nvSpPr>
        <p:spPr/>
        <p:txBody>
          <a:bodyPr/>
          <a:lstStyle/>
          <a:p>
            <a:fld id="{6539E37A-E522-3D47-AAB7-DDF67C94A05D}" type="slidenum">
              <a:rPr lang="en-US" altLang="ja-JP"/>
              <a:t>7</a:t>
            </a:fld>
            <a:endParaRPr kumimoji="1" lang="ja-JP" altLang="en-US"/>
          </a:p>
        </p:txBody>
      </p:sp>
      <p:sp>
        <p:nvSpPr>
          <p:cNvPr id="48" name="Rounded Rectangle 21">
            <a:extLst>
              <a:ext uri="{FF2B5EF4-FFF2-40B4-BE49-F238E27FC236}">
                <a16:creationId xmlns:a16="http://schemas.microsoft.com/office/drawing/2014/main" id="{712C9AFE-51B1-7C85-0878-B7E157960C1E}"/>
              </a:ext>
            </a:extLst>
          </p:cNvPr>
          <p:cNvSpPr/>
          <p:nvPr/>
        </p:nvSpPr>
        <p:spPr>
          <a:xfrm>
            <a:off x="720000" y="1040000"/>
            <a:ext cx="10800000" cy="760000"/>
          </a:xfrm>
          <a:prstGeom prst="roundRect">
            <a:avLst/>
          </a:prstGeom>
          <a:solidFill>
            <a:srgbClr val="ECF3FB"/>
          </a:solidFill>
          <a:ln>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コンテンツ プレースホルダー 20">
            <a:extLst>
              <a:ext uri="{FF2B5EF4-FFF2-40B4-BE49-F238E27FC236}">
                <a16:creationId xmlns:a16="http://schemas.microsoft.com/office/drawing/2014/main" id="{2E26D9A7-C155-5EDD-6D40-9E012D11F1D2}"/>
              </a:ext>
            </a:extLst>
          </p:cNvPr>
          <p:cNvSpPr>
            <a:spLocks noGrp="1"/>
          </p:cNvSpPr>
          <p:nvPr>
            <p:ph idx="1"/>
          </p:nvPr>
        </p:nvSpPr>
        <p:spPr>
          <a:xfrm>
            <a:off x="838200" y="1120000"/>
            <a:ext cx="10515600" cy="620000"/>
          </a:xfrm>
        </p:spPr>
        <p:txBody>
          <a:bodyPr wrap="square"/>
          <a:lstStyle/>
          <a:p>
            <a:pPr algn="l"/>
            <a:r>
              <a:rPr sz="1600" b="1">
                <a:solidFill>
                  <a:srgbClr val="303030"/>
                </a:solidFill>
                <a:latin typeface="Noto Sans CJK JP"/>
              </a:rPr>
              <a:t>低粒度の開発構想を、LLMとの対話を通じて人流評価可能な高粒度シナリオへ具体化するワークフローを構築し、対話設計の違いが生成結果・評価結果・作業効率に与える影響を検証する。</a:t>
            </a:r>
            <a:endParaRPr lang="ja-JP" altLang="en-US"/>
          </a:p>
        </p:txBody>
      </p:sp>
      <p:sp>
        <p:nvSpPr>
          <p:cNvPr id="50" name="Rounded Rectangle 22">
            <a:extLst>
              <a:ext uri="{FF2B5EF4-FFF2-40B4-BE49-F238E27FC236}">
                <a16:creationId xmlns:a16="http://schemas.microsoft.com/office/drawing/2014/main" id="{A6E890AC-3B9D-1FA7-51FC-BFCEDA94652E}"/>
              </a:ext>
            </a:extLst>
          </p:cNvPr>
          <p:cNvSpPr/>
          <p:nvPr/>
        </p:nvSpPr>
        <p:spPr>
          <a:xfrm>
            <a:off x="720000" y="2050000"/>
            <a:ext cx="2520000" cy="2500000"/>
          </a:xfrm>
          <a:prstGeom prst="roundRect">
            <a:avLst/>
          </a:prstGeom>
          <a:solidFill>
            <a:srgbClr val="FFFFFF"/>
          </a:solidFill>
          <a:ln w="1905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23">
            <a:extLst>
              <a:ext uri="{FF2B5EF4-FFF2-40B4-BE49-F238E27FC236}">
                <a16:creationId xmlns:a16="http://schemas.microsoft.com/office/drawing/2014/main" id="{4DBBEF77-59EA-FB01-4F28-053CFCCAB6C5}"/>
              </a:ext>
            </a:extLst>
          </p:cNvPr>
          <p:cNvSpPr/>
          <p:nvPr/>
        </p:nvSpPr>
        <p:spPr>
          <a:xfrm>
            <a:off x="840000" y="2160000"/>
            <a:ext cx="330000" cy="330000"/>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Noto Sans CJK JP"/>
              </a:rPr>
              <a:t>1</a:t>
            </a:r>
          </a:p>
        </p:txBody>
      </p:sp>
      <p:sp>
        <p:nvSpPr>
          <p:cNvPr id="52" name="TextBox 24">
            <a:extLst>
              <a:ext uri="{FF2B5EF4-FFF2-40B4-BE49-F238E27FC236}">
                <a16:creationId xmlns:a16="http://schemas.microsoft.com/office/drawing/2014/main" id="{F5C436B7-8196-A62D-DB32-8BFAEB74BE13}"/>
              </a:ext>
            </a:extLst>
          </p:cNvPr>
          <p:cNvSpPr txBox="1"/>
          <p:nvPr/>
        </p:nvSpPr>
        <p:spPr>
          <a:xfrm>
            <a:off x="1220000" y="2160000"/>
            <a:ext cx="1900000" cy="350000"/>
          </a:xfrm>
          <a:prstGeom prst="rect">
            <a:avLst/>
          </a:prstGeom>
          <a:noFill/>
        </p:spPr>
        <p:txBody>
          <a:bodyPr wrap="square">
            <a:spAutoFit/>
          </a:bodyPr>
          <a:lstStyle/>
          <a:p>
            <a:pPr algn="l"/>
            <a:r>
              <a:rPr sz="1500" b="1">
                <a:solidFill>
                  <a:srgbClr val="303030"/>
                </a:solidFill>
                <a:latin typeface="Noto Sans CJK JP"/>
              </a:rPr>
              <a:t>対話フローの設計</a:t>
            </a:r>
          </a:p>
        </p:txBody>
      </p:sp>
      <p:sp>
        <p:nvSpPr>
          <p:cNvPr id="53" name="TextBox 25">
            <a:extLst>
              <a:ext uri="{FF2B5EF4-FFF2-40B4-BE49-F238E27FC236}">
                <a16:creationId xmlns:a16="http://schemas.microsoft.com/office/drawing/2014/main" id="{8A03DE3D-23C4-9AE2-3A6A-BDA4DD34E265}"/>
              </a:ext>
            </a:extLst>
          </p:cNvPr>
          <p:cNvSpPr txBox="1"/>
          <p:nvPr/>
        </p:nvSpPr>
        <p:spPr>
          <a:xfrm>
            <a:off x="985000" y="2902780"/>
            <a:ext cx="2080000" cy="1800000"/>
          </a:xfrm>
          <a:prstGeom prst="rect">
            <a:avLst/>
          </a:prstGeom>
          <a:noFill/>
        </p:spPr>
        <p:txBody>
          <a:bodyPr wrap="square">
            <a:spAutoFit/>
          </a:bodyPr>
          <a:lstStyle/>
          <a:p>
            <a:pPr algn="l">
              <a:spcAft>
                <a:spcPts val="600"/>
              </a:spcAft>
            </a:pPr>
            <a:r>
              <a:rPr sz="1150">
                <a:solidFill>
                  <a:srgbClr val="303030"/>
                </a:solidFill>
                <a:latin typeface="Noto Sans CJK JP"/>
              </a:rPr>
              <a:t>・用途・規模・配置・対象者・時間帯・評価指標を段階的に明確化</a:t>
            </a:r>
          </a:p>
          <a:p>
            <a:pPr algn="l">
              <a:spcAft>
                <a:spcPts val="600"/>
              </a:spcAft>
            </a:pPr>
            <a:r>
              <a:rPr sz="1150">
                <a:solidFill>
                  <a:srgbClr val="303030"/>
                </a:solidFill>
                <a:latin typeface="Noto Sans CJK JP"/>
              </a:rPr>
              <a:t>・低粒度→高粒度へ具体化する対話の流れを整理</a:t>
            </a:r>
          </a:p>
        </p:txBody>
      </p:sp>
      <p:sp>
        <p:nvSpPr>
          <p:cNvPr id="54" name="Rounded Rectangle 26">
            <a:extLst>
              <a:ext uri="{FF2B5EF4-FFF2-40B4-BE49-F238E27FC236}">
                <a16:creationId xmlns:a16="http://schemas.microsoft.com/office/drawing/2014/main" id="{F84B47EA-B725-C3D6-0D91-F680334B6147}"/>
              </a:ext>
            </a:extLst>
          </p:cNvPr>
          <p:cNvSpPr/>
          <p:nvPr/>
        </p:nvSpPr>
        <p:spPr>
          <a:xfrm>
            <a:off x="3420000" y="2050000"/>
            <a:ext cx="2520000" cy="2500000"/>
          </a:xfrm>
          <a:prstGeom prst="roundRect">
            <a:avLst/>
          </a:prstGeom>
          <a:solidFill>
            <a:srgbClr val="FFFFFF"/>
          </a:solidFill>
          <a:ln w="1905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27">
            <a:extLst>
              <a:ext uri="{FF2B5EF4-FFF2-40B4-BE49-F238E27FC236}">
                <a16:creationId xmlns:a16="http://schemas.microsoft.com/office/drawing/2014/main" id="{B66D19A4-89A7-1B97-DF3F-DA6CF23EA0C3}"/>
              </a:ext>
            </a:extLst>
          </p:cNvPr>
          <p:cNvSpPr/>
          <p:nvPr/>
        </p:nvSpPr>
        <p:spPr>
          <a:xfrm>
            <a:off x="3540000" y="2160000"/>
            <a:ext cx="330000" cy="330000"/>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Noto Sans CJK JP"/>
              </a:rPr>
              <a:t>2</a:t>
            </a:r>
          </a:p>
        </p:txBody>
      </p:sp>
      <p:sp>
        <p:nvSpPr>
          <p:cNvPr id="56" name="TextBox 28">
            <a:extLst>
              <a:ext uri="{FF2B5EF4-FFF2-40B4-BE49-F238E27FC236}">
                <a16:creationId xmlns:a16="http://schemas.microsoft.com/office/drawing/2014/main" id="{76368DAE-B826-A226-0EF3-39703433DF0D}"/>
              </a:ext>
            </a:extLst>
          </p:cNvPr>
          <p:cNvSpPr txBox="1"/>
          <p:nvPr/>
        </p:nvSpPr>
        <p:spPr>
          <a:xfrm>
            <a:off x="3920000" y="2160000"/>
            <a:ext cx="2020000" cy="553998"/>
          </a:xfrm>
          <a:prstGeom prst="rect">
            <a:avLst/>
          </a:prstGeom>
          <a:noFill/>
        </p:spPr>
        <p:txBody>
          <a:bodyPr wrap="square">
            <a:spAutoFit/>
          </a:bodyPr>
          <a:lstStyle/>
          <a:p>
            <a:pPr algn="l"/>
            <a:r>
              <a:rPr sz="1500" b="1">
                <a:solidFill>
                  <a:srgbClr val="303030"/>
                </a:solidFill>
                <a:latin typeface="Noto Sans CJK JP"/>
              </a:rPr>
              <a:t>シナリオ変換ルールの整備</a:t>
            </a:r>
          </a:p>
        </p:txBody>
      </p:sp>
      <p:sp>
        <p:nvSpPr>
          <p:cNvPr id="57" name="TextBox 29">
            <a:extLst>
              <a:ext uri="{FF2B5EF4-FFF2-40B4-BE49-F238E27FC236}">
                <a16:creationId xmlns:a16="http://schemas.microsoft.com/office/drawing/2014/main" id="{0BA57653-46CE-1E77-2BC3-A600122C6545}"/>
              </a:ext>
            </a:extLst>
          </p:cNvPr>
          <p:cNvSpPr txBox="1"/>
          <p:nvPr/>
        </p:nvSpPr>
        <p:spPr>
          <a:xfrm>
            <a:off x="3620000" y="2878340"/>
            <a:ext cx="2080000" cy="1800000"/>
          </a:xfrm>
          <a:prstGeom prst="rect">
            <a:avLst/>
          </a:prstGeom>
          <a:noFill/>
        </p:spPr>
        <p:txBody>
          <a:bodyPr wrap="square">
            <a:spAutoFit/>
          </a:bodyPr>
          <a:lstStyle/>
          <a:p>
            <a:pPr algn="l">
              <a:spcAft>
                <a:spcPts val="600"/>
              </a:spcAft>
            </a:pPr>
            <a:r>
              <a:rPr sz="1150">
                <a:solidFill>
                  <a:srgbClr val="303030"/>
                </a:solidFill>
                <a:latin typeface="Noto Sans CJK JP"/>
              </a:rPr>
              <a:t>・対話結果を目的地・来訪者数・滞在時間・移動経路などの変化ルールへ変換</a:t>
            </a:r>
          </a:p>
          <a:p>
            <a:pPr algn="l">
              <a:spcAft>
                <a:spcPts val="600"/>
              </a:spcAft>
            </a:pPr>
            <a:r>
              <a:rPr sz="1150">
                <a:solidFill>
                  <a:srgbClr val="303030"/>
                </a:solidFill>
                <a:latin typeface="Noto Sans CJK JP"/>
              </a:rPr>
              <a:t>・人流評価に接続できる出力形式を定義</a:t>
            </a:r>
          </a:p>
        </p:txBody>
      </p:sp>
      <p:sp>
        <p:nvSpPr>
          <p:cNvPr id="58" name="Rounded Rectangle 30">
            <a:extLst>
              <a:ext uri="{FF2B5EF4-FFF2-40B4-BE49-F238E27FC236}">
                <a16:creationId xmlns:a16="http://schemas.microsoft.com/office/drawing/2014/main" id="{F46745C7-0B31-774A-4981-BC13D25C3356}"/>
              </a:ext>
            </a:extLst>
          </p:cNvPr>
          <p:cNvSpPr/>
          <p:nvPr/>
        </p:nvSpPr>
        <p:spPr>
          <a:xfrm>
            <a:off x="6120000" y="2050000"/>
            <a:ext cx="2520000" cy="2500000"/>
          </a:xfrm>
          <a:prstGeom prst="roundRect">
            <a:avLst/>
          </a:prstGeom>
          <a:solidFill>
            <a:srgbClr val="FFFFFF"/>
          </a:solidFill>
          <a:ln w="1905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31">
            <a:extLst>
              <a:ext uri="{FF2B5EF4-FFF2-40B4-BE49-F238E27FC236}">
                <a16:creationId xmlns:a16="http://schemas.microsoft.com/office/drawing/2014/main" id="{4621F9B4-9A5C-A8DB-AB75-F63C2CDA4E09}"/>
              </a:ext>
            </a:extLst>
          </p:cNvPr>
          <p:cNvSpPr/>
          <p:nvPr/>
        </p:nvSpPr>
        <p:spPr>
          <a:xfrm>
            <a:off x="6240000" y="2160000"/>
            <a:ext cx="330000" cy="330000"/>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Noto Sans CJK JP"/>
              </a:rPr>
              <a:t>3</a:t>
            </a:r>
          </a:p>
        </p:txBody>
      </p:sp>
      <p:sp>
        <p:nvSpPr>
          <p:cNvPr id="60" name="TextBox 32">
            <a:extLst>
              <a:ext uri="{FF2B5EF4-FFF2-40B4-BE49-F238E27FC236}">
                <a16:creationId xmlns:a16="http://schemas.microsoft.com/office/drawing/2014/main" id="{92561D9E-B511-C584-3093-4BDA33133AB1}"/>
              </a:ext>
            </a:extLst>
          </p:cNvPr>
          <p:cNvSpPr txBox="1"/>
          <p:nvPr/>
        </p:nvSpPr>
        <p:spPr>
          <a:xfrm>
            <a:off x="6620000" y="2160000"/>
            <a:ext cx="1990600" cy="323165"/>
          </a:xfrm>
          <a:prstGeom prst="rect">
            <a:avLst/>
          </a:prstGeom>
          <a:noFill/>
        </p:spPr>
        <p:txBody>
          <a:bodyPr wrap="square">
            <a:spAutoFit/>
          </a:bodyPr>
          <a:lstStyle/>
          <a:p>
            <a:pPr algn="l"/>
            <a:r>
              <a:rPr sz="1500" b="1">
                <a:solidFill>
                  <a:srgbClr val="303030"/>
                </a:solidFill>
                <a:latin typeface="Noto Sans CJK JP"/>
              </a:rPr>
              <a:t>対話設計の比較検証</a:t>
            </a:r>
          </a:p>
        </p:txBody>
      </p:sp>
      <p:sp>
        <p:nvSpPr>
          <p:cNvPr id="61" name="TextBox 33">
            <a:extLst>
              <a:ext uri="{FF2B5EF4-FFF2-40B4-BE49-F238E27FC236}">
                <a16:creationId xmlns:a16="http://schemas.microsoft.com/office/drawing/2014/main" id="{8E3EC09E-CCEF-70B6-4C7A-AEB2738FA05A}"/>
              </a:ext>
            </a:extLst>
          </p:cNvPr>
          <p:cNvSpPr txBox="1"/>
          <p:nvPr/>
        </p:nvSpPr>
        <p:spPr>
          <a:xfrm>
            <a:off x="6320000" y="2902780"/>
            <a:ext cx="2080000" cy="1800000"/>
          </a:xfrm>
          <a:prstGeom prst="rect">
            <a:avLst/>
          </a:prstGeom>
          <a:noFill/>
        </p:spPr>
        <p:txBody>
          <a:bodyPr wrap="square">
            <a:spAutoFit/>
          </a:bodyPr>
          <a:lstStyle/>
          <a:p>
            <a:pPr algn="l">
              <a:spcAft>
                <a:spcPts val="600"/>
              </a:spcAft>
            </a:pPr>
            <a:r>
              <a:rPr sz="1150">
                <a:solidFill>
                  <a:srgbClr val="303030"/>
                </a:solidFill>
                <a:latin typeface="Noto Sans CJK JP"/>
              </a:rPr>
              <a:t>・自由対話型・質問誘導型・評価フィードバック型などを比較</a:t>
            </a:r>
          </a:p>
          <a:p>
            <a:pPr algn="l">
              <a:spcAft>
                <a:spcPts val="600"/>
              </a:spcAft>
            </a:pPr>
            <a:r>
              <a:rPr sz="1150">
                <a:solidFill>
                  <a:srgbClr val="303030"/>
                </a:solidFill>
                <a:latin typeface="Noto Sans CJK JP"/>
              </a:rPr>
              <a:t>・生成される案の具体性・比較可能性・安定性を確認</a:t>
            </a:r>
          </a:p>
        </p:txBody>
      </p:sp>
      <p:sp>
        <p:nvSpPr>
          <p:cNvPr id="62" name="Rounded Rectangle 34">
            <a:extLst>
              <a:ext uri="{FF2B5EF4-FFF2-40B4-BE49-F238E27FC236}">
                <a16:creationId xmlns:a16="http://schemas.microsoft.com/office/drawing/2014/main" id="{97D77F51-7D8C-46E1-C938-1472589C9867}"/>
              </a:ext>
            </a:extLst>
          </p:cNvPr>
          <p:cNvSpPr/>
          <p:nvPr/>
        </p:nvSpPr>
        <p:spPr>
          <a:xfrm>
            <a:off x="8820000" y="2050000"/>
            <a:ext cx="2520000" cy="2500000"/>
          </a:xfrm>
          <a:prstGeom prst="roundRect">
            <a:avLst/>
          </a:prstGeom>
          <a:solidFill>
            <a:srgbClr val="FFFFFF"/>
          </a:solidFill>
          <a:ln w="1905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35">
            <a:extLst>
              <a:ext uri="{FF2B5EF4-FFF2-40B4-BE49-F238E27FC236}">
                <a16:creationId xmlns:a16="http://schemas.microsoft.com/office/drawing/2014/main" id="{A2F14AD3-8580-7B46-08CA-FBD1F1424B51}"/>
              </a:ext>
            </a:extLst>
          </p:cNvPr>
          <p:cNvSpPr/>
          <p:nvPr/>
        </p:nvSpPr>
        <p:spPr>
          <a:xfrm>
            <a:off x="8940000" y="2160000"/>
            <a:ext cx="330000" cy="330000"/>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Noto Sans CJK JP"/>
              </a:rPr>
              <a:t>4</a:t>
            </a:r>
          </a:p>
        </p:txBody>
      </p:sp>
      <p:sp>
        <p:nvSpPr>
          <p:cNvPr id="64" name="TextBox 36">
            <a:extLst>
              <a:ext uri="{FF2B5EF4-FFF2-40B4-BE49-F238E27FC236}">
                <a16:creationId xmlns:a16="http://schemas.microsoft.com/office/drawing/2014/main" id="{874B6695-64B6-B413-33FB-F0D402E71215}"/>
              </a:ext>
            </a:extLst>
          </p:cNvPr>
          <p:cNvSpPr txBox="1"/>
          <p:nvPr/>
        </p:nvSpPr>
        <p:spPr>
          <a:xfrm>
            <a:off x="9320000" y="2160000"/>
            <a:ext cx="2020000" cy="323165"/>
          </a:xfrm>
          <a:prstGeom prst="rect">
            <a:avLst/>
          </a:prstGeom>
          <a:noFill/>
        </p:spPr>
        <p:txBody>
          <a:bodyPr wrap="square">
            <a:spAutoFit/>
          </a:bodyPr>
          <a:lstStyle/>
          <a:p>
            <a:pPr algn="l"/>
            <a:r>
              <a:rPr sz="1500" b="1">
                <a:solidFill>
                  <a:srgbClr val="303030"/>
                </a:solidFill>
                <a:latin typeface="Noto Sans CJK JP"/>
              </a:rPr>
              <a:t>効率・有効性の検証</a:t>
            </a:r>
          </a:p>
        </p:txBody>
      </p:sp>
      <p:sp>
        <p:nvSpPr>
          <p:cNvPr id="65" name="TextBox 37">
            <a:extLst>
              <a:ext uri="{FF2B5EF4-FFF2-40B4-BE49-F238E27FC236}">
                <a16:creationId xmlns:a16="http://schemas.microsoft.com/office/drawing/2014/main" id="{FBC1346C-FDCB-228D-BC38-F96FEB1B2194}"/>
              </a:ext>
            </a:extLst>
          </p:cNvPr>
          <p:cNvSpPr txBox="1"/>
          <p:nvPr/>
        </p:nvSpPr>
        <p:spPr>
          <a:xfrm>
            <a:off x="9020000" y="2902780"/>
            <a:ext cx="2080000" cy="1800000"/>
          </a:xfrm>
          <a:prstGeom prst="rect">
            <a:avLst/>
          </a:prstGeom>
          <a:noFill/>
        </p:spPr>
        <p:txBody>
          <a:bodyPr wrap="square">
            <a:spAutoFit/>
          </a:bodyPr>
          <a:lstStyle/>
          <a:p>
            <a:pPr algn="l">
              <a:spcAft>
                <a:spcPts val="600"/>
              </a:spcAft>
            </a:pPr>
            <a:r>
              <a:rPr sz="1150">
                <a:solidFill>
                  <a:srgbClr val="303030"/>
                </a:solidFill>
                <a:latin typeface="Noto Sans CJK JP"/>
              </a:rPr>
              <a:t>・対話ターン数・作業時間・修正回数を整理</a:t>
            </a:r>
          </a:p>
          <a:p>
            <a:pPr algn="l">
              <a:spcAft>
                <a:spcPts val="600"/>
              </a:spcAft>
            </a:pPr>
            <a:r>
              <a:rPr sz="1150">
                <a:solidFill>
                  <a:srgbClr val="303030"/>
                </a:solidFill>
                <a:latin typeface="Noto Sans CJK JP"/>
              </a:rPr>
              <a:t>・芝田一丁目で複数案を評価し、ワークフローの有効性と限界を検討</a:t>
            </a:r>
          </a:p>
        </p:txBody>
      </p:sp>
      <p:sp>
        <p:nvSpPr>
          <p:cNvPr id="66" name="Rounded Rectangle 38">
            <a:extLst>
              <a:ext uri="{FF2B5EF4-FFF2-40B4-BE49-F238E27FC236}">
                <a16:creationId xmlns:a16="http://schemas.microsoft.com/office/drawing/2014/main" id="{B298A249-F789-C492-BE91-246B739C90F0}"/>
              </a:ext>
            </a:extLst>
          </p:cNvPr>
          <p:cNvSpPr/>
          <p:nvPr/>
        </p:nvSpPr>
        <p:spPr>
          <a:xfrm>
            <a:off x="720000" y="4880000"/>
            <a:ext cx="10800000" cy="1020000"/>
          </a:xfrm>
          <a:prstGeom prst="roundRect">
            <a:avLst/>
          </a:prstGeom>
          <a:solidFill>
            <a:srgbClr val="F8FAFD"/>
          </a:solidFill>
          <a:ln w="19050">
            <a:solidFill>
              <a:srgbClr val="3662A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39">
            <a:extLst>
              <a:ext uri="{FF2B5EF4-FFF2-40B4-BE49-F238E27FC236}">
                <a16:creationId xmlns:a16="http://schemas.microsoft.com/office/drawing/2014/main" id="{7E148D0D-E789-B894-0577-0565CBCE7BE6}"/>
              </a:ext>
            </a:extLst>
          </p:cNvPr>
          <p:cNvSpPr/>
          <p:nvPr/>
        </p:nvSpPr>
        <p:spPr>
          <a:xfrm>
            <a:off x="900000" y="5010000"/>
            <a:ext cx="2050000" cy="320000"/>
          </a:xfrm>
          <a:prstGeom prst="roundRect">
            <a:avLst/>
          </a:prstGeom>
          <a:solidFill>
            <a:srgbClr val="F59F00"/>
          </a:solidFill>
          <a:ln>
            <a:solidFill>
              <a:srgbClr val="F5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Noto Sans CJK JP"/>
              </a:rPr>
              <a:t>年度内の到達目標</a:t>
            </a:r>
          </a:p>
        </p:txBody>
      </p:sp>
      <p:sp>
        <p:nvSpPr>
          <p:cNvPr id="68" name="TextBox 40">
            <a:extLst>
              <a:ext uri="{FF2B5EF4-FFF2-40B4-BE49-F238E27FC236}">
                <a16:creationId xmlns:a16="http://schemas.microsoft.com/office/drawing/2014/main" id="{F66F3CAA-3243-8C24-D54D-92C525E25C03}"/>
              </a:ext>
            </a:extLst>
          </p:cNvPr>
          <p:cNvSpPr txBox="1"/>
          <p:nvPr/>
        </p:nvSpPr>
        <p:spPr>
          <a:xfrm>
            <a:off x="900000" y="5380000"/>
            <a:ext cx="10200000" cy="410000"/>
          </a:xfrm>
          <a:prstGeom prst="rect">
            <a:avLst/>
          </a:prstGeom>
          <a:noFill/>
        </p:spPr>
        <p:txBody>
          <a:bodyPr wrap="square">
            <a:spAutoFit/>
          </a:bodyPr>
          <a:lstStyle/>
          <a:p>
            <a:pPr algn="l"/>
            <a:r>
              <a:rPr sz="1400" b="1">
                <a:solidFill>
                  <a:srgbClr val="303030"/>
                </a:solidFill>
                <a:latin typeface="Noto Sans CJK JP"/>
              </a:rPr>
              <a:t>曖昧な開発構想が、LLMとの対話を通じて人流評価可能なシナリオへ具体化される過程を整理し、芝田一丁目を対象に複数案の生成・比較・評価まで行えるワークフローとして提示する。</a:t>
            </a:r>
          </a:p>
        </p:txBody>
      </p:sp>
    </p:spTree>
    <p:extLst>
      <p:ext uri="{BB962C8B-B14F-4D97-AF65-F5344CB8AC3E}">
        <p14:creationId xmlns:p14="http://schemas.microsoft.com/office/powerpoint/2010/main" val="104404791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4582</TotalTime>
  <Words>1116</Words>
  <Application>Microsoft Macintosh PowerPoint</Application>
  <PresentationFormat>ワイド画面</PresentationFormat>
  <Paragraphs>231</Paragraphs>
  <Slides>7</Slides>
  <Notes>4</Notes>
  <HiddenSlides>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7</vt:i4>
      </vt:variant>
    </vt:vector>
  </HeadingPairs>
  <TitlesOfParts>
    <vt:vector size="14" baseType="lpstr">
      <vt:lpstr>HGMinchoE</vt:lpstr>
      <vt:lpstr>Noto Sans CJK JP</vt:lpstr>
      <vt:lpstr>Yu Gothic</vt:lpstr>
      <vt:lpstr>Yu Gothic</vt:lpstr>
      <vt:lpstr>Arial</vt:lpstr>
      <vt:lpstr>Calibri</vt:lpstr>
      <vt:lpstr>標準スライド</vt:lpstr>
      <vt:lpstr>開発計画の粒度に応じた 様々なパターン生成とその評価 ～芝田一丁目の開発計画を題材に</vt:lpstr>
      <vt:lpstr>最初の3か月（2Q：7-9月）の取組イメージ</vt:lpstr>
      <vt:lpstr>最初の3か月（2Q：7-9月）の取組イメージ</vt:lpstr>
      <vt:lpstr>最初の3か月（2Q：7-9月）の取組イメージ</vt:lpstr>
      <vt:lpstr>最初の3か月（2Q：7-9月）の取組イメージ</vt:lpstr>
      <vt:lpstr>研究の立ち位置</vt:lpstr>
      <vt:lpstr>その後の年度内（3-4Q:10-3月）の取組イメージ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渡辺　悠生</dc:creator>
  <cp:lastModifiedBy>渡辺　悠生</cp:lastModifiedBy>
  <cp:revision>13</cp:revision>
  <dcterms:created xsi:type="dcterms:W3CDTF">2026-06-12T05:31:59Z</dcterms:created>
  <dcterms:modified xsi:type="dcterms:W3CDTF">2026-06-25T00:12:43Z</dcterms:modified>
</cp:coreProperties>
</file>