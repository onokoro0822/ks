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
  </p:notesMasterIdLst>
  <p:sldIdLst>
    <p:sldId id="263" r:id="rId2"/>
    <p:sldId id="256" r:id="rId3"/>
    <p:sldId id="257" r:id="rId4"/>
    <p:sldId id="258" r:id="rId5"/>
    <p:sldId id="259" r:id="rId6"/>
    <p:sldId id="260" r:id="rId7"/>
    <p:sldId id="261" r:id="rId8"/>
    <p:sldId id="262" r:id="rId9"/>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2D6C5EB5-B125-E782-B8C1-726CF45149BC}" name="関本　義秀" initials="義関" userId="S::4300617000@utac.u-tokyo.ac.jp::58197656-eaaa-4c42-a35f-aab39240ca32" providerId="AD"/>
  <p188:author id="{5AA7D6E4-D81E-CF32-42CA-661684C67DD7}" name="渡辺　悠生" initials="悠渡" userId="S::5317704775@utac.u-tokyo.ac.jp::6bac083b-911a-4d96-88e0-5ba3986ff10b"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間スタイル 2 - アクセント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03447BB-5D67-496B-8E87-E561075AD55C}" styleName="濃色スタイル 1 - アクセント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B344D84-9AFB-497E-A393-DC336BA19D2E}" styleName="中間スタイル 3 - アクセント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685"/>
    <p:restoredTop sz="73626"/>
  </p:normalViewPr>
  <p:slideViewPr>
    <p:cSldViewPr>
      <p:cViewPr varScale="1">
        <p:scale>
          <a:sx n="84" d="100"/>
          <a:sy n="84" d="100"/>
        </p:scale>
        <p:origin x="1440" y="176"/>
      </p:cViewPr>
      <p:guideLst/>
    </p:cSldViewPr>
  </p:slideViewPr>
  <p:notesTextViewPr>
    <p:cViewPr>
      <p:scale>
        <a:sx n="1" d="1"/>
        <a:sy n="1" d="1"/>
      </p:scale>
      <p:origin x="0" y="0"/>
    </p:cViewPr>
  </p:notesTextViewPr>
  <p:gridSpacing cx="45005" cy="450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5" Type="http://schemas.microsoft.com/office/2018/10/relationships/authors" Target="authors.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a:p>
        </p:txBody>
      </p:sp>
      <p:sp>
        <p:nvSpPr>
          <p:cNvPr id="4" name="スライド番号プレースホルダー 3"/>
          <p:cNvSpPr>
            <a:spLocks noGrp="1"/>
          </p:cNvSpPr>
          <p:nvPr>
            <p:ph type="sldNum" sz="quarter" idx="5"/>
          </p:nvPr>
        </p:nvSpPr>
        <p:spPr/>
        <p:txBody>
          <a:bodyPr/>
          <a:lstStyle/>
          <a:p>
            <a:endParaRPr lang="ja-JP" altLang="en-US"/>
          </a:p>
        </p:txBody>
      </p:sp>
    </p:spTree>
    <p:extLst>
      <p:ext uri="{BB962C8B-B14F-4D97-AF65-F5344CB8AC3E}">
        <p14:creationId xmlns:p14="http://schemas.microsoft.com/office/powerpoint/2010/main" val="42771454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Today I will introduce a research concept for generating pedestrian-flow scenarios from natural-language planning ideas. The case study focuses on the area around Meitetsu Nagoya Station. The central question is whether an LLM can help translate an early, loosely defined development concept into structured conditions that a pedestrian-flow model can evaluate. We then compare how different planning assumptions, access conditions, and demand scenarios change expected movement patterns. The goal is not to replace planners or simulation experts, but to connect their work earlier and make alternative concepts easier to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shows how we define the conditions during the first three months. The process begins with a planner describing the study area and an interim-use concept in ordinary language. Through dialogue, the LLM clarifies four groups of inputs: the study area, the proposed use and scale, building parameters, and access connections. In this hypothetical case, we assume a low-rise mixed retail and dining facility using floors one through four. Ticket gates, underground passages, street entrances, and transfers to Kintetsu, JR, and the bus center become explicit connection points. The final output is a structured set of inputs for pedestrian-flow evaluation.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Once the conditions are structured, we can run pedestrian-flow simulations and compare outcomes. The center illustrates a before-and-after comparison, while the right side shows three kinds of scenario tests. We can change the plan itself, introduce a construction detour or adverse weather, and test upside and downside demand assumptions. The visitor figures on this slide are placeholders, not measured results. Actual values will be calculated after the relevant observed or partner-provided data become available. At this stage, the important contribution is defining consistent comparison conditions and evaluation metrics across multiple scenarios.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This slide positions the research between two established streams. LLM-based planning support is useful for organizing concepts, refining requirements, and generating scenarios, but it is usually not connected directly to pedestrian-flow model inputs. Pedestrian-flow research can estimate changes in visitors, congestion, and dwell time, but it does not easily interpret ambiguous natural-language planning intent or develop scenarios from early concepts. Our research bridges these gaps. It uses dialogue to refine a low-detail concept, converts the result into parameters that a flow model can process, and compares multiple specified scenarios through an integrated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work is planned in stages across the fiscal year. In Q2, the priority is to complete one representative scenario end to end: clarify the plan through LLM dialogue, structure the conditions, and run pedestrian-flow prediction. In Q3, we will reuse that workflow for additional scenario types and identify where the process needs to become more general. In Q4, we will cover five representative scenarios and their variations, then evaluate the validity and usefulness of the generated outputs. This phased approach lets us prove the complete workflow first and broaden coverage only after the core process is stable.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development partners, the application is intended to create value in four ways. First, it can compress early-stage comparison work by turning rough inputs into a structured set of alternatives within days or weeks. Second, it provides quantitative material such as visitor counts, congestion hotspots, and effects on nearby facilities. Third, dialogue may reveal alternative use mixes, routes, or layouts that were not included in the initial concept. Finally, the workflow can be reused beyond this specific site, supporting future redevelopment and station-area projects. These benefits remain hypotheses to validate together with practitioners through realistic cases and feedback.</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To make the research practical, we would appreciate two forms of collaboration. First, please share basic information about a development concept where possible: the site boundary, intended uses, approximate scale, and the alternatives or scenarios you would like to compare. Text-based information is sufficient at the initial stage. Second, please review the generated scenarios and pedestrian-flow estimates. We want to know whether the assumptions match planning expectations, whether the use mix and scale are reasonable, whether the estimates feel plausible, and what additional conditions should be tested. We will use that feedback to update the conditions, scenarios, and predictions iteratively.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タイトル スライド">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FC55205D-1BEA-5E5D-5B92-8C3331D1DC79}"/>
              </a:ext>
            </a:extLst>
          </p:cNvPr>
          <p:cNvSpPr>
            <a:spLocks noGrp="1"/>
          </p:cNvSpPr>
          <p:nvPr/>
        </p:nvSpPr>
        <p:spPr>
          <a:xfrm>
            <a:off x="0" y="1"/>
            <a:ext cx="12192000" cy="685799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8" name="正方形/長方形 7">
            <a:extLst>
              <a:ext uri="{FF2B5EF4-FFF2-40B4-BE49-F238E27FC236}">
                <a16:creationId xmlns:a16="http://schemas.microsoft.com/office/drawing/2014/main" id="{011358BB-C83D-DC73-90A9-FD099D231007}"/>
              </a:ext>
            </a:extLst>
          </p:cNvPr>
          <p:cNvSpPr>
            <a:spLocks noGrp="1"/>
          </p:cNvSpPr>
          <p:nvPr/>
        </p:nvSpPr>
        <p:spPr>
          <a:xfrm>
            <a:off x="627893" y="1718810"/>
            <a:ext cx="10936214" cy="3645405"/>
          </a:xfrm>
          <a:prstGeom prst="rect">
            <a:avLst/>
          </a:prstGeom>
        </p:spPr>
        <p:style>
          <a:lnRef idx="2">
            <a:schemeClr val="dk1"/>
          </a:lnRef>
          <a:fillRef idx="1">
            <a:schemeClr val="lt1"/>
          </a:fillRef>
          <a:effectRef idx="0">
            <a:schemeClr val="dk1"/>
          </a:effectRef>
          <a:fontRef idx="minor">
            <a:schemeClr val="dk1"/>
          </a:fontRef>
        </p:style>
        <p:txBody>
          <a:bodyPr anchor="ctr"/>
          <a:lstStyle/>
          <a:p>
            <a:pPr algn="ctr">
              <a:buNone/>
            </a:pPr>
            <a:endParaRPr/>
          </a:p>
        </p:txBody>
      </p:sp>
      <p:sp>
        <p:nvSpPr>
          <p:cNvPr id="2" name="Title 1">
            <a:extLst>
              <a:ext uri="{FF2B5EF4-FFF2-40B4-BE49-F238E27FC236}">
                <a16:creationId xmlns:a16="http://schemas.microsoft.com/office/drawing/2014/main" id="{CEDFCFD7-5669-4CDF-8196-80F00CD0B63E}"/>
              </a:ext>
            </a:extLst>
          </p:cNvPr>
          <p:cNvSpPr>
            <a:spLocks noGrp="1"/>
          </p:cNvSpPr>
          <p:nvPr>
            <p:ph type="ctrTitle"/>
          </p:nvPr>
        </p:nvSpPr>
        <p:spPr>
          <a:xfrm>
            <a:off x="815698" y="1822519"/>
            <a:ext cx="8981594" cy="1800200"/>
          </a:xfrm>
        </p:spPr>
        <p:txBody>
          <a:bodyPr anchor="b"/>
          <a:lstStyle>
            <a:lvl1pPr algn="ctr">
              <a:buNone/>
              <a:defRPr sz="6000">
                <a:latin typeface="HGMinchoE"/>
                <a:ea typeface="HGMinchoE"/>
                <a:cs typeface="HGMinchoE"/>
              </a:defRPr>
            </a:lvl1pPr>
          </a:lstStyle>
          <a:p>
            <a:r>
              <a:t>マスター タイトルの書式設定</a:t>
            </a:r>
          </a:p>
        </p:txBody>
      </p:sp>
      <p:sp>
        <p:nvSpPr>
          <p:cNvPr id="4" name="Date Placeholder 3">
            <a:extLst>
              <a:ext uri="{FF2B5EF4-FFF2-40B4-BE49-F238E27FC236}">
                <a16:creationId xmlns:a16="http://schemas.microsoft.com/office/drawing/2014/main" id="{19A3B0E2-4A38-456C-B93E-BB195C4A3BEA}"/>
              </a:ext>
            </a:extLst>
          </p:cNvPr>
          <p:cNvSpPr>
            <a:spLocks noGrp="1"/>
          </p:cNvSpPr>
          <p:nvPr>
            <p:ph type="dt" idx="10"/>
          </p:nvPr>
        </p:nvSpPr>
        <p:spPr/>
        <p:txBody>
          <a:bodyPr/>
          <a:lstStyle/>
          <a:p>
            <a:r>
              <a:t>2026/7</a:t>
            </a:r>
          </a:p>
        </p:txBody>
      </p:sp>
      <p:sp>
        <p:nvSpPr>
          <p:cNvPr id="5" name="Footer Placeholder 4">
            <a:extLst>
              <a:ext uri="{FF2B5EF4-FFF2-40B4-BE49-F238E27FC236}">
                <a16:creationId xmlns:a16="http://schemas.microsoft.com/office/drawing/2014/main" id="{A66CE179-1185-4294-A28B-2AEC71217739}"/>
              </a:ext>
            </a:extLst>
          </p:cNvPr>
          <p:cNvSpPr>
            <a:spLocks noGrp="1"/>
          </p:cNvSpPr>
          <p:nvPr>
            <p:ph type="ftr" idx="11"/>
          </p:nvPr>
        </p:nvSpPr>
        <p:spPr/>
        <p:txBody>
          <a:bodyPr/>
          <a:lstStyle/>
          <a:p>
            <a:r>
              <a:t>関本・中居研究室</a:t>
            </a:r>
          </a:p>
        </p:txBody>
      </p:sp>
      <p:sp>
        <p:nvSpPr>
          <p:cNvPr id="6" name="Slide Number Placeholder 5">
            <a:extLst>
              <a:ext uri="{FF2B5EF4-FFF2-40B4-BE49-F238E27FC236}">
                <a16:creationId xmlns:a16="http://schemas.microsoft.com/office/drawing/2014/main" id="{3BD2C87E-7E69-49BC-9873-83346CBBCDC3}"/>
              </a:ext>
            </a:extLst>
          </p:cNvPr>
          <p:cNvSpPr>
            <a:spLocks noGrp="1"/>
          </p:cNvSpPr>
          <p:nvPr>
            <p:ph type="sldNum" idx="12"/>
          </p:nvPr>
        </p:nvSpPr>
        <p:spPr/>
        <p:txBody>
          <a:bodyPr/>
          <a:lstStyle/>
          <a:p>
            <a:fld id="{6539E37A-E522-3D47-AAB7-DDF67C94A05D}" type="slidenum">
              <a:t>‹#›</a:t>
            </a:fld>
            <a:endParaRPr/>
          </a:p>
        </p:txBody>
      </p:sp>
      <p:sp>
        <p:nvSpPr>
          <p:cNvPr id="10" name="正方形/長方形 9">
            <a:extLst>
              <a:ext uri="{FF2B5EF4-FFF2-40B4-BE49-F238E27FC236}">
                <a16:creationId xmlns:a16="http://schemas.microsoft.com/office/drawing/2014/main" id="{4CD3B0C5-05CC-6CD8-19D9-83A04040DEB5}"/>
              </a:ext>
            </a:extLst>
          </p:cNvPr>
          <p:cNvSpPr>
            <a:spLocks noGrp="1"/>
          </p:cNvSpPr>
          <p:nvPr/>
        </p:nvSpPr>
        <p:spPr>
          <a:xfrm>
            <a:off x="815696" y="3900233"/>
            <a:ext cx="3915435" cy="45719"/>
          </a:xfrm>
          <a:prstGeom prst="rect">
            <a:avLst/>
          </a:prstGeom>
          <a:solidFill>
            <a:schemeClr val="tx2">
              <a:lumMod val="75000"/>
              <a:lumOff val="25000"/>
            </a:schemeClr>
          </a:solidFill>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1" name="Subtitle 2">
            <a:extLst>
              <a:ext uri="{FF2B5EF4-FFF2-40B4-BE49-F238E27FC236}">
                <a16:creationId xmlns:a16="http://schemas.microsoft.com/office/drawing/2014/main" id="{1EA00032-B280-9C70-9D60-577AEB1A3456}"/>
              </a:ext>
            </a:extLst>
          </p:cNvPr>
          <p:cNvSpPr>
            <a:spLocks noGrp="1"/>
          </p:cNvSpPr>
          <p:nvPr/>
        </p:nvSpPr>
        <p:spPr>
          <a:xfrm>
            <a:off x="815695" y="4494532"/>
            <a:ext cx="5032775" cy="398632"/>
          </a:xfrm>
          <a:prstGeom prst="rect">
            <a:avLst/>
          </a:prstGeom>
        </p:spPr>
        <p:txBody>
          <a:bodyPr vert="horz" lIns="91440" tIns="45720" rIns="91440" bIns="45720">
            <a:normAutofit/>
          </a:bodyPr>
          <a:lstStyle>
            <a:lvl1pPr marL="0" indent="0" algn="ctr">
              <a:lnSpc>
                <a:spcPct val="90000"/>
              </a:lnSpc>
              <a:spcBef>
                <a:spcPts val="1000"/>
              </a:spcBef>
              <a:buNone/>
              <a:defRPr sz="2400">
                <a:solidFill>
                  <a:schemeClr val="tx1"/>
                </a:solidFill>
                <a:latin typeface="+mn-lt"/>
                <a:ea typeface="+mn-lt"/>
                <a:cs typeface="+mn-lt"/>
              </a:defRPr>
            </a:lvl1pPr>
            <a:lvl2pPr marL="457200" indent="0" algn="ctr">
              <a:lnSpc>
                <a:spcPct val="90000"/>
              </a:lnSpc>
              <a:spcBef>
                <a:spcPts val="500"/>
              </a:spcBef>
              <a:buNone/>
              <a:defRPr sz="2000">
                <a:solidFill>
                  <a:schemeClr val="tx1"/>
                </a:solidFill>
                <a:latin typeface="+mn-lt"/>
                <a:ea typeface="+mn-lt"/>
                <a:cs typeface="+mn-lt"/>
              </a:defRPr>
            </a:lvl2pPr>
            <a:lvl3pPr marL="914400" indent="0" algn="ctr">
              <a:lnSpc>
                <a:spcPct val="90000"/>
              </a:lnSpc>
              <a:spcBef>
                <a:spcPts val="500"/>
              </a:spcBef>
              <a:buNone/>
              <a:defRPr sz="1800">
                <a:solidFill>
                  <a:schemeClr val="tx1"/>
                </a:solidFill>
                <a:latin typeface="+mn-lt"/>
                <a:ea typeface="+mn-lt"/>
                <a:cs typeface="+mn-lt"/>
              </a:defRPr>
            </a:lvl3pPr>
            <a:lvl4pPr marL="1371600" indent="0" algn="ctr">
              <a:lnSpc>
                <a:spcPct val="90000"/>
              </a:lnSpc>
              <a:spcBef>
                <a:spcPts val="500"/>
              </a:spcBef>
              <a:buNone/>
              <a:defRPr sz="1600">
                <a:solidFill>
                  <a:schemeClr val="tx1"/>
                </a:solidFill>
                <a:latin typeface="+mn-lt"/>
                <a:ea typeface="+mn-lt"/>
                <a:cs typeface="+mn-lt"/>
              </a:defRPr>
            </a:lvl4pPr>
            <a:lvl5pPr marL="1828800" indent="0" algn="ctr">
              <a:lnSpc>
                <a:spcPct val="90000"/>
              </a:lnSpc>
              <a:spcBef>
                <a:spcPts val="500"/>
              </a:spcBef>
              <a:buNone/>
              <a:defRPr sz="1600">
                <a:solidFill>
                  <a:schemeClr val="tx1"/>
                </a:solidFill>
                <a:latin typeface="+mn-lt"/>
                <a:ea typeface="+mn-lt"/>
                <a:cs typeface="+mn-lt"/>
              </a:defRPr>
            </a:lvl5pPr>
            <a:lvl6pPr marL="2286000" indent="0" algn="ctr">
              <a:lnSpc>
                <a:spcPct val="90000"/>
              </a:lnSpc>
              <a:spcBef>
                <a:spcPts val="500"/>
              </a:spcBef>
              <a:buNone/>
              <a:defRPr sz="1600">
                <a:solidFill>
                  <a:schemeClr val="tx1"/>
                </a:solidFill>
                <a:latin typeface="+mn-lt"/>
                <a:ea typeface="+mn-lt"/>
                <a:cs typeface="+mn-lt"/>
              </a:defRPr>
            </a:lvl6pPr>
            <a:lvl7pPr marL="2743200" indent="0" algn="ctr">
              <a:lnSpc>
                <a:spcPct val="90000"/>
              </a:lnSpc>
              <a:spcBef>
                <a:spcPts val="500"/>
              </a:spcBef>
              <a:buNone/>
              <a:defRPr sz="1600">
                <a:solidFill>
                  <a:schemeClr val="tx1"/>
                </a:solidFill>
                <a:latin typeface="+mn-lt"/>
                <a:ea typeface="+mn-lt"/>
                <a:cs typeface="+mn-lt"/>
              </a:defRPr>
            </a:lvl7pPr>
            <a:lvl8pPr marL="3200400" indent="0" algn="ctr">
              <a:lnSpc>
                <a:spcPct val="90000"/>
              </a:lnSpc>
              <a:spcBef>
                <a:spcPts val="500"/>
              </a:spcBef>
              <a:buNone/>
              <a:defRPr sz="1600">
                <a:solidFill>
                  <a:schemeClr val="tx1"/>
                </a:solidFill>
                <a:latin typeface="+mn-lt"/>
                <a:ea typeface="+mn-lt"/>
                <a:cs typeface="+mn-lt"/>
              </a:defRPr>
            </a:lvl8pPr>
            <a:lvl9pPr marL="3657600" indent="0" algn="ctr">
              <a:lnSpc>
                <a:spcPct val="90000"/>
              </a:lnSpc>
              <a:spcBef>
                <a:spcPts val="500"/>
              </a:spcBef>
              <a:buNone/>
              <a:defRPr sz="1600">
                <a:solidFill>
                  <a:schemeClr val="tx1"/>
                </a:solidFill>
                <a:latin typeface="+mn-lt"/>
                <a:ea typeface="+mn-lt"/>
                <a:cs typeface="+mn-lt"/>
              </a:defRPr>
            </a:lvl9pPr>
          </a:lstStyle>
          <a:p>
            <a:pPr algn="l">
              <a:buNone/>
            </a:pPr>
            <a:r>
              <a:rPr sz="1800">
                <a:solidFill>
                  <a:schemeClr val="bg2">
                    <a:lumMod val="50000"/>
                  </a:schemeClr>
                </a:solidFill>
              </a:rPr>
              <a:t>July 2026  |  Sekimoto-Nakai Laboratory</a:t>
            </a:r>
          </a:p>
        </p:txBody>
      </p:sp>
      <p:sp>
        <p:nvSpPr>
          <p:cNvPr id="12" name="Subtitle 2">
            <a:extLst>
              <a:ext uri="{FF2B5EF4-FFF2-40B4-BE49-F238E27FC236}">
                <a16:creationId xmlns:a16="http://schemas.microsoft.com/office/drawing/2014/main" id="{8C5479DB-FB15-2DE2-02DC-3F41B6BAA47D}"/>
              </a:ext>
            </a:extLst>
          </p:cNvPr>
          <p:cNvSpPr>
            <a:spLocks noGrp="1"/>
          </p:cNvSpPr>
          <p:nvPr/>
        </p:nvSpPr>
        <p:spPr>
          <a:xfrm>
            <a:off x="815696" y="4636415"/>
            <a:ext cx="5032775" cy="398632"/>
          </a:xfrm>
          <a:prstGeom prst="rect">
            <a:avLst/>
          </a:prstGeom>
        </p:spPr>
        <p:txBody>
          <a:bodyPr vert="horz" lIns="91440" tIns="45720" rIns="91440" bIns="45720">
            <a:normAutofit lnSpcReduction="10000"/>
          </a:bodyPr>
          <a:lstStyle>
            <a:lvl1pPr marL="0" indent="0" algn="ctr">
              <a:lnSpc>
                <a:spcPct val="90000"/>
              </a:lnSpc>
              <a:spcBef>
                <a:spcPts val="1000"/>
              </a:spcBef>
              <a:buNone/>
              <a:defRPr sz="2400">
                <a:solidFill>
                  <a:schemeClr val="tx1"/>
                </a:solidFill>
                <a:latin typeface="+mn-lt"/>
                <a:ea typeface="+mn-lt"/>
                <a:cs typeface="+mn-lt"/>
              </a:defRPr>
            </a:lvl1pPr>
            <a:lvl2pPr marL="457200" indent="0" algn="ctr">
              <a:lnSpc>
                <a:spcPct val="90000"/>
              </a:lnSpc>
              <a:spcBef>
                <a:spcPts val="500"/>
              </a:spcBef>
              <a:buNone/>
              <a:defRPr sz="2000">
                <a:solidFill>
                  <a:schemeClr val="tx1"/>
                </a:solidFill>
                <a:latin typeface="+mn-lt"/>
                <a:ea typeface="+mn-lt"/>
                <a:cs typeface="+mn-lt"/>
              </a:defRPr>
            </a:lvl2pPr>
            <a:lvl3pPr marL="914400" indent="0" algn="ctr">
              <a:lnSpc>
                <a:spcPct val="90000"/>
              </a:lnSpc>
              <a:spcBef>
                <a:spcPts val="500"/>
              </a:spcBef>
              <a:buNone/>
              <a:defRPr sz="1800">
                <a:solidFill>
                  <a:schemeClr val="tx1"/>
                </a:solidFill>
                <a:latin typeface="+mn-lt"/>
                <a:ea typeface="+mn-lt"/>
                <a:cs typeface="+mn-lt"/>
              </a:defRPr>
            </a:lvl3pPr>
            <a:lvl4pPr marL="1371600" indent="0" algn="ctr">
              <a:lnSpc>
                <a:spcPct val="90000"/>
              </a:lnSpc>
              <a:spcBef>
                <a:spcPts val="500"/>
              </a:spcBef>
              <a:buNone/>
              <a:defRPr sz="1600">
                <a:solidFill>
                  <a:schemeClr val="tx1"/>
                </a:solidFill>
                <a:latin typeface="+mn-lt"/>
                <a:ea typeface="+mn-lt"/>
                <a:cs typeface="+mn-lt"/>
              </a:defRPr>
            </a:lvl4pPr>
            <a:lvl5pPr marL="1828800" indent="0" algn="ctr">
              <a:lnSpc>
                <a:spcPct val="90000"/>
              </a:lnSpc>
              <a:spcBef>
                <a:spcPts val="500"/>
              </a:spcBef>
              <a:buNone/>
              <a:defRPr sz="1600">
                <a:solidFill>
                  <a:schemeClr val="tx1"/>
                </a:solidFill>
                <a:latin typeface="+mn-lt"/>
                <a:ea typeface="+mn-lt"/>
                <a:cs typeface="+mn-lt"/>
              </a:defRPr>
            </a:lvl5pPr>
            <a:lvl6pPr marL="2286000" indent="0" algn="ctr">
              <a:lnSpc>
                <a:spcPct val="90000"/>
              </a:lnSpc>
              <a:spcBef>
                <a:spcPts val="500"/>
              </a:spcBef>
              <a:buNone/>
              <a:defRPr sz="1600">
                <a:solidFill>
                  <a:schemeClr val="tx1"/>
                </a:solidFill>
                <a:latin typeface="+mn-lt"/>
                <a:ea typeface="+mn-lt"/>
                <a:cs typeface="+mn-lt"/>
              </a:defRPr>
            </a:lvl6pPr>
            <a:lvl7pPr marL="2743200" indent="0" algn="ctr">
              <a:lnSpc>
                <a:spcPct val="90000"/>
              </a:lnSpc>
              <a:spcBef>
                <a:spcPts val="500"/>
              </a:spcBef>
              <a:buNone/>
              <a:defRPr sz="1600">
                <a:solidFill>
                  <a:schemeClr val="tx1"/>
                </a:solidFill>
                <a:latin typeface="+mn-lt"/>
                <a:ea typeface="+mn-lt"/>
                <a:cs typeface="+mn-lt"/>
              </a:defRPr>
            </a:lvl7pPr>
            <a:lvl8pPr marL="3200400" indent="0" algn="ctr">
              <a:lnSpc>
                <a:spcPct val="90000"/>
              </a:lnSpc>
              <a:spcBef>
                <a:spcPts val="500"/>
              </a:spcBef>
              <a:buNone/>
              <a:defRPr sz="1600">
                <a:solidFill>
                  <a:schemeClr val="tx1"/>
                </a:solidFill>
                <a:latin typeface="+mn-lt"/>
                <a:ea typeface="+mn-lt"/>
                <a:cs typeface="+mn-lt"/>
              </a:defRPr>
            </a:lvl8pPr>
            <a:lvl9pPr marL="3657600" indent="0" algn="ctr">
              <a:lnSpc>
                <a:spcPct val="90000"/>
              </a:lnSpc>
              <a:spcBef>
                <a:spcPts val="500"/>
              </a:spcBef>
              <a:buNone/>
              <a:defRPr sz="1600">
                <a:solidFill>
                  <a:schemeClr val="tx1"/>
                </a:solidFill>
                <a:latin typeface="+mn-lt"/>
                <a:ea typeface="+mn-lt"/>
                <a:cs typeface="+mn-lt"/>
              </a:defRPr>
            </a:lvl9pPr>
          </a:lstStyle>
          <a:p>
            <a:pPr algn="l">
              <a:buNone/>
            </a:pPr>
            <a:endParaRPr/>
          </a:p>
        </p:txBody>
      </p:sp>
      <p:sp>
        <p:nvSpPr>
          <p:cNvPr id="13" name="Subtitle 2">
            <a:extLst>
              <a:ext uri="{FF2B5EF4-FFF2-40B4-BE49-F238E27FC236}">
                <a16:creationId xmlns:a16="http://schemas.microsoft.com/office/drawing/2014/main" id="{265B0414-1E04-19AB-89FC-B267F02CDFAF}"/>
              </a:ext>
            </a:extLst>
          </p:cNvPr>
          <p:cNvSpPr>
            <a:spLocks noGrp="1"/>
          </p:cNvSpPr>
          <p:nvPr/>
        </p:nvSpPr>
        <p:spPr>
          <a:xfrm>
            <a:off x="834852" y="4095900"/>
            <a:ext cx="5032775" cy="398632"/>
          </a:xfrm>
          <a:prstGeom prst="rect">
            <a:avLst/>
          </a:prstGeom>
        </p:spPr>
        <p:txBody>
          <a:bodyPr vert="horz" lIns="91440" tIns="45720" rIns="91440" bIns="45720">
            <a:normAutofit/>
          </a:bodyPr>
          <a:lstStyle>
            <a:lvl1pPr marL="0" indent="0" algn="ctr">
              <a:lnSpc>
                <a:spcPct val="90000"/>
              </a:lnSpc>
              <a:spcBef>
                <a:spcPts val="1000"/>
              </a:spcBef>
              <a:buNone/>
              <a:defRPr sz="2400">
                <a:solidFill>
                  <a:schemeClr val="tx1"/>
                </a:solidFill>
                <a:latin typeface="+mn-lt"/>
                <a:ea typeface="+mn-lt"/>
                <a:cs typeface="+mn-lt"/>
              </a:defRPr>
            </a:lvl1pPr>
            <a:lvl2pPr marL="457200" indent="0" algn="ctr">
              <a:lnSpc>
                <a:spcPct val="90000"/>
              </a:lnSpc>
              <a:spcBef>
                <a:spcPts val="500"/>
              </a:spcBef>
              <a:buNone/>
              <a:defRPr sz="2000">
                <a:solidFill>
                  <a:schemeClr val="tx1"/>
                </a:solidFill>
                <a:latin typeface="+mn-lt"/>
                <a:ea typeface="+mn-lt"/>
                <a:cs typeface="+mn-lt"/>
              </a:defRPr>
            </a:lvl2pPr>
            <a:lvl3pPr marL="914400" indent="0" algn="ctr">
              <a:lnSpc>
                <a:spcPct val="90000"/>
              </a:lnSpc>
              <a:spcBef>
                <a:spcPts val="500"/>
              </a:spcBef>
              <a:buNone/>
              <a:defRPr sz="1800">
                <a:solidFill>
                  <a:schemeClr val="tx1"/>
                </a:solidFill>
                <a:latin typeface="+mn-lt"/>
                <a:ea typeface="+mn-lt"/>
                <a:cs typeface="+mn-lt"/>
              </a:defRPr>
            </a:lvl3pPr>
            <a:lvl4pPr marL="1371600" indent="0" algn="ctr">
              <a:lnSpc>
                <a:spcPct val="90000"/>
              </a:lnSpc>
              <a:spcBef>
                <a:spcPts val="500"/>
              </a:spcBef>
              <a:buNone/>
              <a:defRPr sz="1600">
                <a:solidFill>
                  <a:schemeClr val="tx1"/>
                </a:solidFill>
                <a:latin typeface="+mn-lt"/>
                <a:ea typeface="+mn-lt"/>
                <a:cs typeface="+mn-lt"/>
              </a:defRPr>
            </a:lvl4pPr>
            <a:lvl5pPr marL="1828800" indent="0" algn="ctr">
              <a:lnSpc>
                <a:spcPct val="90000"/>
              </a:lnSpc>
              <a:spcBef>
                <a:spcPts val="500"/>
              </a:spcBef>
              <a:buNone/>
              <a:defRPr sz="1600">
                <a:solidFill>
                  <a:schemeClr val="tx1"/>
                </a:solidFill>
                <a:latin typeface="+mn-lt"/>
                <a:ea typeface="+mn-lt"/>
                <a:cs typeface="+mn-lt"/>
              </a:defRPr>
            </a:lvl5pPr>
            <a:lvl6pPr marL="2286000" indent="0" algn="ctr">
              <a:lnSpc>
                <a:spcPct val="90000"/>
              </a:lnSpc>
              <a:spcBef>
                <a:spcPts val="500"/>
              </a:spcBef>
              <a:buNone/>
              <a:defRPr sz="1600">
                <a:solidFill>
                  <a:schemeClr val="tx1"/>
                </a:solidFill>
                <a:latin typeface="+mn-lt"/>
                <a:ea typeface="+mn-lt"/>
                <a:cs typeface="+mn-lt"/>
              </a:defRPr>
            </a:lvl6pPr>
            <a:lvl7pPr marL="2743200" indent="0" algn="ctr">
              <a:lnSpc>
                <a:spcPct val="90000"/>
              </a:lnSpc>
              <a:spcBef>
                <a:spcPts val="500"/>
              </a:spcBef>
              <a:buNone/>
              <a:defRPr sz="1600">
                <a:solidFill>
                  <a:schemeClr val="tx1"/>
                </a:solidFill>
                <a:latin typeface="+mn-lt"/>
                <a:ea typeface="+mn-lt"/>
                <a:cs typeface="+mn-lt"/>
              </a:defRPr>
            </a:lvl7pPr>
            <a:lvl8pPr marL="3200400" indent="0" algn="ctr">
              <a:lnSpc>
                <a:spcPct val="90000"/>
              </a:lnSpc>
              <a:spcBef>
                <a:spcPts val="500"/>
              </a:spcBef>
              <a:buNone/>
              <a:defRPr sz="1600">
                <a:solidFill>
                  <a:schemeClr val="tx1"/>
                </a:solidFill>
                <a:latin typeface="+mn-lt"/>
                <a:ea typeface="+mn-lt"/>
                <a:cs typeface="+mn-lt"/>
              </a:defRPr>
            </a:lvl8pPr>
            <a:lvl9pPr marL="3657600" indent="0" algn="ctr">
              <a:lnSpc>
                <a:spcPct val="90000"/>
              </a:lnSpc>
              <a:spcBef>
                <a:spcPts val="500"/>
              </a:spcBef>
              <a:buNone/>
              <a:defRPr sz="1600">
                <a:solidFill>
                  <a:schemeClr val="tx1"/>
                </a:solidFill>
                <a:latin typeface="+mn-lt"/>
                <a:ea typeface="+mn-lt"/>
                <a:cs typeface="+mn-lt"/>
              </a:defRPr>
            </a:lvl9pPr>
          </a:lstStyle>
          <a:p>
            <a:pPr algn="l">
              <a:buNone/>
            </a:pPr>
            <a:r>
              <a:rPr sz="1800">
                <a:solidFill>
                  <a:schemeClr val="bg2">
                    <a:lumMod val="50000"/>
                  </a:schemeClr>
                </a:solidFill>
              </a:rPr>
              <a:t>Meitetsu Nagoya Station  |  Work Plan</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7" name="正方形/長方形 6">
            <a:extLst>
              <a:ext uri="{FF2B5EF4-FFF2-40B4-BE49-F238E27FC236}">
                <a16:creationId xmlns:a16="http://schemas.microsoft.com/office/drawing/2014/main" id="{844EDEF3-5F82-A47A-BCEE-E6EA44217C62}"/>
              </a:ext>
            </a:extLst>
          </p:cNvPr>
          <p:cNvSpPr>
            <a:spLocks noGrp="1"/>
          </p:cNvSpPr>
          <p:nvPr/>
        </p:nvSpPr>
        <p:spPr>
          <a:xfrm>
            <a:off x="0" y="1"/>
            <a:ext cx="12192000" cy="908719"/>
          </a:xfrm>
          <a:prstGeom prst="rect">
            <a:avLst/>
          </a:prstGeom>
          <a:solidFill>
            <a:schemeClr val="tx2"/>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 name="Title 1">
            <a:extLst>
              <a:ext uri="{FF2B5EF4-FFF2-40B4-BE49-F238E27FC236}">
                <a16:creationId xmlns:a16="http://schemas.microsoft.com/office/drawing/2014/main" id="{DA1E3CCA-3CE2-4EF4-BFE4-6B77DD98DA0A}"/>
              </a:ext>
            </a:extLst>
          </p:cNvPr>
          <p:cNvSpPr>
            <a:spLocks noGrp="1"/>
          </p:cNvSpPr>
          <p:nvPr>
            <p:ph type="title"/>
          </p:nvPr>
        </p:nvSpPr>
        <p:spPr>
          <a:xfrm>
            <a:off x="200345" y="1"/>
            <a:ext cx="10326470" cy="908719"/>
          </a:xfrm>
        </p:spPr>
        <p:txBody>
          <a:bodyPr/>
          <a:lstStyle>
            <a:lvl1pPr>
              <a:buNone/>
              <a:defRPr sz="2400">
                <a:solidFill>
                  <a:schemeClr val="bg1"/>
                </a:solidFill>
                <a:latin typeface="HGMinchoE"/>
                <a:ea typeface="HGMinchoE"/>
                <a:cs typeface="HGMinchoE"/>
              </a:defRPr>
            </a:lvl1pPr>
          </a:lstStyle>
          <a:p>
            <a:r>
              <a:t>マスター タイトルの書式設定</a:t>
            </a:r>
          </a:p>
        </p:txBody>
      </p:sp>
      <p:sp>
        <p:nvSpPr>
          <p:cNvPr id="3" name="Content Placeholder 2">
            <a:extLst>
              <a:ext uri="{FF2B5EF4-FFF2-40B4-BE49-F238E27FC236}">
                <a16:creationId xmlns:a16="http://schemas.microsoft.com/office/drawing/2014/main" id="{87D4FA2F-8A80-41C3-9F59-4C73C819572F}"/>
              </a:ext>
            </a:extLst>
          </p:cNvPr>
          <p:cNvSpPr>
            <a:spLocks noGrp="1"/>
          </p:cNvSpPr>
          <p:nvPr>
            <p:ph idx="1"/>
          </p:nvPr>
        </p:nvSpPr>
        <p:spPr>
          <a:xfrm>
            <a:off x="838200" y="1253331"/>
            <a:ext cx="10515600" cy="4351338"/>
          </a:xfrm>
        </p:spPr>
        <p:txBody>
          <a:body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4" name="Date Placeholder 3">
            <a:extLst>
              <a:ext uri="{FF2B5EF4-FFF2-40B4-BE49-F238E27FC236}">
                <a16:creationId xmlns:a16="http://schemas.microsoft.com/office/drawing/2014/main" id="{2EA041E9-C94D-4B63-BBAA-0B9F65B110DD}"/>
              </a:ext>
            </a:extLst>
          </p:cNvPr>
          <p:cNvSpPr>
            <a:spLocks noGrp="1"/>
          </p:cNvSpPr>
          <p:nvPr>
            <p:ph type="dt" idx="10"/>
          </p:nvPr>
        </p:nvSpPr>
        <p:spPr/>
        <p:txBody>
          <a:bodyPr/>
          <a:lstStyle/>
          <a:p>
            <a:r>
              <a:t>2026/7</a:t>
            </a:r>
          </a:p>
        </p:txBody>
      </p:sp>
      <p:sp>
        <p:nvSpPr>
          <p:cNvPr id="5" name="Footer Placeholder 4">
            <a:extLst>
              <a:ext uri="{FF2B5EF4-FFF2-40B4-BE49-F238E27FC236}">
                <a16:creationId xmlns:a16="http://schemas.microsoft.com/office/drawing/2014/main" id="{287330EF-AB4F-4F03-8F9C-0E6D2B9592BB}"/>
              </a:ext>
            </a:extLst>
          </p:cNvPr>
          <p:cNvSpPr>
            <a:spLocks noGrp="1"/>
          </p:cNvSpPr>
          <p:nvPr>
            <p:ph type="ftr" idx="11"/>
          </p:nvPr>
        </p:nvSpPr>
        <p:spPr/>
        <p:txBody>
          <a:bodyPr/>
          <a:lstStyle/>
          <a:p>
            <a:r>
              <a:t>関本・中居研究室</a:t>
            </a:r>
          </a:p>
        </p:txBody>
      </p:sp>
      <p:sp>
        <p:nvSpPr>
          <p:cNvPr id="6" name="Slide Number Placeholder 5">
            <a:extLst>
              <a:ext uri="{FF2B5EF4-FFF2-40B4-BE49-F238E27FC236}">
                <a16:creationId xmlns:a16="http://schemas.microsoft.com/office/drawing/2014/main" id="{0BBF9B4E-8BDC-4E75-AAE6-DAE6C9DC1777}"/>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AAF7F3-377B-475B-91B7-063425BBE96D}"/>
              </a:ext>
            </a:extLst>
          </p:cNvPr>
          <p:cNvSpPr>
            <a:spLocks noGrp="1"/>
          </p:cNvSpPr>
          <p:nvPr>
            <p:ph type="title"/>
          </p:nvPr>
        </p:nvSpPr>
        <p:spPr>
          <a:xfrm>
            <a:off x="831850" y="1709738"/>
            <a:ext cx="10515600" cy="2852737"/>
          </a:xfrm>
        </p:spPr>
        <p:txBody>
          <a:bodyPr anchor="b"/>
          <a:lstStyle>
            <a:lvl1pPr>
              <a:buNone/>
              <a:defRPr sz="6000"/>
            </a:lvl1pPr>
          </a:lstStyle>
          <a:p>
            <a:r>
              <a:t>マスター タイトルの書式設定</a:t>
            </a:r>
          </a:p>
        </p:txBody>
      </p:sp>
      <p:sp>
        <p:nvSpPr>
          <p:cNvPr id="3" name="Text Placeholder 2">
            <a:extLst>
              <a:ext uri="{FF2B5EF4-FFF2-40B4-BE49-F238E27FC236}">
                <a16:creationId xmlns:a16="http://schemas.microsoft.com/office/drawing/2014/main" id="{50E73A06-3141-48B6-A85B-CB93002ABA8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a:buNone/>
            </a:pPr>
            <a:r>
              <a:t>マスター テキストの書式設定</a:t>
            </a:r>
          </a:p>
        </p:txBody>
      </p:sp>
      <p:sp>
        <p:nvSpPr>
          <p:cNvPr id="4" name="Date Placeholder 3">
            <a:extLst>
              <a:ext uri="{FF2B5EF4-FFF2-40B4-BE49-F238E27FC236}">
                <a16:creationId xmlns:a16="http://schemas.microsoft.com/office/drawing/2014/main" id="{B9F7F693-4881-4542-A0CE-9AA9D053ABE3}"/>
              </a:ext>
            </a:extLst>
          </p:cNvPr>
          <p:cNvSpPr>
            <a:spLocks noGrp="1"/>
          </p:cNvSpPr>
          <p:nvPr>
            <p:ph type="dt" idx="10"/>
          </p:nvPr>
        </p:nvSpPr>
        <p:spPr/>
        <p:txBody>
          <a:bodyPr/>
          <a:lstStyle/>
          <a:p>
            <a:r>
              <a:t>2026/7</a:t>
            </a:r>
          </a:p>
        </p:txBody>
      </p:sp>
      <p:sp>
        <p:nvSpPr>
          <p:cNvPr id="5" name="Footer Placeholder 4">
            <a:extLst>
              <a:ext uri="{FF2B5EF4-FFF2-40B4-BE49-F238E27FC236}">
                <a16:creationId xmlns:a16="http://schemas.microsoft.com/office/drawing/2014/main" id="{1DC2734C-C497-44EF-90F6-46E8EFB4883F}"/>
              </a:ext>
            </a:extLst>
          </p:cNvPr>
          <p:cNvSpPr>
            <a:spLocks noGrp="1"/>
          </p:cNvSpPr>
          <p:nvPr>
            <p:ph type="ftr" idx="11"/>
          </p:nvPr>
        </p:nvSpPr>
        <p:spPr/>
        <p:txBody>
          <a:bodyPr/>
          <a:lstStyle/>
          <a:p>
            <a:r>
              <a:t>関本・中居研究室</a:t>
            </a:r>
          </a:p>
        </p:txBody>
      </p:sp>
      <p:sp>
        <p:nvSpPr>
          <p:cNvPr id="6" name="Slide Number Placeholder 5">
            <a:extLst>
              <a:ext uri="{FF2B5EF4-FFF2-40B4-BE49-F238E27FC236}">
                <a16:creationId xmlns:a16="http://schemas.microsoft.com/office/drawing/2014/main" id="{BEEC4A9B-F0E6-4FD5-9339-90855013E2C1}"/>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D06F6E-3655-4748-A453-8930F3D83902}"/>
              </a:ext>
            </a:extLst>
          </p:cNvPr>
          <p:cNvSpPr>
            <a:spLocks noGrp="1"/>
          </p:cNvSpPr>
          <p:nvPr>
            <p:ph type="title"/>
          </p:nvPr>
        </p:nvSpPr>
        <p:spPr/>
        <p:txBody>
          <a:bodyPr/>
          <a:lstStyle/>
          <a:p>
            <a:r>
              <a:t>マスター タイトルの書式設定</a:t>
            </a:r>
          </a:p>
        </p:txBody>
      </p:sp>
      <p:sp>
        <p:nvSpPr>
          <p:cNvPr id="3" name="Content Placeholder 2">
            <a:extLst>
              <a:ext uri="{FF2B5EF4-FFF2-40B4-BE49-F238E27FC236}">
                <a16:creationId xmlns:a16="http://schemas.microsoft.com/office/drawing/2014/main" id="{BB727C32-D46B-4D07-AB2D-8DF1F1D41285}"/>
              </a:ext>
            </a:extLst>
          </p:cNvPr>
          <p:cNvSpPr>
            <a:spLocks noGrp="1"/>
          </p:cNvSpPr>
          <p:nvPr>
            <p:ph idx="1"/>
          </p:nvPr>
        </p:nvSpPr>
        <p:spPr>
          <a:xfrm>
            <a:off x="838200" y="1825625"/>
            <a:ext cx="5181600" cy="4351338"/>
          </a:xfrm>
        </p:spPr>
        <p:txBody>
          <a:body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4" name="Content Placeholder 3">
            <a:extLst>
              <a:ext uri="{FF2B5EF4-FFF2-40B4-BE49-F238E27FC236}">
                <a16:creationId xmlns:a16="http://schemas.microsoft.com/office/drawing/2014/main" id="{6EF9CCD7-C78B-4429-A230-3159A6EC020B}"/>
              </a:ext>
            </a:extLst>
          </p:cNvPr>
          <p:cNvSpPr>
            <a:spLocks noGrp="1"/>
          </p:cNvSpPr>
          <p:nvPr>
            <p:ph idx="2"/>
          </p:nvPr>
        </p:nvSpPr>
        <p:spPr>
          <a:xfrm>
            <a:off x="6172200" y="1825625"/>
            <a:ext cx="5181600" cy="4351338"/>
          </a:xfrm>
        </p:spPr>
        <p:txBody>
          <a:body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5" name="Date Placeholder 4">
            <a:extLst>
              <a:ext uri="{FF2B5EF4-FFF2-40B4-BE49-F238E27FC236}">
                <a16:creationId xmlns:a16="http://schemas.microsoft.com/office/drawing/2014/main" id="{36B516ED-1404-4EF0-82FE-5106E9919356}"/>
              </a:ext>
            </a:extLst>
          </p:cNvPr>
          <p:cNvSpPr>
            <a:spLocks noGrp="1"/>
          </p:cNvSpPr>
          <p:nvPr>
            <p:ph type="dt" idx="10"/>
          </p:nvPr>
        </p:nvSpPr>
        <p:spPr/>
        <p:txBody>
          <a:bodyPr/>
          <a:lstStyle/>
          <a:p>
            <a:r>
              <a:t>2026/7</a:t>
            </a:r>
          </a:p>
        </p:txBody>
      </p:sp>
      <p:sp>
        <p:nvSpPr>
          <p:cNvPr id="6" name="Footer Placeholder 5">
            <a:extLst>
              <a:ext uri="{FF2B5EF4-FFF2-40B4-BE49-F238E27FC236}">
                <a16:creationId xmlns:a16="http://schemas.microsoft.com/office/drawing/2014/main" id="{4F52E344-6EEF-402F-9845-3676F7F61512}"/>
              </a:ext>
            </a:extLst>
          </p:cNvPr>
          <p:cNvSpPr>
            <a:spLocks noGrp="1"/>
          </p:cNvSpPr>
          <p:nvPr>
            <p:ph type="ftr" idx="11"/>
          </p:nvPr>
        </p:nvSpPr>
        <p:spPr/>
        <p:txBody>
          <a:bodyPr/>
          <a:lstStyle/>
          <a:p>
            <a:r>
              <a:t>関本・中居研究室</a:t>
            </a:r>
          </a:p>
        </p:txBody>
      </p:sp>
      <p:sp>
        <p:nvSpPr>
          <p:cNvPr id="7" name="Slide Number Placeholder 6">
            <a:extLst>
              <a:ext uri="{FF2B5EF4-FFF2-40B4-BE49-F238E27FC236}">
                <a16:creationId xmlns:a16="http://schemas.microsoft.com/office/drawing/2014/main" id="{29EFDA9F-D047-42EA-814B-EDC23052F2F2}"/>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503DD0-E642-476B-872F-E09CB857DC7C}"/>
              </a:ext>
            </a:extLst>
          </p:cNvPr>
          <p:cNvSpPr>
            <a:spLocks noGrp="1"/>
          </p:cNvSpPr>
          <p:nvPr>
            <p:ph type="title"/>
          </p:nvPr>
        </p:nvSpPr>
        <p:spPr>
          <a:xfrm>
            <a:off x="839788" y="365125"/>
            <a:ext cx="10515600" cy="1325563"/>
          </a:xfrm>
        </p:spPr>
        <p:txBody>
          <a:bodyPr/>
          <a:lstStyle/>
          <a:p>
            <a:r>
              <a:t>マスター タイトルの書式設定</a:t>
            </a:r>
          </a:p>
        </p:txBody>
      </p:sp>
      <p:sp>
        <p:nvSpPr>
          <p:cNvPr id="3" name="Text Placeholder 2">
            <a:extLst>
              <a:ext uri="{FF2B5EF4-FFF2-40B4-BE49-F238E27FC236}">
                <a16:creationId xmlns:a16="http://schemas.microsoft.com/office/drawing/2014/main" id="{2891B65A-99A7-4EA1-A222-682E206514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マスター テキストの書式設定</a:t>
            </a:r>
          </a:p>
        </p:txBody>
      </p:sp>
      <p:sp>
        <p:nvSpPr>
          <p:cNvPr id="4" name="Content Placeholder 3">
            <a:extLst>
              <a:ext uri="{FF2B5EF4-FFF2-40B4-BE49-F238E27FC236}">
                <a16:creationId xmlns:a16="http://schemas.microsoft.com/office/drawing/2014/main" id="{5D47DDF4-4110-4513-9553-9FDC19587D10}"/>
              </a:ext>
            </a:extLst>
          </p:cNvPr>
          <p:cNvSpPr>
            <a:spLocks noGrp="1"/>
          </p:cNvSpPr>
          <p:nvPr>
            <p:ph idx="2"/>
          </p:nvPr>
        </p:nvSpPr>
        <p:spPr>
          <a:xfrm>
            <a:off x="839788" y="2505075"/>
            <a:ext cx="5157787" cy="3684588"/>
          </a:xfrm>
        </p:spPr>
        <p:txBody>
          <a:body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5" name="Text Placeholder 4">
            <a:extLst>
              <a:ext uri="{FF2B5EF4-FFF2-40B4-BE49-F238E27FC236}">
                <a16:creationId xmlns:a16="http://schemas.microsoft.com/office/drawing/2014/main" id="{7668D606-2281-43EA-9BAD-4161F6D2D61E}"/>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a:buNone/>
            </a:pPr>
            <a:r>
              <a:t>マスター テキストの書式設定</a:t>
            </a:r>
          </a:p>
        </p:txBody>
      </p:sp>
      <p:sp>
        <p:nvSpPr>
          <p:cNvPr id="6" name="Content Placeholder 5">
            <a:extLst>
              <a:ext uri="{FF2B5EF4-FFF2-40B4-BE49-F238E27FC236}">
                <a16:creationId xmlns:a16="http://schemas.microsoft.com/office/drawing/2014/main" id="{9C202E1D-D386-4F1E-B6BD-2E2449666C77}"/>
              </a:ext>
            </a:extLst>
          </p:cNvPr>
          <p:cNvSpPr>
            <a:spLocks noGrp="1"/>
          </p:cNvSpPr>
          <p:nvPr>
            <p:ph idx="4"/>
          </p:nvPr>
        </p:nvSpPr>
        <p:spPr>
          <a:xfrm>
            <a:off x="6172200" y="2505075"/>
            <a:ext cx="5183188" cy="3684588"/>
          </a:xfrm>
        </p:spPr>
        <p:txBody>
          <a:body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7" name="Date Placeholder 6">
            <a:extLst>
              <a:ext uri="{FF2B5EF4-FFF2-40B4-BE49-F238E27FC236}">
                <a16:creationId xmlns:a16="http://schemas.microsoft.com/office/drawing/2014/main" id="{FB90A48D-D04A-4857-A71D-A3D0C1B1600E}"/>
              </a:ext>
            </a:extLst>
          </p:cNvPr>
          <p:cNvSpPr>
            <a:spLocks noGrp="1"/>
          </p:cNvSpPr>
          <p:nvPr>
            <p:ph type="dt" idx="10"/>
          </p:nvPr>
        </p:nvSpPr>
        <p:spPr/>
        <p:txBody>
          <a:bodyPr/>
          <a:lstStyle/>
          <a:p>
            <a:r>
              <a:t>2026/7</a:t>
            </a:r>
          </a:p>
        </p:txBody>
      </p:sp>
      <p:sp>
        <p:nvSpPr>
          <p:cNvPr id="8" name="Footer Placeholder 7">
            <a:extLst>
              <a:ext uri="{FF2B5EF4-FFF2-40B4-BE49-F238E27FC236}">
                <a16:creationId xmlns:a16="http://schemas.microsoft.com/office/drawing/2014/main" id="{BD6249F3-4443-45E3-A8C2-0290F8208D4B}"/>
              </a:ext>
            </a:extLst>
          </p:cNvPr>
          <p:cNvSpPr>
            <a:spLocks noGrp="1"/>
          </p:cNvSpPr>
          <p:nvPr>
            <p:ph type="ftr" idx="11"/>
          </p:nvPr>
        </p:nvSpPr>
        <p:spPr/>
        <p:txBody>
          <a:bodyPr/>
          <a:lstStyle/>
          <a:p>
            <a:r>
              <a:t>関本・中居研究室</a:t>
            </a:r>
          </a:p>
        </p:txBody>
      </p:sp>
      <p:sp>
        <p:nvSpPr>
          <p:cNvPr id="9" name="Slide Number Placeholder 8">
            <a:extLst>
              <a:ext uri="{FF2B5EF4-FFF2-40B4-BE49-F238E27FC236}">
                <a16:creationId xmlns:a16="http://schemas.microsoft.com/office/drawing/2014/main" id="{82BA9647-FFBF-4123-955A-CBA4F7BFD5EC}"/>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8322B-481D-47DA-B7D6-0BDD07D77BF5}"/>
              </a:ext>
            </a:extLst>
          </p:cNvPr>
          <p:cNvSpPr>
            <a:spLocks noGrp="1"/>
          </p:cNvSpPr>
          <p:nvPr>
            <p:ph type="title"/>
          </p:nvPr>
        </p:nvSpPr>
        <p:spPr/>
        <p:txBody>
          <a:bodyPr/>
          <a:lstStyle/>
          <a:p>
            <a:r>
              <a:t>マスター タイトルの書式設定</a:t>
            </a:r>
          </a:p>
        </p:txBody>
      </p:sp>
      <p:sp>
        <p:nvSpPr>
          <p:cNvPr id="3" name="Date Placeholder 2">
            <a:extLst>
              <a:ext uri="{FF2B5EF4-FFF2-40B4-BE49-F238E27FC236}">
                <a16:creationId xmlns:a16="http://schemas.microsoft.com/office/drawing/2014/main" id="{1854686E-548C-416B-B0B5-081AF327D575}"/>
              </a:ext>
            </a:extLst>
          </p:cNvPr>
          <p:cNvSpPr>
            <a:spLocks noGrp="1"/>
          </p:cNvSpPr>
          <p:nvPr>
            <p:ph type="dt" idx="10"/>
          </p:nvPr>
        </p:nvSpPr>
        <p:spPr/>
        <p:txBody>
          <a:bodyPr/>
          <a:lstStyle/>
          <a:p>
            <a:r>
              <a:t>2026/7</a:t>
            </a:r>
          </a:p>
        </p:txBody>
      </p:sp>
      <p:sp>
        <p:nvSpPr>
          <p:cNvPr id="4" name="Footer Placeholder 3">
            <a:extLst>
              <a:ext uri="{FF2B5EF4-FFF2-40B4-BE49-F238E27FC236}">
                <a16:creationId xmlns:a16="http://schemas.microsoft.com/office/drawing/2014/main" id="{46931CEE-0658-466D-AF43-DAAB564DD98E}"/>
              </a:ext>
            </a:extLst>
          </p:cNvPr>
          <p:cNvSpPr>
            <a:spLocks noGrp="1"/>
          </p:cNvSpPr>
          <p:nvPr>
            <p:ph type="ftr" idx="11"/>
          </p:nvPr>
        </p:nvSpPr>
        <p:spPr/>
        <p:txBody>
          <a:bodyPr/>
          <a:lstStyle/>
          <a:p>
            <a:r>
              <a:t>関本・中居研究室</a:t>
            </a:r>
          </a:p>
        </p:txBody>
      </p:sp>
      <p:sp>
        <p:nvSpPr>
          <p:cNvPr id="5" name="Slide Number Placeholder 4">
            <a:extLst>
              <a:ext uri="{FF2B5EF4-FFF2-40B4-BE49-F238E27FC236}">
                <a16:creationId xmlns:a16="http://schemas.microsoft.com/office/drawing/2014/main" id="{41945100-E454-435E-8219-2C3DAC4D2D85}"/>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66623E9-4E44-413B-955F-3E0FF9C2B6DB}"/>
              </a:ext>
            </a:extLst>
          </p:cNvPr>
          <p:cNvSpPr>
            <a:spLocks noGrp="1"/>
          </p:cNvSpPr>
          <p:nvPr>
            <p:ph type="dt" idx="10"/>
          </p:nvPr>
        </p:nvSpPr>
        <p:spPr/>
        <p:txBody>
          <a:bodyPr/>
          <a:lstStyle/>
          <a:p>
            <a:r>
              <a:t>2026/7</a:t>
            </a:r>
          </a:p>
        </p:txBody>
      </p:sp>
      <p:sp>
        <p:nvSpPr>
          <p:cNvPr id="3" name="Footer Placeholder 2">
            <a:extLst>
              <a:ext uri="{FF2B5EF4-FFF2-40B4-BE49-F238E27FC236}">
                <a16:creationId xmlns:a16="http://schemas.microsoft.com/office/drawing/2014/main" id="{102589D5-2DBD-4E83-9876-681024BF0598}"/>
              </a:ext>
            </a:extLst>
          </p:cNvPr>
          <p:cNvSpPr>
            <a:spLocks noGrp="1"/>
          </p:cNvSpPr>
          <p:nvPr>
            <p:ph type="ftr" idx="11"/>
          </p:nvPr>
        </p:nvSpPr>
        <p:spPr/>
        <p:txBody>
          <a:bodyPr/>
          <a:lstStyle/>
          <a:p>
            <a:r>
              <a:t>関本・中居研究室</a:t>
            </a:r>
          </a:p>
        </p:txBody>
      </p:sp>
      <p:sp>
        <p:nvSpPr>
          <p:cNvPr id="4" name="Slide Number Placeholder 3">
            <a:extLst>
              <a:ext uri="{FF2B5EF4-FFF2-40B4-BE49-F238E27FC236}">
                <a16:creationId xmlns:a16="http://schemas.microsoft.com/office/drawing/2014/main" id="{90810C24-2CB2-4AC5-B789-140AF074A213}"/>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E106B6-EA1E-4BA2-BE52-8C6AB9518569}"/>
              </a:ext>
            </a:extLst>
          </p:cNvPr>
          <p:cNvSpPr>
            <a:spLocks noGrp="1"/>
          </p:cNvSpPr>
          <p:nvPr>
            <p:ph type="title"/>
          </p:nvPr>
        </p:nvSpPr>
        <p:spPr>
          <a:xfrm>
            <a:off x="839788" y="457200"/>
            <a:ext cx="3932237" cy="1600200"/>
          </a:xfrm>
        </p:spPr>
        <p:txBody>
          <a:bodyPr anchor="b"/>
          <a:lstStyle>
            <a:lvl1pPr>
              <a:buNone/>
              <a:defRPr sz="3200"/>
            </a:lvl1pPr>
          </a:lstStyle>
          <a:p>
            <a:r>
              <a:t>マスター タイトルの書式設定</a:t>
            </a:r>
          </a:p>
        </p:txBody>
      </p:sp>
      <p:sp>
        <p:nvSpPr>
          <p:cNvPr id="3" name="Content Placeholder 2">
            <a:extLst>
              <a:ext uri="{FF2B5EF4-FFF2-40B4-BE49-F238E27FC236}">
                <a16:creationId xmlns:a16="http://schemas.microsoft.com/office/drawing/2014/main" id="{88A979AE-5C53-431A-B6E7-9B54FC1ED04D}"/>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4" name="Text Placeholder 3">
            <a:extLst>
              <a:ext uri="{FF2B5EF4-FFF2-40B4-BE49-F238E27FC236}">
                <a16:creationId xmlns:a16="http://schemas.microsoft.com/office/drawing/2014/main" id="{5FF83870-6770-45DD-864D-F017A14734E7}"/>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マスター テキストの書式設定</a:t>
            </a:r>
          </a:p>
        </p:txBody>
      </p:sp>
      <p:sp>
        <p:nvSpPr>
          <p:cNvPr id="5" name="Date Placeholder 4">
            <a:extLst>
              <a:ext uri="{FF2B5EF4-FFF2-40B4-BE49-F238E27FC236}">
                <a16:creationId xmlns:a16="http://schemas.microsoft.com/office/drawing/2014/main" id="{99EC0FA4-175F-437E-9E81-CCDACEF0D6D2}"/>
              </a:ext>
            </a:extLst>
          </p:cNvPr>
          <p:cNvSpPr>
            <a:spLocks noGrp="1"/>
          </p:cNvSpPr>
          <p:nvPr>
            <p:ph type="dt" idx="10"/>
          </p:nvPr>
        </p:nvSpPr>
        <p:spPr/>
        <p:txBody>
          <a:bodyPr/>
          <a:lstStyle/>
          <a:p>
            <a:r>
              <a:t>2026/7</a:t>
            </a:r>
          </a:p>
        </p:txBody>
      </p:sp>
      <p:sp>
        <p:nvSpPr>
          <p:cNvPr id="6" name="Footer Placeholder 5">
            <a:extLst>
              <a:ext uri="{FF2B5EF4-FFF2-40B4-BE49-F238E27FC236}">
                <a16:creationId xmlns:a16="http://schemas.microsoft.com/office/drawing/2014/main" id="{114EACAE-EE30-431E-9CE0-DAA6DA536777}"/>
              </a:ext>
            </a:extLst>
          </p:cNvPr>
          <p:cNvSpPr>
            <a:spLocks noGrp="1"/>
          </p:cNvSpPr>
          <p:nvPr>
            <p:ph type="ftr" idx="11"/>
          </p:nvPr>
        </p:nvSpPr>
        <p:spPr/>
        <p:txBody>
          <a:bodyPr/>
          <a:lstStyle/>
          <a:p>
            <a:r>
              <a:t>関本・中居研究室</a:t>
            </a:r>
          </a:p>
        </p:txBody>
      </p:sp>
      <p:sp>
        <p:nvSpPr>
          <p:cNvPr id="7" name="Slide Number Placeholder 6">
            <a:extLst>
              <a:ext uri="{FF2B5EF4-FFF2-40B4-BE49-F238E27FC236}">
                <a16:creationId xmlns:a16="http://schemas.microsoft.com/office/drawing/2014/main" id="{349AB41A-647F-496C-A49D-E23B2DED7CC5}"/>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04244B-E99F-4AC2-B099-9682354B432A}"/>
              </a:ext>
            </a:extLst>
          </p:cNvPr>
          <p:cNvSpPr>
            <a:spLocks noGrp="1"/>
          </p:cNvSpPr>
          <p:nvPr>
            <p:ph type="title"/>
          </p:nvPr>
        </p:nvSpPr>
        <p:spPr>
          <a:xfrm>
            <a:off x="839788" y="457200"/>
            <a:ext cx="3932237" cy="1600200"/>
          </a:xfrm>
        </p:spPr>
        <p:txBody>
          <a:bodyPr anchor="b"/>
          <a:lstStyle>
            <a:lvl1pPr>
              <a:buNone/>
              <a:defRPr sz="3200"/>
            </a:lvl1pPr>
          </a:lstStyle>
          <a:p>
            <a:r>
              <a:t>マスター タイトルの書式設定</a:t>
            </a:r>
          </a:p>
        </p:txBody>
      </p:sp>
      <p:sp>
        <p:nvSpPr>
          <p:cNvPr id="3" name="Picture Placeholder 2">
            <a:extLst>
              <a:ext uri="{FF2B5EF4-FFF2-40B4-BE49-F238E27FC236}">
                <a16:creationId xmlns:a16="http://schemas.microsoft.com/office/drawing/2014/main" id="{963A81B6-6650-43EB-BB80-C375C62C2914}"/>
              </a:ext>
            </a:extLst>
          </p:cNvPr>
          <p:cNvSpPr>
            <a:spLocks noGrp="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t>アイコンをクリックして図を追加</a:t>
            </a:r>
          </a:p>
        </p:txBody>
      </p:sp>
      <p:sp>
        <p:nvSpPr>
          <p:cNvPr id="4" name="Text Placeholder 3">
            <a:extLst>
              <a:ext uri="{FF2B5EF4-FFF2-40B4-BE49-F238E27FC236}">
                <a16:creationId xmlns:a16="http://schemas.microsoft.com/office/drawing/2014/main" id="{EAC36610-C1E4-49AF-9BFC-6D4157EAC104}"/>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a:buNone/>
            </a:pPr>
            <a:r>
              <a:t>マスター テキストの書式設定</a:t>
            </a:r>
          </a:p>
        </p:txBody>
      </p:sp>
      <p:sp>
        <p:nvSpPr>
          <p:cNvPr id="5" name="Date Placeholder 4">
            <a:extLst>
              <a:ext uri="{FF2B5EF4-FFF2-40B4-BE49-F238E27FC236}">
                <a16:creationId xmlns:a16="http://schemas.microsoft.com/office/drawing/2014/main" id="{97F4E133-A85B-4961-9121-704167E5B808}"/>
              </a:ext>
            </a:extLst>
          </p:cNvPr>
          <p:cNvSpPr>
            <a:spLocks noGrp="1"/>
          </p:cNvSpPr>
          <p:nvPr>
            <p:ph type="dt" idx="10"/>
          </p:nvPr>
        </p:nvSpPr>
        <p:spPr/>
        <p:txBody>
          <a:bodyPr/>
          <a:lstStyle/>
          <a:p>
            <a:r>
              <a:t>2026/7</a:t>
            </a:r>
          </a:p>
        </p:txBody>
      </p:sp>
      <p:sp>
        <p:nvSpPr>
          <p:cNvPr id="6" name="Footer Placeholder 5">
            <a:extLst>
              <a:ext uri="{FF2B5EF4-FFF2-40B4-BE49-F238E27FC236}">
                <a16:creationId xmlns:a16="http://schemas.microsoft.com/office/drawing/2014/main" id="{7D5D966E-55B1-4A84-B9BF-9AEB608FD361}"/>
              </a:ext>
            </a:extLst>
          </p:cNvPr>
          <p:cNvSpPr>
            <a:spLocks noGrp="1"/>
          </p:cNvSpPr>
          <p:nvPr>
            <p:ph type="ftr" idx="11"/>
          </p:nvPr>
        </p:nvSpPr>
        <p:spPr/>
        <p:txBody>
          <a:bodyPr/>
          <a:lstStyle/>
          <a:p>
            <a:r>
              <a:t>関本・中居研究室</a:t>
            </a:r>
          </a:p>
        </p:txBody>
      </p:sp>
      <p:sp>
        <p:nvSpPr>
          <p:cNvPr id="7" name="Slide Number Placeholder 6">
            <a:extLst>
              <a:ext uri="{FF2B5EF4-FFF2-40B4-BE49-F238E27FC236}">
                <a16:creationId xmlns:a16="http://schemas.microsoft.com/office/drawing/2014/main" id="{E22389C8-A8EB-43B6-8B92-8E02CC63EE52}"/>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301D9-F485-45CE-87D1-876B7795C8F0}"/>
              </a:ext>
            </a:extLst>
          </p:cNvPr>
          <p:cNvSpPr>
            <a:spLocks noGrp="1"/>
          </p:cNvSpPr>
          <p:nvPr>
            <p:ph type="title"/>
          </p:nvPr>
        </p:nvSpPr>
        <p:spPr/>
        <p:txBody>
          <a:bodyPr/>
          <a:lstStyle/>
          <a:p>
            <a:r>
              <a:t>マスター タイトルの書式設定</a:t>
            </a:r>
          </a:p>
        </p:txBody>
      </p:sp>
      <p:sp>
        <p:nvSpPr>
          <p:cNvPr id="3" name="Vertical Text Placeholder 2">
            <a:extLst>
              <a:ext uri="{FF2B5EF4-FFF2-40B4-BE49-F238E27FC236}">
                <a16:creationId xmlns:a16="http://schemas.microsoft.com/office/drawing/2014/main" id="{02254D58-BE4F-493D-98C5-10197B975F6B}"/>
              </a:ext>
            </a:extLst>
          </p:cNvPr>
          <p:cNvSpPr>
            <a:spLocks noGrp="1"/>
          </p:cNvSpPr>
          <p:nvPr>
            <p:ph type="body" idx="1"/>
          </p:nvPr>
        </p:nvSpPr>
        <p:spPr/>
        <p:txBody>
          <a:bodyPr vert="eaVert"/>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4" name="Date Placeholder 3">
            <a:extLst>
              <a:ext uri="{FF2B5EF4-FFF2-40B4-BE49-F238E27FC236}">
                <a16:creationId xmlns:a16="http://schemas.microsoft.com/office/drawing/2014/main" id="{CB62F91B-685F-4019-B664-2D6F8918AEF8}"/>
              </a:ext>
            </a:extLst>
          </p:cNvPr>
          <p:cNvSpPr>
            <a:spLocks noGrp="1"/>
          </p:cNvSpPr>
          <p:nvPr>
            <p:ph type="dt" idx="10"/>
          </p:nvPr>
        </p:nvSpPr>
        <p:spPr/>
        <p:txBody>
          <a:bodyPr/>
          <a:lstStyle/>
          <a:p>
            <a:r>
              <a:t>2026/7</a:t>
            </a:r>
          </a:p>
        </p:txBody>
      </p:sp>
      <p:sp>
        <p:nvSpPr>
          <p:cNvPr id="5" name="Footer Placeholder 4">
            <a:extLst>
              <a:ext uri="{FF2B5EF4-FFF2-40B4-BE49-F238E27FC236}">
                <a16:creationId xmlns:a16="http://schemas.microsoft.com/office/drawing/2014/main" id="{B30F2381-605F-4E62-B860-7CAE72BEB046}"/>
              </a:ext>
            </a:extLst>
          </p:cNvPr>
          <p:cNvSpPr>
            <a:spLocks noGrp="1"/>
          </p:cNvSpPr>
          <p:nvPr>
            <p:ph type="ftr" idx="11"/>
          </p:nvPr>
        </p:nvSpPr>
        <p:spPr/>
        <p:txBody>
          <a:bodyPr/>
          <a:lstStyle/>
          <a:p>
            <a:r>
              <a:t>関本・中居研究室</a:t>
            </a:r>
          </a:p>
        </p:txBody>
      </p:sp>
      <p:sp>
        <p:nvSpPr>
          <p:cNvPr id="6" name="Slide Number Placeholder 5">
            <a:extLst>
              <a:ext uri="{FF2B5EF4-FFF2-40B4-BE49-F238E27FC236}">
                <a16:creationId xmlns:a16="http://schemas.microsoft.com/office/drawing/2014/main" id="{4F32440B-13F8-43EB-B94E-B46B4E3D4884}"/>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066B44E-FEE5-48D1-B2FB-9E0E6BDB4298}"/>
              </a:ext>
            </a:extLst>
          </p:cNvPr>
          <p:cNvSpPr>
            <a:spLocks noGrp="1"/>
          </p:cNvSpPr>
          <p:nvPr>
            <p:ph type="title"/>
          </p:nvPr>
        </p:nvSpPr>
        <p:spPr>
          <a:xfrm>
            <a:off x="8724900" y="365125"/>
            <a:ext cx="2628900" cy="5811838"/>
          </a:xfrm>
        </p:spPr>
        <p:txBody>
          <a:bodyPr vert="eaVert"/>
          <a:lstStyle/>
          <a:p>
            <a:r>
              <a:t>マスター タイトルの書式設定</a:t>
            </a:r>
          </a:p>
        </p:txBody>
      </p:sp>
      <p:sp>
        <p:nvSpPr>
          <p:cNvPr id="3" name="Vertical Text Placeholder 2">
            <a:extLst>
              <a:ext uri="{FF2B5EF4-FFF2-40B4-BE49-F238E27FC236}">
                <a16:creationId xmlns:a16="http://schemas.microsoft.com/office/drawing/2014/main" id="{A64556AC-3DA3-4710-B807-44BA00E3A34D}"/>
              </a:ext>
            </a:extLst>
          </p:cNvPr>
          <p:cNvSpPr>
            <a:spLocks noGrp="1"/>
          </p:cNvSpPr>
          <p:nvPr>
            <p:ph type="body" idx="1"/>
          </p:nvPr>
        </p:nvSpPr>
        <p:spPr>
          <a:xfrm>
            <a:off x="838200" y="365125"/>
            <a:ext cx="7734300" cy="5811838"/>
          </a:xfrm>
        </p:spPr>
        <p:txBody>
          <a:bodyPr vert="eaVert"/>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4" name="Date Placeholder 3">
            <a:extLst>
              <a:ext uri="{FF2B5EF4-FFF2-40B4-BE49-F238E27FC236}">
                <a16:creationId xmlns:a16="http://schemas.microsoft.com/office/drawing/2014/main" id="{E4CB5CF4-76FC-4853-92D8-F85E32F658F6}"/>
              </a:ext>
            </a:extLst>
          </p:cNvPr>
          <p:cNvSpPr>
            <a:spLocks noGrp="1"/>
          </p:cNvSpPr>
          <p:nvPr>
            <p:ph type="dt" idx="10"/>
          </p:nvPr>
        </p:nvSpPr>
        <p:spPr/>
        <p:txBody>
          <a:bodyPr/>
          <a:lstStyle/>
          <a:p>
            <a:r>
              <a:t>2026/7</a:t>
            </a:r>
          </a:p>
        </p:txBody>
      </p:sp>
      <p:sp>
        <p:nvSpPr>
          <p:cNvPr id="5" name="Footer Placeholder 4">
            <a:extLst>
              <a:ext uri="{FF2B5EF4-FFF2-40B4-BE49-F238E27FC236}">
                <a16:creationId xmlns:a16="http://schemas.microsoft.com/office/drawing/2014/main" id="{FDE59F42-5E58-4864-AEE7-FC380CBB6596}"/>
              </a:ext>
            </a:extLst>
          </p:cNvPr>
          <p:cNvSpPr>
            <a:spLocks noGrp="1"/>
          </p:cNvSpPr>
          <p:nvPr>
            <p:ph type="ftr" idx="11"/>
          </p:nvPr>
        </p:nvSpPr>
        <p:spPr/>
        <p:txBody>
          <a:bodyPr/>
          <a:lstStyle/>
          <a:p>
            <a:r>
              <a:t>関本・中居研究室</a:t>
            </a:r>
          </a:p>
        </p:txBody>
      </p:sp>
      <p:sp>
        <p:nvSpPr>
          <p:cNvPr id="6" name="Slide Number Placeholder 5">
            <a:extLst>
              <a:ext uri="{FF2B5EF4-FFF2-40B4-BE49-F238E27FC236}">
                <a16:creationId xmlns:a16="http://schemas.microsoft.com/office/drawing/2014/main" id="{01C118CC-2896-49A8-9726-5B00656C0ABD}"/>
              </a:ext>
            </a:extLst>
          </p:cNvPr>
          <p:cNvSpPr>
            <a:spLocks noGrp="1"/>
          </p:cNvSpPr>
          <p:nvPr>
            <p:ph type="sldNum" idx="12"/>
          </p:nvPr>
        </p:nvSpPr>
        <p:spPr/>
        <p:txBody>
          <a:bodyPr/>
          <a:lstStyle/>
          <a:p>
            <a:fld id="{6539E37A-E522-3D47-AAB7-DDF67C94A05D}"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9B393A8-A998-4454-9BA1-BFD181C693A2}"/>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マスター タイトルの書式設定</a:t>
            </a:r>
          </a:p>
        </p:txBody>
      </p:sp>
      <p:sp>
        <p:nvSpPr>
          <p:cNvPr id="3" name="Text Placeholder 2">
            <a:extLst>
              <a:ext uri="{FF2B5EF4-FFF2-40B4-BE49-F238E27FC236}">
                <a16:creationId xmlns:a16="http://schemas.microsoft.com/office/drawing/2014/main" id="{AE372BF0-6647-47D2-B9AA-AC5A00DE3594}"/>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a:buNone/>
            </a:pPr>
            <a:r>
              <a:t>マスター テキストの書式設定</a:t>
            </a:r>
          </a:p>
          <a:p>
            <a:pPr>
              <a:buNone/>
            </a:pPr>
            <a:r>
              <a:t>第 2 レベル</a:t>
            </a:r>
          </a:p>
          <a:p>
            <a:pPr>
              <a:buNone/>
            </a:pPr>
            <a:r>
              <a:t>第 3 レベル</a:t>
            </a:r>
          </a:p>
          <a:p>
            <a:pPr>
              <a:buNone/>
            </a:pPr>
            <a:r>
              <a:t>第 4 レベル</a:t>
            </a:r>
          </a:p>
          <a:p>
            <a:pPr>
              <a:buNone/>
            </a:pPr>
            <a:r>
              <a:t>第 5 レベル</a:t>
            </a:r>
          </a:p>
        </p:txBody>
      </p:sp>
      <p:sp>
        <p:nvSpPr>
          <p:cNvPr id="4" name="Date Placeholder 3">
            <a:extLst>
              <a:ext uri="{FF2B5EF4-FFF2-40B4-BE49-F238E27FC236}">
                <a16:creationId xmlns:a16="http://schemas.microsoft.com/office/drawing/2014/main" id="{8F2B3B02-7345-4A51-AA40-AF7DD2FFC21A}"/>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r>
              <a:t>2026/7</a:t>
            </a:r>
          </a:p>
        </p:txBody>
      </p:sp>
      <p:sp>
        <p:nvSpPr>
          <p:cNvPr id="5" name="Footer Placeholder 4">
            <a:extLst>
              <a:ext uri="{FF2B5EF4-FFF2-40B4-BE49-F238E27FC236}">
                <a16:creationId xmlns:a16="http://schemas.microsoft.com/office/drawing/2014/main" id="{998EC7DB-3D6E-4E0D-9CDC-795F99ABA397}"/>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r>
              <a:t>関本・中居研究室</a:t>
            </a:r>
          </a:p>
        </p:txBody>
      </p:sp>
      <p:sp>
        <p:nvSpPr>
          <p:cNvPr id="6" name="Slide Number Placeholder 5">
            <a:extLst>
              <a:ext uri="{FF2B5EF4-FFF2-40B4-BE49-F238E27FC236}">
                <a16:creationId xmlns:a16="http://schemas.microsoft.com/office/drawing/2014/main" id="{04B37C9F-FF12-45FE-A77A-2E247A44814C}"/>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b="1">
                <a:solidFill>
                  <a:schemeClr val="tx1">
                    <a:tint val="82000"/>
                  </a:schemeClr>
                </a:solidFill>
              </a:defRPr>
            </a:lvl1pPr>
          </a:lstStyle>
          <a:p>
            <a:fld id="{6539E37A-E522-3D47-AAB7-DDF67C94A05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p:txStyles>
    <p:titleStyle>
      <a:lvl1pPr algn="l">
        <a:lnSpc>
          <a:spcPct val="90000"/>
        </a:lnSpc>
        <a:buNone/>
        <a:defRPr sz="2800">
          <a:solidFill>
            <a:schemeClr val="tx1"/>
          </a:solidFill>
          <a:latin typeface="+mj-lt"/>
          <a:ea typeface="+mj-lt"/>
          <a:cs typeface="+mj-lt"/>
        </a:defRPr>
      </a:lvl1pPr>
    </p:titleStyle>
    <p:bodyStyle>
      <a:lvl1pPr marL="228600" indent="-228600" algn="l">
        <a:lnSpc>
          <a:spcPct val="90000"/>
        </a:lnSpc>
        <a:spcBef>
          <a:spcPts val="1000"/>
        </a:spcBef>
        <a:buChar char="•"/>
        <a:defRPr sz="2000">
          <a:solidFill>
            <a:schemeClr val="tx1"/>
          </a:solidFill>
          <a:latin typeface="+mn-lt"/>
          <a:ea typeface="+mn-lt"/>
          <a:cs typeface="+mn-lt"/>
        </a:defRPr>
      </a:lvl1pPr>
      <a:lvl2pPr marL="685800" indent="-228600" algn="l">
        <a:lnSpc>
          <a:spcPct val="90000"/>
        </a:lnSpc>
        <a:spcBef>
          <a:spcPts val="500"/>
        </a:spcBef>
        <a:buChar char="•"/>
        <a:defRPr sz="1800">
          <a:solidFill>
            <a:schemeClr val="tx1"/>
          </a:solidFill>
          <a:latin typeface="+mn-lt"/>
          <a:ea typeface="+mn-lt"/>
          <a:cs typeface="+mn-lt"/>
        </a:defRPr>
      </a:lvl2pPr>
      <a:lvl3pPr marL="1143000" indent="-228600" algn="l">
        <a:lnSpc>
          <a:spcPct val="90000"/>
        </a:lnSpc>
        <a:spcBef>
          <a:spcPts val="500"/>
        </a:spcBef>
        <a:buChar char="•"/>
        <a:defRPr sz="1600">
          <a:solidFill>
            <a:schemeClr val="tx1"/>
          </a:solidFill>
          <a:latin typeface="+mn-lt"/>
          <a:ea typeface="+mn-lt"/>
          <a:cs typeface="+mn-lt"/>
        </a:defRPr>
      </a:lvl3pPr>
      <a:lvl4pPr marL="1600200" indent="-228600" algn="l">
        <a:lnSpc>
          <a:spcPct val="90000"/>
        </a:lnSpc>
        <a:spcBef>
          <a:spcPts val="500"/>
        </a:spcBef>
        <a:buChar char="•"/>
        <a:defRPr sz="1400">
          <a:solidFill>
            <a:schemeClr val="tx1"/>
          </a:solidFill>
          <a:latin typeface="+mn-lt"/>
          <a:ea typeface="+mn-lt"/>
          <a:cs typeface="+mn-lt"/>
        </a:defRPr>
      </a:lvl4pPr>
      <a:lvl5pPr marL="2057400" indent="-228600" algn="l">
        <a:lnSpc>
          <a:spcPct val="90000"/>
        </a:lnSpc>
        <a:spcBef>
          <a:spcPts val="500"/>
        </a:spcBef>
        <a:buChar char="•"/>
        <a:defRPr sz="12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8856FCA-FED8-E2B2-5EB0-DCEE944AB420}"/>
              </a:ext>
            </a:extLst>
          </p:cNvPr>
          <p:cNvSpPr>
            <a:spLocks noGrp="1"/>
          </p:cNvSpPr>
          <p:nvPr>
            <p:ph type="title"/>
          </p:nvPr>
        </p:nvSpPr>
        <p:spPr>
          <a:xfrm>
            <a:off x="100172" y="136525"/>
            <a:ext cx="10326470" cy="908719"/>
          </a:xfrm>
        </p:spPr>
        <p:txBody>
          <a:bodyPr>
            <a:normAutofit fontScale="90000"/>
          </a:bodyPr>
          <a:lstStyle/>
          <a:p>
            <a:pPr rtl="0"/>
            <a:r>
              <a:rPr lang="ja-JP" altLang="ja-JP">
                <a:latin typeface="Arial" panose="020B0604020202020204" pitchFamily="34" charset="0"/>
              </a:rPr>
              <a:t>OKR(FY2026 2Q : Jul. - Sep.</a:t>
            </a:r>
            <a:br>
              <a:rPr lang="ja-JP" altLang="ja-JP"/>
            </a:br>
            <a:r>
              <a:rPr lang="ja-JP" altLang="ja-JP">
                <a:latin typeface="Arial" panose="020B0604020202020204" pitchFamily="34" charset="0"/>
              </a:rPr>
              <a:t>(Name: Yuki WATANABE)</a:t>
            </a:r>
            <a:br>
              <a:rPr lang="ja-JP" altLang="ja-JP"/>
            </a:br>
            <a:endParaRPr kumimoji="1" lang="ja-JP" altLang="en-US"/>
          </a:p>
        </p:txBody>
      </p:sp>
      <p:sp>
        <p:nvSpPr>
          <p:cNvPr id="4" name="日付プレースホルダー 3">
            <a:extLst>
              <a:ext uri="{FF2B5EF4-FFF2-40B4-BE49-F238E27FC236}">
                <a16:creationId xmlns:a16="http://schemas.microsoft.com/office/drawing/2014/main" id="{CD103E21-BFF5-FCEE-9C59-4C8B4C0C183F}"/>
              </a:ext>
            </a:extLst>
          </p:cNvPr>
          <p:cNvSpPr>
            <a:spLocks noGrp="1"/>
          </p:cNvSpPr>
          <p:nvPr>
            <p:ph type="dt" idx="10"/>
          </p:nvPr>
        </p:nvSpPr>
        <p:spPr/>
        <p:txBody>
          <a:bodyPr/>
          <a:lstStyle/>
          <a:p>
            <a:r>
              <a:rPr lang="en-US" altLang="ja-JP"/>
              <a:t>2026/7</a:t>
            </a:r>
          </a:p>
        </p:txBody>
      </p:sp>
      <p:sp>
        <p:nvSpPr>
          <p:cNvPr id="5" name="フッター プレースホルダー 4">
            <a:extLst>
              <a:ext uri="{FF2B5EF4-FFF2-40B4-BE49-F238E27FC236}">
                <a16:creationId xmlns:a16="http://schemas.microsoft.com/office/drawing/2014/main" id="{D7EC6571-51B5-D62E-828B-44A042885242}"/>
              </a:ext>
            </a:extLst>
          </p:cNvPr>
          <p:cNvSpPr>
            <a:spLocks noGrp="1"/>
          </p:cNvSpPr>
          <p:nvPr>
            <p:ph type="ftr" idx="11"/>
          </p:nvPr>
        </p:nvSpPr>
        <p:spPr/>
        <p:txBody>
          <a:bodyPr/>
          <a:lstStyle/>
          <a:p>
            <a:r>
              <a:rPr lang="ja-JP" altLang="en-US"/>
              <a:t>関本・中居研究室</a:t>
            </a:r>
          </a:p>
        </p:txBody>
      </p:sp>
      <p:sp>
        <p:nvSpPr>
          <p:cNvPr id="6" name="スライド番号プレースホルダー 5">
            <a:extLst>
              <a:ext uri="{FF2B5EF4-FFF2-40B4-BE49-F238E27FC236}">
                <a16:creationId xmlns:a16="http://schemas.microsoft.com/office/drawing/2014/main" id="{B17A9562-780F-54C6-92AD-CB044259BF84}"/>
              </a:ext>
            </a:extLst>
          </p:cNvPr>
          <p:cNvSpPr>
            <a:spLocks noGrp="1"/>
          </p:cNvSpPr>
          <p:nvPr>
            <p:ph type="sldNum" idx="12"/>
          </p:nvPr>
        </p:nvSpPr>
        <p:spPr/>
        <p:txBody>
          <a:bodyPr/>
          <a:lstStyle/>
          <a:p>
            <a:fld id="{6539E37A-E522-3D47-AAB7-DDF67C94A05D}" type="slidenum">
              <a:rPr lang="en-US" altLang="ja-JP"/>
              <a:t>1</a:t>
            </a:fld>
            <a:endParaRPr lang="en-US" altLang="ja-JP"/>
          </a:p>
        </p:txBody>
      </p:sp>
      <p:sp>
        <p:nvSpPr>
          <p:cNvPr id="8" name="テキスト ボックス 7">
            <a:extLst>
              <a:ext uri="{FF2B5EF4-FFF2-40B4-BE49-F238E27FC236}">
                <a16:creationId xmlns:a16="http://schemas.microsoft.com/office/drawing/2014/main" id="{7536AAD2-B0CD-FBFD-903D-CFC99AF1AC31}"/>
              </a:ext>
            </a:extLst>
          </p:cNvPr>
          <p:cNvSpPr txBox="1"/>
          <p:nvPr/>
        </p:nvSpPr>
        <p:spPr>
          <a:xfrm>
            <a:off x="100172" y="590884"/>
            <a:ext cx="11991655" cy="6617196"/>
          </a:xfrm>
          <a:prstGeom prst="rect">
            <a:avLst/>
          </a:prstGeom>
          <a:noFill/>
        </p:spPr>
        <p:txBody>
          <a:bodyPr wrap="square">
            <a:spAutoFit/>
          </a:bodyPr>
          <a:lstStyle/>
          <a:p>
            <a:pPr rtl="0" fontAlgn="base"/>
            <a:endParaRPr lang="ja-JP" altLang="ja-JP" sz="2800" b="0" i="0" u="none" strike="noStrike">
              <a:solidFill>
                <a:srgbClr val="000000"/>
              </a:solidFill>
              <a:effectLst/>
              <a:latin typeface="Arial" panose="020B0604020202020204" pitchFamily="34" charset="0"/>
            </a:endParaRPr>
          </a:p>
          <a:p>
            <a:pPr rtl="0" fontAlgn="base">
              <a:spcAft>
                <a:spcPts val="1200"/>
              </a:spcAft>
              <a:buFont typeface="Arial" panose="020B0604020202020204" pitchFamily="34" charset="0"/>
              <a:buChar char="•"/>
            </a:pPr>
            <a:r>
              <a:rPr lang="ja-JP" altLang="ja-JP" sz="2400" b="1" i="0" u="none" strike="noStrike">
                <a:solidFill>
                  <a:srgbClr val="000000"/>
                </a:solidFill>
                <a:effectLst/>
                <a:latin typeface="Arial" panose="020B0604020202020204" pitchFamily="34" charset="0"/>
              </a:rPr>
              <a:t>Annual Objective</a:t>
            </a:r>
            <a:br>
              <a:rPr lang="ja-JP" altLang="ja-JP" sz="2800" b="0" i="0" u="none" strike="noStrike">
                <a:solidFill>
                  <a:srgbClr val="000000"/>
                </a:solidFill>
                <a:effectLst/>
                <a:latin typeface="Arial" panose="020B0604020202020204" pitchFamily="34" charset="0"/>
              </a:rPr>
            </a:br>
            <a:r>
              <a:rPr lang="ja-JP" altLang="ja-JP" b="0" i="0" u="none" strike="noStrike">
                <a:solidFill>
                  <a:srgbClr val="000000"/>
                </a:solidFill>
                <a:effectLst/>
                <a:latin typeface="Arial" panose="020B0604020202020204" pitchFamily="34" charset="0"/>
              </a:rPr>
              <a:t>Will build a workflow that uses dialogue with an LLM to translate development plans into scenarios that allow for the prediction of pedestrian flow, and will gradually expand from implementation in a single scenario to application and evaluation across multiple scenarios.</a:t>
            </a:r>
            <a:br>
              <a:rPr lang="ja-JP" altLang="ja-JP" sz="2400" b="0">
                <a:effectLst/>
              </a:rPr>
            </a:br>
            <a:endParaRPr lang="ja-JP" altLang="ja-JP" sz="2400" b="1" i="0" u="none" strike="noStrike">
              <a:solidFill>
                <a:srgbClr val="000000"/>
              </a:solidFill>
              <a:effectLst/>
              <a:latin typeface="Arial" panose="020B0604020202020204" pitchFamily="34" charset="0"/>
            </a:endParaRPr>
          </a:p>
          <a:p>
            <a:pPr rtl="0" fontAlgn="base">
              <a:spcAft>
                <a:spcPts val="1200"/>
              </a:spcAft>
              <a:buFont typeface="Arial" panose="020B0604020202020204" pitchFamily="34" charset="0"/>
              <a:buChar char="•"/>
            </a:pPr>
            <a:r>
              <a:rPr lang="ja-JP" altLang="ja-JP" sz="2400" b="1" i="0" u="none" strike="noStrike">
                <a:solidFill>
                  <a:srgbClr val="000000"/>
                </a:solidFill>
                <a:effectLst/>
                <a:latin typeface="Arial" panose="020B0604020202020204" pitchFamily="34" charset="0"/>
              </a:rPr>
              <a:t>Key Result </a:t>
            </a:r>
          </a:p>
          <a:p>
            <a:pPr marL="457200" rtl="0">
              <a:spcAft>
                <a:spcPts val="1200"/>
              </a:spcAft>
              <a:buNone/>
            </a:pPr>
            <a:r>
              <a:rPr lang="ja-JP" altLang="ja-JP" b="0" i="0" u="none" strike="noStrike">
                <a:solidFill>
                  <a:srgbClr val="000000"/>
                </a:solidFill>
                <a:effectLst/>
                <a:latin typeface="Arial" panose="020B0604020202020204" pitchFamily="34" charset="0"/>
              </a:rPr>
              <a:t>1. Using a central urban development case as a use case, implement a dialogue-based workflow that gradually concretizes a low-granularity development concept into a scenario that can be used for pedestrian flow forecasting through interaction with an LLM.</a:t>
            </a:r>
            <a:endParaRPr lang="ja-JP" altLang="ja-JP" sz="2400" b="0">
              <a:effectLst/>
            </a:endParaRPr>
          </a:p>
          <a:p>
            <a:pPr marL="457200" rtl="0">
              <a:spcAft>
                <a:spcPts val="1200"/>
              </a:spcAft>
              <a:buNone/>
            </a:pPr>
            <a:r>
              <a:rPr lang="ja-JP" altLang="ja-JP" b="0" i="0" u="none" strike="noStrike">
                <a:solidFill>
                  <a:srgbClr val="000000"/>
                </a:solidFill>
                <a:effectLst/>
                <a:latin typeface="Arial" panose="020B0604020202020204" pitchFamily="34" charset="0"/>
              </a:rPr>
              <a:t>・Implement a function that extracts and organizes key planning conditions from natural language input, such as target area, development purpose, main use, scale, and assumed users.</a:t>
            </a:r>
            <a:endParaRPr lang="ja-JP" altLang="ja-JP" sz="2400" b="0">
              <a:effectLst/>
            </a:endParaRPr>
          </a:p>
          <a:p>
            <a:pPr marL="457200" rtl="0">
              <a:spcAft>
                <a:spcPts val="1200"/>
              </a:spcAft>
              <a:buNone/>
            </a:pPr>
            <a:r>
              <a:rPr lang="ja-JP" altLang="ja-JP" b="0" i="0" u="none" strike="noStrike">
                <a:solidFill>
                  <a:srgbClr val="000000"/>
                </a:solidFill>
                <a:effectLst/>
                <a:latin typeface="Arial" panose="020B0604020202020204" pitchFamily="34" charset="0"/>
              </a:rPr>
              <a:t>・Implement a function that identifies missing information required for scenario concretization and prompts the user to provide or confirm additional details.</a:t>
            </a:r>
            <a:endParaRPr lang="ja-JP" altLang="ja-JP" sz="2400" b="0">
              <a:effectLst/>
            </a:endParaRPr>
          </a:p>
          <a:p>
            <a:pPr marL="457200" rtl="0">
              <a:spcAft>
                <a:spcPts val="1200"/>
              </a:spcAft>
              <a:buNone/>
            </a:pPr>
            <a:r>
              <a:rPr lang="ja-JP" altLang="ja-JP" b="0" i="0" u="none" strike="noStrike">
                <a:solidFill>
                  <a:srgbClr val="000000"/>
                </a:solidFill>
                <a:effectLst/>
                <a:latin typeface="Arial" panose="020B0604020202020204" pitchFamily="34" charset="0"/>
              </a:rPr>
              <a:t>2. Submit a paper to the GIS conference by the end of August, based on the proposed LLM-assisted workflow for concretizing urban development scenarios and connecting them to pedestrian flow forecasting.</a:t>
            </a:r>
            <a:endParaRPr lang="ja-JP" altLang="ja-JP" sz="2400" b="0">
              <a:effectLst/>
            </a:endParaRPr>
          </a:p>
          <a:p>
            <a:pPr>
              <a:buNone/>
            </a:pPr>
            <a:br>
              <a:rPr lang="ja-JP" altLang="ja-JP" sz="2400"/>
            </a:br>
            <a:endParaRPr lang="ja-JP" altLang="en-US" sz="2400"/>
          </a:p>
        </p:txBody>
      </p:sp>
    </p:spTree>
    <p:extLst>
      <p:ext uri="{BB962C8B-B14F-4D97-AF65-F5344CB8AC3E}">
        <p14:creationId xmlns:p14="http://schemas.microsoft.com/office/powerpoint/2010/main" val="6639159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9B55DF-5A51-4866-F273-38E181C764D2}"/>
              </a:ext>
            </a:extLst>
          </p:cNvPr>
          <p:cNvSpPr>
            <a:spLocks noGrp="1"/>
          </p:cNvSpPr>
          <p:nvPr>
            <p:ph type="ctrTitle"/>
          </p:nvPr>
        </p:nvSpPr>
        <p:spPr>
          <a:xfrm>
            <a:off x="830414" y="1943835"/>
            <a:ext cx="9586065" cy="1665185"/>
          </a:xfrm>
        </p:spPr>
        <p:txBody>
          <a:bodyPr anchor="t">
            <a:normAutofit fontScale="94986"/>
          </a:bodyPr>
          <a:lstStyle/>
          <a:p>
            <a:pPr algn="l">
              <a:buNone/>
            </a:pPr>
            <a:r>
              <a:rPr sz="3600"/>
              <a:t>Natural-Language Flow Scenarios
Comparing the Impact of Multiple Conditions
— Meitetsu Nagoya Station Case Study</a:t>
            </a:r>
          </a:p>
        </p:txBody>
      </p:sp>
    </p:spTree>
    <p:extLst>
      <p:ext uri="{BB962C8B-B14F-4D97-AF65-F5344CB8AC3E}">
        <p14:creationId xmlns:p14="http://schemas.microsoft.com/office/powerpoint/2010/main" val="36255565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ounded Rectangle 5">
            <a:extLst>
              <a:ext uri="{FF2B5EF4-FFF2-40B4-BE49-F238E27FC236}">
                <a16:creationId xmlns:a16="http://schemas.microsoft.com/office/drawing/2014/main" id="{AD297800-830A-8224-51EB-6C7132C8F991}"/>
              </a:ext>
            </a:extLst>
          </p:cNvPr>
          <p:cNvSpPr>
            <a:spLocks noGrp="1"/>
          </p:cNvSpPr>
          <p:nvPr/>
        </p:nvSpPr>
        <p:spPr>
          <a:xfrm>
            <a:off x="3959915" y="1368624"/>
            <a:ext cx="3351220" cy="2553406"/>
          </a:xfrm>
          <a:prstGeom prst="roundRect">
            <a:avLst>
              <a:gd name="adj" fmla="val 9000"/>
            </a:avLst>
          </a:prstGeom>
          <a:solidFill>
            <a:srgbClr val="E5E97E">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タイトル 1">
            <a:extLst>
              <a:ext uri="{FF2B5EF4-FFF2-40B4-BE49-F238E27FC236}">
                <a16:creationId xmlns:a16="http://schemas.microsoft.com/office/drawing/2014/main" id="{3DB7D953-961A-0C86-23D5-190D3A58FD1A}"/>
              </a:ext>
            </a:extLst>
          </p:cNvPr>
          <p:cNvSpPr>
            <a:spLocks noGrp="1"/>
          </p:cNvSpPr>
          <p:nvPr>
            <p:ph type="title"/>
          </p:nvPr>
        </p:nvSpPr>
        <p:spPr>
          <a:xfrm>
            <a:off x="189866" y="0"/>
            <a:ext cx="12002134" cy="908720"/>
          </a:xfrm>
        </p:spPr>
        <p:txBody>
          <a:bodyPr anchor="ctr"/>
          <a:lstStyle/>
          <a:p>
            <a:r>
              <a:rPr>
                <a:latin typeface="HGMinchoE"/>
                <a:ea typeface="HGMinchoE"/>
                <a:cs typeface="HGMinchoE"/>
              </a:rPr>
              <a:t>First Three Months (Q2: Jul–Sep): Defining Site Conditions</a:t>
            </a:r>
          </a:p>
        </p:txBody>
      </p:sp>
      <p:sp>
        <p:nvSpPr>
          <p:cNvPr id="3" name="コンテンツ プレースホルダー 2">
            <a:extLst>
              <a:ext uri="{FF2B5EF4-FFF2-40B4-BE49-F238E27FC236}">
                <a16:creationId xmlns:a16="http://schemas.microsoft.com/office/drawing/2014/main" id="{A421FFD3-CB16-2746-79BA-7F60972841E4}"/>
              </a:ext>
            </a:extLst>
          </p:cNvPr>
          <p:cNvSpPr>
            <a:spLocks noGrp="1"/>
          </p:cNvSpPr>
          <p:nvPr>
            <p:ph idx="1"/>
          </p:nvPr>
        </p:nvSpPr>
        <p:spPr>
          <a:xfrm>
            <a:off x="259551" y="998730"/>
            <a:ext cx="12002134" cy="423820"/>
          </a:xfrm>
        </p:spPr>
        <p:txBody>
          <a:bodyPr>
            <a:normAutofit fontScale="76194" lnSpcReduction="20000"/>
          </a:bodyPr>
          <a:lstStyle/>
          <a:p>
            <a:pPr marL="0" indent="0">
              <a:buNone/>
            </a:pPr>
            <a:r>
              <a:rPr sz="1800" b="1">
                <a:solidFill>
                  <a:schemeClr val="bg2">
                    <a:lumMod val="10000"/>
                  </a:schemeClr>
                </a:solidFill>
                <a:latin typeface="Noto Sans CJK JP"/>
                <a:ea typeface="Noto Sans CJK JP"/>
                <a:cs typeface="Noto Sans CJK JP"/>
              </a:rPr>
              <a:t>Through dialogue with an LLM agent, station, former-store, and nearby-facility conditions are progressively converted into pedestrian-flow model inputs.</a:t>
            </a:r>
          </a:p>
        </p:txBody>
      </p:sp>
      <p:sp>
        <p:nvSpPr>
          <p:cNvPr id="4" name="日付プレースホルダー 3">
            <a:extLst>
              <a:ext uri="{FF2B5EF4-FFF2-40B4-BE49-F238E27FC236}">
                <a16:creationId xmlns:a16="http://schemas.microsoft.com/office/drawing/2014/main" id="{1E37C397-1E3C-9C60-59D6-15235091DE13}"/>
              </a:ext>
            </a:extLst>
          </p:cNvPr>
          <p:cNvSpPr>
            <a:spLocks noGrp="1"/>
          </p:cNvSpPr>
          <p:nvPr>
            <p:ph type="dt" idx="10"/>
          </p:nvPr>
        </p:nvSpPr>
        <p:spPr>
          <a:xfrm>
            <a:off x="838200" y="6534345"/>
            <a:ext cx="2743200" cy="365125"/>
          </a:xfrm>
        </p:spPr>
        <p:txBody>
          <a:bodyPr/>
          <a:lstStyle/>
          <a:p>
            <a:r>
              <a:t>2026/7</a:t>
            </a:r>
          </a:p>
        </p:txBody>
      </p:sp>
      <p:sp>
        <p:nvSpPr>
          <p:cNvPr id="5" name="フッター プレースホルダー 4">
            <a:extLst>
              <a:ext uri="{FF2B5EF4-FFF2-40B4-BE49-F238E27FC236}">
                <a16:creationId xmlns:a16="http://schemas.microsoft.com/office/drawing/2014/main" id="{DB185221-EB95-DE46-5DC4-E5E697994A18}"/>
              </a:ext>
            </a:extLst>
          </p:cNvPr>
          <p:cNvSpPr>
            <a:spLocks noGrp="1"/>
          </p:cNvSpPr>
          <p:nvPr>
            <p:ph type="ftr" idx="11"/>
          </p:nvPr>
        </p:nvSpPr>
        <p:spPr>
          <a:xfrm>
            <a:off x="4038600" y="6534345"/>
            <a:ext cx="4114800" cy="365125"/>
          </a:xfrm>
        </p:spPr>
        <p:txBody>
          <a:bodyPr/>
          <a:lstStyle/>
          <a:p>
            <a:r>
              <a:t>Sekimoto-Nakai Laboratory</a:t>
            </a:r>
          </a:p>
        </p:txBody>
      </p:sp>
      <p:sp>
        <p:nvSpPr>
          <p:cNvPr id="6" name="スライド番号プレースホルダー 5">
            <a:extLst>
              <a:ext uri="{FF2B5EF4-FFF2-40B4-BE49-F238E27FC236}">
                <a16:creationId xmlns:a16="http://schemas.microsoft.com/office/drawing/2014/main" id="{B3B91617-188B-FF7B-A976-7F171DEB4A95}"/>
              </a:ext>
            </a:extLst>
          </p:cNvPr>
          <p:cNvSpPr>
            <a:spLocks noGrp="1"/>
          </p:cNvSpPr>
          <p:nvPr>
            <p:ph type="sldNum" idx="12"/>
          </p:nvPr>
        </p:nvSpPr>
        <p:spPr>
          <a:xfrm>
            <a:off x="8610600" y="6534345"/>
            <a:ext cx="2743200" cy="365125"/>
          </a:xfrm>
        </p:spPr>
        <p:txBody>
          <a:bodyPr/>
          <a:lstStyle/>
          <a:p>
            <a:fld id="{6539E37A-E522-3D47-AAB7-DDF67C94A05D}" type="slidenum">
              <a:rPr/>
              <a:t>3</a:t>
            </a:fld>
            <a:endParaRPr/>
          </a:p>
        </p:txBody>
      </p:sp>
      <p:sp>
        <p:nvSpPr>
          <p:cNvPr id="13" name="Oval 6">
            <a:extLst>
              <a:ext uri="{FF2B5EF4-FFF2-40B4-BE49-F238E27FC236}">
                <a16:creationId xmlns:a16="http://schemas.microsoft.com/office/drawing/2014/main" id="{A94F91C9-6AAF-3928-51C1-B3F22EB6C263}"/>
              </a:ext>
            </a:extLst>
          </p:cNvPr>
          <p:cNvSpPr>
            <a:spLocks noGrp="1"/>
          </p:cNvSpPr>
          <p:nvPr/>
        </p:nvSpPr>
        <p:spPr>
          <a:xfrm>
            <a:off x="4171902" y="1403775"/>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1</a:t>
            </a:r>
          </a:p>
        </p:txBody>
      </p:sp>
      <p:sp>
        <p:nvSpPr>
          <p:cNvPr id="14" name="TextBox 7">
            <a:extLst>
              <a:ext uri="{FF2B5EF4-FFF2-40B4-BE49-F238E27FC236}">
                <a16:creationId xmlns:a16="http://schemas.microsoft.com/office/drawing/2014/main" id="{56A6C7B2-6281-21A7-E8F4-53405DA8428F}"/>
              </a:ext>
            </a:extLst>
          </p:cNvPr>
          <p:cNvSpPr>
            <a:spLocks noGrp="1"/>
          </p:cNvSpPr>
          <p:nvPr/>
        </p:nvSpPr>
        <p:spPr>
          <a:xfrm>
            <a:off x="4527641" y="1448780"/>
            <a:ext cx="2105801" cy="337114"/>
          </a:xfrm>
          <a:prstGeom prst="roundRect">
            <a:avLst/>
          </a:prstGeom>
          <a:noFill/>
          <a:ln>
            <a:noFill/>
          </a:ln>
        </p:spPr>
        <p:txBody>
          <a:bodyPr wrap="square" lIns="36576" tIns="36576" rIns="36576" bIns="36576" anchor="t">
            <a:spAutoFit/>
          </a:bodyPr>
          <a:lstStyle/>
          <a:p>
            <a:pPr algn="l">
              <a:buNone/>
            </a:pPr>
            <a:r>
              <a:rPr sz="1500" b="1">
                <a:solidFill>
                  <a:srgbClr val="0B2B5B"/>
                </a:solidFill>
                <a:latin typeface="Noto Sans CJK JP"/>
                <a:ea typeface="Noto Sans CJK JP"/>
                <a:cs typeface="Noto Sans CJK JP"/>
              </a:rPr>
              <a:t>Define Study Area</a:t>
            </a:r>
          </a:p>
        </p:txBody>
      </p:sp>
      <p:sp>
        <p:nvSpPr>
          <p:cNvPr id="15" name="Rounded Rectangle 5">
            <a:extLst>
              <a:ext uri="{FF2B5EF4-FFF2-40B4-BE49-F238E27FC236}">
                <a16:creationId xmlns:a16="http://schemas.microsoft.com/office/drawing/2014/main" id="{33F500D9-CF9C-5B34-C4C6-099286B7D9CE}"/>
              </a:ext>
            </a:extLst>
          </p:cNvPr>
          <p:cNvSpPr>
            <a:spLocks noGrp="1"/>
          </p:cNvSpPr>
          <p:nvPr/>
        </p:nvSpPr>
        <p:spPr>
          <a:xfrm>
            <a:off x="3935760" y="3916676"/>
            <a:ext cx="3351220" cy="2572664"/>
          </a:xfrm>
          <a:prstGeom prst="roundRect">
            <a:avLst>
              <a:gd name="adj" fmla="val 9000"/>
            </a:avLst>
          </a:prstGeom>
          <a:solidFill>
            <a:srgbClr val="BAEAC4">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6" name="Oval 6">
            <a:extLst>
              <a:ext uri="{FF2B5EF4-FFF2-40B4-BE49-F238E27FC236}">
                <a16:creationId xmlns:a16="http://schemas.microsoft.com/office/drawing/2014/main" id="{CB0FD11A-87D3-A96A-2088-A465B47E0A29}"/>
              </a:ext>
            </a:extLst>
          </p:cNvPr>
          <p:cNvSpPr>
            <a:spLocks noGrp="1"/>
          </p:cNvSpPr>
          <p:nvPr/>
        </p:nvSpPr>
        <p:spPr>
          <a:xfrm>
            <a:off x="4019528" y="3967293"/>
            <a:ext cx="363601"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2</a:t>
            </a:r>
          </a:p>
        </p:txBody>
      </p:sp>
      <p:sp>
        <p:nvSpPr>
          <p:cNvPr id="17" name="TextBox 7">
            <a:extLst>
              <a:ext uri="{FF2B5EF4-FFF2-40B4-BE49-F238E27FC236}">
                <a16:creationId xmlns:a16="http://schemas.microsoft.com/office/drawing/2014/main" id="{ABAB1503-61F5-57E2-398A-87E8B5145005}"/>
              </a:ext>
            </a:extLst>
          </p:cNvPr>
          <p:cNvSpPr>
            <a:spLocks noGrp="1"/>
          </p:cNvSpPr>
          <p:nvPr/>
        </p:nvSpPr>
        <p:spPr>
          <a:xfrm>
            <a:off x="4404694" y="3987124"/>
            <a:ext cx="1853689" cy="304699"/>
          </a:xfrm>
          <a:prstGeom prst="rect">
            <a:avLst/>
          </a:prstGeom>
          <a:noFill/>
          <a:ln>
            <a:noFill/>
          </a:ln>
        </p:spPr>
        <p:txBody>
          <a:bodyPr wrap="square" lIns="36576" tIns="36576" rIns="36576" bIns="36576" anchor="t">
            <a:spAutoFit/>
          </a:bodyPr>
          <a:lstStyle/>
          <a:p>
            <a:pPr algn="l">
              <a:buNone/>
            </a:pPr>
            <a:r>
              <a:rPr sz="1500" b="1">
                <a:solidFill>
                  <a:srgbClr val="0B2B5B"/>
                </a:solidFill>
                <a:latin typeface="Noto Sans CJK JP"/>
                <a:ea typeface="Noto Sans CJK JP"/>
                <a:cs typeface="Noto Sans CJK JP"/>
              </a:rPr>
              <a:t>Define Use &amp; Scale</a:t>
            </a:r>
          </a:p>
        </p:txBody>
      </p:sp>
      <p:sp>
        <p:nvSpPr>
          <p:cNvPr id="18" name="Rounded Rectangle 5">
            <a:extLst>
              <a:ext uri="{FF2B5EF4-FFF2-40B4-BE49-F238E27FC236}">
                <a16:creationId xmlns:a16="http://schemas.microsoft.com/office/drawing/2014/main" id="{C6D69BE9-D12E-262B-B9C9-6ABA9913A1A3}"/>
              </a:ext>
            </a:extLst>
          </p:cNvPr>
          <p:cNvSpPr>
            <a:spLocks noGrp="1"/>
          </p:cNvSpPr>
          <p:nvPr/>
        </p:nvSpPr>
        <p:spPr>
          <a:xfrm>
            <a:off x="8587310" y="1368624"/>
            <a:ext cx="3345140" cy="2701854"/>
          </a:xfrm>
          <a:prstGeom prst="roundRect">
            <a:avLst>
              <a:gd name="adj" fmla="val 9000"/>
            </a:avLst>
          </a:prstGeom>
          <a:solidFill>
            <a:srgbClr val="BACCEC">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9" name="Oval 6">
            <a:extLst>
              <a:ext uri="{FF2B5EF4-FFF2-40B4-BE49-F238E27FC236}">
                <a16:creationId xmlns:a16="http://schemas.microsoft.com/office/drawing/2014/main" id="{009B14BC-2912-59AC-EB9D-6E7A53F5900F}"/>
              </a:ext>
            </a:extLst>
          </p:cNvPr>
          <p:cNvSpPr>
            <a:spLocks noGrp="1"/>
          </p:cNvSpPr>
          <p:nvPr/>
        </p:nvSpPr>
        <p:spPr>
          <a:xfrm>
            <a:off x="8651038" y="1403775"/>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3</a:t>
            </a:r>
          </a:p>
        </p:txBody>
      </p:sp>
      <p:sp>
        <p:nvSpPr>
          <p:cNvPr id="20" name="TextBox 7">
            <a:extLst>
              <a:ext uri="{FF2B5EF4-FFF2-40B4-BE49-F238E27FC236}">
                <a16:creationId xmlns:a16="http://schemas.microsoft.com/office/drawing/2014/main" id="{6816F2C6-7793-6653-D498-0B1EBA2BB962}"/>
              </a:ext>
            </a:extLst>
          </p:cNvPr>
          <p:cNvSpPr>
            <a:spLocks noGrp="1"/>
          </p:cNvSpPr>
          <p:nvPr/>
        </p:nvSpPr>
        <p:spPr>
          <a:xfrm>
            <a:off x="8999706" y="1423204"/>
            <a:ext cx="1564435" cy="304699"/>
          </a:xfrm>
          <a:prstGeom prst="rect">
            <a:avLst/>
          </a:prstGeom>
          <a:noFill/>
          <a:ln>
            <a:noFill/>
          </a:ln>
        </p:spPr>
        <p:txBody>
          <a:bodyPr wrap="square" lIns="36576" tIns="36576" rIns="36576" bIns="36576" anchor="t">
            <a:spAutoFit/>
          </a:bodyPr>
          <a:lstStyle/>
          <a:p>
            <a:pPr algn="l">
              <a:buNone/>
            </a:pPr>
            <a:r>
              <a:rPr sz="1500" b="1">
                <a:solidFill>
                  <a:srgbClr val="0B2B5B"/>
                </a:solidFill>
                <a:latin typeface="Noto Sans CJK JP"/>
                <a:ea typeface="Noto Sans CJK JP"/>
                <a:cs typeface="Noto Sans CJK JP"/>
              </a:rPr>
              <a:t>Building Specs</a:t>
            </a:r>
          </a:p>
        </p:txBody>
      </p:sp>
      <p:sp>
        <p:nvSpPr>
          <p:cNvPr id="21" name="Rounded Rectangle 5">
            <a:extLst>
              <a:ext uri="{FF2B5EF4-FFF2-40B4-BE49-F238E27FC236}">
                <a16:creationId xmlns:a16="http://schemas.microsoft.com/office/drawing/2014/main" id="{63521FC1-95D6-B0F7-C2F0-0B4700C56632}"/>
              </a:ext>
            </a:extLst>
          </p:cNvPr>
          <p:cNvSpPr>
            <a:spLocks noGrp="1"/>
          </p:cNvSpPr>
          <p:nvPr/>
        </p:nvSpPr>
        <p:spPr>
          <a:xfrm>
            <a:off x="8597608" y="4120732"/>
            <a:ext cx="3381857" cy="2368608"/>
          </a:xfrm>
          <a:prstGeom prst="roundRect">
            <a:avLst>
              <a:gd name="adj" fmla="val 9000"/>
            </a:avLst>
          </a:prstGeom>
          <a:solidFill>
            <a:srgbClr val="F2B3ED">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2" name="Oval 6">
            <a:extLst>
              <a:ext uri="{FF2B5EF4-FFF2-40B4-BE49-F238E27FC236}">
                <a16:creationId xmlns:a16="http://schemas.microsoft.com/office/drawing/2014/main" id="{6D00757E-6F02-4FE5-27BA-49BC15C21C04}"/>
              </a:ext>
            </a:extLst>
          </p:cNvPr>
          <p:cNvSpPr>
            <a:spLocks noGrp="1"/>
          </p:cNvSpPr>
          <p:nvPr/>
        </p:nvSpPr>
        <p:spPr>
          <a:xfrm>
            <a:off x="8650287" y="4181281"/>
            <a:ext cx="329184" cy="329184"/>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4</a:t>
            </a:r>
          </a:p>
        </p:txBody>
      </p:sp>
      <p:sp>
        <p:nvSpPr>
          <p:cNvPr id="23" name="TextBox 7">
            <a:extLst>
              <a:ext uri="{FF2B5EF4-FFF2-40B4-BE49-F238E27FC236}">
                <a16:creationId xmlns:a16="http://schemas.microsoft.com/office/drawing/2014/main" id="{05917BDB-ED8A-EA90-FC3D-2989200E4B48}"/>
              </a:ext>
            </a:extLst>
          </p:cNvPr>
          <p:cNvSpPr>
            <a:spLocks noGrp="1"/>
          </p:cNvSpPr>
          <p:nvPr/>
        </p:nvSpPr>
        <p:spPr>
          <a:xfrm>
            <a:off x="8999706" y="4193523"/>
            <a:ext cx="2149004" cy="304699"/>
          </a:xfrm>
          <a:prstGeom prst="rect">
            <a:avLst/>
          </a:prstGeom>
          <a:noFill/>
          <a:ln>
            <a:noFill/>
          </a:ln>
        </p:spPr>
        <p:txBody>
          <a:bodyPr wrap="square" lIns="36576" tIns="36576" rIns="36576" bIns="36576" anchor="t">
            <a:spAutoFit/>
          </a:bodyPr>
          <a:lstStyle/>
          <a:p>
            <a:pPr algn="l">
              <a:buNone/>
            </a:pPr>
            <a:r>
              <a:rPr sz="1500" b="1">
                <a:solidFill>
                  <a:srgbClr val="0B2B5B"/>
                </a:solidFill>
                <a:latin typeface="Noto Sans CJK JP"/>
                <a:ea typeface="Noto Sans CJK JP"/>
                <a:cs typeface="Noto Sans CJK JP"/>
              </a:rPr>
              <a:t>Access &amp; Connections</a:t>
            </a:r>
          </a:p>
        </p:txBody>
      </p:sp>
      <p:sp>
        <p:nvSpPr>
          <p:cNvPr id="33" name="円/楕円 32">
            <a:extLst>
              <a:ext uri="{FF2B5EF4-FFF2-40B4-BE49-F238E27FC236}">
                <a16:creationId xmlns:a16="http://schemas.microsoft.com/office/drawing/2014/main" id="{863664CA-A4DD-74DC-D0CD-B3F8C7A609FB}"/>
              </a:ext>
            </a:extLst>
          </p:cNvPr>
          <p:cNvSpPr>
            <a:spLocks noGrp="1"/>
          </p:cNvSpPr>
          <p:nvPr/>
        </p:nvSpPr>
        <p:spPr>
          <a:xfrm>
            <a:off x="6732537" y="1757761"/>
            <a:ext cx="192955" cy="180829"/>
          </a:xfrm>
          <a:prstGeom prst="ellipse">
            <a:avLst/>
          </a:prstGeom>
          <a:solidFill>
            <a:srgbClr val="000000"/>
          </a:solidFill>
          <a:ln w="15478">
            <a:noFill/>
            <a:prstDash val="solid"/>
          </a:ln>
        </p:spPr>
        <p:txBody>
          <a:bodyPr/>
          <a:lstStyle/>
          <a:p>
            <a:endParaRPr/>
          </a:p>
        </p:txBody>
      </p:sp>
      <p:sp>
        <p:nvSpPr>
          <p:cNvPr id="34" name="フリーフォーム 33">
            <a:extLst>
              <a:ext uri="{FF2B5EF4-FFF2-40B4-BE49-F238E27FC236}">
                <a16:creationId xmlns:a16="http://schemas.microsoft.com/office/drawing/2014/main" id="{1ADA9A37-D641-9731-E000-62D56064CC34}"/>
              </a:ext>
            </a:extLst>
          </p:cNvPr>
          <p:cNvSpPr>
            <a:spLocks noGrp="1"/>
          </p:cNvSpPr>
          <p:nvPr/>
        </p:nvSpPr>
        <p:spPr>
          <a:xfrm>
            <a:off x="6636060" y="1961194"/>
            <a:ext cx="385910" cy="180829"/>
          </a:xfrm>
          <a:custGeom>
            <a:avLst/>
            <a:gdLst/>
            <a:ahLst/>
            <a:cxnLst/>
            <a:rect l="l" t="t" r="r" b="b"/>
            <a:pathLst>
              <a:path w="992220" h="496110">
                <a:moveTo>
                  <a:pt x="992221" y="496110"/>
                </a:moveTo>
                <a:lnTo>
                  <a:pt x="992221" y="248055"/>
                </a:lnTo>
                <a:cubicBezTo>
                  <a:pt x="992221" y="210847"/>
                  <a:pt x="973617" y="173639"/>
                  <a:pt x="942610" y="148833"/>
                </a:cubicBezTo>
                <a:cubicBezTo>
                  <a:pt x="874395" y="93021"/>
                  <a:pt x="787575" y="55812"/>
                  <a:pt x="700756" y="31007"/>
                </a:cubicBezTo>
                <a:cubicBezTo>
                  <a:pt x="638742" y="12403"/>
                  <a:pt x="570527" y="0"/>
                  <a:pt x="496110" y="0"/>
                </a:cubicBezTo>
                <a:cubicBezTo>
                  <a:pt x="427895" y="0"/>
                  <a:pt x="359680" y="12403"/>
                  <a:pt x="291465" y="31007"/>
                </a:cubicBezTo>
                <a:cubicBezTo>
                  <a:pt x="204646" y="55812"/>
                  <a:pt x="117826" y="99222"/>
                  <a:pt x="49611" y="148833"/>
                </a:cubicBezTo>
                <a:cubicBezTo>
                  <a:pt x="18604" y="173639"/>
                  <a:pt x="0" y="210847"/>
                  <a:pt x="0" y="248055"/>
                </a:cubicBezTo>
                <a:lnTo>
                  <a:pt x="0" y="496110"/>
                </a:lnTo>
                <a:lnTo>
                  <a:pt x="992221" y="496110"/>
                </a:lnTo>
                <a:close/>
              </a:path>
            </a:pathLst>
          </a:custGeom>
          <a:solidFill>
            <a:srgbClr val="000000"/>
          </a:solidFill>
          <a:ln w="15478">
            <a:noFill/>
            <a:prstDash val="solid"/>
          </a:ln>
        </p:spPr>
        <p:txBody>
          <a:bodyPr/>
          <a:lstStyle/>
          <a:p>
            <a:endParaRPr/>
          </a:p>
        </p:txBody>
      </p:sp>
      <p:sp>
        <p:nvSpPr>
          <p:cNvPr id="32" name="テキスト ボックス 31">
            <a:extLst>
              <a:ext uri="{FF2B5EF4-FFF2-40B4-BE49-F238E27FC236}">
                <a16:creationId xmlns:a16="http://schemas.microsoft.com/office/drawing/2014/main" id="{E8F0E08D-C14E-188E-7CED-FC0857581B86}"/>
              </a:ext>
            </a:extLst>
          </p:cNvPr>
          <p:cNvSpPr>
            <a:spLocks noGrp="1"/>
          </p:cNvSpPr>
          <p:nvPr/>
        </p:nvSpPr>
        <p:spPr>
          <a:xfrm>
            <a:off x="6442308" y="2157275"/>
            <a:ext cx="777643" cy="307777"/>
          </a:xfrm>
          <a:prstGeom prst="rect">
            <a:avLst/>
          </a:prstGeom>
          <a:noFill/>
        </p:spPr>
        <p:txBody>
          <a:bodyPr wrap="square">
            <a:spAutoFit/>
          </a:bodyPr>
          <a:lstStyle/>
          <a:p>
            <a:pPr algn="ctr">
              <a:buNone/>
            </a:pPr>
            <a:r>
              <a:rPr sz="1400"/>
              <a:t>User</a:t>
            </a:r>
          </a:p>
        </p:txBody>
      </p:sp>
      <p:sp>
        <p:nvSpPr>
          <p:cNvPr id="29" name="グラフィックス 9">
            <a:extLst>
              <a:ext uri="{FF2B5EF4-FFF2-40B4-BE49-F238E27FC236}">
                <a16:creationId xmlns:a16="http://schemas.microsoft.com/office/drawing/2014/main" id="{EA818BFD-F3CC-D9DC-F17B-E2FD004076FE}"/>
              </a:ext>
            </a:extLst>
          </p:cNvPr>
          <p:cNvSpPr>
            <a:spLocks noGrp="1"/>
          </p:cNvSpPr>
          <p:nvPr/>
        </p:nvSpPr>
        <p:spPr>
          <a:xfrm flipH="1">
            <a:off x="4317140" y="1756805"/>
            <a:ext cx="385910" cy="388964"/>
          </a:xfrm>
          <a:custGeom>
            <a:avLst/>
            <a:gdLst/>
            <a:ahLst/>
            <a:cxnLst/>
            <a:rect l="l" t="t" r="r" b="b"/>
            <a:pathLst>
              <a:path w="956495" h="1133846">
                <a:moveTo>
                  <a:pt x="942292" y="613476"/>
                </a:moveTo>
                <a:lnTo>
                  <a:pt x="845250" y="444707"/>
                </a:lnTo>
                <a:lnTo>
                  <a:pt x="845250" y="437675"/>
                </a:lnTo>
                <a:cubicBezTo>
                  <a:pt x="853689" y="204212"/>
                  <a:pt x="670856" y="8721"/>
                  <a:pt x="437392" y="283"/>
                </a:cubicBezTo>
                <a:cubicBezTo>
                  <a:pt x="203929" y="-8156"/>
                  <a:pt x="8438" y="173271"/>
                  <a:pt x="0" y="406734"/>
                </a:cubicBezTo>
                <a:cubicBezTo>
                  <a:pt x="0" y="416579"/>
                  <a:pt x="0" y="427830"/>
                  <a:pt x="0" y="437675"/>
                </a:cubicBezTo>
                <a:cubicBezTo>
                  <a:pt x="0" y="571284"/>
                  <a:pt x="60475" y="696454"/>
                  <a:pt x="165956" y="778026"/>
                </a:cubicBezTo>
                <a:lnTo>
                  <a:pt x="165956" y="1133846"/>
                </a:lnTo>
                <a:lnTo>
                  <a:pt x="610380" y="1133846"/>
                </a:lnTo>
                <a:lnTo>
                  <a:pt x="610380" y="965078"/>
                </a:lnTo>
                <a:lnTo>
                  <a:pt x="679294" y="965078"/>
                </a:lnTo>
                <a:cubicBezTo>
                  <a:pt x="770711" y="965078"/>
                  <a:pt x="845250" y="890538"/>
                  <a:pt x="845250" y="799122"/>
                </a:cubicBezTo>
                <a:cubicBezTo>
                  <a:pt x="845250" y="797715"/>
                  <a:pt x="845250" y="797715"/>
                  <a:pt x="845250" y="796309"/>
                </a:cubicBezTo>
                <a:lnTo>
                  <a:pt x="845250" y="711924"/>
                </a:lnTo>
                <a:lnTo>
                  <a:pt x="907132" y="711924"/>
                </a:lnTo>
                <a:cubicBezTo>
                  <a:pt x="943699" y="707705"/>
                  <a:pt x="976046" y="665513"/>
                  <a:pt x="942292" y="613476"/>
                </a:cubicBezTo>
                <a:close/>
                <a:moveTo>
                  <a:pt x="63288" y="297035"/>
                </a:moveTo>
                <a:lnTo>
                  <a:pt x="140641" y="297035"/>
                </a:lnTo>
                <a:lnTo>
                  <a:pt x="140641" y="240778"/>
                </a:lnTo>
                <a:cubicBezTo>
                  <a:pt x="125170" y="229527"/>
                  <a:pt x="122357" y="207025"/>
                  <a:pt x="133609" y="191554"/>
                </a:cubicBezTo>
                <a:cubicBezTo>
                  <a:pt x="144860" y="176084"/>
                  <a:pt x="167362" y="173271"/>
                  <a:pt x="182833" y="184522"/>
                </a:cubicBezTo>
                <a:cubicBezTo>
                  <a:pt x="198303" y="195773"/>
                  <a:pt x="201116" y="218276"/>
                  <a:pt x="189865" y="233746"/>
                </a:cubicBezTo>
                <a:cubicBezTo>
                  <a:pt x="188458" y="236559"/>
                  <a:pt x="185646" y="239372"/>
                  <a:pt x="182833" y="240778"/>
                </a:cubicBezTo>
                <a:lnTo>
                  <a:pt x="182833" y="297035"/>
                </a:lnTo>
                <a:lnTo>
                  <a:pt x="239089" y="297035"/>
                </a:lnTo>
                <a:lnTo>
                  <a:pt x="239089" y="395483"/>
                </a:lnTo>
                <a:cubicBezTo>
                  <a:pt x="254560" y="406734"/>
                  <a:pt x="257372" y="429237"/>
                  <a:pt x="246121" y="444707"/>
                </a:cubicBezTo>
                <a:cubicBezTo>
                  <a:pt x="234870" y="460178"/>
                  <a:pt x="212367" y="462990"/>
                  <a:pt x="196897" y="451739"/>
                </a:cubicBezTo>
                <a:cubicBezTo>
                  <a:pt x="181426" y="440488"/>
                  <a:pt x="178614" y="417985"/>
                  <a:pt x="189865" y="402515"/>
                </a:cubicBezTo>
                <a:cubicBezTo>
                  <a:pt x="191271" y="399702"/>
                  <a:pt x="194084" y="396889"/>
                  <a:pt x="196897" y="395483"/>
                </a:cubicBezTo>
                <a:lnTo>
                  <a:pt x="196897" y="339227"/>
                </a:lnTo>
                <a:lnTo>
                  <a:pt x="50631" y="339227"/>
                </a:lnTo>
                <a:cubicBezTo>
                  <a:pt x="54850" y="325163"/>
                  <a:pt x="57663" y="311099"/>
                  <a:pt x="63288" y="297035"/>
                </a:cubicBezTo>
                <a:close/>
                <a:moveTo>
                  <a:pt x="454269" y="534717"/>
                </a:moveTo>
                <a:cubicBezTo>
                  <a:pt x="434580" y="534717"/>
                  <a:pt x="419109" y="519247"/>
                  <a:pt x="419109" y="499557"/>
                </a:cubicBezTo>
                <a:cubicBezTo>
                  <a:pt x="419109" y="498151"/>
                  <a:pt x="419109" y="495338"/>
                  <a:pt x="419109" y="493931"/>
                </a:cubicBezTo>
                <a:lnTo>
                  <a:pt x="382543" y="457365"/>
                </a:lnTo>
                <a:lnTo>
                  <a:pt x="323473" y="516434"/>
                </a:lnTo>
                <a:lnTo>
                  <a:pt x="323473" y="620508"/>
                </a:lnTo>
                <a:cubicBezTo>
                  <a:pt x="338944" y="631759"/>
                  <a:pt x="341757" y="654262"/>
                  <a:pt x="330505" y="669732"/>
                </a:cubicBezTo>
                <a:cubicBezTo>
                  <a:pt x="319254" y="685203"/>
                  <a:pt x="296752" y="688015"/>
                  <a:pt x="281281" y="676764"/>
                </a:cubicBezTo>
                <a:cubicBezTo>
                  <a:pt x="265811" y="665513"/>
                  <a:pt x="262998" y="643010"/>
                  <a:pt x="274249" y="627540"/>
                </a:cubicBezTo>
                <a:cubicBezTo>
                  <a:pt x="275656" y="624727"/>
                  <a:pt x="278468" y="621914"/>
                  <a:pt x="281281" y="620508"/>
                </a:cubicBezTo>
                <a:lnTo>
                  <a:pt x="281281" y="606444"/>
                </a:lnTo>
                <a:lnTo>
                  <a:pt x="187052" y="606444"/>
                </a:lnTo>
                <a:lnTo>
                  <a:pt x="120951" y="529092"/>
                </a:lnTo>
                <a:cubicBezTo>
                  <a:pt x="101261" y="530498"/>
                  <a:pt x="84384" y="516434"/>
                  <a:pt x="82978" y="496744"/>
                </a:cubicBezTo>
                <a:cubicBezTo>
                  <a:pt x="81572" y="477055"/>
                  <a:pt x="95636" y="460178"/>
                  <a:pt x="115325" y="458771"/>
                </a:cubicBezTo>
                <a:cubicBezTo>
                  <a:pt x="135015" y="457365"/>
                  <a:pt x="151892" y="471429"/>
                  <a:pt x="153298" y="491119"/>
                </a:cubicBezTo>
                <a:cubicBezTo>
                  <a:pt x="153298" y="493931"/>
                  <a:pt x="153298" y="498151"/>
                  <a:pt x="153298" y="500963"/>
                </a:cubicBezTo>
                <a:lnTo>
                  <a:pt x="206742" y="564252"/>
                </a:lnTo>
                <a:lnTo>
                  <a:pt x="281281" y="564252"/>
                </a:lnTo>
                <a:lnTo>
                  <a:pt x="281281" y="499557"/>
                </a:lnTo>
                <a:lnTo>
                  <a:pt x="353008" y="427830"/>
                </a:lnTo>
                <a:lnTo>
                  <a:pt x="309409" y="382825"/>
                </a:lnTo>
                <a:lnTo>
                  <a:pt x="309409" y="128266"/>
                </a:lnTo>
                <a:cubicBezTo>
                  <a:pt x="293939" y="117015"/>
                  <a:pt x="291126" y="94512"/>
                  <a:pt x="302377" y="79042"/>
                </a:cubicBezTo>
                <a:cubicBezTo>
                  <a:pt x="313629" y="63571"/>
                  <a:pt x="336131" y="60758"/>
                  <a:pt x="351602" y="72010"/>
                </a:cubicBezTo>
                <a:cubicBezTo>
                  <a:pt x="367072" y="83261"/>
                  <a:pt x="369885" y="105763"/>
                  <a:pt x="358634" y="121234"/>
                </a:cubicBezTo>
                <a:cubicBezTo>
                  <a:pt x="357227" y="124047"/>
                  <a:pt x="354414" y="126859"/>
                  <a:pt x="351602" y="128266"/>
                </a:cubicBezTo>
                <a:lnTo>
                  <a:pt x="351602" y="170458"/>
                </a:lnTo>
                <a:lnTo>
                  <a:pt x="464114" y="170458"/>
                </a:lnTo>
                <a:lnTo>
                  <a:pt x="464114" y="268906"/>
                </a:lnTo>
                <a:cubicBezTo>
                  <a:pt x="479585" y="280158"/>
                  <a:pt x="482397" y="302660"/>
                  <a:pt x="471146" y="318131"/>
                </a:cubicBezTo>
                <a:cubicBezTo>
                  <a:pt x="459895" y="333601"/>
                  <a:pt x="437392" y="336414"/>
                  <a:pt x="421922" y="325163"/>
                </a:cubicBezTo>
                <a:cubicBezTo>
                  <a:pt x="406451" y="313911"/>
                  <a:pt x="403639" y="291409"/>
                  <a:pt x="414890" y="275938"/>
                </a:cubicBezTo>
                <a:cubicBezTo>
                  <a:pt x="416296" y="273126"/>
                  <a:pt x="419109" y="270313"/>
                  <a:pt x="421922" y="268906"/>
                </a:cubicBezTo>
                <a:lnTo>
                  <a:pt x="421922" y="212650"/>
                </a:lnTo>
                <a:lnTo>
                  <a:pt x="351602" y="212650"/>
                </a:lnTo>
                <a:lnTo>
                  <a:pt x="351602" y="365948"/>
                </a:lnTo>
                <a:lnTo>
                  <a:pt x="450050" y="464397"/>
                </a:lnTo>
                <a:cubicBezTo>
                  <a:pt x="451456" y="464397"/>
                  <a:pt x="452863" y="464397"/>
                  <a:pt x="454269" y="464397"/>
                </a:cubicBezTo>
                <a:cubicBezTo>
                  <a:pt x="473959" y="464397"/>
                  <a:pt x="489429" y="479867"/>
                  <a:pt x="489429" y="499557"/>
                </a:cubicBezTo>
                <a:cubicBezTo>
                  <a:pt x="489429" y="519247"/>
                  <a:pt x="473959" y="534717"/>
                  <a:pt x="454269" y="534717"/>
                </a:cubicBezTo>
                <a:lnTo>
                  <a:pt x="454269" y="534717"/>
                </a:lnTo>
                <a:close/>
                <a:moveTo>
                  <a:pt x="625851" y="250623"/>
                </a:moveTo>
                <a:cubicBezTo>
                  <a:pt x="606161" y="250623"/>
                  <a:pt x="590691" y="235153"/>
                  <a:pt x="590691" y="215463"/>
                </a:cubicBezTo>
                <a:cubicBezTo>
                  <a:pt x="590691" y="214057"/>
                  <a:pt x="590691" y="214057"/>
                  <a:pt x="590691" y="212650"/>
                </a:cubicBezTo>
                <a:lnTo>
                  <a:pt x="534434" y="162020"/>
                </a:lnTo>
                <a:lnTo>
                  <a:pt x="534434" y="59352"/>
                </a:lnTo>
                <a:cubicBezTo>
                  <a:pt x="548498" y="63571"/>
                  <a:pt x="562563" y="69197"/>
                  <a:pt x="576627" y="74822"/>
                </a:cubicBezTo>
                <a:lnTo>
                  <a:pt x="576627" y="143736"/>
                </a:lnTo>
                <a:lnTo>
                  <a:pt x="618819" y="181709"/>
                </a:lnTo>
                <a:cubicBezTo>
                  <a:pt x="621632" y="181709"/>
                  <a:pt x="623038" y="181709"/>
                  <a:pt x="625851" y="181709"/>
                </a:cubicBezTo>
                <a:cubicBezTo>
                  <a:pt x="645541" y="181709"/>
                  <a:pt x="661011" y="197180"/>
                  <a:pt x="661011" y="216869"/>
                </a:cubicBezTo>
                <a:cubicBezTo>
                  <a:pt x="661011" y="236559"/>
                  <a:pt x="645541" y="250623"/>
                  <a:pt x="625851" y="250623"/>
                </a:cubicBezTo>
                <a:lnTo>
                  <a:pt x="625851" y="250623"/>
                </a:lnTo>
                <a:close/>
              </a:path>
            </a:pathLst>
          </a:custGeom>
          <a:solidFill>
            <a:srgbClr val="000000"/>
          </a:solidFill>
          <a:ln w="13990">
            <a:noFill/>
            <a:prstDash val="solid"/>
          </a:ln>
        </p:spPr>
        <p:txBody>
          <a:bodyPr/>
          <a:lstStyle/>
          <a:p>
            <a:endParaRPr/>
          </a:p>
        </p:txBody>
      </p:sp>
      <p:sp>
        <p:nvSpPr>
          <p:cNvPr id="24" name="Rounded Rectangle 5">
            <a:extLst>
              <a:ext uri="{FF2B5EF4-FFF2-40B4-BE49-F238E27FC236}">
                <a16:creationId xmlns:a16="http://schemas.microsoft.com/office/drawing/2014/main" id="{7CAF5548-F103-06AE-7E18-7C7AB423FC3F}"/>
              </a:ext>
            </a:extLst>
          </p:cNvPr>
          <p:cNvSpPr>
            <a:spLocks noGrp="1"/>
          </p:cNvSpPr>
          <p:nvPr/>
        </p:nvSpPr>
        <p:spPr>
          <a:xfrm>
            <a:off x="4647971" y="2476556"/>
            <a:ext cx="2483144" cy="720369"/>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After the Meitetsu Department Store closes, I want to test a hypothetical interim use of the existing building.</a:t>
            </a:r>
          </a:p>
        </p:txBody>
      </p:sp>
      <p:sp>
        <p:nvSpPr>
          <p:cNvPr id="25" name="Rounded Rectangle 5">
            <a:extLst>
              <a:ext uri="{FF2B5EF4-FFF2-40B4-BE49-F238E27FC236}">
                <a16:creationId xmlns:a16="http://schemas.microsoft.com/office/drawing/2014/main" id="{6B6EE906-7A32-0A92-BB5B-23873193CAB2}"/>
              </a:ext>
            </a:extLst>
          </p:cNvPr>
          <p:cNvSpPr>
            <a:spLocks noGrp="1"/>
          </p:cNvSpPr>
          <p:nvPr/>
        </p:nvSpPr>
        <p:spPr>
          <a:xfrm>
            <a:off x="4107911" y="3248978"/>
            <a:ext cx="2483144" cy="573877"/>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Former Meitetsu store area; about 1,000 m²; well connected to gates, bus center, and station.</a:t>
            </a:r>
          </a:p>
        </p:txBody>
      </p:sp>
      <p:sp>
        <p:nvSpPr>
          <p:cNvPr id="50" name="Rounded Rectangle 5">
            <a:extLst>
              <a:ext uri="{FF2B5EF4-FFF2-40B4-BE49-F238E27FC236}">
                <a16:creationId xmlns:a16="http://schemas.microsoft.com/office/drawing/2014/main" id="{C30373DE-ED63-0698-E8A6-8F78F21214EB}"/>
              </a:ext>
            </a:extLst>
          </p:cNvPr>
          <p:cNvSpPr>
            <a:spLocks noGrp="1"/>
          </p:cNvSpPr>
          <p:nvPr/>
        </p:nvSpPr>
        <p:spPr>
          <a:xfrm>
            <a:off x="4072394" y="4338362"/>
            <a:ext cx="2482137" cy="399170"/>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Based on nearby facilities, I’ll define candidate uses and scale.</a:t>
            </a:r>
          </a:p>
        </p:txBody>
      </p:sp>
      <p:sp>
        <p:nvSpPr>
          <p:cNvPr id="51" name="Rounded Rectangle 5">
            <a:extLst>
              <a:ext uri="{FF2B5EF4-FFF2-40B4-BE49-F238E27FC236}">
                <a16:creationId xmlns:a16="http://schemas.microsoft.com/office/drawing/2014/main" id="{B020A620-D008-CAD6-F3D8-2165E1C4197D}"/>
              </a:ext>
            </a:extLst>
          </p:cNvPr>
          <p:cNvSpPr>
            <a:spLocks noGrp="1"/>
          </p:cNvSpPr>
          <p:nvPr/>
        </p:nvSpPr>
        <p:spPr>
          <a:xfrm>
            <a:off x="4655840" y="4799034"/>
            <a:ext cx="2482137" cy="399170"/>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A place where station users can shop, eat, and rest.</a:t>
            </a:r>
          </a:p>
        </p:txBody>
      </p:sp>
      <p:sp>
        <p:nvSpPr>
          <p:cNvPr id="52" name="Rounded Rectangle 5">
            <a:extLst>
              <a:ext uri="{FF2B5EF4-FFF2-40B4-BE49-F238E27FC236}">
                <a16:creationId xmlns:a16="http://schemas.microsoft.com/office/drawing/2014/main" id="{DE60BB1C-A605-A4C6-6D0F-2D70EB3A84E9}"/>
              </a:ext>
            </a:extLst>
          </p:cNvPr>
          <p:cNvSpPr>
            <a:spLocks noGrp="1"/>
          </p:cNvSpPr>
          <p:nvPr/>
        </p:nvSpPr>
        <p:spPr>
          <a:xfrm>
            <a:off x="4072394" y="5260269"/>
            <a:ext cx="2482137" cy="399170"/>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Candidate: a mixed retail and dining facility.</a:t>
            </a:r>
          </a:p>
        </p:txBody>
      </p:sp>
      <p:sp>
        <p:nvSpPr>
          <p:cNvPr id="54" name="Rounded Rectangle 5">
            <a:extLst>
              <a:ext uri="{FF2B5EF4-FFF2-40B4-BE49-F238E27FC236}">
                <a16:creationId xmlns:a16="http://schemas.microsoft.com/office/drawing/2014/main" id="{F6191165-9121-0E03-B0FF-DEB59C654B4E}"/>
              </a:ext>
            </a:extLst>
          </p:cNvPr>
          <p:cNvSpPr>
            <a:spLocks noGrp="1"/>
          </p:cNvSpPr>
          <p:nvPr/>
        </p:nvSpPr>
        <p:spPr>
          <a:xfrm>
            <a:off x="4703050" y="5715061"/>
            <a:ext cx="2473070" cy="230353"/>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Focus on the lower floors.</a:t>
            </a:r>
          </a:p>
        </p:txBody>
      </p:sp>
      <p:sp>
        <p:nvSpPr>
          <p:cNvPr id="55" name="Rounded Rectangle 5">
            <a:extLst>
              <a:ext uri="{FF2B5EF4-FFF2-40B4-BE49-F238E27FC236}">
                <a16:creationId xmlns:a16="http://schemas.microsoft.com/office/drawing/2014/main" id="{2B43591C-33BD-0069-517F-137DE3DD6CFF}"/>
              </a:ext>
            </a:extLst>
          </p:cNvPr>
          <p:cNvSpPr>
            <a:spLocks noGrp="1"/>
          </p:cNvSpPr>
          <p:nvPr/>
        </p:nvSpPr>
        <p:spPr>
          <a:xfrm>
            <a:off x="4072394" y="5998378"/>
            <a:ext cx="2482137" cy="399170"/>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Set it as a low-rise retail and rest facility in front of the station.</a:t>
            </a:r>
          </a:p>
        </p:txBody>
      </p:sp>
      <p:sp>
        <p:nvSpPr>
          <p:cNvPr id="59" name="Rounded Rectangle 5">
            <a:extLst>
              <a:ext uri="{FF2B5EF4-FFF2-40B4-BE49-F238E27FC236}">
                <a16:creationId xmlns:a16="http://schemas.microsoft.com/office/drawing/2014/main" id="{5754FB86-EE13-1957-CCF2-1A88971F314A}"/>
              </a:ext>
            </a:extLst>
          </p:cNvPr>
          <p:cNvSpPr>
            <a:spLocks noGrp="1"/>
          </p:cNvSpPr>
          <p:nvPr/>
        </p:nvSpPr>
        <p:spPr>
          <a:xfrm>
            <a:off x="8708605" y="2539467"/>
            <a:ext cx="2482137" cy="257438"/>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Use floors 1–4.</a:t>
            </a:r>
          </a:p>
        </p:txBody>
      </p:sp>
      <p:sp>
        <p:nvSpPr>
          <p:cNvPr id="61" name="Rounded Rectangle 5">
            <a:extLst>
              <a:ext uri="{FF2B5EF4-FFF2-40B4-BE49-F238E27FC236}">
                <a16:creationId xmlns:a16="http://schemas.microsoft.com/office/drawing/2014/main" id="{2076248B-02EE-1BD1-E270-3326E6827907}"/>
              </a:ext>
            </a:extLst>
          </p:cNvPr>
          <p:cNvSpPr>
            <a:spLocks noGrp="1"/>
          </p:cNvSpPr>
          <p:nvPr/>
        </p:nvSpPr>
        <p:spPr>
          <a:xfrm>
            <a:off x="8708605" y="2836629"/>
            <a:ext cx="2482137" cy="397944"/>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GFA: about 4,000 m², mainly retail, with dining and social spaces.</a:t>
            </a:r>
          </a:p>
        </p:txBody>
      </p:sp>
      <p:sp>
        <p:nvSpPr>
          <p:cNvPr id="62" name="Rounded Rectangle 5">
            <a:extLst>
              <a:ext uri="{FF2B5EF4-FFF2-40B4-BE49-F238E27FC236}">
                <a16:creationId xmlns:a16="http://schemas.microsoft.com/office/drawing/2014/main" id="{7A93DCD4-AD3B-F4DA-92C9-F84ABBAA71B3}"/>
              </a:ext>
            </a:extLst>
          </p:cNvPr>
          <p:cNvSpPr>
            <a:spLocks noGrp="1"/>
          </p:cNvSpPr>
          <p:nvPr/>
        </p:nvSpPr>
        <p:spPr>
          <a:xfrm>
            <a:off x="8704939" y="3285082"/>
            <a:ext cx="2482137" cy="397944"/>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Assume 80% retail, 20% dining; open 10:00–18:00.</a:t>
            </a:r>
          </a:p>
        </p:txBody>
      </p:sp>
      <p:sp>
        <p:nvSpPr>
          <p:cNvPr id="63" name="Rounded Rectangle 5">
            <a:extLst>
              <a:ext uri="{FF2B5EF4-FFF2-40B4-BE49-F238E27FC236}">
                <a16:creationId xmlns:a16="http://schemas.microsoft.com/office/drawing/2014/main" id="{A8549FD5-2B3D-7F6A-9C22-A2C94539AD73}"/>
              </a:ext>
            </a:extLst>
          </p:cNvPr>
          <p:cNvSpPr>
            <a:spLocks noGrp="1"/>
          </p:cNvSpPr>
          <p:nvPr/>
        </p:nvSpPr>
        <p:spPr>
          <a:xfrm>
            <a:off x="9329498" y="3728746"/>
            <a:ext cx="2482137" cy="238547"/>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Proceed with these conditions.</a:t>
            </a:r>
          </a:p>
        </p:txBody>
      </p:sp>
      <p:sp>
        <p:nvSpPr>
          <p:cNvPr id="128" name="Rounded Rectangle 5">
            <a:extLst>
              <a:ext uri="{FF2B5EF4-FFF2-40B4-BE49-F238E27FC236}">
                <a16:creationId xmlns:a16="http://schemas.microsoft.com/office/drawing/2014/main" id="{877D59B7-F391-B689-F8C9-45230B9136C6}"/>
              </a:ext>
            </a:extLst>
          </p:cNvPr>
          <p:cNvSpPr>
            <a:spLocks noGrp="1"/>
          </p:cNvSpPr>
          <p:nvPr/>
        </p:nvSpPr>
        <p:spPr>
          <a:xfrm>
            <a:off x="8700051" y="4580635"/>
            <a:ext cx="2482137" cy="399170"/>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Use gates, passages, and street entrances as nodes.</a:t>
            </a:r>
          </a:p>
        </p:txBody>
      </p:sp>
      <p:sp>
        <p:nvSpPr>
          <p:cNvPr id="130" name="Rounded Rectangle 5">
            <a:extLst>
              <a:ext uri="{FF2B5EF4-FFF2-40B4-BE49-F238E27FC236}">
                <a16:creationId xmlns:a16="http://schemas.microsoft.com/office/drawing/2014/main" id="{934A8A9E-C0EC-A313-0B6C-8860E180404C}"/>
              </a:ext>
            </a:extLst>
          </p:cNvPr>
          <p:cNvSpPr>
            <a:spLocks noGrp="1"/>
          </p:cNvSpPr>
          <p:nvPr/>
        </p:nvSpPr>
        <p:spPr>
          <a:xfrm>
            <a:off x="9329498" y="5041307"/>
            <a:ext cx="2482137" cy="399170"/>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Include transfers to the bus center, Kintetsu, and JR.</a:t>
            </a:r>
          </a:p>
        </p:txBody>
      </p:sp>
      <p:sp>
        <p:nvSpPr>
          <p:cNvPr id="132" name="Rounded Rectangle 5">
            <a:extLst>
              <a:ext uri="{FF2B5EF4-FFF2-40B4-BE49-F238E27FC236}">
                <a16:creationId xmlns:a16="http://schemas.microsoft.com/office/drawing/2014/main" id="{469A67E9-DAC1-CF73-57E7-A920C135D4E0}"/>
              </a:ext>
            </a:extLst>
          </p:cNvPr>
          <p:cNvSpPr>
            <a:spLocks noGrp="1"/>
          </p:cNvSpPr>
          <p:nvPr/>
        </p:nvSpPr>
        <p:spPr>
          <a:xfrm>
            <a:off x="8700051" y="5502542"/>
            <a:ext cx="2482137" cy="399170"/>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Place dining for easy direct access from transfer passages.</a:t>
            </a:r>
          </a:p>
        </p:txBody>
      </p:sp>
      <p:sp>
        <p:nvSpPr>
          <p:cNvPr id="134" name="Rounded Rectangle 5">
            <a:extLst>
              <a:ext uri="{FF2B5EF4-FFF2-40B4-BE49-F238E27FC236}">
                <a16:creationId xmlns:a16="http://schemas.microsoft.com/office/drawing/2014/main" id="{B0155DE1-07A2-5092-54C5-D4F6B839096C}"/>
              </a:ext>
            </a:extLst>
          </p:cNvPr>
          <p:cNvSpPr>
            <a:spLocks noGrp="1"/>
          </p:cNvSpPr>
          <p:nvPr/>
        </p:nvSpPr>
        <p:spPr>
          <a:xfrm>
            <a:off x="8715273" y="5965907"/>
            <a:ext cx="2482137" cy="399170"/>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Output pedestrian-flow model inputs from the dialogue.</a:t>
            </a:r>
          </a:p>
        </p:txBody>
      </p:sp>
      <p:sp>
        <p:nvSpPr>
          <p:cNvPr id="44" name="Rounded Rectangle 5">
            <a:extLst>
              <a:ext uri="{FF2B5EF4-FFF2-40B4-BE49-F238E27FC236}">
                <a16:creationId xmlns:a16="http://schemas.microsoft.com/office/drawing/2014/main" id="{670416E6-6D7B-A209-7791-301DA7440C98}"/>
              </a:ext>
            </a:extLst>
          </p:cNvPr>
          <p:cNvSpPr>
            <a:spLocks noGrp="1"/>
          </p:cNvSpPr>
          <p:nvPr/>
        </p:nvSpPr>
        <p:spPr>
          <a:xfrm>
            <a:off x="4258437" y="2172300"/>
            <a:ext cx="553714" cy="239162"/>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cxnSp>
        <p:nvCxnSpPr>
          <p:cNvPr id="614" name="コネクタ: カギ線 55"/>
          <p:cNvCxnSpPr>
            <a:stCxn id="15" idx="3"/>
            <a:endCxn id="18" idx="1"/>
          </p:cNvCxnSpPr>
          <p:nvPr/>
        </p:nvCxnSpPr>
        <p:spPr>
          <a:xfrm flipV="1">
            <a:off x="7286980" y="2719551"/>
            <a:ext cx="1300330" cy="2483457"/>
          </a:xfrm>
          <a:prstGeom prst="bentConnector3">
            <a:avLst/>
          </a:prstGeom>
          <a:ln w="38100">
            <a:tailEnd type="triangle"/>
          </a:ln>
        </p:spPr>
        <p:style>
          <a:lnRef idx="2">
            <a:schemeClr val="dk1"/>
          </a:lnRef>
          <a:fillRef idx="0">
            <a:schemeClr val="dk1"/>
          </a:fillRef>
          <a:effectRef idx="1">
            <a:schemeClr val="dk1"/>
          </a:effectRef>
          <a:fontRef idx="minor">
            <a:schemeClr val="tx1"/>
          </a:fontRef>
        </p:style>
      </p:cxnSp>
      <p:sp>
        <p:nvSpPr>
          <p:cNvPr id="35" name="テキスト ボックス 34">
            <a:extLst>
              <a:ext uri="{FF2B5EF4-FFF2-40B4-BE49-F238E27FC236}">
                <a16:creationId xmlns:a16="http://schemas.microsoft.com/office/drawing/2014/main" id="{20E4CE7C-7893-ED73-602B-9EC38EB7DC62}"/>
              </a:ext>
            </a:extLst>
          </p:cNvPr>
          <p:cNvSpPr>
            <a:spLocks noGrp="1"/>
          </p:cNvSpPr>
          <p:nvPr/>
        </p:nvSpPr>
        <p:spPr>
          <a:xfrm>
            <a:off x="4258437" y="2113212"/>
            <a:ext cx="553714" cy="338554"/>
          </a:xfrm>
          <a:prstGeom prst="rect">
            <a:avLst/>
          </a:prstGeom>
          <a:noFill/>
        </p:spPr>
        <p:txBody>
          <a:bodyPr wrap="square">
            <a:spAutoFit/>
          </a:bodyPr>
          <a:lstStyle/>
          <a:p>
            <a:pPr algn="ctr">
              <a:buNone/>
            </a:pPr>
            <a:r>
              <a:rPr sz="1600"/>
              <a:t>LLM</a:t>
            </a:r>
          </a:p>
        </p:txBody>
      </p:sp>
      <p:sp>
        <p:nvSpPr>
          <p:cNvPr id="42" name="Rounded Rectangle 5">
            <a:extLst>
              <a:ext uri="{FF2B5EF4-FFF2-40B4-BE49-F238E27FC236}">
                <a16:creationId xmlns:a16="http://schemas.microsoft.com/office/drawing/2014/main" id="{8516D0A0-491C-9680-7C5D-3345C1021839}"/>
              </a:ext>
            </a:extLst>
          </p:cNvPr>
          <p:cNvSpPr>
            <a:spLocks noGrp="1"/>
          </p:cNvSpPr>
          <p:nvPr/>
        </p:nvSpPr>
        <p:spPr>
          <a:xfrm>
            <a:off x="6453492" y="2176155"/>
            <a:ext cx="739427" cy="240714"/>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1" name="円/楕円 10">
            <a:extLst>
              <a:ext uri="{FF2B5EF4-FFF2-40B4-BE49-F238E27FC236}">
                <a16:creationId xmlns:a16="http://schemas.microsoft.com/office/drawing/2014/main" id="{88D8AA15-5F7F-752A-29E3-0F98B3B59237}"/>
              </a:ext>
            </a:extLst>
          </p:cNvPr>
          <p:cNvSpPr>
            <a:spLocks noGrp="1"/>
          </p:cNvSpPr>
          <p:nvPr/>
        </p:nvSpPr>
        <p:spPr>
          <a:xfrm>
            <a:off x="11346478" y="1781220"/>
            <a:ext cx="192955" cy="180829"/>
          </a:xfrm>
          <a:prstGeom prst="ellipse">
            <a:avLst/>
          </a:prstGeom>
          <a:solidFill>
            <a:srgbClr val="000000"/>
          </a:solidFill>
          <a:ln w="15478">
            <a:noFill/>
            <a:prstDash val="solid"/>
          </a:ln>
        </p:spPr>
        <p:txBody>
          <a:bodyPr/>
          <a:lstStyle/>
          <a:p>
            <a:endParaRPr/>
          </a:p>
        </p:txBody>
      </p:sp>
      <p:sp>
        <p:nvSpPr>
          <p:cNvPr id="30" name="フリーフォーム 29">
            <a:extLst>
              <a:ext uri="{FF2B5EF4-FFF2-40B4-BE49-F238E27FC236}">
                <a16:creationId xmlns:a16="http://schemas.microsoft.com/office/drawing/2014/main" id="{1FA24AA5-F1DA-A3CD-668F-D5EDE5D3AB77}"/>
              </a:ext>
            </a:extLst>
          </p:cNvPr>
          <p:cNvSpPr>
            <a:spLocks noGrp="1"/>
          </p:cNvSpPr>
          <p:nvPr/>
        </p:nvSpPr>
        <p:spPr>
          <a:xfrm>
            <a:off x="11250001" y="1984653"/>
            <a:ext cx="385910" cy="180829"/>
          </a:xfrm>
          <a:custGeom>
            <a:avLst/>
            <a:gdLst/>
            <a:ahLst/>
            <a:cxnLst/>
            <a:rect l="l" t="t" r="r" b="b"/>
            <a:pathLst>
              <a:path w="992220" h="496110">
                <a:moveTo>
                  <a:pt x="992221" y="496110"/>
                </a:moveTo>
                <a:lnTo>
                  <a:pt x="992221" y="248055"/>
                </a:lnTo>
                <a:cubicBezTo>
                  <a:pt x="992221" y="210847"/>
                  <a:pt x="973617" y="173639"/>
                  <a:pt x="942610" y="148833"/>
                </a:cubicBezTo>
                <a:cubicBezTo>
                  <a:pt x="874395" y="93021"/>
                  <a:pt x="787575" y="55812"/>
                  <a:pt x="700756" y="31007"/>
                </a:cubicBezTo>
                <a:cubicBezTo>
                  <a:pt x="638742" y="12403"/>
                  <a:pt x="570527" y="0"/>
                  <a:pt x="496110" y="0"/>
                </a:cubicBezTo>
                <a:cubicBezTo>
                  <a:pt x="427895" y="0"/>
                  <a:pt x="359680" y="12403"/>
                  <a:pt x="291465" y="31007"/>
                </a:cubicBezTo>
                <a:cubicBezTo>
                  <a:pt x="204646" y="55812"/>
                  <a:pt x="117826" y="99222"/>
                  <a:pt x="49611" y="148833"/>
                </a:cubicBezTo>
                <a:cubicBezTo>
                  <a:pt x="18604" y="173639"/>
                  <a:pt x="0" y="210847"/>
                  <a:pt x="0" y="248055"/>
                </a:cubicBezTo>
                <a:lnTo>
                  <a:pt x="0" y="496110"/>
                </a:lnTo>
                <a:lnTo>
                  <a:pt x="992221" y="496110"/>
                </a:lnTo>
                <a:close/>
              </a:path>
            </a:pathLst>
          </a:custGeom>
          <a:solidFill>
            <a:srgbClr val="000000"/>
          </a:solidFill>
          <a:ln w="15478">
            <a:noFill/>
            <a:prstDash val="solid"/>
          </a:ln>
        </p:spPr>
        <p:txBody>
          <a:bodyPr/>
          <a:lstStyle/>
          <a:p>
            <a:endParaRPr/>
          </a:p>
        </p:txBody>
      </p:sp>
      <p:sp>
        <p:nvSpPr>
          <p:cNvPr id="36" name="テキスト ボックス 35">
            <a:extLst>
              <a:ext uri="{FF2B5EF4-FFF2-40B4-BE49-F238E27FC236}">
                <a16:creationId xmlns:a16="http://schemas.microsoft.com/office/drawing/2014/main" id="{853B3141-7EFE-CC87-60F2-E8F0C8379384}"/>
              </a:ext>
            </a:extLst>
          </p:cNvPr>
          <p:cNvSpPr>
            <a:spLocks noGrp="1"/>
          </p:cNvSpPr>
          <p:nvPr/>
        </p:nvSpPr>
        <p:spPr>
          <a:xfrm>
            <a:off x="11056249" y="2180734"/>
            <a:ext cx="777643" cy="307777"/>
          </a:xfrm>
          <a:prstGeom prst="rect">
            <a:avLst/>
          </a:prstGeom>
          <a:noFill/>
        </p:spPr>
        <p:txBody>
          <a:bodyPr wrap="square">
            <a:spAutoFit/>
          </a:bodyPr>
          <a:lstStyle/>
          <a:p>
            <a:pPr algn="ctr">
              <a:buNone/>
            </a:pPr>
            <a:r>
              <a:rPr sz="1400"/>
              <a:t>User</a:t>
            </a:r>
          </a:p>
        </p:txBody>
      </p:sp>
      <p:sp>
        <p:nvSpPr>
          <p:cNvPr id="37" name="グラフィックス 9">
            <a:extLst>
              <a:ext uri="{FF2B5EF4-FFF2-40B4-BE49-F238E27FC236}">
                <a16:creationId xmlns:a16="http://schemas.microsoft.com/office/drawing/2014/main" id="{E428498D-7F5C-ADC8-F3DD-CF31C214055F}"/>
              </a:ext>
            </a:extLst>
          </p:cNvPr>
          <p:cNvSpPr>
            <a:spLocks noGrp="1"/>
          </p:cNvSpPr>
          <p:nvPr/>
        </p:nvSpPr>
        <p:spPr>
          <a:xfrm flipH="1">
            <a:off x="8931081" y="1780264"/>
            <a:ext cx="385910" cy="388964"/>
          </a:xfrm>
          <a:custGeom>
            <a:avLst/>
            <a:gdLst/>
            <a:ahLst/>
            <a:cxnLst/>
            <a:rect l="l" t="t" r="r" b="b"/>
            <a:pathLst>
              <a:path w="956495" h="1133846">
                <a:moveTo>
                  <a:pt x="942292" y="613476"/>
                </a:moveTo>
                <a:lnTo>
                  <a:pt x="845250" y="444707"/>
                </a:lnTo>
                <a:lnTo>
                  <a:pt x="845250" y="437675"/>
                </a:lnTo>
                <a:cubicBezTo>
                  <a:pt x="853689" y="204212"/>
                  <a:pt x="670856" y="8721"/>
                  <a:pt x="437392" y="283"/>
                </a:cubicBezTo>
                <a:cubicBezTo>
                  <a:pt x="203929" y="-8156"/>
                  <a:pt x="8438" y="173271"/>
                  <a:pt x="0" y="406734"/>
                </a:cubicBezTo>
                <a:cubicBezTo>
                  <a:pt x="0" y="416579"/>
                  <a:pt x="0" y="427830"/>
                  <a:pt x="0" y="437675"/>
                </a:cubicBezTo>
                <a:cubicBezTo>
                  <a:pt x="0" y="571284"/>
                  <a:pt x="60475" y="696454"/>
                  <a:pt x="165956" y="778026"/>
                </a:cubicBezTo>
                <a:lnTo>
                  <a:pt x="165956" y="1133846"/>
                </a:lnTo>
                <a:lnTo>
                  <a:pt x="610380" y="1133846"/>
                </a:lnTo>
                <a:lnTo>
                  <a:pt x="610380" y="965078"/>
                </a:lnTo>
                <a:lnTo>
                  <a:pt x="679294" y="965078"/>
                </a:lnTo>
                <a:cubicBezTo>
                  <a:pt x="770711" y="965078"/>
                  <a:pt x="845250" y="890538"/>
                  <a:pt x="845250" y="799122"/>
                </a:cubicBezTo>
                <a:cubicBezTo>
                  <a:pt x="845250" y="797715"/>
                  <a:pt x="845250" y="797715"/>
                  <a:pt x="845250" y="796309"/>
                </a:cubicBezTo>
                <a:lnTo>
                  <a:pt x="845250" y="711924"/>
                </a:lnTo>
                <a:lnTo>
                  <a:pt x="907132" y="711924"/>
                </a:lnTo>
                <a:cubicBezTo>
                  <a:pt x="943699" y="707705"/>
                  <a:pt x="976046" y="665513"/>
                  <a:pt x="942292" y="613476"/>
                </a:cubicBezTo>
                <a:close/>
                <a:moveTo>
                  <a:pt x="63288" y="297035"/>
                </a:moveTo>
                <a:lnTo>
                  <a:pt x="140641" y="297035"/>
                </a:lnTo>
                <a:lnTo>
                  <a:pt x="140641" y="240778"/>
                </a:lnTo>
                <a:cubicBezTo>
                  <a:pt x="125170" y="229527"/>
                  <a:pt x="122357" y="207025"/>
                  <a:pt x="133609" y="191554"/>
                </a:cubicBezTo>
                <a:cubicBezTo>
                  <a:pt x="144860" y="176084"/>
                  <a:pt x="167362" y="173271"/>
                  <a:pt x="182833" y="184522"/>
                </a:cubicBezTo>
                <a:cubicBezTo>
                  <a:pt x="198303" y="195773"/>
                  <a:pt x="201116" y="218276"/>
                  <a:pt x="189865" y="233746"/>
                </a:cubicBezTo>
                <a:cubicBezTo>
                  <a:pt x="188458" y="236559"/>
                  <a:pt x="185646" y="239372"/>
                  <a:pt x="182833" y="240778"/>
                </a:cubicBezTo>
                <a:lnTo>
                  <a:pt x="182833" y="297035"/>
                </a:lnTo>
                <a:lnTo>
                  <a:pt x="239089" y="297035"/>
                </a:lnTo>
                <a:lnTo>
                  <a:pt x="239089" y="395483"/>
                </a:lnTo>
                <a:cubicBezTo>
                  <a:pt x="254560" y="406734"/>
                  <a:pt x="257372" y="429237"/>
                  <a:pt x="246121" y="444707"/>
                </a:cubicBezTo>
                <a:cubicBezTo>
                  <a:pt x="234870" y="460178"/>
                  <a:pt x="212367" y="462990"/>
                  <a:pt x="196897" y="451739"/>
                </a:cubicBezTo>
                <a:cubicBezTo>
                  <a:pt x="181426" y="440488"/>
                  <a:pt x="178614" y="417985"/>
                  <a:pt x="189865" y="402515"/>
                </a:cubicBezTo>
                <a:cubicBezTo>
                  <a:pt x="191271" y="399702"/>
                  <a:pt x="194084" y="396889"/>
                  <a:pt x="196897" y="395483"/>
                </a:cubicBezTo>
                <a:lnTo>
                  <a:pt x="196897" y="339227"/>
                </a:lnTo>
                <a:lnTo>
                  <a:pt x="50631" y="339227"/>
                </a:lnTo>
                <a:cubicBezTo>
                  <a:pt x="54850" y="325163"/>
                  <a:pt x="57663" y="311099"/>
                  <a:pt x="63288" y="297035"/>
                </a:cubicBezTo>
                <a:close/>
                <a:moveTo>
                  <a:pt x="454269" y="534717"/>
                </a:moveTo>
                <a:cubicBezTo>
                  <a:pt x="434580" y="534717"/>
                  <a:pt x="419109" y="519247"/>
                  <a:pt x="419109" y="499557"/>
                </a:cubicBezTo>
                <a:cubicBezTo>
                  <a:pt x="419109" y="498151"/>
                  <a:pt x="419109" y="495338"/>
                  <a:pt x="419109" y="493931"/>
                </a:cubicBezTo>
                <a:lnTo>
                  <a:pt x="382543" y="457365"/>
                </a:lnTo>
                <a:lnTo>
                  <a:pt x="323473" y="516434"/>
                </a:lnTo>
                <a:lnTo>
                  <a:pt x="323473" y="620508"/>
                </a:lnTo>
                <a:cubicBezTo>
                  <a:pt x="338944" y="631759"/>
                  <a:pt x="341757" y="654262"/>
                  <a:pt x="330505" y="669732"/>
                </a:cubicBezTo>
                <a:cubicBezTo>
                  <a:pt x="319254" y="685203"/>
                  <a:pt x="296752" y="688015"/>
                  <a:pt x="281281" y="676764"/>
                </a:cubicBezTo>
                <a:cubicBezTo>
                  <a:pt x="265811" y="665513"/>
                  <a:pt x="262998" y="643010"/>
                  <a:pt x="274249" y="627540"/>
                </a:cubicBezTo>
                <a:cubicBezTo>
                  <a:pt x="275656" y="624727"/>
                  <a:pt x="278468" y="621914"/>
                  <a:pt x="281281" y="620508"/>
                </a:cubicBezTo>
                <a:lnTo>
                  <a:pt x="281281" y="606444"/>
                </a:lnTo>
                <a:lnTo>
                  <a:pt x="187052" y="606444"/>
                </a:lnTo>
                <a:lnTo>
                  <a:pt x="120951" y="529092"/>
                </a:lnTo>
                <a:cubicBezTo>
                  <a:pt x="101261" y="530498"/>
                  <a:pt x="84384" y="516434"/>
                  <a:pt x="82978" y="496744"/>
                </a:cubicBezTo>
                <a:cubicBezTo>
                  <a:pt x="81572" y="477055"/>
                  <a:pt x="95636" y="460178"/>
                  <a:pt x="115325" y="458771"/>
                </a:cubicBezTo>
                <a:cubicBezTo>
                  <a:pt x="135015" y="457365"/>
                  <a:pt x="151892" y="471429"/>
                  <a:pt x="153298" y="491119"/>
                </a:cubicBezTo>
                <a:cubicBezTo>
                  <a:pt x="153298" y="493931"/>
                  <a:pt x="153298" y="498151"/>
                  <a:pt x="153298" y="500963"/>
                </a:cubicBezTo>
                <a:lnTo>
                  <a:pt x="206742" y="564252"/>
                </a:lnTo>
                <a:lnTo>
                  <a:pt x="281281" y="564252"/>
                </a:lnTo>
                <a:lnTo>
                  <a:pt x="281281" y="499557"/>
                </a:lnTo>
                <a:lnTo>
                  <a:pt x="353008" y="427830"/>
                </a:lnTo>
                <a:lnTo>
                  <a:pt x="309409" y="382825"/>
                </a:lnTo>
                <a:lnTo>
                  <a:pt x="309409" y="128266"/>
                </a:lnTo>
                <a:cubicBezTo>
                  <a:pt x="293939" y="117015"/>
                  <a:pt x="291126" y="94512"/>
                  <a:pt x="302377" y="79042"/>
                </a:cubicBezTo>
                <a:cubicBezTo>
                  <a:pt x="313629" y="63571"/>
                  <a:pt x="336131" y="60758"/>
                  <a:pt x="351602" y="72010"/>
                </a:cubicBezTo>
                <a:cubicBezTo>
                  <a:pt x="367072" y="83261"/>
                  <a:pt x="369885" y="105763"/>
                  <a:pt x="358634" y="121234"/>
                </a:cubicBezTo>
                <a:cubicBezTo>
                  <a:pt x="357227" y="124047"/>
                  <a:pt x="354414" y="126859"/>
                  <a:pt x="351602" y="128266"/>
                </a:cubicBezTo>
                <a:lnTo>
                  <a:pt x="351602" y="170458"/>
                </a:lnTo>
                <a:lnTo>
                  <a:pt x="464114" y="170458"/>
                </a:lnTo>
                <a:lnTo>
                  <a:pt x="464114" y="268906"/>
                </a:lnTo>
                <a:cubicBezTo>
                  <a:pt x="479585" y="280158"/>
                  <a:pt x="482397" y="302660"/>
                  <a:pt x="471146" y="318131"/>
                </a:cubicBezTo>
                <a:cubicBezTo>
                  <a:pt x="459895" y="333601"/>
                  <a:pt x="437392" y="336414"/>
                  <a:pt x="421922" y="325163"/>
                </a:cubicBezTo>
                <a:cubicBezTo>
                  <a:pt x="406451" y="313911"/>
                  <a:pt x="403639" y="291409"/>
                  <a:pt x="414890" y="275938"/>
                </a:cubicBezTo>
                <a:cubicBezTo>
                  <a:pt x="416296" y="273126"/>
                  <a:pt x="419109" y="270313"/>
                  <a:pt x="421922" y="268906"/>
                </a:cubicBezTo>
                <a:lnTo>
                  <a:pt x="421922" y="212650"/>
                </a:lnTo>
                <a:lnTo>
                  <a:pt x="351602" y="212650"/>
                </a:lnTo>
                <a:lnTo>
                  <a:pt x="351602" y="365948"/>
                </a:lnTo>
                <a:lnTo>
                  <a:pt x="450050" y="464397"/>
                </a:lnTo>
                <a:cubicBezTo>
                  <a:pt x="451456" y="464397"/>
                  <a:pt x="452863" y="464397"/>
                  <a:pt x="454269" y="464397"/>
                </a:cubicBezTo>
                <a:cubicBezTo>
                  <a:pt x="473959" y="464397"/>
                  <a:pt x="489429" y="479867"/>
                  <a:pt x="489429" y="499557"/>
                </a:cubicBezTo>
                <a:cubicBezTo>
                  <a:pt x="489429" y="519247"/>
                  <a:pt x="473959" y="534717"/>
                  <a:pt x="454269" y="534717"/>
                </a:cubicBezTo>
                <a:lnTo>
                  <a:pt x="454269" y="534717"/>
                </a:lnTo>
                <a:close/>
                <a:moveTo>
                  <a:pt x="625851" y="250623"/>
                </a:moveTo>
                <a:cubicBezTo>
                  <a:pt x="606161" y="250623"/>
                  <a:pt x="590691" y="235153"/>
                  <a:pt x="590691" y="215463"/>
                </a:cubicBezTo>
                <a:cubicBezTo>
                  <a:pt x="590691" y="214057"/>
                  <a:pt x="590691" y="214057"/>
                  <a:pt x="590691" y="212650"/>
                </a:cubicBezTo>
                <a:lnTo>
                  <a:pt x="534434" y="162020"/>
                </a:lnTo>
                <a:lnTo>
                  <a:pt x="534434" y="59352"/>
                </a:lnTo>
                <a:cubicBezTo>
                  <a:pt x="548498" y="63571"/>
                  <a:pt x="562563" y="69197"/>
                  <a:pt x="576627" y="74822"/>
                </a:cubicBezTo>
                <a:lnTo>
                  <a:pt x="576627" y="143736"/>
                </a:lnTo>
                <a:lnTo>
                  <a:pt x="618819" y="181709"/>
                </a:lnTo>
                <a:cubicBezTo>
                  <a:pt x="621632" y="181709"/>
                  <a:pt x="623038" y="181709"/>
                  <a:pt x="625851" y="181709"/>
                </a:cubicBezTo>
                <a:cubicBezTo>
                  <a:pt x="645541" y="181709"/>
                  <a:pt x="661011" y="197180"/>
                  <a:pt x="661011" y="216869"/>
                </a:cubicBezTo>
                <a:cubicBezTo>
                  <a:pt x="661011" y="236559"/>
                  <a:pt x="645541" y="250623"/>
                  <a:pt x="625851" y="250623"/>
                </a:cubicBezTo>
                <a:lnTo>
                  <a:pt x="625851" y="250623"/>
                </a:lnTo>
                <a:close/>
              </a:path>
            </a:pathLst>
          </a:custGeom>
          <a:solidFill>
            <a:srgbClr val="000000"/>
          </a:solidFill>
          <a:ln w="13990">
            <a:noFill/>
            <a:prstDash val="solid"/>
          </a:ln>
        </p:spPr>
        <p:txBody>
          <a:bodyPr/>
          <a:lstStyle/>
          <a:p>
            <a:endParaRPr/>
          </a:p>
        </p:txBody>
      </p:sp>
      <p:sp>
        <p:nvSpPr>
          <p:cNvPr id="38" name="Rounded Rectangle 5">
            <a:extLst>
              <a:ext uri="{FF2B5EF4-FFF2-40B4-BE49-F238E27FC236}">
                <a16:creationId xmlns:a16="http://schemas.microsoft.com/office/drawing/2014/main" id="{9B05DC08-169C-BD4A-8404-2F9E2F8BC8AA}"/>
              </a:ext>
            </a:extLst>
          </p:cNvPr>
          <p:cNvSpPr>
            <a:spLocks noGrp="1"/>
          </p:cNvSpPr>
          <p:nvPr/>
        </p:nvSpPr>
        <p:spPr>
          <a:xfrm>
            <a:off x="8872378" y="2195759"/>
            <a:ext cx="553714" cy="239162"/>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45" name="テキスト ボックス 44">
            <a:extLst>
              <a:ext uri="{FF2B5EF4-FFF2-40B4-BE49-F238E27FC236}">
                <a16:creationId xmlns:a16="http://schemas.microsoft.com/office/drawing/2014/main" id="{D9479098-0D86-35C4-C645-822730DE3546}"/>
              </a:ext>
            </a:extLst>
          </p:cNvPr>
          <p:cNvSpPr>
            <a:spLocks noGrp="1"/>
          </p:cNvSpPr>
          <p:nvPr/>
        </p:nvSpPr>
        <p:spPr>
          <a:xfrm>
            <a:off x="8872378" y="2136671"/>
            <a:ext cx="553714" cy="338554"/>
          </a:xfrm>
          <a:prstGeom prst="rect">
            <a:avLst/>
          </a:prstGeom>
          <a:noFill/>
        </p:spPr>
        <p:txBody>
          <a:bodyPr wrap="square">
            <a:spAutoFit/>
          </a:bodyPr>
          <a:lstStyle/>
          <a:p>
            <a:pPr algn="ctr">
              <a:buNone/>
            </a:pPr>
            <a:r>
              <a:rPr sz="1600"/>
              <a:t>LLM</a:t>
            </a:r>
          </a:p>
        </p:txBody>
      </p:sp>
      <p:sp>
        <p:nvSpPr>
          <p:cNvPr id="53" name="Rounded Rectangle 5">
            <a:extLst>
              <a:ext uri="{FF2B5EF4-FFF2-40B4-BE49-F238E27FC236}">
                <a16:creationId xmlns:a16="http://schemas.microsoft.com/office/drawing/2014/main" id="{A4B7F48F-2BDA-3968-8093-FDD6178052B0}"/>
              </a:ext>
            </a:extLst>
          </p:cNvPr>
          <p:cNvSpPr>
            <a:spLocks noGrp="1"/>
          </p:cNvSpPr>
          <p:nvPr/>
        </p:nvSpPr>
        <p:spPr>
          <a:xfrm>
            <a:off x="11067433" y="2199614"/>
            <a:ext cx="739427" cy="240714"/>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pic>
        <p:nvPicPr>
          <p:cNvPr id="624" name="図 8"/>
          <p:cNvPicPr>
            <a:picLocks noChangeAspect="1"/>
          </p:cNvPicPr>
          <p:nvPr/>
        </p:nvPicPr>
        <p:blipFill>
          <a:blip r:embed="rId3"/>
          <a:srcRect l="17000" r="17000"/>
          <a:stretch/>
        </p:blipFill>
        <p:spPr>
          <a:xfrm>
            <a:off x="610833" y="2229703"/>
            <a:ext cx="2980346" cy="4100906"/>
          </a:xfrm>
          <a:prstGeom prst="rect">
            <a:avLst/>
          </a:prstGeom>
        </p:spPr>
      </p:pic>
      <p:sp>
        <p:nvSpPr>
          <p:cNvPr id="8" name="Oval 6">
            <a:extLst>
              <a:ext uri="{FF2B5EF4-FFF2-40B4-BE49-F238E27FC236}">
                <a16:creationId xmlns:a16="http://schemas.microsoft.com/office/drawing/2014/main" id="{8407D8E1-B5F0-1083-8037-0021C9FC34E5}"/>
              </a:ext>
            </a:extLst>
          </p:cNvPr>
          <p:cNvSpPr>
            <a:spLocks noGrp="1"/>
          </p:cNvSpPr>
          <p:nvPr/>
        </p:nvSpPr>
        <p:spPr>
          <a:xfrm>
            <a:off x="1395033" y="4382015"/>
            <a:ext cx="158687" cy="164183"/>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1</a:t>
            </a:r>
          </a:p>
        </p:txBody>
      </p:sp>
      <p:sp>
        <p:nvSpPr>
          <p:cNvPr id="9" name="テキスト ボックス 10">
            <a:extLst>
              <a:ext uri="{FF2B5EF4-FFF2-40B4-BE49-F238E27FC236}">
                <a16:creationId xmlns:a16="http://schemas.microsoft.com/office/drawing/2014/main" id="{A1302200-DFE7-6867-46E0-B6B74A66711D}"/>
              </a:ext>
            </a:extLst>
          </p:cNvPr>
          <p:cNvSpPr>
            <a:spLocks noGrp="1"/>
          </p:cNvSpPr>
          <p:nvPr/>
        </p:nvSpPr>
        <p:spPr>
          <a:xfrm>
            <a:off x="1400707" y="4554777"/>
            <a:ext cx="655431" cy="251706"/>
          </a:xfrm>
          <a:prstGeom prst="rect">
            <a:avLst/>
          </a:prstGeom>
          <a:noFill/>
        </p:spPr>
        <p:txBody>
          <a:bodyPr wrap="square">
            <a:spAutoFit/>
          </a:bodyPr>
          <a:lstStyle/>
          <a:p>
            <a:r>
              <a:rPr sz="1050"/>
              <a:t>Site</a:t>
            </a:r>
          </a:p>
        </p:txBody>
      </p:sp>
      <p:sp>
        <p:nvSpPr>
          <p:cNvPr id="10" name="Oval 6">
            <a:extLst>
              <a:ext uri="{FF2B5EF4-FFF2-40B4-BE49-F238E27FC236}">
                <a16:creationId xmlns:a16="http://schemas.microsoft.com/office/drawing/2014/main" id="{9E589D0A-F2E2-57BE-95FC-80022FB9B7A8}"/>
              </a:ext>
            </a:extLst>
          </p:cNvPr>
          <p:cNvSpPr>
            <a:spLocks noGrp="1"/>
          </p:cNvSpPr>
          <p:nvPr/>
        </p:nvSpPr>
        <p:spPr>
          <a:xfrm>
            <a:off x="1018087" y="5150799"/>
            <a:ext cx="158687" cy="164183"/>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3</a:t>
            </a:r>
          </a:p>
        </p:txBody>
      </p:sp>
      <p:sp>
        <p:nvSpPr>
          <p:cNvPr id="26" name="正方形/長方形 25">
            <a:extLst>
              <a:ext uri="{FF2B5EF4-FFF2-40B4-BE49-F238E27FC236}">
                <a16:creationId xmlns:a16="http://schemas.microsoft.com/office/drawing/2014/main" id="{9395D404-CF72-CD5B-8E9E-34EE15660C2A}"/>
              </a:ext>
            </a:extLst>
          </p:cNvPr>
          <p:cNvSpPr>
            <a:spLocks noGrp="1"/>
          </p:cNvSpPr>
          <p:nvPr/>
        </p:nvSpPr>
        <p:spPr>
          <a:xfrm rot="21007099">
            <a:off x="1578926" y="3688029"/>
            <a:ext cx="371235" cy="512737"/>
          </a:xfrm>
          <a:prstGeom prst="rect">
            <a:avLst/>
          </a:pr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 name="正方形/長方形 246">
            <a:extLst>
              <a:ext uri="{FF2B5EF4-FFF2-40B4-BE49-F238E27FC236}">
                <a16:creationId xmlns:a16="http://schemas.microsoft.com/office/drawing/2014/main" id="{89AC7BE7-C11E-3793-40BB-1E1D8717D485}"/>
              </a:ext>
            </a:extLst>
          </p:cNvPr>
          <p:cNvSpPr>
            <a:spLocks noGrp="1"/>
          </p:cNvSpPr>
          <p:nvPr/>
        </p:nvSpPr>
        <p:spPr>
          <a:xfrm rot="21007099">
            <a:off x="1410302" y="3733828"/>
            <a:ext cx="239633" cy="1193081"/>
          </a:xfrm>
          <a:custGeom>
            <a:avLst/>
            <a:gdLst/>
            <a:ahLst/>
            <a:cxnLst/>
            <a:rect l="l" t="t" r="r" b="b"/>
            <a:pathLst>
              <a:path w="272063" h="1397919">
                <a:moveTo>
                  <a:pt x="238" y="805988"/>
                </a:moveTo>
                <a:lnTo>
                  <a:pt x="272063" y="0"/>
                </a:lnTo>
                <a:lnTo>
                  <a:pt x="272063" y="600768"/>
                </a:lnTo>
                <a:lnTo>
                  <a:pt x="5002" y="1397919"/>
                </a:lnTo>
                <a:cubicBezTo>
                  <a:pt x="6724" y="1200111"/>
                  <a:pt x="-1484" y="1003796"/>
                  <a:pt x="238" y="805988"/>
                </a:cubicBez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1" name="正方形/長方形 246">
            <a:extLst>
              <a:ext uri="{FF2B5EF4-FFF2-40B4-BE49-F238E27FC236}">
                <a16:creationId xmlns:a16="http://schemas.microsoft.com/office/drawing/2014/main" id="{8B3CE626-598C-F3A6-0982-6EAA1CE84DD0}"/>
              </a:ext>
            </a:extLst>
          </p:cNvPr>
          <p:cNvSpPr>
            <a:spLocks noGrp="1"/>
          </p:cNvSpPr>
          <p:nvPr/>
        </p:nvSpPr>
        <p:spPr>
          <a:xfrm rot="21007099">
            <a:off x="1774866" y="3667733"/>
            <a:ext cx="239633" cy="1193081"/>
          </a:xfrm>
          <a:custGeom>
            <a:avLst/>
            <a:gdLst/>
            <a:ahLst/>
            <a:cxnLst/>
            <a:rect l="l" t="t" r="r" b="b"/>
            <a:pathLst>
              <a:path w="272063" h="1397919">
                <a:moveTo>
                  <a:pt x="238" y="805988"/>
                </a:moveTo>
                <a:lnTo>
                  <a:pt x="272063" y="0"/>
                </a:lnTo>
                <a:lnTo>
                  <a:pt x="272063" y="600768"/>
                </a:lnTo>
                <a:lnTo>
                  <a:pt x="5002" y="1397919"/>
                </a:lnTo>
                <a:cubicBezTo>
                  <a:pt x="6724" y="1200111"/>
                  <a:pt x="-1484" y="1003796"/>
                  <a:pt x="238" y="805988"/>
                </a:cubicBez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9" name="正方形/長方形 252">
            <a:extLst>
              <a:ext uri="{FF2B5EF4-FFF2-40B4-BE49-F238E27FC236}">
                <a16:creationId xmlns:a16="http://schemas.microsoft.com/office/drawing/2014/main" id="{52D41A24-35D9-DD90-F38F-3F1AE39B75EF}"/>
              </a:ext>
            </a:extLst>
          </p:cNvPr>
          <p:cNvSpPr>
            <a:spLocks noGrp="1"/>
          </p:cNvSpPr>
          <p:nvPr/>
        </p:nvSpPr>
        <p:spPr>
          <a:xfrm rot="21007099">
            <a:off x="1451219" y="4213172"/>
            <a:ext cx="602839" cy="690150"/>
          </a:xfrm>
          <a:custGeom>
            <a:avLst/>
            <a:gdLst/>
            <a:ahLst/>
            <a:cxnLst/>
            <a:rect l="l" t="t" r="r" b="b"/>
            <a:pathLst>
              <a:path w="684421" h="808641">
                <a:moveTo>
                  <a:pt x="262946" y="0"/>
                </a:moveTo>
                <a:lnTo>
                  <a:pt x="684421" y="0"/>
                </a:lnTo>
                <a:lnTo>
                  <a:pt x="416167" y="808641"/>
                </a:lnTo>
                <a:lnTo>
                  <a:pt x="0" y="796674"/>
                </a:lnTo>
                <a:lnTo>
                  <a:pt x="262946" y="0"/>
                </a:ln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1" name="テキスト ボックス 17">
            <a:extLst>
              <a:ext uri="{FF2B5EF4-FFF2-40B4-BE49-F238E27FC236}">
                <a16:creationId xmlns:a16="http://schemas.microsoft.com/office/drawing/2014/main" id="{2DB0D663-C2CF-AA6F-8272-06E7D3F97BB4}"/>
              </a:ext>
            </a:extLst>
          </p:cNvPr>
          <p:cNvSpPr>
            <a:spLocks noGrp="1"/>
          </p:cNvSpPr>
          <p:nvPr/>
        </p:nvSpPr>
        <p:spPr>
          <a:xfrm>
            <a:off x="1553469" y="3830384"/>
            <a:ext cx="497963" cy="274587"/>
          </a:xfrm>
          <a:prstGeom prst="rect">
            <a:avLst/>
          </a:prstGeom>
          <a:noFill/>
        </p:spPr>
        <p:txBody>
          <a:bodyPr wrap="none">
            <a:spAutoFit/>
          </a:bodyPr>
          <a:lstStyle/>
          <a:p>
            <a:r>
              <a:rPr sz="1200"/>
              <a:t>Area</a:t>
            </a:r>
          </a:p>
        </p:txBody>
      </p:sp>
      <p:sp>
        <p:nvSpPr>
          <p:cNvPr id="46" name="Oval 6">
            <a:extLst>
              <a:ext uri="{FF2B5EF4-FFF2-40B4-BE49-F238E27FC236}">
                <a16:creationId xmlns:a16="http://schemas.microsoft.com/office/drawing/2014/main" id="{5579B802-F150-10B9-434E-DA5AAB0A4DA6}"/>
              </a:ext>
            </a:extLst>
          </p:cNvPr>
          <p:cNvSpPr>
            <a:spLocks noGrp="1"/>
          </p:cNvSpPr>
          <p:nvPr/>
        </p:nvSpPr>
        <p:spPr>
          <a:xfrm>
            <a:off x="1553469" y="3640661"/>
            <a:ext cx="158687" cy="164183"/>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2</a:t>
            </a:r>
          </a:p>
        </p:txBody>
      </p:sp>
      <p:sp>
        <p:nvSpPr>
          <p:cNvPr id="47" name="フリーフォーム 46">
            <a:extLst>
              <a:ext uri="{FF2B5EF4-FFF2-40B4-BE49-F238E27FC236}">
                <a16:creationId xmlns:a16="http://schemas.microsoft.com/office/drawing/2014/main" id="{A5CC046E-02A8-53DB-0C05-0CEE1E89E276}"/>
              </a:ext>
            </a:extLst>
          </p:cNvPr>
          <p:cNvSpPr>
            <a:spLocks noGrp="1"/>
          </p:cNvSpPr>
          <p:nvPr/>
        </p:nvSpPr>
        <p:spPr>
          <a:xfrm>
            <a:off x="1698692" y="4155437"/>
            <a:ext cx="570695" cy="771818"/>
          </a:xfrm>
          <a:custGeom>
            <a:avLst/>
            <a:gdLst/>
            <a:ahLst/>
            <a:cxnLst/>
            <a:rect l="l" t="t" r="r" b="b"/>
            <a:pathLst>
              <a:path w="657913" h="950284">
                <a:moveTo>
                  <a:pt x="657913" y="0"/>
                </a:moveTo>
                <a:lnTo>
                  <a:pt x="0" y="127781"/>
                </a:lnTo>
                <a:cubicBezTo>
                  <a:pt x="7214" y="187298"/>
                  <a:pt x="128048" y="890767"/>
                  <a:pt x="135262" y="950284"/>
                </a:cubicBezTo>
              </a:path>
            </a:pathLst>
          </a:custGeom>
          <a:noFill/>
          <a:ln w="38100">
            <a:solidFill>
              <a:srgbClr val="F2B3ED"/>
            </a:solidFill>
            <a:tailEnd type="triangle"/>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8" name="フリーフォーム 47">
            <a:extLst>
              <a:ext uri="{FF2B5EF4-FFF2-40B4-BE49-F238E27FC236}">
                <a16:creationId xmlns:a16="http://schemas.microsoft.com/office/drawing/2014/main" id="{06ECF849-B856-8454-2325-A12ED22AA99E}"/>
              </a:ext>
            </a:extLst>
          </p:cNvPr>
          <p:cNvSpPr>
            <a:spLocks noGrp="1"/>
          </p:cNvSpPr>
          <p:nvPr/>
        </p:nvSpPr>
        <p:spPr>
          <a:xfrm>
            <a:off x="1788588" y="4313710"/>
            <a:ext cx="781489" cy="719445"/>
          </a:xfrm>
          <a:custGeom>
            <a:avLst/>
            <a:gdLst/>
            <a:ahLst/>
            <a:cxnLst/>
            <a:rect l="l" t="t" r="r" b="b"/>
            <a:pathLst>
              <a:path w="887247" h="842966">
                <a:moveTo>
                  <a:pt x="887247" y="702289"/>
                </a:moveTo>
                <a:lnTo>
                  <a:pt x="141659" y="842966"/>
                </a:lnTo>
                <a:cubicBezTo>
                  <a:pt x="132281" y="777317"/>
                  <a:pt x="9378" y="65649"/>
                  <a:pt x="0" y="0"/>
                </a:cubicBezTo>
              </a:path>
            </a:pathLst>
          </a:custGeom>
          <a:noFill/>
          <a:ln w="38100">
            <a:solidFill>
              <a:srgbClr val="F2B3ED"/>
            </a:solidFill>
            <a:tailEnd type="triangle"/>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9" name="フリーフォーム 48">
            <a:extLst>
              <a:ext uri="{FF2B5EF4-FFF2-40B4-BE49-F238E27FC236}">
                <a16:creationId xmlns:a16="http://schemas.microsoft.com/office/drawing/2014/main" id="{25F33D08-8B5F-38BD-1773-DFE2A97BC694}"/>
              </a:ext>
            </a:extLst>
          </p:cNvPr>
          <p:cNvSpPr>
            <a:spLocks noGrp="1"/>
          </p:cNvSpPr>
          <p:nvPr/>
        </p:nvSpPr>
        <p:spPr>
          <a:xfrm>
            <a:off x="943046" y="4259019"/>
            <a:ext cx="738288" cy="265557"/>
          </a:xfrm>
          <a:custGeom>
            <a:avLst/>
            <a:gdLst/>
            <a:ahLst/>
            <a:cxnLst/>
            <a:rect l="l" t="t" r="r" b="b"/>
            <a:pathLst>
              <a:path w="838200" h="311150">
                <a:moveTo>
                  <a:pt x="838200" y="0"/>
                </a:moveTo>
                <a:lnTo>
                  <a:pt x="415925" y="82550"/>
                </a:lnTo>
                <a:lnTo>
                  <a:pt x="0" y="311150"/>
                </a:lnTo>
              </a:path>
            </a:pathLst>
          </a:custGeom>
          <a:noFill/>
          <a:ln w="38100">
            <a:solidFill>
              <a:srgbClr val="F2B3ED"/>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56" name="Oval 6">
            <a:extLst>
              <a:ext uri="{FF2B5EF4-FFF2-40B4-BE49-F238E27FC236}">
                <a16:creationId xmlns:a16="http://schemas.microsoft.com/office/drawing/2014/main" id="{108F3602-7700-DCEE-6ECB-1EAC5540CBF2}"/>
              </a:ext>
            </a:extLst>
          </p:cNvPr>
          <p:cNvSpPr>
            <a:spLocks noGrp="1"/>
          </p:cNvSpPr>
          <p:nvPr/>
        </p:nvSpPr>
        <p:spPr>
          <a:xfrm>
            <a:off x="2362973" y="4873938"/>
            <a:ext cx="158687" cy="164183"/>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4</a:t>
            </a:r>
          </a:p>
        </p:txBody>
      </p:sp>
      <p:sp>
        <p:nvSpPr>
          <p:cNvPr id="57" name="コンテンツ プレースホルダー 2">
            <a:extLst>
              <a:ext uri="{FF2B5EF4-FFF2-40B4-BE49-F238E27FC236}">
                <a16:creationId xmlns:a16="http://schemas.microsoft.com/office/drawing/2014/main" id="{B91242C1-48A2-B4EE-8CF5-9CE286E5AE48}"/>
              </a:ext>
            </a:extLst>
          </p:cNvPr>
          <p:cNvSpPr>
            <a:spLocks noGrp="1"/>
          </p:cNvSpPr>
          <p:nvPr/>
        </p:nvSpPr>
        <p:spPr>
          <a:xfrm>
            <a:off x="53218" y="1931532"/>
            <a:ext cx="3996544" cy="404645"/>
          </a:xfrm>
          <a:prstGeom prst="rect">
            <a:avLst/>
          </a:prstGeom>
        </p:spPr>
        <p:txBody>
          <a:bodyPr vert="horz" lIns="91440" tIns="45720" rIns="91440" bIns="45720">
            <a:normAutofit fontScale="99848"/>
          </a:bodyPr>
          <a:lstStyle>
            <a:lvl1pPr marL="228600" indent="-228600" algn="l">
              <a:lnSpc>
                <a:spcPct val="90000"/>
              </a:lnSpc>
              <a:spcBef>
                <a:spcPts val="1000"/>
              </a:spcBef>
              <a:buChar char="•"/>
              <a:defRPr sz="2000">
                <a:solidFill>
                  <a:schemeClr val="tx1"/>
                </a:solidFill>
                <a:latin typeface="+mn-lt"/>
                <a:ea typeface="+mn-lt"/>
                <a:cs typeface="+mn-lt"/>
              </a:defRPr>
            </a:lvl1pPr>
            <a:lvl2pPr marL="685800" indent="-228600" algn="l">
              <a:lnSpc>
                <a:spcPct val="90000"/>
              </a:lnSpc>
              <a:spcBef>
                <a:spcPts val="500"/>
              </a:spcBef>
              <a:buChar char="•"/>
              <a:defRPr sz="1800">
                <a:solidFill>
                  <a:schemeClr val="tx1"/>
                </a:solidFill>
                <a:latin typeface="+mn-lt"/>
                <a:ea typeface="+mn-lt"/>
                <a:cs typeface="+mn-lt"/>
              </a:defRPr>
            </a:lvl2pPr>
            <a:lvl3pPr marL="1143000" indent="-228600" algn="l">
              <a:lnSpc>
                <a:spcPct val="90000"/>
              </a:lnSpc>
              <a:spcBef>
                <a:spcPts val="500"/>
              </a:spcBef>
              <a:buChar char="•"/>
              <a:defRPr sz="1600">
                <a:solidFill>
                  <a:schemeClr val="tx1"/>
                </a:solidFill>
                <a:latin typeface="+mn-lt"/>
                <a:ea typeface="+mn-lt"/>
                <a:cs typeface="+mn-lt"/>
              </a:defRPr>
            </a:lvl3pPr>
            <a:lvl4pPr marL="1600200" indent="-228600" algn="l">
              <a:lnSpc>
                <a:spcPct val="90000"/>
              </a:lnSpc>
              <a:spcBef>
                <a:spcPts val="500"/>
              </a:spcBef>
              <a:buChar char="•"/>
              <a:defRPr sz="1400">
                <a:solidFill>
                  <a:schemeClr val="tx1"/>
                </a:solidFill>
                <a:latin typeface="+mn-lt"/>
                <a:ea typeface="+mn-lt"/>
                <a:cs typeface="+mn-lt"/>
              </a:defRPr>
            </a:lvl4pPr>
            <a:lvl5pPr marL="2057400" indent="-228600" algn="l">
              <a:lnSpc>
                <a:spcPct val="90000"/>
              </a:lnSpc>
              <a:spcBef>
                <a:spcPts val="500"/>
              </a:spcBef>
              <a:buChar char="•"/>
              <a:defRPr sz="12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gn="ctr">
              <a:buNone/>
            </a:pPr>
            <a:r>
              <a:rPr sz="1600" b="1">
                <a:solidFill>
                  <a:schemeClr val="tx2">
                    <a:lumMod val="90000"/>
                    <a:lumOff val="10000"/>
                  </a:schemeClr>
                </a:solidFill>
                <a:latin typeface="HGMinchoE"/>
                <a:ea typeface="HGMinchoE"/>
                <a:cs typeface="HGMinchoE"/>
              </a:rPr>
              <a:t>Example: Former Store Area</a:t>
            </a:r>
          </a:p>
        </p:txBody>
      </p:sp>
      <p:graphicFrame>
        <p:nvGraphicFramePr>
          <p:cNvPr id="639" name="表 214"/>
          <p:cNvGraphicFramePr/>
          <p:nvPr/>
        </p:nvGraphicFramePr>
        <p:xfrm>
          <a:off x="610833" y="5383070"/>
          <a:ext cx="2980346" cy="731519"/>
        </p:xfrm>
        <a:graphic>
          <a:graphicData uri="http://schemas.openxmlformats.org/drawingml/2006/table">
            <a:tbl>
              <a:tblPr firstRow="1" firstCol="1" bandRow="1">
                <a:tableStyleId>{5C22544A-7EE6-4342-B048-85BDC9FD1C3A}</a:tableStyleId>
              </a:tblPr>
              <a:tblGrid>
                <a:gridCol w="1153892">
                  <a:extLst>
                    <a:ext uri="{9D8B030D-6E8A-4147-A177-3AD203B41FA5}">
                      <a16:colId xmlns:a16="http://schemas.microsoft.com/office/drawing/2014/main" val="20000"/>
                    </a:ext>
                  </a:extLst>
                </a:gridCol>
                <a:gridCol w="685870">
                  <a:extLst>
                    <a:ext uri="{9D8B030D-6E8A-4147-A177-3AD203B41FA5}">
                      <a16:colId xmlns:a16="http://schemas.microsoft.com/office/drawing/2014/main" val="20001"/>
                    </a:ext>
                  </a:extLst>
                </a:gridCol>
                <a:gridCol w="1140584">
                  <a:extLst>
                    <a:ext uri="{9D8B030D-6E8A-4147-A177-3AD203B41FA5}">
                      <a16:colId xmlns:a16="http://schemas.microsoft.com/office/drawing/2014/main" val="20002"/>
                    </a:ext>
                  </a:extLst>
                </a:gridCol>
              </a:tblGrid>
              <a:tr h="365759">
                <a:tc>
                  <a:txBody>
                    <a:bodyPr/>
                    <a:lstStyle/>
                    <a:p>
                      <a:pPr algn="ctr">
                        <a:buNone/>
                      </a:pPr>
                      <a:r>
                        <a:rPr sz="900">
                          <a:solidFill>
                            <a:schemeClr val="tx2">
                              <a:lumMod val="90000"/>
                              <a:lumOff val="10000"/>
                            </a:schemeClr>
                          </a:solidFill>
                        </a:rPr>
                        <a:t>Area</a:t>
                      </a:r>
                    </a:p>
                  </a:txBody>
                  <a:tcPr anchor="ctr">
                    <a:solidFill>
                      <a:srgbClr val="BACCEC"/>
                    </a:solidFill>
                  </a:tcPr>
                </a:tc>
                <a:tc>
                  <a:txBody>
                    <a:bodyPr/>
                    <a:lstStyle/>
                    <a:p>
                      <a:pPr algn="ctr">
                        <a:buNone/>
                      </a:pPr>
                      <a:r>
                        <a:rPr sz="900">
                          <a:solidFill>
                            <a:schemeClr val="tx2">
                              <a:lumMod val="90000"/>
                              <a:lumOff val="10000"/>
                            </a:schemeClr>
                          </a:solidFill>
                        </a:rPr>
                        <a:t>Hours</a:t>
                      </a:r>
                    </a:p>
                  </a:txBody>
                  <a:tcPr anchor="ctr">
                    <a:solidFill>
                      <a:srgbClr val="BACCEC"/>
                    </a:solidFill>
                  </a:tcPr>
                </a:tc>
                <a:tc>
                  <a:txBody>
                    <a:bodyPr/>
                    <a:lstStyle/>
                    <a:p>
                      <a:pPr algn="ctr">
                        <a:buNone/>
                      </a:pPr>
                      <a:r>
                        <a:rPr sz="900">
                          <a:solidFill>
                            <a:schemeClr val="tx2">
                              <a:lumMod val="90000"/>
                              <a:lumOff val="10000"/>
                            </a:schemeClr>
                          </a:solidFill>
                        </a:rPr>
                        <a:t>Use Mix</a:t>
                      </a:r>
                    </a:p>
                  </a:txBody>
                  <a:tcPr anchor="ctr">
                    <a:solidFill>
                      <a:srgbClr val="BACCEC"/>
                    </a:solidFill>
                  </a:tcPr>
                </a:tc>
                <a:extLst>
                  <a:ext uri="{0D108BD9-81ED-4DB2-BD59-A6C34878D82A}">
                    <a16:rowId xmlns:a16="http://schemas.microsoft.com/office/drawing/2014/main" val="10000"/>
                  </a:ext>
                </a:extLst>
              </a:tr>
              <a:tr h="229210">
                <a:tc>
                  <a:txBody>
                    <a:bodyPr/>
                    <a:lstStyle/>
                    <a:p>
                      <a:pPr algn="ctr">
                        <a:buNone/>
                      </a:pPr>
                      <a:r>
                        <a:rPr sz="900" b="0">
                          <a:solidFill>
                            <a:schemeClr val="tx1"/>
                          </a:solidFill>
                        </a:rPr>
                        <a:t>Former store</a:t>
                      </a:r>
                    </a:p>
                  </a:txBody>
                  <a:tcPr anchor="ctr">
                    <a:solidFill>
                      <a:schemeClr val="bg2">
                        <a:lumMod val="90000"/>
                      </a:schemeClr>
                    </a:solidFill>
                  </a:tcPr>
                </a:tc>
                <a:tc>
                  <a:txBody>
                    <a:bodyPr/>
                    <a:lstStyle/>
                    <a:p>
                      <a:pPr algn="ctr">
                        <a:buNone/>
                      </a:pPr>
                      <a:r>
                        <a:rPr sz="900" b="0"/>
                        <a:t>10:00–18:00</a:t>
                      </a:r>
                    </a:p>
                  </a:txBody>
                  <a:tcPr anchor="ctr">
                    <a:solidFill>
                      <a:schemeClr val="bg2">
                        <a:lumMod val="90000"/>
                      </a:schemeClr>
                    </a:solidFill>
                  </a:tcPr>
                </a:tc>
                <a:tc>
                  <a:txBody>
                    <a:bodyPr/>
                    <a:lstStyle/>
                    <a:p>
                      <a:pPr algn="ctr">
                        <a:buNone/>
                      </a:pPr>
                      <a:r>
                        <a:rPr sz="900" b="0"/>
                        <a:t>80% retail / 20% dining</a:t>
                      </a:r>
                    </a:p>
                  </a:txBody>
                  <a:tcPr anchor="ctr">
                    <a:solidFill>
                      <a:schemeClr val="bg2">
                        <a:lumMod val="90000"/>
                      </a:schemeClr>
                    </a:solidFill>
                  </a:tcPr>
                </a:tc>
                <a:extLst>
                  <a:ext uri="{0D108BD9-81ED-4DB2-BD59-A6C34878D82A}">
                    <a16:rowId xmlns:a16="http://schemas.microsoft.com/office/drawing/2014/main" val="10001"/>
                  </a:ext>
                </a:extLst>
              </a:tr>
            </a:tbl>
          </a:graphicData>
        </a:graphic>
      </p:graphicFrame>
      <p:sp>
        <p:nvSpPr>
          <p:cNvPr id="58" name="テキスト ボックス 57">
            <a:extLst>
              <a:ext uri="{FF2B5EF4-FFF2-40B4-BE49-F238E27FC236}">
                <a16:creationId xmlns:a16="http://schemas.microsoft.com/office/drawing/2014/main" id="{178328C2-4F3E-13AE-00BB-92B45B804EE8}"/>
              </a:ext>
            </a:extLst>
          </p:cNvPr>
          <p:cNvSpPr>
            <a:spLocks noGrp="1"/>
          </p:cNvSpPr>
          <p:nvPr/>
        </p:nvSpPr>
        <p:spPr>
          <a:xfrm>
            <a:off x="593976" y="1657334"/>
            <a:ext cx="2339102" cy="307777"/>
          </a:xfrm>
          <a:prstGeom prst="rect">
            <a:avLst/>
          </a:prstGeom>
          <a:noFill/>
        </p:spPr>
        <p:txBody>
          <a:bodyPr wrap="none">
            <a:spAutoFit/>
          </a:bodyPr>
          <a:lstStyle/>
          <a:p>
            <a:r>
              <a:rPr sz="1400"/>
              <a:t>* Hypothetical case for validation</a:t>
            </a:r>
          </a:p>
        </p:txBody>
      </p:sp>
    </p:spTree>
    <p:extLst>
      <p:ext uri="{BB962C8B-B14F-4D97-AF65-F5344CB8AC3E}">
        <p14:creationId xmlns:p14="http://schemas.microsoft.com/office/powerpoint/2010/main" val="14159701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ounded Rectangle 5">
            <a:extLst>
              <a:ext uri="{FF2B5EF4-FFF2-40B4-BE49-F238E27FC236}">
                <a16:creationId xmlns:a16="http://schemas.microsoft.com/office/drawing/2014/main" id="{04534713-5FD4-E535-AF63-0AD42356738F}"/>
              </a:ext>
            </a:extLst>
          </p:cNvPr>
          <p:cNvSpPr>
            <a:spLocks noGrp="1"/>
          </p:cNvSpPr>
          <p:nvPr/>
        </p:nvSpPr>
        <p:spPr>
          <a:xfrm>
            <a:off x="4038600" y="5013346"/>
            <a:ext cx="4278823" cy="1359230"/>
          </a:xfrm>
          <a:prstGeom prst="roundRect">
            <a:avLst>
              <a:gd name="adj" fmla="val 9000"/>
            </a:avLst>
          </a:prstGeom>
          <a:solidFill>
            <a:srgbClr val="BACCEC">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 name="タイトル 1">
            <a:extLst>
              <a:ext uri="{FF2B5EF4-FFF2-40B4-BE49-F238E27FC236}">
                <a16:creationId xmlns:a16="http://schemas.microsoft.com/office/drawing/2014/main" id="{3B63DA6A-2541-AA53-4C4A-D8D3A7CC69B4}"/>
              </a:ext>
            </a:extLst>
          </p:cNvPr>
          <p:cNvSpPr>
            <a:spLocks noGrp="1"/>
          </p:cNvSpPr>
          <p:nvPr>
            <p:ph type="title"/>
          </p:nvPr>
        </p:nvSpPr>
        <p:spPr>
          <a:xfrm>
            <a:off x="200344" y="1"/>
            <a:ext cx="11798035" cy="908719"/>
          </a:xfrm>
        </p:spPr>
        <p:txBody>
          <a:bodyPr/>
          <a:lstStyle/>
          <a:p>
            <a:r>
              <a:t>First Three Months (Q2: Jul–Sep): Pedestrian-Flow Analysis Around Meitetsu</a:t>
            </a:r>
          </a:p>
        </p:txBody>
      </p:sp>
      <p:sp>
        <p:nvSpPr>
          <p:cNvPr id="4" name="日付プレースホルダー 3">
            <a:extLst>
              <a:ext uri="{FF2B5EF4-FFF2-40B4-BE49-F238E27FC236}">
                <a16:creationId xmlns:a16="http://schemas.microsoft.com/office/drawing/2014/main" id="{F14F3E9F-54B5-737E-B597-51F3EC21C135}"/>
              </a:ext>
            </a:extLst>
          </p:cNvPr>
          <p:cNvSpPr>
            <a:spLocks noGrp="1"/>
          </p:cNvSpPr>
          <p:nvPr>
            <p:ph type="dt" idx="10"/>
          </p:nvPr>
        </p:nvSpPr>
        <p:spPr/>
        <p:txBody>
          <a:bodyPr/>
          <a:lstStyle/>
          <a:p>
            <a:r>
              <a:t>2026/7</a:t>
            </a:r>
          </a:p>
        </p:txBody>
      </p:sp>
      <p:sp>
        <p:nvSpPr>
          <p:cNvPr id="5" name="フッター プレースホルダー 4">
            <a:extLst>
              <a:ext uri="{FF2B5EF4-FFF2-40B4-BE49-F238E27FC236}">
                <a16:creationId xmlns:a16="http://schemas.microsoft.com/office/drawing/2014/main" id="{6EFC864B-0371-E5D8-569D-87B8300C193C}"/>
              </a:ext>
            </a:extLst>
          </p:cNvPr>
          <p:cNvSpPr>
            <a:spLocks noGrp="1"/>
          </p:cNvSpPr>
          <p:nvPr>
            <p:ph type="ftr" idx="11"/>
          </p:nvPr>
        </p:nvSpPr>
        <p:spPr/>
        <p:txBody>
          <a:bodyPr/>
          <a:lstStyle/>
          <a:p>
            <a:r>
              <a:t>Sekimoto-Nakai Laboratory</a:t>
            </a:r>
          </a:p>
        </p:txBody>
      </p:sp>
      <p:sp>
        <p:nvSpPr>
          <p:cNvPr id="6" name="スライド番号プレースホルダー 5">
            <a:extLst>
              <a:ext uri="{FF2B5EF4-FFF2-40B4-BE49-F238E27FC236}">
                <a16:creationId xmlns:a16="http://schemas.microsoft.com/office/drawing/2014/main" id="{A73D1B36-91BF-80AE-0546-0E2B326B1761}"/>
              </a:ext>
            </a:extLst>
          </p:cNvPr>
          <p:cNvSpPr>
            <a:spLocks noGrp="1"/>
          </p:cNvSpPr>
          <p:nvPr>
            <p:ph type="sldNum" idx="12"/>
          </p:nvPr>
        </p:nvSpPr>
        <p:spPr/>
        <p:txBody>
          <a:bodyPr/>
          <a:lstStyle/>
          <a:p>
            <a:fld id="{6539E37A-E522-3D47-AAB7-DDF67C94A05D}" type="slidenum">
              <a:rPr/>
              <a:t>4</a:t>
            </a:fld>
            <a:endParaRPr/>
          </a:p>
        </p:txBody>
      </p:sp>
      <p:sp>
        <p:nvSpPr>
          <p:cNvPr id="120" name="Rounded Rectangle 16">
            <a:extLst>
              <a:ext uri="{FF2B5EF4-FFF2-40B4-BE49-F238E27FC236}">
                <a16:creationId xmlns:a16="http://schemas.microsoft.com/office/drawing/2014/main" id="{0C214181-2DAE-B023-2CC2-43398DEAD776}"/>
              </a:ext>
            </a:extLst>
          </p:cNvPr>
          <p:cNvSpPr>
            <a:spLocks noGrp="1"/>
          </p:cNvSpPr>
          <p:nvPr/>
        </p:nvSpPr>
        <p:spPr>
          <a:xfrm>
            <a:off x="4291411" y="1986186"/>
            <a:ext cx="1298448" cy="256032"/>
          </a:xfrm>
          <a:prstGeom prst="roundRect">
            <a:avLst>
              <a:gd name="adj" fmla="val 9000"/>
            </a:avLst>
          </a:prstGeom>
          <a:solidFill>
            <a:srgbClr val="1B519F"/>
          </a:solidFill>
          <a:ln w="12700">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1" name="TextBox 17">
            <a:extLst>
              <a:ext uri="{FF2B5EF4-FFF2-40B4-BE49-F238E27FC236}">
                <a16:creationId xmlns:a16="http://schemas.microsoft.com/office/drawing/2014/main" id="{579DFA51-9248-DE3F-2A60-EC202A49DC80}"/>
              </a:ext>
            </a:extLst>
          </p:cNvPr>
          <p:cNvSpPr>
            <a:spLocks noGrp="1"/>
          </p:cNvSpPr>
          <p:nvPr/>
        </p:nvSpPr>
        <p:spPr>
          <a:xfrm>
            <a:off x="4611451" y="1980090"/>
            <a:ext cx="676656" cy="286512"/>
          </a:xfrm>
          <a:prstGeom prst="rect">
            <a:avLst/>
          </a:prstGeom>
          <a:noFill/>
          <a:ln>
            <a:noFill/>
          </a:ln>
        </p:spPr>
        <p:txBody>
          <a:bodyPr wrap="square" lIns="36576" tIns="36576" rIns="36576" bIns="36576" anchor="t">
            <a:spAutoFit/>
          </a:bodyPr>
          <a:lstStyle/>
          <a:p>
            <a:pPr algn="ctr">
              <a:buNone/>
            </a:pPr>
            <a:r>
              <a:rPr sz="1400" b="1">
                <a:solidFill>
                  <a:srgbClr val="FFFFFF"/>
                </a:solidFill>
                <a:latin typeface="Noto Sans CJK JP"/>
                <a:ea typeface="Noto Sans CJK JP"/>
                <a:cs typeface="Noto Sans CJK JP"/>
              </a:rPr>
              <a:t>before</a:t>
            </a:r>
          </a:p>
        </p:txBody>
      </p:sp>
      <p:sp>
        <p:nvSpPr>
          <p:cNvPr id="123" name="Rounded Rectangle 18">
            <a:extLst>
              <a:ext uri="{FF2B5EF4-FFF2-40B4-BE49-F238E27FC236}">
                <a16:creationId xmlns:a16="http://schemas.microsoft.com/office/drawing/2014/main" id="{DAB5462A-7B90-F602-155A-8C83691DE7C7}"/>
              </a:ext>
            </a:extLst>
          </p:cNvPr>
          <p:cNvSpPr>
            <a:spLocks noGrp="1"/>
          </p:cNvSpPr>
          <p:nvPr/>
        </p:nvSpPr>
        <p:spPr>
          <a:xfrm>
            <a:off x="6728883" y="1989978"/>
            <a:ext cx="1298448" cy="256032"/>
          </a:xfrm>
          <a:prstGeom prst="roundRect">
            <a:avLst>
              <a:gd name="adj" fmla="val 9000"/>
            </a:avLst>
          </a:prstGeom>
          <a:solidFill>
            <a:srgbClr val="D94C3D"/>
          </a:solidFill>
          <a:ln w="12700">
            <a:solidFill>
              <a:srgbClr val="D94C3D"/>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4" name="TextBox 19">
            <a:extLst>
              <a:ext uri="{FF2B5EF4-FFF2-40B4-BE49-F238E27FC236}">
                <a16:creationId xmlns:a16="http://schemas.microsoft.com/office/drawing/2014/main" id="{FE33D435-3BA5-5651-ED20-032CFEA48A03}"/>
              </a:ext>
            </a:extLst>
          </p:cNvPr>
          <p:cNvSpPr>
            <a:spLocks noGrp="1"/>
          </p:cNvSpPr>
          <p:nvPr/>
        </p:nvSpPr>
        <p:spPr>
          <a:xfrm>
            <a:off x="7076355" y="1980834"/>
            <a:ext cx="640080" cy="286512"/>
          </a:xfrm>
          <a:prstGeom prst="rect">
            <a:avLst/>
          </a:prstGeom>
          <a:noFill/>
          <a:ln>
            <a:noFill/>
          </a:ln>
        </p:spPr>
        <p:txBody>
          <a:bodyPr wrap="square" lIns="36576" tIns="36576" rIns="36576" bIns="36576" anchor="t">
            <a:spAutoFit/>
          </a:bodyPr>
          <a:lstStyle/>
          <a:p>
            <a:pPr algn="ctr">
              <a:buNone/>
            </a:pPr>
            <a:r>
              <a:rPr sz="1400" b="1">
                <a:solidFill>
                  <a:srgbClr val="FFFFFF"/>
                </a:solidFill>
                <a:latin typeface="Noto Sans CJK JP"/>
                <a:ea typeface="Noto Sans CJK JP"/>
                <a:cs typeface="Noto Sans CJK JP"/>
              </a:rPr>
              <a:t>after</a:t>
            </a:r>
          </a:p>
        </p:txBody>
      </p:sp>
      <p:sp>
        <p:nvSpPr>
          <p:cNvPr id="127" name="Rounded Rectangle 5">
            <a:extLst>
              <a:ext uri="{FF2B5EF4-FFF2-40B4-BE49-F238E27FC236}">
                <a16:creationId xmlns:a16="http://schemas.microsoft.com/office/drawing/2014/main" id="{5D72920D-2AA5-C468-7F6C-70244EC9B407}"/>
              </a:ext>
            </a:extLst>
          </p:cNvPr>
          <p:cNvSpPr>
            <a:spLocks noGrp="1"/>
          </p:cNvSpPr>
          <p:nvPr/>
        </p:nvSpPr>
        <p:spPr>
          <a:xfrm>
            <a:off x="8603487" y="2270138"/>
            <a:ext cx="3369872" cy="1246574"/>
          </a:xfrm>
          <a:prstGeom prst="roundRect">
            <a:avLst>
              <a:gd name="adj" fmla="val 9000"/>
            </a:avLst>
          </a:prstGeom>
          <a:solidFill>
            <a:srgbClr val="E5E97E">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29" name="TextBox 7">
            <a:extLst>
              <a:ext uri="{FF2B5EF4-FFF2-40B4-BE49-F238E27FC236}">
                <a16:creationId xmlns:a16="http://schemas.microsoft.com/office/drawing/2014/main" id="{9CD89372-741A-0D06-04DB-0F42B6DF20B4}"/>
              </a:ext>
            </a:extLst>
          </p:cNvPr>
          <p:cNvSpPr>
            <a:spLocks noGrp="1"/>
          </p:cNvSpPr>
          <p:nvPr/>
        </p:nvSpPr>
        <p:spPr>
          <a:xfrm>
            <a:off x="9448726" y="2297151"/>
            <a:ext cx="1466165" cy="286036"/>
          </a:xfrm>
          <a:prstGeom prst="roundRect">
            <a:avLst/>
          </a:prstGeom>
          <a:noFill/>
          <a:ln>
            <a:noFill/>
          </a:ln>
        </p:spPr>
        <p:txBody>
          <a:bodyPr wrap="square" lIns="36576" tIns="36576" rIns="36576" bIns="36576" anchor="t">
            <a:spAutoFit/>
          </a:bodyPr>
          <a:lstStyle/>
          <a:p>
            <a:pPr algn="ctr">
              <a:buNone/>
            </a:pPr>
            <a:r>
              <a:rPr sz="1200" b="1">
                <a:solidFill>
                  <a:srgbClr val="0B2B5B"/>
                </a:solidFill>
                <a:latin typeface="Noto Sans CJK JP"/>
                <a:ea typeface="Noto Sans CJK JP"/>
                <a:cs typeface="Noto Sans CJK JP"/>
              </a:rPr>
              <a:t>1. Plan Change</a:t>
            </a:r>
          </a:p>
        </p:txBody>
      </p:sp>
      <p:sp>
        <p:nvSpPr>
          <p:cNvPr id="132" name="Rounded Rectangle 5">
            <a:extLst>
              <a:ext uri="{FF2B5EF4-FFF2-40B4-BE49-F238E27FC236}">
                <a16:creationId xmlns:a16="http://schemas.microsoft.com/office/drawing/2014/main" id="{BE80DE9F-DFD9-28A1-13B5-28A18107182F}"/>
              </a:ext>
            </a:extLst>
          </p:cNvPr>
          <p:cNvSpPr>
            <a:spLocks noGrp="1"/>
          </p:cNvSpPr>
          <p:nvPr/>
        </p:nvSpPr>
        <p:spPr>
          <a:xfrm>
            <a:off x="8615273" y="3555465"/>
            <a:ext cx="3369872" cy="1173569"/>
          </a:xfrm>
          <a:prstGeom prst="roundRect">
            <a:avLst>
              <a:gd name="adj" fmla="val 9000"/>
            </a:avLst>
          </a:prstGeom>
          <a:solidFill>
            <a:srgbClr val="E5E97E">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3" name="TextBox 7">
            <a:extLst>
              <a:ext uri="{FF2B5EF4-FFF2-40B4-BE49-F238E27FC236}">
                <a16:creationId xmlns:a16="http://schemas.microsoft.com/office/drawing/2014/main" id="{370A8F6C-0E05-4F01-0270-11721816DAD6}"/>
              </a:ext>
            </a:extLst>
          </p:cNvPr>
          <p:cNvSpPr>
            <a:spLocks noGrp="1"/>
          </p:cNvSpPr>
          <p:nvPr/>
        </p:nvSpPr>
        <p:spPr>
          <a:xfrm>
            <a:off x="9105728" y="3565279"/>
            <a:ext cx="2341449" cy="286036"/>
          </a:xfrm>
          <a:prstGeom prst="roundRect">
            <a:avLst/>
          </a:prstGeom>
          <a:noFill/>
          <a:ln>
            <a:noFill/>
          </a:ln>
        </p:spPr>
        <p:txBody>
          <a:bodyPr wrap="square" lIns="36576" tIns="36576" rIns="36576" bIns="36576" anchor="t">
            <a:spAutoFit/>
          </a:bodyPr>
          <a:lstStyle/>
          <a:p>
            <a:pPr algn="ctr">
              <a:buNone/>
            </a:pPr>
            <a:r>
              <a:rPr sz="1200" b="1">
                <a:solidFill>
                  <a:srgbClr val="0B2B5B"/>
                </a:solidFill>
                <a:latin typeface="Noto Sans CJK JP"/>
                <a:ea typeface="Noto Sans CJK JP"/>
                <a:cs typeface="Noto Sans CJK JP"/>
              </a:rPr>
              <a:t>2. Construction Detour</a:t>
            </a:r>
          </a:p>
        </p:txBody>
      </p:sp>
      <p:sp>
        <p:nvSpPr>
          <p:cNvPr id="135" name="Rounded Rectangle 5">
            <a:extLst>
              <a:ext uri="{FF2B5EF4-FFF2-40B4-BE49-F238E27FC236}">
                <a16:creationId xmlns:a16="http://schemas.microsoft.com/office/drawing/2014/main" id="{DC19770B-343B-23B1-97C1-541A66451B07}"/>
              </a:ext>
            </a:extLst>
          </p:cNvPr>
          <p:cNvSpPr>
            <a:spLocks noGrp="1"/>
          </p:cNvSpPr>
          <p:nvPr/>
        </p:nvSpPr>
        <p:spPr>
          <a:xfrm>
            <a:off x="8628508" y="4779552"/>
            <a:ext cx="3369872" cy="1593024"/>
          </a:xfrm>
          <a:prstGeom prst="roundRect">
            <a:avLst>
              <a:gd name="adj" fmla="val 9000"/>
            </a:avLst>
          </a:prstGeom>
          <a:solidFill>
            <a:srgbClr val="E5E97E">
              <a:alpha val="40000"/>
            </a:srgbClr>
          </a:solidFill>
          <a:ln w="15240">
            <a:solidFill>
              <a:srgbClr val="3662A4"/>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136" name="TextBox 7">
            <a:extLst>
              <a:ext uri="{FF2B5EF4-FFF2-40B4-BE49-F238E27FC236}">
                <a16:creationId xmlns:a16="http://schemas.microsoft.com/office/drawing/2014/main" id="{D7085D2D-45D2-43BF-CEF4-A39AC8E3B3C3}"/>
              </a:ext>
            </a:extLst>
          </p:cNvPr>
          <p:cNvSpPr>
            <a:spLocks noGrp="1"/>
          </p:cNvSpPr>
          <p:nvPr/>
        </p:nvSpPr>
        <p:spPr>
          <a:xfrm>
            <a:off x="9108420" y="4805593"/>
            <a:ext cx="2341449" cy="286036"/>
          </a:xfrm>
          <a:prstGeom prst="roundRect">
            <a:avLst/>
          </a:prstGeom>
          <a:noFill/>
          <a:ln>
            <a:noFill/>
          </a:ln>
        </p:spPr>
        <p:txBody>
          <a:bodyPr wrap="square" lIns="36576" tIns="36576" rIns="36576" bIns="36576" anchor="t">
            <a:spAutoFit/>
          </a:bodyPr>
          <a:lstStyle/>
          <a:p>
            <a:pPr algn="ctr">
              <a:buNone/>
            </a:pPr>
            <a:r>
              <a:rPr sz="1200" b="1">
                <a:solidFill>
                  <a:srgbClr val="0B2B5B"/>
                </a:solidFill>
                <a:latin typeface="Noto Sans CJK JP"/>
                <a:ea typeface="Noto Sans CJK JP"/>
                <a:cs typeface="Noto Sans CJK JP"/>
              </a:rPr>
              <a:t>3. Demand Range</a:t>
            </a:r>
          </a:p>
        </p:txBody>
      </p:sp>
      <p:sp>
        <p:nvSpPr>
          <p:cNvPr id="138" name="コンテンツ プレースホルダー 2">
            <a:extLst>
              <a:ext uri="{FF2B5EF4-FFF2-40B4-BE49-F238E27FC236}">
                <a16:creationId xmlns:a16="http://schemas.microsoft.com/office/drawing/2014/main" id="{F934E9E5-4E99-6839-09C5-25FC5181C9AB}"/>
              </a:ext>
            </a:extLst>
          </p:cNvPr>
          <p:cNvSpPr>
            <a:spLocks noGrp="1"/>
          </p:cNvSpPr>
          <p:nvPr/>
        </p:nvSpPr>
        <p:spPr>
          <a:xfrm>
            <a:off x="8867956" y="1980090"/>
            <a:ext cx="2821695" cy="404645"/>
          </a:xfrm>
          <a:prstGeom prst="rect">
            <a:avLst/>
          </a:prstGeom>
        </p:spPr>
        <p:txBody>
          <a:bodyPr vert="horz" lIns="91440" tIns="45720" rIns="91440" bIns="45720">
            <a:normAutofit fontScale="99848"/>
          </a:bodyPr>
          <a:lstStyle>
            <a:lvl1pPr marL="228600" indent="-228600" algn="l">
              <a:lnSpc>
                <a:spcPct val="90000"/>
              </a:lnSpc>
              <a:spcBef>
                <a:spcPts val="1000"/>
              </a:spcBef>
              <a:buChar char="•"/>
              <a:defRPr sz="2000">
                <a:solidFill>
                  <a:schemeClr val="tx1"/>
                </a:solidFill>
                <a:latin typeface="+mn-lt"/>
                <a:ea typeface="+mn-lt"/>
                <a:cs typeface="+mn-lt"/>
              </a:defRPr>
            </a:lvl1pPr>
            <a:lvl2pPr marL="685800" indent="-228600" algn="l">
              <a:lnSpc>
                <a:spcPct val="90000"/>
              </a:lnSpc>
              <a:spcBef>
                <a:spcPts val="500"/>
              </a:spcBef>
              <a:buChar char="•"/>
              <a:defRPr sz="1800">
                <a:solidFill>
                  <a:schemeClr val="tx1"/>
                </a:solidFill>
                <a:latin typeface="+mn-lt"/>
                <a:ea typeface="+mn-lt"/>
                <a:cs typeface="+mn-lt"/>
              </a:defRPr>
            </a:lvl2pPr>
            <a:lvl3pPr marL="1143000" indent="-228600" algn="l">
              <a:lnSpc>
                <a:spcPct val="90000"/>
              </a:lnSpc>
              <a:spcBef>
                <a:spcPts val="500"/>
              </a:spcBef>
              <a:buChar char="•"/>
              <a:defRPr sz="1600">
                <a:solidFill>
                  <a:schemeClr val="tx1"/>
                </a:solidFill>
                <a:latin typeface="+mn-lt"/>
                <a:ea typeface="+mn-lt"/>
                <a:cs typeface="+mn-lt"/>
              </a:defRPr>
            </a:lvl3pPr>
            <a:lvl4pPr marL="1600200" indent="-228600" algn="l">
              <a:lnSpc>
                <a:spcPct val="90000"/>
              </a:lnSpc>
              <a:spcBef>
                <a:spcPts val="500"/>
              </a:spcBef>
              <a:buChar char="•"/>
              <a:defRPr sz="1400">
                <a:solidFill>
                  <a:schemeClr val="tx1"/>
                </a:solidFill>
                <a:latin typeface="+mn-lt"/>
                <a:ea typeface="+mn-lt"/>
                <a:cs typeface="+mn-lt"/>
              </a:defRPr>
            </a:lvl4pPr>
            <a:lvl5pPr marL="2057400" indent="-228600" algn="l">
              <a:lnSpc>
                <a:spcPct val="90000"/>
              </a:lnSpc>
              <a:spcBef>
                <a:spcPts val="500"/>
              </a:spcBef>
              <a:buChar char="•"/>
              <a:defRPr sz="12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gn="ctr">
              <a:buNone/>
            </a:pPr>
            <a:r>
              <a:rPr sz="1600" b="1"/>
              <a:t>Scenario Comparison</a:t>
            </a:r>
          </a:p>
        </p:txBody>
      </p:sp>
      <p:pic>
        <p:nvPicPr>
          <p:cNvPr id="375" name="図 124"/>
          <p:cNvPicPr>
            <a:picLocks noChangeAspect="1"/>
          </p:cNvPicPr>
          <p:nvPr/>
        </p:nvPicPr>
        <p:blipFill>
          <a:blip r:embed="rId3"/>
          <a:srcRect l="17000" r="17000"/>
          <a:stretch/>
        </p:blipFill>
        <p:spPr>
          <a:xfrm>
            <a:off x="4065224" y="2300786"/>
            <a:ext cx="1866616" cy="2650684"/>
          </a:xfrm>
          <a:prstGeom prst="rect">
            <a:avLst/>
          </a:prstGeom>
        </p:spPr>
      </p:pic>
      <p:cxnSp>
        <p:nvCxnSpPr>
          <p:cNvPr id="376" name="直線矢印コネクタ 14"/>
          <p:cNvCxnSpPr/>
          <p:nvPr/>
        </p:nvCxnSpPr>
        <p:spPr>
          <a:xfrm flipV="1">
            <a:off x="4273014" y="3421964"/>
            <a:ext cx="555465" cy="90010"/>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377" name="直線矢印コネクタ 18"/>
          <p:cNvCxnSpPr/>
          <p:nvPr/>
        </p:nvCxnSpPr>
        <p:spPr>
          <a:xfrm flipV="1">
            <a:off x="4382472" y="4338992"/>
            <a:ext cx="558163" cy="115429"/>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378" name="直線矢印コネクタ 21"/>
          <p:cNvCxnSpPr/>
          <p:nvPr/>
        </p:nvCxnSpPr>
        <p:spPr>
          <a:xfrm>
            <a:off x="4850625" y="3421964"/>
            <a:ext cx="138764" cy="917028"/>
          </a:xfrm>
          <a:prstGeom prst="straightConnector1">
            <a:avLst/>
          </a:prstGeom>
          <a:ln w="31750">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379" name="直線矢印コネクタ 24"/>
          <p:cNvCxnSpPr/>
          <p:nvPr/>
        </p:nvCxnSpPr>
        <p:spPr>
          <a:xfrm flipV="1">
            <a:off x="5057779" y="4361464"/>
            <a:ext cx="558163" cy="115429"/>
          </a:xfrm>
          <a:prstGeom prst="straightConnector1">
            <a:avLst/>
          </a:prstGeom>
          <a:ln>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380" name="直線矢印コネクタ 25"/>
          <p:cNvCxnSpPr/>
          <p:nvPr/>
        </p:nvCxnSpPr>
        <p:spPr>
          <a:xfrm>
            <a:off x="4693090" y="2763817"/>
            <a:ext cx="95752" cy="610791"/>
          </a:xfrm>
          <a:prstGeom prst="straightConnector1">
            <a:avLst/>
          </a:prstGeom>
          <a:ln w="15875">
            <a:headEnd type="triangle"/>
            <a:tailEnd type="triangle"/>
          </a:ln>
        </p:spPr>
        <p:style>
          <a:lnRef idx="2">
            <a:schemeClr val="accent4"/>
          </a:lnRef>
          <a:fillRef idx="0">
            <a:schemeClr val="accent4"/>
          </a:fillRef>
          <a:effectRef idx="1">
            <a:schemeClr val="accent4"/>
          </a:effectRef>
          <a:fontRef idx="minor">
            <a:schemeClr val="tx1"/>
          </a:fontRef>
        </p:style>
      </p:cxnSp>
      <p:cxnSp>
        <p:nvCxnSpPr>
          <p:cNvPr id="381" name="直線矢印コネクタ 28"/>
          <p:cNvCxnSpPr/>
          <p:nvPr/>
        </p:nvCxnSpPr>
        <p:spPr>
          <a:xfrm>
            <a:off x="4509360" y="3957351"/>
            <a:ext cx="59313" cy="381641"/>
          </a:xfrm>
          <a:prstGeom prst="straightConnector1">
            <a:avLst/>
          </a:prstGeom>
          <a:ln w="12700">
            <a:headEnd type="triangle"/>
            <a:tailEnd type="triangle"/>
          </a:ln>
        </p:spPr>
        <p:style>
          <a:lnRef idx="2">
            <a:schemeClr val="accent4"/>
          </a:lnRef>
          <a:fillRef idx="0">
            <a:schemeClr val="accent4"/>
          </a:fillRef>
          <a:effectRef idx="1">
            <a:schemeClr val="accent4"/>
          </a:effectRef>
          <a:fontRef idx="minor">
            <a:schemeClr val="tx1"/>
          </a:fontRef>
        </p:style>
      </p:cxnSp>
      <p:pic>
        <p:nvPicPr>
          <p:cNvPr id="382" name="図 125"/>
          <p:cNvPicPr>
            <a:picLocks noChangeAspect="1"/>
          </p:cNvPicPr>
          <p:nvPr/>
        </p:nvPicPr>
        <p:blipFill>
          <a:blip r:embed="rId3"/>
          <a:srcRect l="17000" r="17000"/>
          <a:stretch/>
        </p:blipFill>
        <p:spPr>
          <a:xfrm>
            <a:off x="6439776" y="2308393"/>
            <a:ext cx="1871071" cy="2650684"/>
          </a:xfrm>
          <a:prstGeom prst="rect">
            <a:avLst/>
          </a:prstGeom>
        </p:spPr>
      </p:pic>
      <p:pic>
        <p:nvPicPr>
          <p:cNvPr id="383" name="図 30"/>
          <p:cNvPicPr>
            <a:picLocks noChangeAspect="1"/>
          </p:cNvPicPr>
          <p:nvPr/>
        </p:nvPicPr>
        <p:blipFill>
          <a:blip r:embed="rId3"/>
          <a:srcRect l="17000" r="17000"/>
          <a:stretch/>
        </p:blipFill>
        <p:spPr>
          <a:xfrm>
            <a:off x="6449821" y="2315306"/>
            <a:ext cx="1866616" cy="2650684"/>
          </a:xfrm>
          <a:prstGeom prst="rect">
            <a:avLst/>
          </a:prstGeom>
        </p:spPr>
      </p:pic>
      <p:cxnSp>
        <p:nvCxnSpPr>
          <p:cNvPr id="384" name="直線矢印コネクタ 31"/>
          <p:cNvCxnSpPr/>
          <p:nvPr/>
        </p:nvCxnSpPr>
        <p:spPr>
          <a:xfrm flipV="1">
            <a:off x="6657611" y="3436484"/>
            <a:ext cx="555465" cy="90010"/>
          </a:xfrm>
          <a:prstGeom prst="straightConnector1">
            <a:avLst/>
          </a:prstGeom>
          <a:ln w="41275">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85" name="直線矢印コネクタ 33"/>
          <p:cNvCxnSpPr/>
          <p:nvPr/>
        </p:nvCxnSpPr>
        <p:spPr>
          <a:xfrm flipV="1">
            <a:off x="6767069" y="4353512"/>
            <a:ext cx="558163" cy="115429"/>
          </a:xfrm>
          <a:prstGeom prst="straightConnector1">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86" name="直線矢印コネクタ 34"/>
          <p:cNvCxnSpPr/>
          <p:nvPr/>
        </p:nvCxnSpPr>
        <p:spPr>
          <a:xfrm>
            <a:off x="7235222" y="3436484"/>
            <a:ext cx="138764" cy="917028"/>
          </a:xfrm>
          <a:prstGeom prst="straightConnector1">
            <a:avLst/>
          </a:prstGeom>
          <a:ln w="25400">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87" name="直線矢印コネクタ 35"/>
          <p:cNvCxnSpPr/>
          <p:nvPr/>
        </p:nvCxnSpPr>
        <p:spPr>
          <a:xfrm flipV="1">
            <a:off x="7442376" y="4375984"/>
            <a:ext cx="558163" cy="115429"/>
          </a:xfrm>
          <a:prstGeom prst="straightConnector1">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88" name="直線矢印コネクタ 36"/>
          <p:cNvCxnSpPr/>
          <p:nvPr/>
        </p:nvCxnSpPr>
        <p:spPr>
          <a:xfrm>
            <a:off x="7077687" y="2778337"/>
            <a:ext cx="95752" cy="610791"/>
          </a:xfrm>
          <a:prstGeom prst="straightConnector1">
            <a:avLst/>
          </a:prstGeom>
          <a:ln>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cxnSp>
        <p:nvCxnSpPr>
          <p:cNvPr id="389" name="直線矢印コネクタ 37"/>
          <p:cNvCxnSpPr/>
          <p:nvPr/>
        </p:nvCxnSpPr>
        <p:spPr>
          <a:xfrm>
            <a:off x="6893957" y="3971871"/>
            <a:ext cx="59313" cy="381641"/>
          </a:xfrm>
          <a:prstGeom prst="straightConnector1">
            <a:avLst/>
          </a:prstGeom>
          <a:ln w="28575">
            <a:headEnd type="triangle"/>
            <a:tailEnd type="triangle"/>
          </a:ln>
        </p:spPr>
        <p:style>
          <a:lnRef idx="2">
            <a:schemeClr val="accent6"/>
          </a:lnRef>
          <a:fillRef idx="0">
            <a:schemeClr val="accent6"/>
          </a:fillRef>
          <a:effectRef idx="1">
            <a:schemeClr val="accent6"/>
          </a:effectRef>
          <a:fontRef idx="minor">
            <a:schemeClr val="tx1"/>
          </a:fontRef>
        </p:style>
      </p:cxnSp>
      <p:cxnSp>
        <p:nvCxnSpPr>
          <p:cNvPr id="390" name="直線矢印コネクタ 38"/>
          <p:cNvCxnSpPr/>
          <p:nvPr/>
        </p:nvCxnSpPr>
        <p:spPr>
          <a:xfrm>
            <a:off x="7001183" y="3512174"/>
            <a:ext cx="54089" cy="413628"/>
          </a:xfrm>
          <a:prstGeom prst="straightConnector1">
            <a:avLst/>
          </a:prstGeom>
          <a:ln w="28575">
            <a:headEnd type="triangle" w="med" len="med"/>
            <a:tailEnd type="triangle" w="med" len="med"/>
          </a:ln>
        </p:spPr>
        <p:style>
          <a:lnRef idx="2">
            <a:schemeClr val="accent6"/>
          </a:lnRef>
          <a:fillRef idx="0">
            <a:schemeClr val="accent6"/>
          </a:fillRef>
          <a:effectRef idx="1">
            <a:schemeClr val="accent6"/>
          </a:effectRef>
          <a:fontRef idx="minor">
            <a:schemeClr val="tx1"/>
          </a:fontRef>
        </p:style>
      </p:cxnSp>
      <p:pic>
        <p:nvPicPr>
          <p:cNvPr id="391" name="図 8"/>
          <p:cNvPicPr>
            <a:picLocks noChangeAspect="1"/>
          </p:cNvPicPr>
          <p:nvPr/>
        </p:nvPicPr>
        <p:blipFill>
          <a:blip r:embed="rId3"/>
          <a:srcRect l="17000" r="17000"/>
          <a:stretch/>
        </p:blipFill>
        <p:spPr>
          <a:xfrm>
            <a:off x="610833" y="2229703"/>
            <a:ext cx="2980346" cy="4100906"/>
          </a:xfrm>
          <a:prstGeom prst="rect">
            <a:avLst/>
          </a:prstGeom>
        </p:spPr>
      </p:pic>
      <p:sp>
        <p:nvSpPr>
          <p:cNvPr id="10" name="Oval 6">
            <a:extLst>
              <a:ext uri="{FF2B5EF4-FFF2-40B4-BE49-F238E27FC236}">
                <a16:creationId xmlns:a16="http://schemas.microsoft.com/office/drawing/2014/main" id="{5D1A83C5-59F3-44F6-5B47-C7C4D9801C58}"/>
              </a:ext>
            </a:extLst>
          </p:cNvPr>
          <p:cNvSpPr>
            <a:spLocks noGrp="1"/>
          </p:cNvSpPr>
          <p:nvPr/>
        </p:nvSpPr>
        <p:spPr>
          <a:xfrm>
            <a:off x="1395033" y="4382015"/>
            <a:ext cx="158687" cy="164183"/>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1</a:t>
            </a:r>
          </a:p>
        </p:txBody>
      </p:sp>
      <p:sp>
        <p:nvSpPr>
          <p:cNvPr id="11" name="テキスト ボックス 10">
            <a:extLst>
              <a:ext uri="{FF2B5EF4-FFF2-40B4-BE49-F238E27FC236}">
                <a16:creationId xmlns:a16="http://schemas.microsoft.com/office/drawing/2014/main" id="{15092849-D5CB-7341-0B7A-8F9D35914DBF}"/>
              </a:ext>
            </a:extLst>
          </p:cNvPr>
          <p:cNvSpPr>
            <a:spLocks noGrp="1"/>
          </p:cNvSpPr>
          <p:nvPr/>
        </p:nvSpPr>
        <p:spPr>
          <a:xfrm>
            <a:off x="1400707" y="4554777"/>
            <a:ext cx="655431" cy="251706"/>
          </a:xfrm>
          <a:prstGeom prst="rect">
            <a:avLst/>
          </a:prstGeom>
          <a:noFill/>
        </p:spPr>
        <p:txBody>
          <a:bodyPr wrap="square">
            <a:spAutoFit/>
          </a:bodyPr>
          <a:lstStyle/>
          <a:p>
            <a:r>
              <a:rPr sz="1050"/>
              <a:t>Site</a:t>
            </a:r>
          </a:p>
        </p:txBody>
      </p:sp>
      <p:sp>
        <p:nvSpPr>
          <p:cNvPr id="12" name="Oval 6">
            <a:extLst>
              <a:ext uri="{FF2B5EF4-FFF2-40B4-BE49-F238E27FC236}">
                <a16:creationId xmlns:a16="http://schemas.microsoft.com/office/drawing/2014/main" id="{3FCDAB7A-32FB-B4C7-4E85-8C25F7034447}"/>
              </a:ext>
            </a:extLst>
          </p:cNvPr>
          <p:cNvSpPr>
            <a:spLocks noGrp="1"/>
          </p:cNvSpPr>
          <p:nvPr/>
        </p:nvSpPr>
        <p:spPr>
          <a:xfrm>
            <a:off x="1018087" y="5150799"/>
            <a:ext cx="158687" cy="164183"/>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3</a:t>
            </a:r>
          </a:p>
        </p:txBody>
      </p:sp>
      <p:sp>
        <p:nvSpPr>
          <p:cNvPr id="13" name="正方形/長方形 12">
            <a:extLst>
              <a:ext uri="{FF2B5EF4-FFF2-40B4-BE49-F238E27FC236}">
                <a16:creationId xmlns:a16="http://schemas.microsoft.com/office/drawing/2014/main" id="{7A165BEE-F2B5-388C-B581-015D837B3E5B}"/>
              </a:ext>
            </a:extLst>
          </p:cNvPr>
          <p:cNvSpPr>
            <a:spLocks noGrp="1"/>
          </p:cNvSpPr>
          <p:nvPr/>
        </p:nvSpPr>
        <p:spPr>
          <a:xfrm rot="21007099">
            <a:off x="1578926" y="3688029"/>
            <a:ext cx="371235" cy="512737"/>
          </a:xfrm>
          <a:prstGeom prst="rect">
            <a:avLst/>
          </a:pr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4" name="正方形/長方形 246">
            <a:extLst>
              <a:ext uri="{FF2B5EF4-FFF2-40B4-BE49-F238E27FC236}">
                <a16:creationId xmlns:a16="http://schemas.microsoft.com/office/drawing/2014/main" id="{870CFBE2-C0E5-F294-4005-31FFEDC8EAB5}"/>
              </a:ext>
            </a:extLst>
          </p:cNvPr>
          <p:cNvSpPr>
            <a:spLocks noGrp="1"/>
          </p:cNvSpPr>
          <p:nvPr/>
        </p:nvSpPr>
        <p:spPr>
          <a:xfrm rot="21007099">
            <a:off x="1410302" y="3733828"/>
            <a:ext cx="239633" cy="1193081"/>
          </a:xfrm>
          <a:custGeom>
            <a:avLst/>
            <a:gdLst/>
            <a:ahLst/>
            <a:cxnLst/>
            <a:rect l="l" t="t" r="r" b="b"/>
            <a:pathLst>
              <a:path w="272063" h="1397919">
                <a:moveTo>
                  <a:pt x="238" y="805988"/>
                </a:moveTo>
                <a:lnTo>
                  <a:pt x="272063" y="0"/>
                </a:lnTo>
                <a:lnTo>
                  <a:pt x="272063" y="600768"/>
                </a:lnTo>
                <a:lnTo>
                  <a:pt x="5002" y="1397919"/>
                </a:lnTo>
                <a:cubicBezTo>
                  <a:pt x="6724" y="1200111"/>
                  <a:pt x="-1484" y="1003796"/>
                  <a:pt x="238" y="805988"/>
                </a:cubicBez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6" name="正方形/長方形 246">
            <a:extLst>
              <a:ext uri="{FF2B5EF4-FFF2-40B4-BE49-F238E27FC236}">
                <a16:creationId xmlns:a16="http://schemas.microsoft.com/office/drawing/2014/main" id="{BE26C57B-C5C4-A4CE-446F-0B9995C2D464}"/>
              </a:ext>
            </a:extLst>
          </p:cNvPr>
          <p:cNvSpPr>
            <a:spLocks noGrp="1"/>
          </p:cNvSpPr>
          <p:nvPr/>
        </p:nvSpPr>
        <p:spPr>
          <a:xfrm rot="21007099">
            <a:off x="1774866" y="3667733"/>
            <a:ext cx="239633" cy="1193081"/>
          </a:xfrm>
          <a:custGeom>
            <a:avLst/>
            <a:gdLst/>
            <a:ahLst/>
            <a:cxnLst/>
            <a:rect l="l" t="t" r="r" b="b"/>
            <a:pathLst>
              <a:path w="272063" h="1397919">
                <a:moveTo>
                  <a:pt x="238" y="805988"/>
                </a:moveTo>
                <a:lnTo>
                  <a:pt x="272063" y="0"/>
                </a:lnTo>
                <a:lnTo>
                  <a:pt x="272063" y="600768"/>
                </a:lnTo>
                <a:lnTo>
                  <a:pt x="5002" y="1397919"/>
                </a:lnTo>
                <a:cubicBezTo>
                  <a:pt x="6724" y="1200111"/>
                  <a:pt x="-1484" y="1003796"/>
                  <a:pt x="238" y="805988"/>
                </a:cubicBez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7" name="正方形/長方形 252">
            <a:extLst>
              <a:ext uri="{FF2B5EF4-FFF2-40B4-BE49-F238E27FC236}">
                <a16:creationId xmlns:a16="http://schemas.microsoft.com/office/drawing/2014/main" id="{4D391F1C-1322-2E29-F4D7-214D80D17B20}"/>
              </a:ext>
            </a:extLst>
          </p:cNvPr>
          <p:cNvSpPr>
            <a:spLocks noGrp="1"/>
          </p:cNvSpPr>
          <p:nvPr/>
        </p:nvSpPr>
        <p:spPr>
          <a:xfrm rot="21007099">
            <a:off x="1451219" y="4213172"/>
            <a:ext cx="602839" cy="690150"/>
          </a:xfrm>
          <a:custGeom>
            <a:avLst/>
            <a:gdLst/>
            <a:ahLst/>
            <a:cxnLst/>
            <a:rect l="l" t="t" r="r" b="b"/>
            <a:pathLst>
              <a:path w="684421" h="808641">
                <a:moveTo>
                  <a:pt x="262946" y="0"/>
                </a:moveTo>
                <a:lnTo>
                  <a:pt x="684421" y="0"/>
                </a:lnTo>
                <a:lnTo>
                  <a:pt x="416167" y="808641"/>
                </a:lnTo>
                <a:lnTo>
                  <a:pt x="0" y="796674"/>
                </a:lnTo>
                <a:lnTo>
                  <a:pt x="262946" y="0"/>
                </a:lnTo>
                <a:close/>
              </a:path>
            </a:pathLst>
          </a:custGeom>
          <a:solidFill>
            <a:srgbClr val="BAEAC4">
              <a:alpha val="60000"/>
            </a:srgbClr>
          </a:solidFill>
          <a:ln w="6350">
            <a:solidFill>
              <a:schemeClr val="bg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18" name="テキスト ボックス 17">
            <a:extLst>
              <a:ext uri="{FF2B5EF4-FFF2-40B4-BE49-F238E27FC236}">
                <a16:creationId xmlns:a16="http://schemas.microsoft.com/office/drawing/2014/main" id="{6690BCFF-4990-1486-2DEE-06D0784E2ABC}"/>
              </a:ext>
            </a:extLst>
          </p:cNvPr>
          <p:cNvSpPr>
            <a:spLocks noGrp="1"/>
          </p:cNvSpPr>
          <p:nvPr/>
        </p:nvSpPr>
        <p:spPr>
          <a:xfrm>
            <a:off x="1553469" y="3830384"/>
            <a:ext cx="497963" cy="274587"/>
          </a:xfrm>
          <a:prstGeom prst="rect">
            <a:avLst/>
          </a:prstGeom>
          <a:noFill/>
        </p:spPr>
        <p:txBody>
          <a:bodyPr wrap="none">
            <a:spAutoFit/>
          </a:bodyPr>
          <a:lstStyle/>
          <a:p>
            <a:r>
              <a:rPr sz="1200"/>
              <a:t>Area</a:t>
            </a:r>
          </a:p>
        </p:txBody>
      </p:sp>
      <p:sp>
        <p:nvSpPr>
          <p:cNvPr id="20" name="Oval 6">
            <a:extLst>
              <a:ext uri="{FF2B5EF4-FFF2-40B4-BE49-F238E27FC236}">
                <a16:creationId xmlns:a16="http://schemas.microsoft.com/office/drawing/2014/main" id="{CBC782B0-21D0-D49F-1622-01F8402A7C04}"/>
              </a:ext>
            </a:extLst>
          </p:cNvPr>
          <p:cNvSpPr>
            <a:spLocks noGrp="1"/>
          </p:cNvSpPr>
          <p:nvPr/>
        </p:nvSpPr>
        <p:spPr>
          <a:xfrm>
            <a:off x="1553469" y="3640661"/>
            <a:ext cx="158687" cy="164183"/>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2</a:t>
            </a:r>
          </a:p>
        </p:txBody>
      </p:sp>
      <p:sp>
        <p:nvSpPr>
          <p:cNvPr id="21" name="フリーフォーム 20">
            <a:extLst>
              <a:ext uri="{FF2B5EF4-FFF2-40B4-BE49-F238E27FC236}">
                <a16:creationId xmlns:a16="http://schemas.microsoft.com/office/drawing/2014/main" id="{0405FCF0-F2F0-04F0-4BE8-E9891B3CF3C2}"/>
              </a:ext>
            </a:extLst>
          </p:cNvPr>
          <p:cNvSpPr>
            <a:spLocks noGrp="1"/>
          </p:cNvSpPr>
          <p:nvPr/>
        </p:nvSpPr>
        <p:spPr>
          <a:xfrm>
            <a:off x="1698692" y="4155437"/>
            <a:ext cx="570695" cy="771818"/>
          </a:xfrm>
          <a:custGeom>
            <a:avLst/>
            <a:gdLst/>
            <a:ahLst/>
            <a:cxnLst/>
            <a:rect l="l" t="t" r="r" b="b"/>
            <a:pathLst>
              <a:path w="657913" h="950284">
                <a:moveTo>
                  <a:pt x="657913" y="0"/>
                </a:moveTo>
                <a:lnTo>
                  <a:pt x="0" y="127781"/>
                </a:lnTo>
                <a:cubicBezTo>
                  <a:pt x="7214" y="187298"/>
                  <a:pt x="128048" y="890767"/>
                  <a:pt x="135262" y="950284"/>
                </a:cubicBezTo>
              </a:path>
            </a:pathLst>
          </a:custGeom>
          <a:noFill/>
          <a:ln w="38100">
            <a:solidFill>
              <a:srgbClr val="F2B3ED"/>
            </a:solidFill>
            <a:tailEnd type="triangle"/>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3" name="フリーフォーム 22">
            <a:extLst>
              <a:ext uri="{FF2B5EF4-FFF2-40B4-BE49-F238E27FC236}">
                <a16:creationId xmlns:a16="http://schemas.microsoft.com/office/drawing/2014/main" id="{3A2981C2-7FF5-6404-C3E7-519E195F6556}"/>
              </a:ext>
            </a:extLst>
          </p:cNvPr>
          <p:cNvSpPr>
            <a:spLocks noGrp="1"/>
          </p:cNvSpPr>
          <p:nvPr/>
        </p:nvSpPr>
        <p:spPr>
          <a:xfrm>
            <a:off x="1788588" y="4313710"/>
            <a:ext cx="781489" cy="719445"/>
          </a:xfrm>
          <a:custGeom>
            <a:avLst/>
            <a:gdLst/>
            <a:ahLst/>
            <a:cxnLst/>
            <a:rect l="l" t="t" r="r" b="b"/>
            <a:pathLst>
              <a:path w="887247" h="842966">
                <a:moveTo>
                  <a:pt x="887247" y="702289"/>
                </a:moveTo>
                <a:lnTo>
                  <a:pt x="141659" y="842966"/>
                </a:lnTo>
                <a:cubicBezTo>
                  <a:pt x="132281" y="777317"/>
                  <a:pt x="9378" y="65649"/>
                  <a:pt x="0" y="0"/>
                </a:cubicBezTo>
              </a:path>
            </a:pathLst>
          </a:custGeom>
          <a:noFill/>
          <a:ln w="38100">
            <a:solidFill>
              <a:srgbClr val="F2B3ED"/>
            </a:solidFill>
            <a:tailEnd type="triangle"/>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4" name="フリーフォーム 23">
            <a:extLst>
              <a:ext uri="{FF2B5EF4-FFF2-40B4-BE49-F238E27FC236}">
                <a16:creationId xmlns:a16="http://schemas.microsoft.com/office/drawing/2014/main" id="{0700D77A-66BD-45B8-37F4-51C3E7FED2C5}"/>
              </a:ext>
            </a:extLst>
          </p:cNvPr>
          <p:cNvSpPr>
            <a:spLocks noGrp="1"/>
          </p:cNvSpPr>
          <p:nvPr/>
        </p:nvSpPr>
        <p:spPr>
          <a:xfrm>
            <a:off x="943046" y="4259019"/>
            <a:ext cx="738288" cy="265557"/>
          </a:xfrm>
          <a:custGeom>
            <a:avLst/>
            <a:gdLst/>
            <a:ahLst/>
            <a:cxnLst/>
            <a:rect l="l" t="t" r="r" b="b"/>
            <a:pathLst>
              <a:path w="838200" h="311150">
                <a:moveTo>
                  <a:pt x="838200" y="0"/>
                </a:moveTo>
                <a:lnTo>
                  <a:pt x="415925" y="82550"/>
                </a:lnTo>
                <a:lnTo>
                  <a:pt x="0" y="311150"/>
                </a:lnTo>
              </a:path>
            </a:pathLst>
          </a:custGeom>
          <a:noFill/>
          <a:ln w="38100">
            <a:solidFill>
              <a:srgbClr val="F2B3ED"/>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 name="Oval 6">
            <a:extLst>
              <a:ext uri="{FF2B5EF4-FFF2-40B4-BE49-F238E27FC236}">
                <a16:creationId xmlns:a16="http://schemas.microsoft.com/office/drawing/2014/main" id="{A5BC62E2-32EC-9C1E-18C7-ECBE4CAB3D55}"/>
              </a:ext>
            </a:extLst>
          </p:cNvPr>
          <p:cNvSpPr>
            <a:spLocks noGrp="1"/>
          </p:cNvSpPr>
          <p:nvPr/>
        </p:nvSpPr>
        <p:spPr>
          <a:xfrm>
            <a:off x="2362973" y="4873938"/>
            <a:ext cx="158687" cy="164183"/>
          </a:xfrm>
          <a:prstGeom prst="ellipse">
            <a:avLst/>
          </a:prstGeom>
          <a:solidFill>
            <a:srgbClr val="1B519F"/>
          </a:solidFill>
          <a:ln>
            <a:solidFill>
              <a:srgbClr val="1B519F"/>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500" b="1">
                <a:solidFill>
                  <a:srgbClr val="FFFFFF"/>
                </a:solidFill>
                <a:latin typeface="Noto Sans CJK JP"/>
                <a:ea typeface="Noto Sans CJK JP"/>
                <a:cs typeface="Noto Sans CJK JP"/>
              </a:rPr>
              <a:t>4</a:t>
            </a:r>
          </a:p>
        </p:txBody>
      </p:sp>
      <p:sp>
        <p:nvSpPr>
          <p:cNvPr id="28" name="コンテンツ プレースホルダー 2">
            <a:extLst>
              <a:ext uri="{FF2B5EF4-FFF2-40B4-BE49-F238E27FC236}">
                <a16:creationId xmlns:a16="http://schemas.microsoft.com/office/drawing/2014/main" id="{6A8F459F-7F1D-F5A0-92CF-B834E940EBE0}"/>
              </a:ext>
            </a:extLst>
          </p:cNvPr>
          <p:cNvSpPr>
            <a:spLocks noGrp="1"/>
          </p:cNvSpPr>
          <p:nvPr/>
        </p:nvSpPr>
        <p:spPr>
          <a:xfrm>
            <a:off x="335360" y="1089140"/>
            <a:ext cx="10944470" cy="404645"/>
          </a:xfrm>
          <a:prstGeom prst="rect">
            <a:avLst/>
          </a:prstGeom>
        </p:spPr>
        <p:txBody>
          <a:bodyPr vert="horz" lIns="91440" tIns="45720" rIns="91440" bIns="45720">
            <a:normAutofit fontScale="97921"/>
          </a:bodyPr>
          <a:lstStyle>
            <a:lvl1pPr marL="228600" indent="-228600" algn="l">
              <a:lnSpc>
                <a:spcPct val="90000"/>
              </a:lnSpc>
              <a:spcBef>
                <a:spcPts val="1000"/>
              </a:spcBef>
              <a:buChar char="•"/>
              <a:defRPr sz="2000">
                <a:solidFill>
                  <a:schemeClr val="tx1"/>
                </a:solidFill>
                <a:latin typeface="+mn-lt"/>
                <a:ea typeface="+mn-lt"/>
                <a:cs typeface="+mn-lt"/>
              </a:defRPr>
            </a:lvl1pPr>
            <a:lvl2pPr marL="685800" indent="-228600" algn="l">
              <a:lnSpc>
                <a:spcPct val="90000"/>
              </a:lnSpc>
              <a:spcBef>
                <a:spcPts val="500"/>
              </a:spcBef>
              <a:buChar char="•"/>
              <a:defRPr sz="1800">
                <a:solidFill>
                  <a:schemeClr val="tx1"/>
                </a:solidFill>
                <a:latin typeface="+mn-lt"/>
                <a:ea typeface="+mn-lt"/>
                <a:cs typeface="+mn-lt"/>
              </a:defRPr>
            </a:lvl2pPr>
            <a:lvl3pPr marL="1143000" indent="-228600" algn="l">
              <a:lnSpc>
                <a:spcPct val="90000"/>
              </a:lnSpc>
              <a:spcBef>
                <a:spcPts val="500"/>
              </a:spcBef>
              <a:buChar char="•"/>
              <a:defRPr sz="1600">
                <a:solidFill>
                  <a:schemeClr val="tx1"/>
                </a:solidFill>
                <a:latin typeface="+mn-lt"/>
                <a:ea typeface="+mn-lt"/>
                <a:cs typeface="+mn-lt"/>
              </a:defRPr>
            </a:lvl3pPr>
            <a:lvl4pPr marL="1600200" indent="-228600" algn="l">
              <a:lnSpc>
                <a:spcPct val="90000"/>
              </a:lnSpc>
              <a:spcBef>
                <a:spcPts val="500"/>
              </a:spcBef>
              <a:buChar char="•"/>
              <a:defRPr sz="1400">
                <a:solidFill>
                  <a:schemeClr val="tx1"/>
                </a:solidFill>
                <a:latin typeface="+mn-lt"/>
                <a:ea typeface="+mn-lt"/>
                <a:cs typeface="+mn-lt"/>
              </a:defRPr>
            </a:lvl4pPr>
            <a:lvl5pPr marL="2057400" indent="-228600" algn="l">
              <a:lnSpc>
                <a:spcPct val="90000"/>
              </a:lnSpc>
              <a:spcBef>
                <a:spcPts val="500"/>
              </a:spcBef>
              <a:buChar char="•"/>
              <a:defRPr sz="12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sz="1800" b="1">
                <a:solidFill>
                  <a:schemeClr val="bg2">
                    <a:lumMod val="10000"/>
                  </a:schemeClr>
                </a:solidFill>
                <a:latin typeface="Noto Sans CJK JP"/>
                <a:ea typeface="Noto Sans CJK JP"/>
                <a:cs typeface="Noto Sans CJK JP"/>
              </a:rPr>
              <a:t>Simulate pedestrian flow under different scenarios and estimate the range of outcomes.</a:t>
            </a:r>
          </a:p>
        </p:txBody>
      </p:sp>
      <p:sp>
        <p:nvSpPr>
          <p:cNvPr id="33" name="コンテンツ プレースホルダー 2">
            <a:extLst>
              <a:ext uri="{FF2B5EF4-FFF2-40B4-BE49-F238E27FC236}">
                <a16:creationId xmlns:a16="http://schemas.microsoft.com/office/drawing/2014/main" id="{5F4DCE42-8D84-2C1C-1086-D00EE3C581C4}"/>
              </a:ext>
            </a:extLst>
          </p:cNvPr>
          <p:cNvSpPr>
            <a:spLocks noGrp="1"/>
          </p:cNvSpPr>
          <p:nvPr/>
        </p:nvSpPr>
        <p:spPr>
          <a:xfrm>
            <a:off x="53218" y="1931532"/>
            <a:ext cx="3996544" cy="404645"/>
          </a:xfrm>
          <a:prstGeom prst="rect">
            <a:avLst/>
          </a:prstGeom>
        </p:spPr>
        <p:txBody>
          <a:bodyPr vert="horz" lIns="91440" tIns="45720" rIns="91440" bIns="45720">
            <a:normAutofit fontScale="99848"/>
          </a:bodyPr>
          <a:lstStyle>
            <a:lvl1pPr marL="228600" indent="-228600" algn="l">
              <a:lnSpc>
                <a:spcPct val="90000"/>
              </a:lnSpc>
              <a:spcBef>
                <a:spcPts val="1000"/>
              </a:spcBef>
              <a:buChar char="•"/>
              <a:defRPr sz="2000">
                <a:solidFill>
                  <a:schemeClr val="tx1"/>
                </a:solidFill>
                <a:latin typeface="+mn-lt"/>
                <a:ea typeface="+mn-lt"/>
                <a:cs typeface="+mn-lt"/>
              </a:defRPr>
            </a:lvl1pPr>
            <a:lvl2pPr marL="685800" indent="-228600" algn="l">
              <a:lnSpc>
                <a:spcPct val="90000"/>
              </a:lnSpc>
              <a:spcBef>
                <a:spcPts val="500"/>
              </a:spcBef>
              <a:buChar char="•"/>
              <a:defRPr sz="1800">
                <a:solidFill>
                  <a:schemeClr val="tx1"/>
                </a:solidFill>
                <a:latin typeface="+mn-lt"/>
                <a:ea typeface="+mn-lt"/>
                <a:cs typeface="+mn-lt"/>
              </a:defRPr>
            </a:lvl2pPr>
            <a:lvl3pPr marL="1143000" indent="-228600" algn="l">
              <a:lnSpc>
                <a:spcPct val="90000"/>
              </a:lnSpc>
              <a:spcBef>
                <a:spcPts val="500"/>
              </a:spcBef>
              <a:buChar char="•"/>
              <a:defRPr sz="1600">
                <a:solidFill>
                  <a:schemeClr val="tx1"/>
                </a:solidFill>
                <a:latin typeface="+mn-lt"/>
                <a:ea typeface="+mn-lt"/>
                <a:cs typeface="+mn-lt"/>
              </a:defRPr>
            </a:lvl3pPr>
            <a:lvl4pPr marL="1600200" indent="-228600" algn="l">
              <a:lnSpc>
                <a:spcPct val="90000"/>
              </a:lnSpc>
              <a:spcBef>
                <a:spcPts val="500"/>
              </a:spcBef>
              <a:buChar char="•"/>
              <a:defRPr sz="1400">
                <a:solidFill>
                  <a:schemeClr val="tx1"/>
                </a:solidFill>
                <a:latin typeface="+mn-lt"/>
                <a:ea typeface="+mn-lt"/>
                <a:cs typeface="+mn-lt"/>
              </a:defRPr>
            </a:lvl4pPr>
            <a:lvl5pPr marL="2057400" indent="-228600" algn="l">
              <a:lnSpc>
                <a:spcPct val="90000"/>
              </a:lnSpc>
              <a:spcBef>
                <a:spcPts val="500"/>
              </a:spcBef>
              <a:buChar char="•"/>
              <a:defRPr sz="12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lgn="ctr">
              <a:buNone/>
            </a:pPr>
            <a:r>
              <a:rPr sz="1600" b="1">
                <a:solidFill>
                  <a:schemeClr val="tx2">
                    <a:lumMod val="90000"/>
                    <a:lumOff val="10000"/>
                  </a:schemeClr>
                </a:solidFill>
                <a:latin typeface="HGMinchoE"/>
                <a:ea typeface="HGMinchoE"/>
                <a:cs typeface="HGMinchoE"/>
              </a:rPr>
              <a:t>Example: Former Store Area</a:t>
            </a:r>
          </a:p>
        </p:txBody>
      </p:sp>
      <p:sp>
        <p:nvSpPr>
          <p:cNvPr id="42" name="右矢印 41">
            <a:extLst>
              <a:ext uri="{FF2B5EF4-FFF2-40B4-BE49-F238E27FC236}">
                <a16:creationId xmlns:a16="http://schemas.microsoft.com/office/drawing/2014/main" id="{BBEFE5E3-4DE9-D477-98D5-BDBE1A541782}"/>
              </a:ext>
            </a:extLst>
          </p:cNvPr>
          <p:cNvSpPr>
            <a:spLocks noGrp="1"/>
          </p:cNvSpPr>
          <p:nvPr/>
        </p:nvSpPr>
        <p:spPr>
          <a:xfrm>
            <a:off x="6033379" y="3579260"/>
            <a:ext cx="355895" cy="182778"/>
          </a:xfrm>
          <a:prstGeom prst="rightArrow">
            <a:avLst/>
          </a:prstGeom>
          <a:solidFill>
            <a:srgbClr val="002060"/>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43" name="Rounded Rectangle 5">
            <a:extLst>
              <a:ext uri="{FF2B5EF4-FFF2-40B4-BE49-F238E27FC236}">
                <a16:creationId xmlns:a16="http://schemas.microsoft.com/office/drawing/2014/main" id="{0B2913D3-BD74-6D36-DB85-7FEB8E595874}"/>
              </a:ext>
            </a:extLst>
          </p:cNvPr>
          <p:cNvSpPr>
            <a:spLocks noGrp="1"/>
          </p:cNvSpPr>
          <p:nvPr/>
        </p:nvSpPr>
        <p:spPr>
          <a:xfrm>
            <a:off x="5712201" y="5084871"/>
            <a:ext cx="2482137" cy="238547"/>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Predict pedestrian flow.</a:t>
            </a:r>
          </a:p>
        </p:txBody>
      </p:sp>
      <p:sp>
        <p:nvSpPr>
          <p:cNvPr id="44" name="Rounded Rectangle 5">
            <a:extLst>
              <a:ext uri="{FF2B5EF4-FFF2-40B4-BE49-F238E27FC236}">
                <a16:creationId xmlns:a16="http://schemas.microsoft.com/office/drawing/2014/main" id="{83E3009E-5B3A-5D07-E2DE-F61DA4CBCAB0}"/>
              </a:ext>
            </a:extLst>
          </p:cNvPr>
          <p:cNvSpPr>
            <a:spLocks noGrp="1"/>
          </p:cNvSpPr>
          <p:nvPr/>
        </p:nvSpPr>
        <p:spPr>
          <a:xfrm>
            <a:off x="4187952" y="5400133"/>
            <a:ext cx="2888402" cy="880236"/>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r>
              <a:rPr sz="1200">
                <a:solidFill>
                  <a:schemeClr val="tx1"/>
                </a:solidFill>
              </a:rPr>
              <a:t>Predicted pedestrian flow</a:t>
            </a:r>
          </a:p>
          <a:p>
            <a:pPr algn="ctr">
              <a:buNone/>
            </a:pPr>
            <a:r>
              <a:rPr sz="1200">
                <a:solidFill>
                  <a:schemeClr val="tx1"/>
                </a:solidFill>
              </a:rPr>
              <a:t>Weekday: XX0,000 visitors</a:t>
            </a:r>
          </a:p>
          <a:p>
            <a:pPr algn="ctr">
              <a:buNone/>
            </a:pPr>
            <a:r>
              <a:rPr sz="1200">
                <a:solidFill>
                  <a:schemeClr val="tx1"/>
                </a:solidFill>
              </a:rPr>
              <a:t>Weekend: YY0,000 visitors</a:t>
            </a:r>
          </a:p>
          <a:p>
            <a:pPr algn="ctr">
              <a:buNone/>
            </a:pPr>
            <a:r>
              <a:rPr sz="1200">
                <a:solidFill>
                  <a:schemeClr val="tx1"/>
                </a:solidFill>
              </a:rPr>
              <a:t>Route ~~ shows the largest increase.</a:t>
            </a:r>
          </a:p>
        </p:txBody>
      </p:sp>
      <p:sp>
        <p:nvSpPr>
          <p:cNvPr id="45" name="Rounded Rectangle 5">
            <a:extLst>
              <a:ext uri="{FF2B5EF4-FFF2-40B4-BE49-F238E27FC236}">
                <a16:creationId xmlns:a16="http://schemas.microsoft.com/office/drawing/2014/main" id="{F0CCA1F7-8CD5-D722-83A8-30F14043783A}"/>
              </a:ext>
            </a:extLst>
          </p:cNvPr>
          <p:cNvSpPr>
            <a:spLocks noGrp="1"/>
          </p:cNvSpPr>
          <p:nvPr/>
        </p:nvSpPr>
        <p:spPr>
          <a:xfrm>
            <a:off x="9386433" y="2583187"/>
            <a:ext cx="2483144" cy="404645"/>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latin typeface="+mn-ea"/>
                <a:ea typeface="+mn-ea"/>
                <a:cs typeface="+mn-ea"/>
              </a:rPr>
              <a:t>Compare against a retail + event-space plan.</a:t>
            </a:r>
          </a:p>
        </p:txBody>
      </p:sp>
      <p:sp>
        <p:nvSpPr>
          <p:cNvPr id="46" name="Rounded Rectangle 5">
            <a:extLst>
              <a:ext uri="{FF2B5EF4-FFF2-40B4-BE49-F238E27FC236}">
                <a16:creationId xmlns:a16="http://schemas.microsoft.com/office/drawing/2014/main" id="{E0DFFC78-6EC4-F509-0351-A0A555716C26}"/>
              </a:ext>
            </a:extLst>
          </p:cNvPr>
          <p:cNvSpPr>
            <a:spLocks noGrp="1"/>
          </p:cNvSpPr>
          <p:nvPr/>
        </p:nvSpPr>
        <p:spPr>
          <a:xfrm>
            <a:off x="8733515" y="3040582"/>
            <a:ext cx="2483144" cy="425581"/>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Visitors change to XX0,000.</a:t>
            </a:r>
          </a:p>
        </p:txBody>
      </p:sp>
      <p:sp>
        <p:nvSpPr>
          <p:cNvPr id="47" name="Rounded Rectangle 5">
            <a:extLst>
              <a:ext uri="{FF2B5EF4-FFF2-40B4-BE49-F238E27FC236}">
                <a16:creationId xmlns:a16="http://schemas.microsoft.com/office/drawing/2014/main" id="{B367B70A-7657-6858-F488-6094574F0AFD}"/>
              </a:ext>
            </a:extLst>
          </p:cNvPr>
          <p:cNvSpPr>
            <a:spLocks noGrp="1"/>
          </p:cNvSpPr>
          <p:nvPr/>
        </p:nvSpPr>
        <p:spPr>
          <a:xfrm>
            <a:off x="9376647" y="3861407"/>
            <a:ext cx="2483144" cy="286036"/>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nSpc>
                <a:spcPct val="150000"/>
              </a:lnSpc>
              <a:buNone/>
            </a:pPr>
            <a:r>
              <a:rPr sz="1050">
                <a:solidFill>
                  <a:schemeClr val="tx1"/>
                </a:solidFill>
                <a:latin typeface="+mn-ea"/>
                <a:ea typeface="+mn-ea"/>
                <a:cs typeface="+mn-ea"/>
              </a:rPr>
              <a:t>Show the impact of all-day rain.</a:t>
            </a:r>
          </a:p>
        </p:txBody>
      </p:sp>
      <p:sp>
        <p:nvSpPr>
          <p:cNvPr id="48" name="Rounded Rectangle 5">
            <a:extLst>
              <a:ext uri="{FF2B5EF4-FFF2-40B4-BE49-F238E27FC236}">
                <a16:creationId xmlns:a16="http://schemas.microsoft.com/office/drawing/2014/main" id="{2CD80D3E-3C3C-04C1-BF3C-183F3AB00014}"/>
              </a:ext>
            </a:extLst>
          </p:cNvPr>
          <p:cNvSpPr>
            <a:spLocks noGrp="1"/>
          </p:cNvSpPr>
          <p:nvPr/>
        </p:nvSpPr>
        <p:spPr>
          <a:xfrm>
            <a:off x="9379339" y="5091629"/>
            <a:ext cx="2483144" cy="720245"/>
          </a:xfrm>
          <a:prstGeom prst="roundRect">
            <a:avLst>
              <a:gd name="adj" fmla="val 9000"/>
            </a:avLst>
          </a:prstGeom>
          <a:solidFill>
            <a:srgbClr val="0432FF">
              <a:alpha val="40000"/>
            </a:srgb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nSpc>
                <a:spcPct val="150000"/>
              </a:lnSpc>
              <a:buNone/>
            </a:pPr>
            <a:r>
              <a:rPr sz="1050">
                <a:solidFill>
                  <a:schemeClr val="tx1"/>
                </a:solidFill>
                <a:latin typeface="+mn-ea"/>
                <a:ea typeface="+mn-ea"/>
                <a:cs typeface="+mn-ea"/>
              </a:rPr>
              <a:t>Show upside and downside cases if the project performs well over one year.</a:t>
            </a:r>
          </a:p>
        </p:txBody>
      </p:sp>
      <p:sp>
        <p:nvSpPr>
          <p:cNvPr id="53" name="Rounded Rectangle 5">
            <a:extLst>
              <a:ext uri="{FF2B5EF4-FFF2-40B4-BE49-F238E27FC236}">
                <a16:creationId xmlns:a16="http://schemas.microsoft.com/office/drawing/2014/main" id="{58C384DB-13FB-5358-95F8-C14FC57C28FD}"/>
              </a:ext>
            </a:extLst>
          </p:cNvPr>
          <p:cNvSpPr>
            <a:spLocks noGrp="1"/>
          </p:cNvSpPr>
          <p:nvPr/>
        </p:nvSpPr>
        <p:spPr>
          <a:xfrm>
            <a:off x="8713947" y="4211312"/>
            <a:ext cx="2605334" cy="436924"/>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In rain, weekday visitors fall to XX0,000 and weekend visitors to YY0,000.</a:t>
            </a:r>
          </a:p>
        </p:txBody>
      </p:sp>
      <p:sp>
        <p:nvSpPr>
          <p:cNvPr id="54" name="Rounded Rectangle 5">
            <a:extLst>
              <a:ext uri="{FF2B5EF4-FFF2-40B4-BE49-F238E27FC236}">
                <a16:creationId xmlns:a16="http://schemas.microsoft.com/office/drawing/2014/main" id="{E1F9C3E9-68EF-687E-C527-D1AE17B96561}"/>
              </a:ext>
            </a:extLst>
          </p:cNvPr>
          <p:cNvSpPr>
            <a:spLocks noGrp="1"/>
          </p:cNvSpPr>
          <p:nvPr/>
        </p:nvSpPr>
        <p:spPr>
          <a:xfrm>
            <a:off x="8727150" y="5862392"/>
            <a:ext cx="2605334" cy="436924"/>
          </a:xfrm>
          <a:prstGeom prst="roundRect">
            <a:avLst>
              <a:gd name="adj" fmla="val 9000"/>
            </a:avLst>
          </a:prstGeom>
          <a:solidFill>
            <a:schemeClr val="bg2">
              <a:lumMod val="75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r>
              <a:rPr sz="1050">
                <a:solidFill>
                  <a:schemeClr val="tx1"/>
                </a:solidFill>
              </a:rPr>
              <a:t>Create and compare upside and downside cases.</a:t>
            </a:r>
          </a:p>
        </p:txBody>
      </p:sp>
      <p:sp>
        <p:nvSpPr>
          <p:cNvPr id="3" name="テキスト ボックス 2">
            <a:extLst>
              <a:ext uri="{FF2B5EF4-FFF2-40B4-BE49-F238E27FC236}">
                <a16:creationId xmlns:a16="http://schemas.microsoft.com/office/drawing/2014/main" id="{C49AE73C-4ECE-44E4-3F72-03D7AA436B6D}"/>
              </a:ext>
            </a:extLst>
          </p:cNvPr>
          <p:cNvSpPr>
            <a:spLocks noGrp="1"/>
          </p:cNvSpPr>
          <p:nvPr/>
        </p:nvSpPr>
        <p:spPr>
          <a:xfrm>
            <a:off x="593976" y="1657334"/>
            <a:ext cx="2339102" cy="307777"/>
          </a:xfrm>
          <a:prstGeom prst="rect">
            <a:avLst/>
          </a:prstGeom>
          <a:noFill/>
        </p:spPr>
        <p:txBody>
          <a:bodyPr wrap="none">
            <a:spAutoFit/>
          </a:bodyPr>
          <a:lstStyle/>
          <a:p>
            <a:r>
              <a:rPr sz="1400"/>
              <a:t>* Hypothetical case for validation</a:t>
            </a:r>
          </a:p>
        </p:txBody>
      </p:sp>
    </p:spTree>
    <p:extLst>
      <p:ext uri="{BB962C8B-B14F-4D97-AF65-F5344CB8AC3E}">
        <p14:creationId xmlns:p14="http://schemas.microsoft.com/office/powerpoint/2010/main" val="27083250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9E576B1-22A1-0D05-6DB9-A4AD50C6CE11}"/>
              </a:ext>
            </a:extLst>
          </p:cNvPr>
          <p:cNvSpPr>
            <a:spLocks noGrp="1"/>
          </p:cNvSpPr>
          <p:nvPr>
            <p:ph type="title"/>
          </p:nvPr>
        </p:nvSpPr>
        <p:spPr/>
        <p:txBody>
          <a:bodyPr/>
          <a:lstStyle/>
          <a:p>
            <a:r>
              <a:t>Positioning of This Research</a:t>
            </a:r>
          </a:p>
        </p:txBody>
      </p:sp>
      <p:sp>
        <p:nvSpPr>
          <p:cNvPr id="4" name="日付プレースホルダー 3">
            <a:extLst>
              <a:ext uri="{FF2B5EF4-FFF2-40B4-BE49-F238E27FC236}">
                <a16:creationId xmlns:a16="http://schemas.microsoft.com/office/drawing/2014/main" id="{BE9387B3-A02B-3389-7A72-675A0DF4C767}"/>
              </a:ext>
            </a:extLst>
          </p:cNvPr>
          <p:cNvSpPr>
            <a:spLocks noGrp="1"/>
          </p:cNvSpPr>
          <p:nvPr>
            <p:ph type="dt" idx="10"/>
          </p:nvPr>
        </p:nvSpPr>
        <p:spPr/>
        <p:txBody>
          <a:bodyPr/>
          <a:lstStyle/>
          <a:p>
            <a:r>
              <a:t>2026/6</a:t>
            </a:r>
          </a:p>
        </p:txBody>
      </p:sp>
      <p:sp>
        <p:nvSpPr>
          <p:cNvPr id="5" name="フッター プレースホルダー 4">
            <a:extLst>
              <a:ext uri="{FF2B5EF4-FFF2-40B4-BE49-F238E27FC236}">
                <a16:creationId xmlns:a16="http://schemas.microsoft.com/office/drawing/2014/main" id="{665A0854-A25E-86D0-D931-BC6F83E9840C}"/>
              </a:ext>
            </a:extLst>
          </p:cNvPr>
          <p:cNvSpPr>
            <a:spLocks noGrp="1"/>
          </p:cNvSpPr>
          <p:nvPr>
            <p:ph type="ftr" idx="11"/>
          </p:nvPr>
        </p:nvSpPr>
        <p:spPr/>
        <p:txBody>
          <a:bodyPr/>
          <a:lstStyle/>
          <a:p>
            <a:r>
              <a:t>Sekimoto-Nakai Laboratory</a:t>
            </a:r>
          </a:p>
        </p:txBody>
      </p:sp>
      <p:sp>
        <p:nvSpPr>
          <p:cNvPr id="6" name="スライド番号プレースホルダー 5">
            <a:extLst>
              <a:ext uri="{FF2B5EF4-FFF2-40B4-BE49-F238E27FC236}">
                <a16:creationId xmlns:a16="http://schemas.microsoft.com/office/drawing/2014/main" id="{83DE9FBD-C16D-C3C4-2F2E-38E16C008899}"/>
              </a:ext>
            </a:extLst>
          </p:cNvPr>
          <p:cNvSpPr>
            <a:spLocks noGrp="1"/>
          </p:cNvSpPr>
          <p:nvPr>
            <p:ph type="sldNum" idx="12"/>
          </p:nvPr>
        </p:nvSpPr>
        <p:spPr/>
        <p:txBody>
          <a:bodyPr/>
          <a:lstStyle/>
          <a:p>
            <a:fld id="{6539E37A-E522-3D47-AAB7-DDF67C94A05D}" type="slidenum">
              <a:rPr/>
              <a:t>5</a:t>
            </a:fld>
            <a:endParaRPr/>
          </a:p>
        </p:txBody>
      </p:sp>
      <p:sp>
        <p:nvSpPr>
          <p:cNvPr id="22" name="コンテンツ プレースホルダー 2">
            <a:extLst>
              <a:ext uri="{FF2B5EF4-FFF2-40B4-BE49-F238E27FC236}">
                <a16:creationId xmlns:a16="http://schemas.microsoft.com/office/drawing/2014/main" id="{37CAFBFB-CBC4-5813-B1BF-5950CD11BF53}"/>
              </a:ext>
            </a:extLst>
          </p:cNvPr>
          <p:cNvSpPr>
            <a:spLocks noGrp="1"/>
          </p:cNvSpPr>
          <p:nvPr/>
        </p:nvSpPr>
        <p:spPr>
          <a:xfrm>
            <a:off x="425370" y="1041383"/>
            <a:ext cx="11594864" cy="1127477"/>
          </a:xfrm>
          <a:prstGeom prst="rect">
            <a:avLst/>
          </a:prstGeom>
        </p:spPr>
        <p:txBody>
          <a:bodyPr vert="horz" lIns="91440" tIns="45720" rIns="91440" bIns="45720">
            <a:normAutofit fontScale="95939"/>
          </a:bodyPr>
          <a:lstStyle>
            <a:lvl1pPr marL="228600" indent="-228600" algn="l">
              <a:lnSpc>
                <a:spcPct val="90000"/>
              </a:lnSpc>
              <a:spcBef>
                <a:spcPts val="1000"/>
              </a:spcBef>
              <a:buChar char="•"/>
              <a:defRPr sz="2000">
                <a:solidFill>
                  <a:schemeClr val="tx1"/>
                </a:solidFill>
                <a:latin typeface="+mn-lt"/>
                <a:ea typeface="+mn-lt"/>
                <a:cs typeface="+mn-lt"/>
              </a:defRPr>
            </a:lvl1pPr>
            <a:lvl2pPr marL="685800" indent="-228600" algn="l">
              <a:lnSpc>
                <a:spcPct val="90000"/>
              </a:lnSpc>
              <a:spcBef>
                <a:spcPts val="500"/>
              </a:spcBef>
              <a:buChar char="•"/>
              <a:defRPr sz="1800">
                <a:solidFill>
                  <a:schemeClr val="tx1"/>
                </a:solidFill>
                <a:latin typeface="+mn-lt"/>
                <a:ea typeface="+mn-lt"/>
                <a:cs typeface="+mn-lt"/>
              </a:defRPr>
            </a:lvl2pPr>
            <a:lvl3pPr marL="1143000" indent="-228600" algn="l">
              <a:lnSpc>
                <a:spcPct val="90000"/>
              </a:lnSpc>
              <a:spcBef>
                <a:spcPts val="500"/>
              </a:spcBef>
              <a:buChar char="•"/>
              <a:defRPr sz="1600">
                <a:solidFill>
                  <a:schemeClr val="tx1"/>
                </a:solidFill>
                <a:latin typeface="+mn-lt"/>
                <a:ea typeface="+mn-lt"/>
                <a:cs typeface="+mn-lt"/>
              </a:defRPr>
            </a:lvl3pPr>
            <a:lvl4pPr marL="1600200" indent="-228600" algn="l">
              <a:lnSpc>
                <a:spcPct val="90000"/>
              </a:lnSpc>
              <a:spcBef>
                <a:spcPts val="500"/>
              </a:spcBef>
              <a:buChar char="•"/>
              <a:defRPr sz="1400">
                <a:solidFill>
                  <a:schemeClr val="tx1"/>
                </a:solidFill>
                <a:latin typeface="+mn-lt"/>
                <a:ea typeface="+mn-lt"/>
                <a:cs typeface="+mn-lt"/>
              </a:defRPr>
            </a:lvl4pPr>
            <a:lvl5pPr marL="2057400" indent="-228600" algn="l">
              <a:lnSpc>
                <a:spcPct val="90000"/>
              </a:lnSpc>
              <a:spcBef>
                <a:spcPts val="500"/>
              </a:spcBef>
              <a:buChar char="•"/>
              <a:defRPr sz="12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r>
              <a:rPr sz="1800" b="1"/>
              <a:t>LLM-based planning support structures concepts, but rarely connects to pedestrian-flow evaluation.</a:t>
            </a:r>
          </a:p>
          <a:p>
            <a:r>
              <a:rPr sz="1800" b="1"/>
              <a:t>Pedestrian-flow models assess layout and policy impacts, but struggle to interpret natural-language planning intent.</a:t>
            </a:r>
          </a:p>
          <a:p>
            <a:r>
              <a:rPr sz="1800" b="1"/>
              <a:t>This research connects plan specification and flow prediction, enabling early-stage concepts to be evaluated.</a:t>
            </a:r>
          </a:p>
        </p:txBody>
      </p:sp>
      <p:sp>
        <p:nvSpPr>
          <p:cNvPr id="23" name="Rounded Rectangle 5">
            <a:extLst>
              <a:ext uri="{FF2B5EF4-FFF2-40B4-BE49-F238E27FC236}">
                <a16:creationId xmlns:a16="http://schemas.microsoft.com/office/drawing/2014/main" id="{C43EEF9F-8FED-7BFA-2237-7E54BB5AC069}"/>
              </a:ext>
            </a:extLst>
          </p:cNvPr>
          <p:cNvSpPr>
            <a:spLocks noGrp="1"/>
          </p:cNvSpPr>
          <p:nvPr/>
        </p:nvSpPr>
        <p:spPr>
          <a:xfrm>
            <a:off x="618220" y="2306227"/>
            <a:ext cx="3420379" cy="3778068"/>
          </a:xfrm>
          <a:prstGeom prst="roundRect">
            <a:avLst>
              <a:gd name="adj" fmla="val 9000"/>
            </a:avLst>
          </a:prstGeom>
          <a:solidFill>
            <a:schemeClr val="bg2">
              <a:lumMod val="90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25" name="片側の 2 つの角を丸めた四角形 24">
            <a:extLst>
              <a:ext uri="{FF2B5EF4-FFF2-40B4-BE49-F238E27FC236}">
                <a16:creationId xmlns:a16="http://schemas.microsoft.com/office/drawing/2014/main" id="{9DE9E5CF-2253-6B56-FF3E-D828592A5EFC}"/>
              </a:ext>
            </a:extLst>
          </p:cNvPr>
          <p:cNvSpPr>
            <a:spLocks noGrp="1"/>
          </p:cNvSpPr>
          <p:nvPr/>
        </p:nvSpPr>
        <p:spPr>
          <a:xfrm>
            <a:off x="618220" y="2306228"/>
            <a:ext cx="3420379" cy="581241"/>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27" name="テキスト ボックス 26">
            <a:extLst>
              <a:ext uri="{FF2B5EF4-FFF2-40B4-BE49-F238E27FC236}">
                <a16:creationId xmlns:a16="http://schemas.microsoft.com/office/drawing/2014/main" id="{1E22F820-3F64-C1A8-3BE1-4F4AEB548CBA}"/>
              </a:ext>
            </a:extLst>
          </p:cNvPr>
          <p:cNvSpPr>
            <a:spLocks noGrp="1"/>
          </p:cNvSpPr>
          <p:nvPr/>
        </p:nvSpPr>
        <p:spPr>
          <a:xfrm>
            <a:off x="726048" y="2470459"/>
            <a:ext cx="3199915" cy="338553"/>
          </a:xfrm>
          <a:prstGeom prst="rect">
            <a:avLst/>
          </a:prstGeom>
          <a:noFill/>
        </p:spPr>
        <p:txBody>
          <a:bodyPr wrap="none">
            <a:spAutoFit/>
          </a:bodyPr>
          <a:lstStyle/>
          <a:p>
            <a:r>
              <a:rPr sz="1600" b="1">
                <a:solidFill>
                  <a:schemeClr val="bg1"/>
                </a:solidFill>
              </a:rPr>
              <a:t>LLM Planning Support</a:t>
            </a:r>
          </a:p>
        </p:txBody>
      </p:sp>
      <p:sp>
        <p:nvSpPr>
          <p:cNvPr id="32" name="Rounded Rectangle 5">
            <a:extLst>
              <a:ext uri="{FF2B5EF4-FFF2-40B4-BE49-F238E27FC236}">
                <a16:creationId xmlns:a16="http://schemas.microsoft.com/office/drawing/2014/main" id="{1DDBA576-D84B-C769-F1F4-317B8F416E9A}"/>
              </a:ext>
            </a:extLst>
          </p:cNvPr>
          <p:cNvSpPr>
            <a:spLocks noGrp="1"/>
          </p:cNvSpPr>
          <p:nvPr/>
        </p:nvSpPr>
        <p:spPr>
          <a:xfrm>
            <a:off x="4293062" y="2318330"/>
            <a:ext cx="3420379" cy="3778068"/>
          </a:xfrm>
          <a:prstGeom prst="roundRect">
            <a:avLst>
              <a:gd name="adj" fmla="val 9000"/>
            </a:avLst>
          </a:prstGeom>
          <a:solidFill>
            <a:schemeClr val="bg2">
              <a:lumMod val="90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3" name="片側の 2 つの角を丸めた四角形 32">
            <a:extLst>
              <a:ext uri="{FF2B5EF4-FFF2-40B4-BE49-F238E27FC236}">
                <a16:creationId xmlns:a16="http://schemas.microsoft.com/office/drawing/2014/main" id="{74203617-3F6A-216D-834B-C6FAA31E59F3}"/>
              </a:ext>
            </a:extLst>
          </p:cNvPr>
          <p:cNvSpPr>
            <a:spLocks noGrp="1"/>
          </p:cNvSpPr>
          <p:nvPr/>
        </p:nvSpPr>
        <p:spPr>
          <a:xfrm>
            <a:off x="4293062" y="2318331"/>
            <a:ext cx="3420379" cy="581241"/>
          </a:xfrm>
          <a:prstGeom prst="round2SameRect">
            <a:avLst>
              <a:gd name="adj1" fmla="val 50000"/>
              <a:gd name="adj2" fmla="val 0"/>
            </a:avLst>
          </a:prstGeom>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1" name="テキスト ボックス 30">
            <a:extLst>
              <a:ext uri="{FF2B5EF4-FFF2-40B4-BE49-F238E27FC236}">
                <a16:creationId xmlns:a16="http://schemas.microsoft.com/office/drawing/2014/main" id="{14247868-FCAF-015B-E2F5-AF6927669688}"/>
              </a:ext>
            </a:extLst>
          </p:cNvPr>
          <p:cNvSpPr>
            <a:spLocks noGrp="1"/>
          </p:cNvSpPr>
          <p:nvPr/>
        </p:nvSpPr>
        <p:spPr>
          <a:xfrm>
            <a:off x="5298257" y="2483367"/>
            <a:ext cx="1415772" cy="338553"/>
          </a:xfrm>
          <a:prstGeom prst="rect">
            <a:avLst/>
          </a:prstGeom>
          <a:noFill/>
        </p:spPr>
        <p:txBody>
          <a:bodyPr wrap="none">
            <a:spAutoFit/>
          </a:bodyPr>
          <a:lstStyle/>
          <a:p>
            <a:r>
              <a:rPr sz="1600" b="1">
                <a:solidFill>
                  <a:schemeClr val="bg1"/>
                </a:solidFill>
              </a:rPr>
              <a:t>Pedestrian-Flow Models</a:t>
            </a:r>
          </a:p>
        </p:txBody>
      </p:sp>
      <p:sp>
        <p:nvSpPr>
          <p:cNvPr id="37" name="Rounded Rectangle 5">
            <a:extLst>
              <a:ext uri="{FF2B5EF4-FFF2-40B4-BE49-F238E27FC236}">
                <a16:creationId xmlns:a16="http://schemas.microsoft.com/office/drawing/2014/main" id="{901A5644-BA38-148B-2FBF-117266FDACE1}"/>
              </a:ext>
            </a:extLst>
          </p:cNvPr>
          <p:cNvSpPr>
            <a:spLocks noGrp="1"/>
          </p:cNvSpPr>
          <p:nvPr/>
        </p:nvSpPr>
        <p:spPr>
          <a:xfrm>
            <a:off x="7973686" y="2306227"/>
            <a:ext cx="3420379" cy="3778068"/>
          </a:xfrm>
          <a:prstGeom prst="roundRect">
            <a:avLst>
              <a:gd name="adj" fmla="val 9000"/>
            </a:avLst>
          </a:prstGeom>
          <a:solidFill>
            <a:schemeClr val="bg2">
              <a:lumMod val="90000"/>
              <a:alpha val="50196"/>
            </a:schemeClr>
          </a:solidFill>
          <a:ln w="15240">
            <a:solidFill>
              <a:schemeClr val="tx1"/>
            </a:solidFill>
          </a:ln>
        </p:spPr>
        <p:style>
          <a:lnRef idx="1">
            <a:schemeClr val="accent1"/>
          </a:lnRef>
          <a:fillRef idx="3">
            <a:schemeClr val="accent1"/>
          </a:fillRef>
          <a:effectRef idx="2">
            <a:schemeClr val="accent1"/>
          </a:effectRef>
          <a:fontRef idx="minor">
            <a:schemeClr val="lt1"/>
          </a:fontRef>
        </p:style>
        <p:txBody>
          <a:bodyPr anchor="ctr"/>
          <a:lstStyle/>
          <a:p>
            <a:pPr algn="ctr">
              <a:buNone/>
            </a:pPr>
            <a:endParaRPr/>
          </a:p>
        </p:txBody>
      </p:sp>
      <p:sp>
        <p:nvSpPr>
          <p:cNvPr id="38" name="片側の 2 つの角を丸めた四角形 37">
            <a:extLst>
              <a:ext uri="{FF2B5EF4-FFF2-40B4-BE49-F238E27FC236}">
                <a16:creationId xmlns:a16="http://schemas.microsoft.com/office/drawing/2014/main" id="{54EDACB5-AFA3-E0EB-D685-67D7B83C2BEE}"/>
              </a:ext>
            </a:extLst>
          </p:cNvPr>
          <p:cNvSpPr>
            <a:spLocks noGrp="1"/>
          </p:cNvSpPr>
          <p:nvPr/>
        </p:nvSpPr>
        <p:spPr>
          <a:xfrm>
            <a:off x="7973686" y="2306228"/>
            <a:ext cx="3420379" cy="581241"/>
          </a:xfrm>
          <a:prstGeom prst="round2SameRect">
            <a:avLst>
              <a:gd name="adj1" fmla="val 50000"/>
              <a:gd name="adj2" fmla="val 0"/>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anchor="ctr"/>
          <a:lstStyle/>
          <a:p>
            <a:pPr algn="ctr">
              <a:buNone/>
            </a:pPr>
            <a:endParaRPr/>
          </a:p>
        </p:txBody>
      </p:sp>
      <p:sp>
        <p:nvSpPr>
          <p:cNvPr id="36" name="テキスト ボックス 35">
            <a:extLst>
              <a:ext uri="{FF2B5EF4-FFF2-40B4-BE49-F238E27FC236}">
                <a16:creationId xmlns:a16="http://schemas.microsoft.com/office/drawing/2014/main" id="{C3B59545-2608-E897-EFF8-1E716E321E6B}"/>
              </a:ext>
            </a:extLst>
          </p:cNvPr>
          <p:cNvSpPr>
            <a:spLocks noGrp="1"/>
          </p:cNvSpPr>
          <p:nvPr/>
        </p:nvSpPr>
        <p:spPr>
          <a:xfrm>
            <a:off x="7986210" y="2470459"/>
            <a:ext cx="3492266" cy="338553"/>
          </a:xfrm>
          <a:prstGeom prst="rect">
            <a:avLst/>
          </a:prstGeom>
          <a:noFill/>
        </p:spPr>
        <p:txBody>
          <a:bodyPr wrap="square">
            <a:spAutoFit/>
          </a:bodyPr>
          <a:lstStyle/>
          <a:p>
            <a:pPr algn="ctr">
              <a:buNone/>
            </a:pPr>
            <a:r>
              <a:rPr sz="1600" b="1">
                <a:solidFill>
                  <a:schemeClr val="bg1"/>
                </a:solidFill>
              </a:rPr>
              <a:t>This Research: Integrated Workflow</a:t>
            </a:r>
          </a:p>
        </p:txBody>
      </p:sp>
      <p:sp>
        <p:nvSpPr>
          <p:cNvPr id="39" name="テキスト ボックス 38">
            <a:extLst>
              <a:ext uri="{FF2B5EF4-FFF2-40B4-BE49-F238E27FC236}">
                <a16:creationId xmlns:a16="http://schemas.microsoft.com/office/drawing/2014/main" id="{F37AE888-B8AF-0F52-700A-F3F84ED9DBCF}"/>
              </a:ext>
            </a:extLst>
          </p:cNvPr>
          <p:cNvSpPr>
            <a:spLocks noGrp="1"/>
          </p:cNvSpPr>
          <p:nvPr/>
        </p:nvSpPr>
        <p:spPr>
          <a:xfrm>
            <a:off x="931005" y="2999060"/>
            <a:ext cx="2893150" cy="584775"/>
          </a:xfrm>
          <a:prstGeom prst="rect">
            <a:avLst/>
          </a:prstGeom>
          <a:noFill/>
        </p:spPr>
        <p:txBody>
          <a:bodyPr wrap="square">
            <a:spAutoFit/>
          </a:bodyPr>
          <a:lstStyle/>
          <a:p>
            <a:r>
              <a:rPr sz="1600"/>
              <a:t>Plans and land-use options from natural language</a:t>
            </a:r>
          </a:p>
        </p:txBody>
      </p:sp>
      <p:sp>
        <p:nvSpPr>
          <p:cNvPr id="40" name="テキスト ボックス 39">
            <a:extLst>
              <a:ext uri="{FF2B5EF4-FFF2-40B4-BE49-F238E27FC236}">
                <a16:creationId xmlns:a16="http://schemas.microsoft.com/office/drawing/2014/main" id="{8C184932-869C-6A94-B380-98B79A7F7A16}"/>
              </a:ext>
            </a:extLst>
          </p:cNvPr>
          <p:cNvSpPr>
            <a:spLocks noGrp="1"/>
          </p:cNvSpPr>
          <p:nvPr/>
        </p:nvSpPr>
        <p:spPr>
          <a:xfrm>
            <a:off x="931005" y="3583835"/>
            <a:ext cx="2892486" cy="584775"/>
          </a:xfrm>
          <a:prstGeom prst="rect">
            <a:avLst/>
          </a:prstGeom>
          <a:noFill/>
        </p:spPr>
        <p:txBody>
          <a:bodyPr wrap="square">
            <a:spAutoFit/>
          </a:bodyPr>
          <a:lstStyle/>
          <a:p>
            <a:r>
              <a:rPr sz="1600"/>
              <a:t>Dialogue-based requirements and scenarios</a:t>
            </a:r>
          </a:p>
        </p:txBody>
      </p:sp>
      <p:sp>
        <p:nvSpPr>
          <p:cNvPr id="41" name="テキスト ボックス 40">
            <a:extLst>
              <a:ext uri="{FF2B5EF4-FFF2-40B4-BE49-F238E27FC236}">
                <a16:creationId xmlns:a16="http://schemas.microsoft.com/office/drawing/2014/main" id="{02802972-72DE-69D5-C8C9-BA51A3B0CC6D}"/>
              </a:ext>
            </a:extLst>
          </p:cNvPr>
          <p:cNvSpPr>
            <a:spLocks noGrp="1"/>
          </p:cNvSpPr>
          <p:nvPr/>
        </p:nvSpPr>
        <p:spPr>
          <a:xfrm>
            <a:off x="930341" y="4156245"/>
            <a:ext cx="2880149" cy="584775"/>
          </a:xfrm>
          <a:prstGeom prst="rect">
            <a:avLst/>
          </a:prstGeom>
          <a:noFill/>
        </p:spPr>
        <p:txBody>
          <a:bodyPr wrap="square">
            <a:spAutoFit/>
          </a:bodyPr>
          <a:lstStyle/>
          <a:p>
            <a:r>
              <a:rPr sz="1600"/>
              <a:t>No pedestrian-flow input link</a:t>
            </a:r>
          </a:p>
        </p:txBody>
      </p:sp>
      <p:sp>
        <p:nvSpPr>
          <p:cNvPr id="42" name="テキスト ボックス 41">
            <a:extLst>
              <a:ext uri="{FF2B5EF4-FFF2-40B4-BE49-F238E27FC236}">
                <a16:creationId xmlns:a16="http://schemas.microsoft.com/office/drawing/2014/main" id="{B6BC8E3A-0B14-9897-B6E6-C86284DDA489}"/>
              </a:ext>
            </a:extLst>
          </p:cNvPr>
          <p:cNvSpPr>
            <a:spLocks noGrp="1"/>
          </p:cNvSpPr>
          <p:nvPr/>
        </p:nvSpPr>
        <p:spPr>
          <a:xfrm>
            <a:off x="930341" y="4753385"/>
            <a:ext cx="2880149" cy="584775"/>
          </a:xfrm>
          <a:prstGeom prst="rect">
            <a:avLst/>
          </a:prstGeom>
          <a:noFill/>
        </p:spPr>
        <p:txBody>
          <a:bodyPr wrap="square">
            <a:spAutoFit/>
          </a:bodyPr>
          <a:lstStyle/>
          <a:p>
            <a:r>
              <a:rPr sz="1600"/>
              <a:t>Impact checks stay qualitative</a:t>
            </a:r>
          </a:p>
        </p:txBody>
      </p:sp>
      <p:sp>
        <p:nvSpPr>
          <p:cNvPr id="44" name="テキスト ボックス 43">
            <a:extLst>
              <a:ext uri="{FF2B5EF4-FFF2-40B4-BE49-F238E27FC236}">
                <a16:creationId xmlns:a16="http://schemas.microsoft.com/office/drawing/2014/main" id="{22BDF1C2-2B45-BE08-BF47-DF5166742286}"/>
              </a:ext>
            </a:extLst>
          </p:cNvPr>
          <p:cNvSpPr>
            <a:spLocks noGrp="1"/>
          </p:cNvSpPr>
          <p:nvPr/>
        </p:nvSpPr>
        <p:spPr>
          <a:xfrm>
            <a:off x="642578" y="3112964"/>
            <a:ext cx="415498" cy="369332"/>
          </a:xfrm>
          <a:prstGeom prst="rect">
            <a:avLst/>
          </a:prstGeom>
          <a:noFill/>
        </p:spPr>
        <p:txBody>
          <a:bodyPr wrap="none">
            <a:spAutoFit/>
          </a:bodyPr>
          <a:lstStyle/>
          <a:p>
            <a:r>
              <a:rPr b="1">
                <a:solidFill>
                  <a:srgbClr val="FF0000"/>
                </a:solidFill>
              </a:rPr>
              <a:t>○</a:t>
            </a:r>
          </a:p>
        </p:txBody>
      </p:sp>
      <p:sp>
        <p:nvSpPr>
          <p:cNvPr id="45" name="テキスト ボックス 44">
            <a:extLst>
              <a:ext uri="{FF2B5EF4-FFF2-40B4-BE49-F238E27FC236}">
                <a16:creationId xmlns:a16="http://schemas.microsoft.com/office/drawing/2014/main" id="{FAE73F34-F6EF-C339-747F-925F795D0348}"/>
              </a:ext>
            </a:extLst>
          </p:cNvPr>
          <p:cNvSpPr>
            <a:spLocks noGrp="1"/>
          </p:cNvSpPr>
          <p:nvPr/>
        </p:nvSpPr>
        <p:spPr>
          <a:xfrm>
            <a:off x="642578" y="3687123"/>
            <a:ext cx="415498" cy="369332"/>
          </a:xfrm>
          <a:prstGeom prst="rect">
            <a:avLst/>
          </a:prstGeom>
          <a:noFill/>
        </p:spPr>
        <p:txBody>
          <a:bodyPr wrap="none">
            <a:spAutoFit/>
          </a:bodyPr>
          <a:lstStyle/>
          <a:p>
            <a:r>
              <a:rPr b="1">
                <a:solidFill>
                  <a:srgbClr val="FF0000"/>
                </a:solidFill>
              </a:rPr>
              <a:t>○</a:t>
            </a:r>
          </a:p>
        </p:txBody>
      </p:sp>
      <p:sp>
        <p:nvSpPr>
          <p:cNvPr id="46" name="テキスト ボックス 45">
            <a:extLst>
              <a:ext uri="{FF2B5EF4-FFF2-40B4-BE49-F238E27FC236}">
                <a16:creationId xmlns:a16="http://schemas.microsoft.com/office/drawing/2014/main" id="{13DA31AB-3A75-02E3-3AEF-48C8A0F4C9FD}"/>
              </a:ext>
            </a:extLst>
          </p:cNvPr>
          <p:cNvSpPr>
            <a:spLocks noGrp="1"/>
          </p:cNvSpPr>
          <p:nvPr/>
        </p:nvSpPr>
        <p:spPr>
          <a:xfrm>
            <a:off x="661814" y="4275992"/>
            <a:ext cx="377026" cy="369332"/>
          </a:xfrm>
          <a:prstGeom prst="rect">
            <a:avLst/>
          </a:prstGeom>
          <a:noFill/>
        </p:spPr>
        <p:txBody>
          <a:bodyPr wrap="none">
            <a:spAutoFit/>
          </a:bodyPr>
          <a:lstStyle/>
          <a:p>
            <a:r>
              <a:rPr>
                <a:solidFill>
                  <a:srgbClr val="0432FF"/>
                </a:solidFill>
              </a:rPr>
              <a:t>×</a:t>
            </a:r>
          </a:p>
        </p:txBody>
      </p:sp>
      <p:sp>
        <p:nvSpPr>
          <p:cNvPr id="47" name="テキスト ボックス 46">
            <a:extLst>
              <a:ext uri="{FF2B5EF4-FFF2-40B4-BE49-F238E27FC236}">
                <a16:creationId xmlns:a16="http://schemas.microsoft.com/office/drawing/2014/main" id="{8CB71F67-AEF7-4394-2087-747BB5E777D6}"/>
              </a:ext>
            </a:extLst>
          </p:cNvPr>
          <p:cNvSpPr>
            <a:spLocks noGrp="1"/>
          </p:cNvSpPr>
          <p:nvPr/>
        </p:nvSpPr>
        <p:spPr>
          <a:xfrm>
            <a:off x="661814" y="4853508"/>
            <a:ext cx="377026" cy="369332"/>
          </a:xfrm>
          <a:prstGeom prst="rect">
            <a:avLst/>
          </a:prstGeom>
          <a:noFill/>
        </p:spPr>
        <p:txBody>
          <a:bodyPr wrap="none">
            <a:spAutoFit/>
          </a:bodyPr>
          <a:lstStyle/>
          <a:p>
            <a:r>
              <a:rPr>
                <a:solidFill>
                  <a:srgbClr val="0432FF"/>
                </a:solidFill>
              </a:rPr>
              <a:t>×</a:t>
            </a:r>
          </a:p>
        </p:txBody>
      </p:sp>
      <p:sp>
        <p:nvSpPr>
          <p:cNvPr id="48" name="テキスト ボックス 47">
            <a:extLst>
              <a:ext uri="{FF2B5EF4-FFF2-40B4-BE49-F238E27FC236}">
                <a16:creationId xmlns:a16="http://schemas.microsoft.com/office/drawing/2014/main" id="{E74E280A-A690-513F-CDBD-E6412CC7188D}"/>
              </a:ext>
            </a:extLst>
          </p:cNvPr>
          <p:cNvSpPr>
            <a:spLocks noGrp="1"/>
          </p:cNvSpPr>
          <p:nvPr/>
        </p:nvSpPr>
        <p:spPr>
          <a:xfrm>
            <a:off x="726048" y="5354952"/>
            <a:ext cx="3204723" cy="523220"/>
          </a:xfrm>
          <a:prstGeom prst="rect">
            <a:avLst/>
          </a:prstGeom>
          <a:noFill/>
        </p:spPr>
        <p:txBody>
          <a:bodyPr wrap="square">
            <a:spAutoFit/>
          </a:bodyPr>
          <a:lstStyle/>
          <a:p>
            <a:r>
              <a:rPr sz="1400"/>
              <a:t>Ex. PlanGPT, Large language model empowered participatory urban planning</a:t>
            </a:r>
          </a:p>
        </p:txBody>
      </p:sp>
      <p:sp>
        <p:nvSpPr>
          <p:cNvPr id="49" name="テキスト ボックス 48">
            <a:extLst>
              <a:ext uri="{FF2B5EF4-FFF2-40B4-BE49-F238E27FC236}">
                <a16:creationId xmlns:a16="http://schemas.microsoft.com/office/drawing/2014/main" id="{2A9C890E-6F5B-2745-F214-6150E50C5210}"/>
              </a:ext>
            </a:extLst>
          </p:cNvPr>
          <p:cNvSpPr>
            <a:spLocks noGrp="1"/>
          </p:cNvSpPr>
          <p:nvPr/>
        </p:nvSpPr>
        <p:spPr>
          <a:xfrm>
            <a:off x="4603583" y="2999060"/>
            <a:ext cx="2893150" cy="584775"/>
          </a:xfrm>
          <a:prstGeom prst="rect">
            <a:avLst/>
          </a:prstGeom>
          <a:noFill/>
        </p:spPr>
        <p:txBody>
          <a:bodyPr wrap="square">
            <a:spAutoFit/>
          </a:bodyPr>
          <a:lstStyle/>
          <a:p>
            <a:r>
              <a:rPr sz="1600"/>
              <a:t>Tests layout and policy changes</a:t>
            </a:r>
          </a:p>
        </p:txBody>
      </p:sp>
      <p:sp>
        <p:nvSpPr>
          <p:cNvPr id="50" name="テキスト ボックス 49">
            <a:extLst>
              <a:ext uri="{FF2B5EF4-FFF2-40B4-BE49-F238E27FC236}">
                <a16:creationId xmlns:a16="http://schemas.microsoft.com/office/drawing/2014/main" id="{FB47F317-B7CF-8500-1F8D-127123FA82C4}"/>
              </a:ext>
            </a:extLst>
          </p:cNvPr>
          <p:cNvSpPr>
            <a:spLocks noGrp="1"/>
          </p:cNvSpPr>
          <p:nvPr/>
        </p:nvSpPr>
        <p:spPr>
          <a:xfrm>
            <a:off x="4603583" y="3583835"/>
            <a:ext cx="2892486" cy="584775"/>
          </a:xfrm>
          <a:prstGeom prst="rect">
            <a:avLst/>
          </a:prstGeom>
          <a:noFill/>
        </p:spPr>
        <p:txBody>
          <a:bodyPr wrap="square">
            <a:spAutoFit/>
          </a:bodyPr>
          <a:lstStyle/>
          <a:p>
            <a:r>
              <a:rPr sz="1600"/>
              <a:t>Estimates visitors, congestion, and dwell</a:t>
            </a:r>
          </a:p>
        </p:txBody>
      </p:sp>
      <p:sp>
        <p:nvSpPr>
          <p:cNvPr id="51" name="テキスト ボックス 50">
            <a:extLst>
              <a:ext uri="{FF2B5EF4-FFF2-40B4-BE49-F238E27FC236}">
                <a16:creationId xmlns:a16="http://schemas.microsoft.com/office/drawing/2014/main" id="{07632B67-AA4B-2FB6-77CD-FCC60D902BDB}"/>
              </a:ext>
            </a:extLst>
          </p:cNvPr>
          <p:cNvSpPr>
            <a:spLocks noGrp="1"/>
          </p:cNvSpPr>
          <p:nvPr/>
        </p:nvSpPr>
        <p:spPr>
          <a:xfrm>
            <a:off x="4602919" y="4156245"/>
            <a:ext cx="2880149" cy="584775"/>
          </a:xfrm>
          <a:prstGeom prst="rect">
            <a:avLst/>
          </a:prstGeom>
          <a:noFill/>
        </p:spPr>
        <p:txBody>
          <a:bodyPr wrap="square">
            <a:spAutoFit/>
          </a:bodyPr>
          <a:lstStyle/>
          <a:p>
            <a:r>
              <a:rPr sz="1600"/>
              <a:t>Cannot interpret ambiguous intent</a:t>
            </a:r>
          </a:p>
        </p:txBody>
      </p:sp>
      <p:sp>
        <p:nvSpPr>
          <p:cNvPr id="52" name="テキスト ボックス 51">
            <a:extLst>
              <a:ext uri="{FF2B5EF4-FFF2-40B4-BE49-F238E27FC236}">
                <a16:creationId xmlns:a16="http://schemas.microsoft.com/office/drawing/2014/main" id="{5EC0B909-01CD-57AD-F085-EFF8DBA719AD}"/>
              </a:ext>
            </a:extLst>
          </p:cNvPr>
          <p:cNvSpPr>
            <a:spLocks noGrp="1"/>
          </p:cNvSpPr>
          <p:nvPr/>
        </p:nvSpPr>
        <p:spPr>
          <a:xfrm>
            <a:off x="4602919" y="4753385"/>
            <a:ext cx="2880149" cy="584775"/>
          </a:xfrm>
          <a:prstGeom prst="rect">
            <a:avLst/>
          </a:prstGeom>
          <a:noFill/>
        </p:spPr>
        <p:txBody>
          <a:bodyPr wrap="square">
            <a:spAutoFit/>
          </a:bodyPr>
          <a:lstStyle/>
          <a:p>
            <a:r>
              <a:rPr sz="1600"/>
              <a:t>No scenarios from early concepts</a:t>
            </a:r>
          </a:p>
        </p:txBody>
      </p:sp>
      <p:sp>
        <p:nvSpPr>
          <p:cNvPr id="53" name="テキスト ボックス 52">
            <a:extLst>
              <a:ext uri="{FF2B5EF4-FFF2-40B4-BE49-F238E27FC236}">
                <a16:creationId xmlns:a16="http://schemas.microsoft.com/office/drawing/2014/main" id="{0A1CF332-8B3C-7B7A-9099-C72E1956ED72}"/>
              </a:ext>
            </a:extLst>
          </p:cNvPr>
          <p:cNvSpPr>
            <a:spLocks noGrp="1"/>
          </p:cNvSpPr>
          <p:nvPr/>
        </p:nvSpPr>
        <p:spPr>
          <a:xfrm>
            <a:off x="4315156" y="3112964"/>
            <a:ext cx="415498" cy="369332"/>
          </a:xfrm>
          <a:prstGeom prst="rect">
            <a:avLst/>
          </a:prstGeom>
          <a:noFill/>
        </p:spPr>
        <p:txBody>
          <a:bodyPr wrap="none">
            <a:spAutoFit/>
          </a:bodyPr>
          <a:lstStyle/>
          <a:p>
            <a:r>
              <a:rPr b="1">
                <a:solidFill>
                  <a:srgbClr val="FF0000"/>
                </a:solidFill>
              </a:rPr>
              <a:t>○</a:t>
            </a:r>
          </a:p>
        </p:txBody>
      </p:sp>
      <p:sp>
        <p:nvSpPr>
          <p:cNvPr id="54" name="テキスト ボックス 53">
            <a:extLst>
              <a:ext uri="{FF2B5EF4-FFF2-40B4-BE49-F238E27FC236}">
                <a16:creationId xmlns:a16="http://schemas.microsoft.com/office/drawing/2014/main" id="{CB7C5CD4-DD52-731C-AC6A-746DFA2F1B6A}"/>
              </a:ext>
            </a:extLst>
          </p:cNvPr>
          <p:cNvSpPr>
            <a:spLocks noGrp="1"/>
          </p:cNvSpPr>
          <p:nvPr/>
        </p:nvSpPr>
        <p:spPr>
          <a:xfrm>
            <a:off x="4315156" y="3687123"/>
            <a:ext cx="415498" cy="369332"/>
          </a:xfrm>
          <a:prstGeom prst="rect">
            <a:avLst/>
          </a:prstGeom>
          <a:noFill/>
        </p:spPr>
        <p:txBody>
          <a:bodyPr wrap="none">
            <a:spAutoFit/>
          </a:bodyPr>
          <a:lstStyle/>
          <a:p>
            <a:r>
              <a:rPr b="1">
                <a:solidFill>
                  <a:srgbClr val="FF0000"/>
                </a:solidFill>
              </a:rPr>
              <a:t>○</a:t>
            </a:r>
          </a:p>
        </p:txBody>
      </p:sp>
      <p:sp>
        <p:nvSpPr>
          <p:cNvPr id="55" name="テキスト ボックス 54">
            <a:extLst>
              <a:ext uri="{FF2B5EF4-FFF2-40B4-BE49-F238E27FC236}">
                <a16:creationId xmlns:a16="http://schemas.microsoft.com/office/drawing/2014/main" id="{26EFA40C-0F9B-DB5C-CE78-A287761B62C2}"/>
              </a:ext>
            </a:extLst>
          </p:cNvPr>
          <p:cNvSpPr>
            <a:spLocks noGrp="1"/>
          </p:cNvSpPr>
          <p:nvPr/>
        </p:nvSpPr>
        <p:spPr>
          <a:xfrm>
            <a:off x="4315156" y="4261282"/>
            <a:ext cx="377026" cy="369332"/>
          </a:xfrm>
          <a:prstGeom prst="rect">
            <a:avLst/>
          </a:prstGeom>
          <a:noFill/>
        </p:spPr>
        <p:txBody>
          <a:bodyPr wrap="none">
            <a:spAutoFit/>
          </a:bodyPr>
          <a:lstStyle/>
          <a:p>
            <a:r>
              <a:rPr>
                <a:solidFill>
                  <a:srgbClr val="0432FF"/>
                </a:solidFill>
              </a:rPr>
              <a:t>×</a:t>
            </a:r>
          </a:p>
        </p:txBody>
      </p:sp>
      <p:sp>
        <p:nvSpPr>
          <p:cNvPr id="56" name="テキスト ボックス 55">
            <a:extLst>
              <a:ext uri="{FF2B5EF4-FFF2-40B4-BE49-F238E27FC236}">
                <a16:creationId xmlns:a16="http://schemas.microsoft.com/office/drawing/2014/main" id="{6E429E77-67E6-5B7A-0297-EBEE4AC7328A}"/>
              </a:ext>
            </a:extLst>
          </p:cNvPr>
          <p:cNvSpPr>
            <a:spLocks noGrp="1"/>
          </p:cNvSpPr>
          <p:nvPr/>
        </p:nvSpPr>
        <p:spPr>
          <a:xfrm>
            <a:off x="4315156" y="4838798"/>
            <a:ext cx="377026" cy="369332"/>
          </a:xfrm>
          <a:prstGeom prst="rect">
            <a:avLst/>
          </a:prstGeom>
          <a:noFill/>
        </p:spPr>
        <p:txBody>
          <a:bodyPr wrap="none">
            <a:spAutoFit/>
          </a:bodyPr>
          <a:lstStyle/>
          <a:p>
            <a:r>
              <a:rPr>
                <a:solidFill>
                  <a:srgbClr val="0432FF"/>
                </a:solidFill>
              </a:rPr>
              <a:t>×</a:t>
            </a:r>
          </a:p>
        </p:txBody>
      </p:sp>
      <p:sp>
        <p:nvSpPr>
          <p:cNvPr id="57" name="テキスト ボックス 56">
            <a:extLst>
              <a:ext uri="{FF2B5EF4-FFF2-40B4-BE49-F238E27FC236}">
                <a16:creationId xmlns:a16="http://schemas.microsoft.com/office/drawing/2014/main" id="{1F43922B-AB00-1438-9225-6FD1E733A61D}"/>
              </a:ext>
            </a:extLst>
          </p:cNvPr>
          <p:cNvSpPr>
            <a:spLocks noGrp="1"/>
          </p:cNvSpPr>
          <p:nvPr/>
        </p:nvSpPr>
        <p:spPr>
          <a:xfrm>
            <a:off x="4451019" y="5354952"/>
            <a:ext cx="3204723" cy="307777"/>
          </a:xfrm>
          <a:prstGeom prst="rect">
            <a:avLst/>
          </a:prstGeom>
          <a:noFill/>
        </p:spPr>
        <p:txBody>
          <a:bodyPr wrap="square">
            <a:spAutoFit/>
          </a:bodyPr>
          <a:lstStyle/>
          <a:p>
            <a:r>
              <a:rPr sz="1400"/>
              <a:t>Ex. CausalPOI, SeMob</a:t>
            </a:r>
          </a:p>
        </p:txBody>
      </p:sp>
      <p:sp>
        <p:nvSpPr>
          <p:cNvPr id="62" name="テキスト ボックス 61">
            <a:extLst>
              <a:ext uri="{FF2B5EF4-FFF2-40B4-BE49-F238E27FC236}">
                <a16:creationId xmlns:a16="http://schemas.microsoft.com/office/drawing/2014/main" id="{547BAB07-8676-EEA1-1FCD-05A8BA70B92E}"/>
              </a:ext>
            </a:extLst>
          </p:cNvPr>
          <p:cNvSpPr>
            <a:spLocks noGrp="1"/>
          </p:cNvSpPr>
          <p:nvPr/>
        </p:nvSpPr>
        <p:spPr>
          <a:xfrm>
            <a:off x="7994951" y="3112964"/>
            <a:ext cx="415498" cy="369332"/>
          </a:xfrm>
          <a:prstGeom prst="rect">
            <a:avLst/>
          </a:prstGeom>
          <a:noFill/>
        </p:spPr>
        <p:txBody>
          <a:bodyPr wrap="none">
            <a:spAutoFit/>
          </a:bodyPr>
          <a:lstStyle/>
          <a:p>
            <a:r>
              <a:rPr b="1">
                <a:solidFill>
                  <a:srgbClr val="FF0000"/>
                </a:solidFill>
              </a:rPr>
              <a:t>○</a:t>
            </a:r>
          </a:p>
        </p:txBody>
      </p:sp>
      <p:sp>
        <p:nvSpPr>
          <p:cNvPr id="63" name="テキスト ボックス 62">
            <a:extLst>
              <a:ext uri="{FF2B5EF4-FFF2-40B4-BE49-F238E27FC236}">
                <a16:creationId xmlns:a16="http://schemas.microsoft.com/office/drawing/2014/main" id="{7B423202-A49D-2522-A6B0-F25CF2A95344}"/>
              </a:ext>
            </a:extLst>
          </p:cNvPr>
          <p:cNvSpPr>
            <a:spLocks noGrp="1"/>
          </p:cNvSpPr>
          <p:nvPr/>
        </p:nvSpPr>
        <p:spPr>
          <a:xfrm>
            <a:off x="7994951" y="3687123"/>
            <a:ext cx="415498" cy="369332"/>
          </a:xfrm>
          <a:prstGeom prst="rect">
            <a:avLst/>
          </a:prstGeom>
          <a:noFill/>
        </p:spPr>
        <p:txBody>
          <a:bodyPr wrap="none">
            <a:spAutoFit/>
          </a:bodyPr>
          <a:lstStyle/>
          <a:p>
            <a:r>
              <a:rPr b="1">
                <a:solidFill>
                  <a:srgbClr val="FF0000"/>
                </a:solidFill>
              </a:rPr>
              <a:t>○</a:t>
            </a:r>
          </a:p>
        </p:txBody>
      </p:sp>
      <p:sp>
        <p:nvSpPr>
          <p:cNvPr id="76" name="テキスト ボックス 75">
            <a:extLst>
              <a:ext uri="{FF2B5EF4-FFF2-40B4-BE49-F238E27FC236}">
                <a16:creationId xmlns:a16="http://schemas.microsoft.com/office/drawing/2014/main" id="{B2F6402B-E88E-4D3E-467F-38D375476016}"/>
              </a:ext>
            </a:extLst>
          </p:cNvPr>
          <p:cNvSpPr>
            <a:spLocks noGrp="1"/>
          </p:cNvSpPr>
          <p:nvPr/>
        </p:nvSpPr>
        <p:spPr>
          <a:xfrm>
            <a:off x="8381510" y="2999060"/>
            <a:ext cx="2893150" cy="584775"/>
          </a:xfrm>
          <a:prstGeom prst="rect">
            <a:avLst/>
          </a:prstGeom>
          <a:noFill/>
        </p:spPr>
        <p:txBody>
          <a:bodyPr wrap="square">
            <a:spAutoFit/>
          </a:bodyPr>
          <a:lstStyle/>
          <a:p>
            <a:r>
              <a:rPr sz="1600"/>
              <a:t>Clarifies early concepts via LLM dialogue</a:t>
            </a:r>
          </a:p>
        </p:txBody>
      </p:sp>
      <p:sp>
        <p:nvSpPr>
          <p:cNvPr id="77" name="テキスト ボックス 76">
            <a:extLst>
              <a:ext uri="{FF2B5EF4-FFF2-40B4-BE49-F238E27FC236}">
                <a16:creationId xmlns:a16="http://schemas.microsoft.com/office/drawing/2014/main" id="{31150009-7B97-A334-D7CC-1F128CDD5E9A}"/>
              </a:ext>
            </a:extLst>
          </p:cNvPr>
          <p:cNvSpPr>
            <a:spLocks noGrp="1"/>
          </p:cNvSpPr>
          <p:nvPr/>
        </p:nvSpPr>
        <p:spPr>
          <a:xfrm>
            <a:off x="8381510" y="3583835"/>
            <a:ext cx="2892486" cy="584775"/>
          </a:xfrm>
          <a:prstGeom prst="rect">
            <a:avLst/>
          </a:prstGeom>
          <a:noFill/>
        </p:spPr>
        <p:txBody>
          <a:bodyPr wrap="square">
            <a:spAutoFit/>
          </a:bodyPr>
          <a:lstStyle/>
          <a:p>
            <a:r>
              <a:rPr sz="1600"/>
              <a:t>Converts concepts into model parameters</a:t>
            </a:r>
          </a:p>
        </p:txBody>
      </p:sp>
      <p:sp>
        <p:nvSpPr>
          <p:cNvPr id="78" name="テキスト ボックス 77">
            <a:extLst>
              <a:ext uri="{FF2B5EF4-FFF2-40B4-BE49-F238E27FC236}">
                <a16:creationId xmlns:a16="http://schemas.microsoft.com/office/drawing/2014/main" id="{59950C45-E8C2-9444-4857-EAC7326D66F4}"/>
              </a:ext>
            </a:extLst>
          </p:cNvPr>
          <p:cNvSpPr>
            <a:spLocks noGrp="1"/>
          </p:cNvSpPr>
          <p:nvPr/>
        </p:nvSpPr>
        <p:spPr>
          <a:xfrm>
            <a:off x="8380846" y="4156245"/>
            <a:ext cx="2880149" cy="584775"/>
          </a:xfrm>
          <a:prstGeom prst="rect">
            <a:avLst/>
          </a:prstGeom>
          <a:noFill/>
        </p:spPr>
        <p:txBody>
          <a:bodyPr wrap="square">
            <a:spAutoFit/>
          </a:bodyPr>
          <a:lstStyle/>
          <a:p>
            <a:r>
              <a:rPr sz="1600"/>
              <a:t>Compares scenario flow impacts</a:t>
            </a:r>
          </a:p>
        </p:txBody>
      </p:sp>
      <p:sp>
        <p:nvSpPr>
          <p:cNvPr id="79" name="テキスト ボックス 78">
            <a:extLst>
              <a:ext uri="{FF2B5EF4-FFF2-40B4-BE49-F238E27FC236}">
                <a16:creationId xmlns:a16="http://schemas.microsoft.com/office/drawing/2014/main" id="{D28E2104-AC83-F9C5-4B1B-4232200C731F}"/>
              </a:ext>
            </a:extLst>
          </p:cNvPr>
          <p:cNvSpPr>
            <a:spLocks noGrp="1"/>
          </p:cNvSpPr>
          <p:nvPr/>
        </p:nvSpPr>
        <p:spPr>
          <a:xfrm>
            <a:off x="8380846" y="4753385"/>
            <a:ext cx="2880149" cy="584775"/>
          </a:xfrm>
          <a:prstGeom prst="rect">
            <a:avLst/>
          </a:prstGeom>
          <a:noFill/>
        </p:spPr>
        <p:txBody>
          <a:bodyPr wrap="square">
            <a:spAutoFit/>
          </a:bodyPr>
          <a:lstStyle/>
          <a:p>
            <a:r>
              <a:rPr sz="1600"/>
              <a:t>Unifies plan definition and flow evaluation</a:t>
            </a:r>
          </a:p>
        </p:txBody>
      </p:sp>
      <p:sp>
        <p:nvSpPr>
          <p:cNvPr id="85" name="テキスト ボックス 84">
            <a:extLst>
              <a:ext uri="{FF2B5EF4-FFF2-40B4-BE49-F238E27FC236}">
                <a16:creationId xmlns:a16="http://schemas.microsoft.com/office/drawing/2014/main" id="{71FACC7C-FB81-3B6A-BCBE-FE609F70F2CB}"/>
              </a:ext>
            </a:extLst>
          </p:cNvPr>
          <p:cNvSpPr>
            <a:spLocks noGrp="1"/>
          </p:cNvSpPr>
          <p:nvPr/>
        </p:nvSpPr>
        <p:spPr>
          <a:xfrm>
            <a:off x="8001205" y="4243896"/>
            <a:ext cx="415498" cy="369332"/>
          </a:xfrm>
          <a:prstGeom prst="rect">
            <a:avLst/>
          </a:prstGeom>
          <a:noFill/>
        </p:spPr>
        <p:txBody>
          <a:bodyPr wrap="none">
            <a:spAutoFit/>
          </a:bodyPr>
          <a:lstStyle/>
          <a:p>
            <a:r>
              <a:rPr b="1">
                <a:solidFill>
                  <a:srgbClr val="FF0000"/>
                </a:solidFill>
              </a:rPr>
              <a:t>○</a:t>
            </a:r>
          </a:p>
        </p:txBody>
      </p:sp>
      <p:sp>
        <p:nvSpPr>
          <p:cNvPr id="86" name="テキスト ボックス 85">
            <a:extLst>
              <a:ext uri="{FF2B5EF4-FFF2-40B4-BE49-F238E27FC236}">
                <a16:creationId xmlns:a16="http://schemas.microsoft.com/office/drawing/2014/main" id="{C4E65F0F-CC50-2057-2504-519D8B4705CF}"/>
              </a:ext>
            </a:extLst>
          </p:cNvPr>
          <p:cNvSpPr>
            <a:spLocks noGrp="1"/>
          </p:cNvSpPr>
          <p:nvPr/>
        </p:nvSpPr>
        <p:spPr>
          <a:xfrm>
            <a:off x="8001205" y="4818055"/>
            <a:ext cx="415498" cy="369332"/>
          </a:xfrm>
          <a:prstGeom prst="rect">
            <a:avLst/>
          </a:prstGeom>
          <a:noFill/>
        </p:spPr>
        <p:txBody>
          <a:bodyPr wrap="none">
            <a:spAutoFit/>
          </a:bodyPr>
          <a:lstStyle/>
          <a:p>
            <a:r>
              <a:rPr b="1">
                <a:solidFill>
                  <a:srgbClr val="FF0000"/>
                </a:solidFill>
              </a:rPr>
              <a:t>○</a:t>
            </a:r>
          </a:p>
        </p:txBody>
      </p:sp>
    </p:spTree>
    <p:extLst>
      <p:ext uri="{BB962C8B-B14F-4D97-AF65-F5344CB8AC3E}">
        <p14:creationId xmlns:p14="http://schemas.microsoft.com/office/powerpoint/2010/main" val="29680160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7E4C036-3F18-6E1D-162E-A82FAD22AE36}"/>
              </a:ext>
            </a:extLst>
          </p:cNvPr>
          <p:cNvSpPr>
            <a:spLocks noGrp="1"/>
          </p:cNvSpPr>
          <p:nvPr>
            <p:ph type="title"/>
          </p:nvPr>
        </p:nvSpPr>
        <p:spPr/>
        <p:txBody>
          <a:bodyPr/>
          <a:lstStyle/>
          <a:p>
            <a:r>
              <a:rPr>
                <a:latin typeface="HGMinchoE"/>
                <a:ea typeface="HGMinchoE"/>
                <a:cs typeface="HGMinchoE"/>
              </a:rPr>
              <a:t>Roadmap for the Rest of the Fiscal Year (Q3–Q4: Oct–Mar)</a:t>
            </a:r>
          </a:p>
        </p:txBody>
      </p:sp>
      <p:sp>
        <p:nvSpPr>
          <p:cNvPr id="4" name="日付プレースホルダー 3">
            <a:extLst>
              <a:ext uri="{FF2B5EF4-FFF2-40B4-BE49-F238E27FC236}">
                <a16:creationId xmlns:a16="http://schemas.microsoft.com/office/drawing/2014/main" id="{1C4FBD14-DE56-0D3B-4F8B-C604B1070FBF}"/>
              </a:ext>
            </a:extLst>
          </p:cNvPr>
          <p:cNvSpPr>
            <a:spLocks noGrp="1"/>
          </p:cNvSpPr>
          <p:nvPr>
            <p:ph type="dt" idx="10"/>
          </p:nvPr>
        </p:nvSpPr>
        <p:spPr/>
        <p:txBody>
          <a:bodyPr/>
          <a:lstStyle/>
          <a:p>
            <a:r>
              <a:t>2026/6</a:t>
            </a:r>
          </a:p>
        </p:txBody>
      </p:sp>
      <p:sp>
        <p:nvSpPr>
          <p:cNvPr id="13" name="フッター プレースホルダー 12">
            <a:extLst>
              <a:ext uri="{FF2B5EF4-FFF2-40B4-BE49-F238E27FC236}">
                <a16:creationId xmlns:a16="http://schemas.microsoft.com/office/drawing/2014/main" id="{1A8E4A53-370A-7A19-FA44-D6158DDE1CE2}"/>
              </a:ext>
            </a:extLst>
          </p:cNvPr>
          <p:cNvSpPr>
            <a:spLocks noGrp="1"/>
          </p:cNvSpPr>
          <p:nvPr>
            <p:ph type="ftr" idx="11"/>
          </p:nvPr>
        </p:nvSpPr>
        <p:spPr/>
        <p:txBody>
          <a:bodyPr/>
          <a:lstStyle/>
          <a:p>
            <a:r>
              <a:t>Sekimoto-Nakai Laboratory</a:t>
            </a:r>
          </a:p>
        </p:txBody>
      </p:sp>
      <p:sp>
        <p:nvSpPr>
          <p:cNvPr id="15" name="スライド番号プレースホルダー 14">
            <a:extLst>
              <a:ext uri="{FF2B5EF4-FFF2-40B4-BE49-F238E27FC236}">
                <a16:creationId xmlns:a16="http://schemas.microsoft.com/office/drawing/2014/main" id="{93A80ED0-0708-2A89-E5DF-4884CAD76733}"/>
              </a:ext>
            </a:extLst>
          </p:cNvPr>
          <p:cNvSpPr>
            <a:spLocks noGrp="1"/>
          </p:cNvSpPr>
          <p:nvPr>
            <p:ph type="sldNum" idx="12"/>
          </p:nvPr>
        </p:nvSpPr>
        <p:spPr/>
        <p:txBody>
          <a:bodyPr/>
          <a:lstStyle/>
          <a:p>
            <a:fld id="{6539E37A-E522-3D47-AAB7-DDF67C94A05D}" type="slidenum">
              <a:rPr/>
              <a:t>6</a:t>
            </a:fld>
            <a:endParaRPr/>
          </a:p>
        </p:txBody>
      </p:sp>
      <p:graphicFrame>
        <p:nvGraphicFramePr>
          <p:cNvPr id="21" name="表 5"/>
          <p:cNvGraphicFramePr/>
          <p:nvPr/>
        </p:nvGraphicFramePr>
        <p:xfrm>
          <a:off x="850556" y="2438890"/>
          <a:ext cx="10515600" cy="3024149"/>
        </p:xfrm>
        <a:graphic>
          <a:graphicData uri="http://schemas.openxmlformats.org/drawingml/2006/table">
            <a:tbl>
              <a:tblPr firstRow="1" bandRow="1">
                <a:effectLst>
                  <a:outerShdw blurRad="50800" dist="38100" dir="8100000" algn="tr" rotWithShape="0">
                    <a:prstClr val="black">
                      <a:alpha val="40000"/>
                    </a:prstClr>
                  </a:outerShdw>
                </a:effectLst>
                <a:tableStyleId>{F5AB1C69-6EDB-4FF4-983F-18BD219EF322}</a:tableStyleId>
              </a:tblPr>
              <a:tblGrid>
                <a:gridCol w="3505200">
                  <a:extLst>
                    <a:ext uri="{9D8B030D-6E8A-4147-A177-3AD203B41FA5}">
                      <a16:colId xmlns:a16="http://schemas.microsoft.com/office/drawing/2014/main" val="20000"/>
                    </a:ext>
                  </a:extLst>
                </a:gridCol>
                <a:gridCol w="3505200">
                  <a:extLst>
                    <a:ext uri="{9D8B030D-6E8A-4147-A177-3AD203B41FA5}">
                      <a16:colId xmlns:a16="http://schemas.microsoft.com/office/drawing/2014/main" val="20001"/>
                    </a:ext>
                  </a:extLst>
                </a:gridCol>
                <a:gridCol w="3505200">
                  <a:extLst>
                    <a:ext uri="{9D8B030D-6E8A-4147-A177-3AD203B41FA5}">
                      <a16:colId xmlns:a16="http://schemas.microsoft.com/office/drawing/2014/main" val="20002"/>
                    </a:ext>
                  </a:extLst>
                </a:gridCol>
              </a:tblGrid>
              <a:tr h="450050">
                <a:tc>
                  <a:txBody>
                    <a:bodyPr/>
                    <a:lstStyle/>
                    <a:p>
                      <a:pPr algn="ctr">
                        <a:buNone/>
                      </a:pPr>
                      <a:r>
                        <a:rPr sz="1600"/>
                        <a:t>Period</a:t>
                      </a:r>
                    </a:p>
                  </a:txBody>
                  <a:tcPr anchor="ctr">
                    <a:solidFill>
                      <a:srgbClr val="0E2741"/>
                    </a:solidFill>
                  </a:tcPr>
                </a:tc>
                <a:tc>
                  <a:txBody>
                    <a:bodyPr/>
                    <a:lstStyle/>
                    <a:p>
                      <a:pPr algn="ctr">
                        <a:buNone/>
                      </a:pPr>
                      <a:r>
                        <a:rPr sz="1600"/>
                        <a:t>Scope</a:t>
                      </a:r>
                    </a:p>
                  </a:txBody>
                  <a:tcPr anchor="ctr">
                    <a:solidFill>
                      <a:srgbClr val="0E2741"/>
                    </a:solidFill>
                  </a:tcPr>
                </a:tc>
                <a:tc>
                  <a:txBody>
                    <a:bodyPr/>
                    <a:lstStyle/>
                    <a:p>
                      <a:pPr algn="ctr">
                        <a:buNone/>
                      </a:pPr>
                      <a:r>
                        <a:rPr sz="1600"/>
                        <a:t>Details</a:t>
                      </a:r>
                    </a:p>
                  </a:txBody>
                  <a:tcPr anchor="ctr">
                    <a:solidFill>
                      <a:srgbClr val="0E2741"/>
                    </a:solidFill>
                  </a:tcPr>
                </a:tc>
                <a:extLst>
                  <a:ext uri="{0D108BD9-81ED-4DB2-BD59-A6C34878D82A}">
                    <a16:rowId xmlns:a16="http://schemas.microsoft.com/office/drawing/2014/main" val="10000"/>
                  </a:ext>
                </a:extLst>
              </a:tr>
              <a:tr h="858033">
                <a:tc>
                  <a:txBody>
                    <a:bodyPr/>
                    <a:lstStyle/>
                    <a:p>
                      <a:pPr algn="l">
                        <a:buNone/>
                      </a:pPr>
                      <a:r>
                        <a:rPr b="0"/>
                        <a:t>Q2 (Jul–Sep)</a:t>
                      </a:r>
                    </a:p>
                  </a:txBody>
                  <a:tcPr anchor="ctr"/>
                </a:tc>
                <a:tc>
                  <a:txBody>
                    <a:bodyPr/>
                    <a:lstStyle/>
                    <a:p>
                      <a:r>
                        <a:rPr sz="1400" b="0"/>
                        <a:t>Implement one representative scenario from plan specification through pedestrian-flow prediction</a:t>
                      </a:r>
                    </a:p>
                  </a:txBody>
                  <a:tcPr anchor="ctr"/>
                </a:tc>
                <a:tc>
                  <a:txBody>
                    <a:bodyPr/>
                    <a:lstStyle/>
                    <a:p>
                      <a:r>
                        <a:rPr sz="1400" b="0"/>
                        <a:t>Use LLM dialogue to specify the plan and predict pedestrian flow.</a:t>
                      </a:r>
                    </a:p>
                    <a:p>
                      <a:pPr algn="l">
                        <a:buNone/>
                      </a:pPr>
                      <a:r>
                        <a:rPr sz="1400" b="0"/>
                        <a:t>Deliver one complete scenario.</a:t>
                      </a:r>
                    </a:p>
                  </a:txBody>
                  <a:tcPr anchor="ctr"/>
                </a:tc>
                <a:extLst>
                  <a:ext uri="{0D108BD9-81ED-4DB2-BD59-A6C34878D82A}">
                    <a16:rowId xmlns:a16="http://schemas.microsoft.com/office/drawing/2014/main" val="10001"/>
                  </a:ext>
                </a:extLst>
              </a:tr>
              <a:tr h="858033">
                <a:tc>
                  <a:txBody>
                    <a:bodyPr/>
                    <a:lstStyle/>
                    <a:p>
                      <a:pPr algn="l">
                        <a:buNone/>
                      </a:pPr>
                      <a:r>
                        <a:t>Q3 (Oct–Dec)</a:t>
                      </a:r>
                    </a:p>
                  </a:txBody>
                  <a:tcPr anchor="ctr"/>
                </a:tc>
                <a:tc>
                  <a:txBody>
                    <a:bodyPr/>
                    <a:lstStyle/>
                    <a:p>
                      <a:r>
                        <a:rPr sz="1400"/>
                        <a:t>Apply to other scenarios</a:t>
                      </a:r>
                    </a:p>
                  </a:txBody>
                  <a:tcPr anchor="ctr"/>
                </a:tc>
                <a:tc>
                  <a:txBody>
                    <a:bodyPr/>
                    <a:lstStyle/>
                    <a:p>
                      <a:r>
                        <a:rPr sz="1400"/>
                        <a:t>Extend the Q2 workflow to additional scenarios.</a:t>
                      </a:r>
                    </a:p>
                  </a:txBody>
                  <a:tcPr anchor="ctr"/>
                </a:tc>
                <a:extLst>
                  <a:ext uri="{0D108BD9-81ED-4DB2-BD59-A6C34878D82A}">
                    <a16:rowId xmlns:a16="http://schemas.microsoft.com/office/drawing/2014/main" val="10002"/>
                  </a:ext>
                </a:extLst>
              </a:tr>
              <a:tr h="858033">
                <a:tc>
                  <a:txBody>
                    <a:bodyPr/>
                    <a:lstStyle/>
                    <a:p>
                      <a:pPr algn="l">
                        <a:buNone/>
                      </a:pPr>
                      <a:r>
                        <a:t>Q4 (Jan–Mar)</a:t>
                      </a:r>
                    </a:p>
                  </a:txBody>
                  <a:tcPr anchor="ctr"/>
                </a:tc>
                <a:tc>
                  <a:txBody>
                    <a:bodyPr/>
                    <a:lstStyle/>
                    <a:p>
                      <a:r>
                        <a:rPr sz="1400" b="0"/>
                        <a:t>Apply to five representative scenarios and validate outputs</a:t>
                      </a:r>
                    </a:p>
                  </a:txBody>
                  <a:tcPr anchor="ctr"/>
                </a:tc>
                <a:tc>
                  <a:txBody>
                    <a:bodyPr/>
                    <a:lstStyle/>
                    <a:p>
                      <a:r>
                        <a:rPr sz="1400"/>
                        <a:t>Cover five scenarios and their variants, then evaluate output validity.</a:t>
                      </a:r>
                    </a:p>
                  </a:txBody>
                  <a:tcPr anchor="ctr"/>
                </a:tc>
                <a:extLst>
                  <a:ext uri="{0D108BD9-81ED-4DB2-BD59-A6C34878D82A}">
                    <a16:rowId xmlns:a16="http://schemas.microsoft.com/office/drawing/2014/main" val="10003"/>
                  </a:ext>
                </a:extLst>
              </a:tr>
            </a:tbl>
          </a:graphicData>
        </a:graphic>
      </p:graphicFrame>
      <p:sp>
        <p:nvSpPr>
          <p:cNvPr id="7" name="テキスト ボックス 6">
            <a:extLst>
              <a:ext uri="{FF2B5EF4-FFF2-40B4-BE49-F238E27FC236}">
                <a16:creationId xmlns:a16="http://schemas.microsoft.com/office/drawing/2014/main" id="{6263B8DF-571D-45A7-6AE0-08068847513A}"/>
              </a:ext>
            </a:extLst>
          </p:cNvPr>
          <p:cNvSpPr>
            <a:spLocks noGrp="1"/>
          </p:cNvSpPr>
          <p:nvPr/>
        </p:nvSpPr>
        <p:spPr>
          <a:xfrm>
            <a:off x="838200" y="1345903"/>
            <a:ext cx="10326470" cy="914400"/>
          </a:xfrm>
          <a:prstGeom prst="rect">
            <a:avLst/>
          </a:prstGeom>
          <a:noFill/>
        </p:spPr>
        <p:txBody>
          <a:bodyPr wrap="square">
            <a:spAutoFit/>
          </a:bodyPr>
          <a:lstStyle/>
          <a:p>
            <a:r>
              <a:rPr b="1"/>
              <a:t>During the fiscal year, we will build a workflow that turns development plans into pedestrian-flow-ready scenarios through LLM dialogue, then expand from one implementation to multiple scenarios and evaluation.</a:t>
            </a:r>
          </a:p>
        </p:txBody>
      </p:sp>
    </p:spTree>
    <p:extLst>
      <p:ext uri="{BB962C8B-B14F-4D97-AF65-F5344CB8AC3E}">
        <p14:creationId xmlns:p14="http://schemas.microsoft.com/office/powerpoint/2010/main" val="358715249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3A4EF6B-B512-E957-743C-82DA5DE94E34}"/>
              </a:ext>
            </a:extLst>
          </p:cNvPr>
          <p:cNvSpPr>
            <a:spLocks noGrp="1"/>
          </p:cNvSpPr>
          <p:nvPr>
            <p:ph type="title"/>
          </p:nvPr>
        </p:nvSpPr>
        <p:spPr/>
        <p:txBody>
          <a:bodyPr/>
          <a:lstStyle/>
          <a:p>
            <a:r>
              <a:t>Benefits for Development Partners</a:t>
            </a:r>
          </a:p>
        </p:txBody>
      </p:sp>
      <p:sp>
        <p:nvSpPr>
          <p:cNvPr id="4" name="日付プレースホルダー 3">
            <a:extLst>
              <a:ext uri="{FF2B5EF4-FFF2-40B4-BE49-F238E27FC236}">
                <a16:creationId xmlns:a16="http://schemas.microsoft.com/office/drawing/2014/main" id="{DEAC2C02-6A43-455F-816A-C0CD36050948}"/>
              </a:ext>
            </a:extLst>
          </p:cNvPr>
          <p:cNvSpPr>
            <a:spLocks noGrp="1"/>
          </p:cNvSpPr>
          <p:nvPr>
            <p:ph type="dt" idx="10"/>
          </p:nvPr>
        </p:nvSpPr>
        <p:spPr/>
        <p:txBody>
          <a:bodyPr/>
          <a:lstStyle/>
          <a:p>
            <a:r>
              <a:t>2026/6</a:t>
            </a:r>
          </a:p>
        </p:txBody>
      </p:sp>
      <p:sp>
        <p:nvSpPr>
          <p:cNvPr id="5" name="フッター プレースホルダー 4">
            <a:extLst>
              <a:ext uri="{FF2B5EF4-FFF2-40B4-BE49-F238E27FC236}">
                <a16:creationId xmlns:a16="http://schemas.microsoft.com/office/drawing/2014/main" id="{0BEC8B07-CCEA-591D-35C2-1603ED422298}"/>
              </a:ext>
            </a:extLst>
          </p:cNvPr>
          <p:cNvSpPr>
            <a:spLocks noGrp="1"/>
          </p:cNvSpPr>
          <p:nvPr>
            <p:ph type="ftr" idx="11"/>
          </p:nvPr>
        </p:nvSpPr>
        <p:spPr/>
        <p:txBody>
          <a:bodyPr/>
          <a:lstStyle/>
          <a:p>
            <a:r>
              <a:t>Sekimoto-Nakai Laboratory</a:t>
            </a:r>
          </a:p>
        </p:txBody>
      </p:sp>
      <p:sp>
        <p:nvSpPr>
          <p:cNvPr id="6" name="スライド番号プレースホルダー 5">
            <a:extLst>
              <a:ext uri="{FF2B5EF4-FFF2-40B4-BE49-F238E27FC236}">
                <a16:creationId xmlns:a16="http://schemas.microsoft.com/office/drawing/2014/main" id="{DEA47CD3-D3DD-69C8-46D2-BEAA2391E6C8}"/>
              </a:ext>
            </a:extLst>
          </p:cNvPr>
          <p:cNvSpPr>
            <a:spLocks noGrp="1"/>
          </p:cNvSpPr>
          <p:nvPr>
            <p:ph type="sldNum" idx="12"/>
          </p:nvPr>
        </p:nvSpPr>
        <p:spPr/>
        <p:txBody>
          <a:bodyPr/>
          <a:lstStyle/>
          <a:p>
            <a:fld id="{6539E37A-E522-3D47-AAB7-DDF67C94A05D}" type="slidenum">
              <a:rPr/>
              <a:t>7</a:t>
            </a:fld>
            <a:endParaRPr/>
          </a:p>
        </p:txBody>
      </p:sp>
      <p:sp>
        <p:nvSpPr>
          <p:cNvPr id="7" name="テキスト ボックス 6">
            <a:extLst>
              <a:ext uri="{FF2B5EF4-FFF2-40B4-BE49-F238E27FC236}">
                <a16:creationId xmlns:a16="http://schemas.microsoft.com/office/drawing/2014/main" id="{DA0DF16B-B2CB-1C9F-9313-C4CBA8E6C891}"/>
              </a:ext>
            </a:extLst>
          </p:cNvPr>
          <p:cNvSpPr>
            <a:spLocks noGrp="1"/>
          </p:cNvSpPr>
          <p:nvPr/>
        </p:nvSpPr>
        <p:spPr>
          <a:xfrm>
            <a:off x="838200" y="1223755"/>
            <a:ext cx="10326470" cy="1200329"/>
          </a:xfrm>
          <a:prstGeom prst="rect">
            <a:avLst/>
          </a:prstGeom>
          <a:noFill/>
        </p:spPr>
        <p:txBody>
          <a:bodyPr wrap="square">
            <a:spAutoFit/>
          </a:bodyPr>
          <a:lstStyle/>
          <a:p>
            <a:r>
              <a:rPr b="1"/>
              <a:t>We aim to turn natural-language development concepts into pedestrian-flow-ready scenarios through LLM dialogue and compare the impacts of multiple alternatives.</a:t>
            </a:r>
          </a:p>
          <a:p>
            <a:r>
              <a:rPr b="1"/>
              <a:t>The application can support faster planning, quantitative decisions, discovery of alternatives, and reuse in future projects.</a:t>
            </a:r>
          </a:p>
        </p:txBody>
      </p:sp>
      <p:graphicFrame>
        <p:nvGraphicFramePr>
          <p:cNvPr id="14" name="表 7"/>
          <p:cNvGraphicFramePr/>
          <p:nvPr/>
        </p:nvGraphicFramePr>
        <p:xfrm>
          <a:off x="838200" y="2571075"/>
          <a:ext cx="10326470" cy="3638283"/>
        </p:xfrm>
        <a:graphic>
          <a:graphicData uri="http://schemas.openxmlformats.org/drawingml/2006/table">
            <a:tbl>
              <a:tblPr firstRow="1" bandRow="1">
                <a:effectLst>
                  <a:outerShdw blurRad="50800" dist="38100" dir="8100000" algn="tr" rotWithShape="0">
                    <a:prstClr val="black">
                      <a:alpha val="40000"/>
                    </a:prstClr>
                  </a:outerShdw>
                </a:effectLst>
                <a:tableStyleId>{F5AB1C69-6EDB-4FF4-983F-18BD219EF322}</a:tableStyleId>
              </a:tblPr>
              <a:tblGrid>
                <a:gridCol w="2287470">
                  <a:extLst>
                    <a:ext uri="{9D8B030D-6E8A-4147-A177-3AD203B41FA5}">
                      <a16:colId xmlns:a16="http://schemas.microsoft.com/office/drawing/2014/main" val="20000"/>
                    </a:ext>
                  </a:extLst>
                </a:gridCol>
                <a:gridCol w="8039000">
                  <a:extLst>
                    <a:ext uri="{9D8B030D-6E8A-4147-A177-3AD203B41FA5}">
                      <a16:colId xmlns:a16="http://schemas.microsoft.com/office/drawing/2014/main" val="20001"/>
                    </a:ext>
                  </a:extLst>
                </a:gridCol>
              </a:tblGrid>
              <a:tr h="495055">
                <a:tc>
                  <a:txBody>
                    <a:bodyPr/>
                    <a:lstStyle/>
                    <a:p>
                      <a:pPr algn="ctr">
                        <a:buNone/>
                      </a:pPr>
                      <a:r>
                        <a:rPr b="0"/>
                        <a:t>Area</a:t>
                      </a:r>
                    </a:p>
                  </a:txBody>
                  <a:tcPr anchor="ctr">
                    <a:solidFill>
                      <a:srgbClr val="0E2741"/>
                    </a:solidFill>
                  </a:tcPr>
                </a:tc>
                <a:tc>
                  <a:txBody>
                    <a:bodyPr/>
                    <a:lstStyle/>
                    <a:p>
                      <a:pPr algn="ctr">
                        <a:buNone/>
                      </a:pPr>
                      <a:r>
                        <a:rPr sz="1800" b="0"/>
                        <a:t>Benefit</a:t>
                      </a:r>
                    </a:p>
                  </a:txBody>
                  <a:tcPr anchor="ctr">
                    <a:solidFill>
                      <a:srgbClr val="0E2741"/>
                    </a:solidFill>
                  </a:tcPr>
                </a:tc>
                <a:extLst>
                  <a:ext uri="{0D108BD9-81ED-4DB2-BD59-A6C34878D82A}">
                    <a16:rowId xmlns:a16="http://schemas.microsoft.com/office/drawing/2014/main" val="10000"/>
                  </a:ext>
                </a:extLst>
              </a:tr>
              <a:tr h="785807">
                <a:tc>
                  <a:txBody>
                    <a:bodyPr/>
                    <a:lstStyle/>
                    <a:p>
                      <a:pPr algn="ctr">
                        <a:buNone/>
                      </a:pPr>
                      <a:r>
                        <a:rPr sz="1600" b="0"/>
                        <a:t>Faster early-stage planning</a:t>
                      </a:r>
                    </a:p>
                  </a:txBody>
                  <a:tcPr anchor="ctr"/>
                </a:tc>
                <a:tc>
                  <a:txBody>
                    <a:bodyPr/>
                    <a:lstStyle/>
                    <a:p>
                      <a:r>
                        <a:rPr sz="1400"/>
                        <a:t>Organize rough inputs for comparison in days or weeks, instead of several months.</a:t>
                      </a:r>
                    </a:p>
                  </a:txBody>
                  <a:tcPr anchor="ctr"/>
                </a:tc>
                <a:extLst>
                  <a:ext uri="{0D108BD9-81ED-4DB2-BD59-A6C34878D82A}">
                    <a16:rowId xmlns:a16="http://schemas.microsoft.com/office/drawing/2014/main" val="10001"/>
                  </a:ext>
                </a:extLst>
              </a:tr>
              <a:tr h="785807">
                <a:tc>
                  <a:txBody>
                    <a:bodyPr/>
                    <a:lstStyle/>
                    <a:p>
                      <a:pPr algn="ctr">
                        <a:buNone/>
                      </a:pPr>
                      <a:r>
                        <a:rPr sz="1600" b="0"/>
                        <a:t>Quantitative decision support</a:t>
                      </a:r>
                    </a:p>
                  </a:txBody>
                  <a:tcPr anchor="ctr"/>
                </a:tc>
                <a:tc>
                  <a:txBody>
                    <a:bodyPr/>
                    <a:lstStyle/>
                    <a:p>
                      <a:pPr>
                        <a:buNone/>
                      </a:pPr>
                      <a:r>
                        <a:rPr sz="1400"/>
                        <a:t>Compare visitor counts, congestion hotspots, and spillover to nearby facilities.</a:t>
                      </a:r>
                    </a:p>
                  </a:txBody>
                  <a:tcPr anchor="ctr"/>
                </a:tc>
                <a:extLst>
                  <a:ext uri="{0D108BD9-81ED-4DB2-BD59-A6C34878D82A}">
                    <a16:rowId xmlns:a16="http://schemas.microsoft.com/office/drawing/2014/main" val="10002"/>
                  </a:ext>
                </a:extLst>
              </a:tr>
              <a:tr h="785807">
                <a:tc>
                  <a:txBody>
                    <a:bodyPr/>
                    <a:lstStyle/>
                    <a:p>
                      <a:pPr algn="ctr">
                        <a:buNone/>
                      </a:pPr>
                      <a:r>
                        <a:rPr sz="1600" b="0"/>
                        <a:t>Discover alternatives</a:t>
                      </a:r>
                    </a:p>
                  </a:txBody>
                  <a:tcPr anchor="ctr"/>
                </a:tc>
                <a:tc>
                  <a:txBody>
                    <a:bodyPr/>
                    <a:lstStyle/>
                    <a:p>
                      <a:r>
                        <a:rPr sz="1400"/>
                        <a:t>LLM dialogue may reveal unexpected use mixes, routes, and layouts.</a:t>
                      </a:r>
                    </a:p>
                  </a:txBody>
                  <a:tcPr anchor="ctr"/>
                </a:tc>
                <a:extLst>
                  <a:ext uri="{0D108BD9-81ED-4DB2-BD59-A6C34878D82A}">
                    <a16:rowId xmlns:a16="http://schemas.microsoft.com/office/drawing/2014/main" val="10003"/>
                  </a:ext>
                </a:extLst>
              </a:tr>
              <a:tr h="785807">
                <a:tc>
                  <a:txBody>
                    <a:bodyPr/>
                    <a:lstStyle/>
                    <a:p>
                      <a:pPr algn="ctr">
                        <a:buNone/>
                      </a:pPr>
                      <a:r>
                        <a:rPr sz="1600" b="0"/>
                        <a:t>Reuse for future projects</a:t>
                      </a:r>
                    </a:p>
                  </a:txBody>
                  <a:tcPr anchor="ctr"/>
                </a:tc>
                <a:tc>
                  <a:txBody>
                    <a:bodyPr/>
                    <a:lstStyle/>
                    <a:p>
                      <a:r>
                        <a:rPr sz="1400"/>
                        <a:t>Build a reusable workflow for other redevelopments and station-area projects.</a:t>
                      </a:r>
                    </a:p>
                  </a:txBody>
                  <a:tcPr anchor="ct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303159150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012059-E259-5B9A-96D8-E48A2C29B4D9}"/>
              </a:ext>
            </a:extLst>
          </p:cNvPr>
          <p:cNvSpPr>
            <a:spLocks noGrp="1"/>
          </p:cNvSpPr>
          <p:nvPr>
            <p:ph type="title"/>
          </p:nvPr>
        </p:nvSpPr>
        <p:spPr/>
        <p:txBody>
          <a:bodyPr/>
          <a:lstStyle/>
          <a:p>
            <a:r>
              <a:t>Support Requested from Development Partners</a:t>
            </a:r>
          </a:p>
        </p:txBody>
      </p:sp>
      <p:sp>
        <p:nvSpPr>
          <p:cNvPr id="3" name="コンテンツ プレースホルダー 2">
            <a:extLst>
              <a:ext uri="{FF2B5EF4-FFF2-40B4-BE49-F238E27FC236}">
                <a16:creationId xmlns:a16="http://schemas.microsoft.com/office/drawing/2014/main" id="{D6FC56F0-A53D-D0DA-50EC-C84A9EC253D9}"/>
              </a:ext>
            </a:extLst>
          </p:cNvPr>
          <p:cNvSpPr>
            <a:spLocks noGrp="1"/>
          </p:cNvSpPr>
          <p:nvPr>
            <p:ph idx="1"/>
          </p:nvPr>
        </p:nvSpPr>
        <p:spPr>
          <a:xfrm>
            <a:off x="605390" y="1073631"/>
            <a:ext cx="10515600" cy="2415482"/>
          </a:xfrm>
        </p:spPr>
        <p:txBody>
          <a:bodyPr>
            <a:normAutofit/>
          </a:bodyPr>
          <a:lstStyle/>
          <a:p>
            <a:pPr marL="0" indent="0">
              <a:buNone/>
            </a:pPr>
            <a:r>
              <a:rPr b="1"/>
              <a:t>1. Share basic development concept information</a:t>
            </a:r>
          </a:p>
          <a:p>
            <a:pPr marL="0" indent="0">
              <a:buNone/>
            </a:pPr>
            <a:r>
              <a:rPr sz="1800"/>
              <a:t>Please share the following in text form where possible:</a:t>
            </a:r>
          </a:p>
          <a:p>
            <a:r>
              <a:rPr sz="1800"/>
              <a:t>Site boundary</a:t>
            </a:r>
          </a:p>
          <a:p>
            <a:r>
              <a:rPr sz="1800"/>
              <a:t>Intended uses (e.g., retail, hotel, office, plaza, passageways)</a:t>
            </a:r>
          </a:p>
          <a:p>
            <a:r>
              <a:rPr sz="1800"/>
              <a:t>Approximate scale (e.g., floors, gross floor area, lower/upper-floor uses)</a:t>
            </a:r>
          </a:p>
          <a:p>
            <a:r>
              <a:rPr sz="1800"/>
              <a:t>Alternatives or scenarios to compare (e.g., upside and downside cases)</a:t>
            </a:r>
          </a:p>
        </p:txBody>
      </p:sp>
      <p:sp>
        <p:nvSpPr>
          <p:cNvPr id="4" name="日付プレースホルダー 3">
            <a:extLst>
              <a:ext uri="{FF2B5EF4-FFF2-40B4-BE49-F238E27FC236}">
                <a16:creationId xmlns:a16="http://schemas.microsoft.com/office/drawing/2014/main" id="{0166E489-ABEF-3DB4-D103-3C6414CA1C23}"/>
              </a:ext>
            </a:extLst>
          </p:cNvPr>
          <p:cNvSpPr>
            <a:spLocks noGrp="1"/>
          </p:cNvSpPr>
          <p:nvPr>
            <p:ph type="dt" idx="10"/>
          </p:nvPr>
        </p:nvSpPr>
        <p:spPr/>
        <p:txBody>
          <a:bodyPr/>
          <a:lstStyle/>
          <a:p>
            <a:r>
              <a:t>2026/6</a:t>
            </a:r>
          </a:p>
        </p:txBody>
      </p:sp>
      <p:sp>
        <p:nvSpPr>
          <p:cNvPr id="5" name="フッター プレースホルダー 4">
            <a:extLst>
              <a:ext uri="{FF2B5EF4-FFF2-40B4-BE49-F238E27FC236}">
                <a16:creationId xmlns:a16="http://schemas.microsoft.com/office/drawing/2014/main" id="{EBC257F6-25F9-A94A-1F77-076D81BDE7F7}"/>
              </a:ext>
            </a:extLst>
          </p:cNvPr>
          <p:cNvSpPr>
            <a:spLocks noGrp="1"/>
          </p:cNvSpPr>
          <p:nvPr>
            <p:ph type="ftr" idx="11"/>
          </p:nvPr>
        </p:nvSpPr>
        <p:spPr/>
        <p:txBody>
          <a:bodyPr/>
          <a:lstStyle/>
          <a:p>
            <a:r>
              <a:t>Sekimoto-Nakai Laboratory</a:t>
            </a:r>
          </a:p>
        </p:txBody>
      </p:sp>
      <p:sp>
        <p:nvSpPr>
          <p:cNvPr id="6" name="スライド番号プレースホルダー 5">
            <a:extLst>
              <a:ext uri="{FF2B5EF4-FFF2-40B4-BE49-F238E27FC236}">
                <a16:creationId xmlns:a16="http://schemas.microsoft.com/office/drawing/2014/main" id="{73A8431F-510D-3CE6-EFAE-63960607DC0D}"/>
              </a:ext>
            </a:extLst>
          </p:cNvPr>
          <p:cNvSpPr>
            <a:spLocks noGrp="1"/>
          </p:cNvSpPr>
          <p:nvPr>
            <p:ph type="sldNum" idx="12"/>
          </p:nvPr>
        </p:nvSpPr>
        <p:spPr/>
        <p:txBody>
          <a:bodyPr/>
          <a:lstStyle/>
          <a:p>
            <a:fld id="{6539E37A-E522-3D47-AAB7-DDF67C94A05D}" type="slidenum">
              <a:rPr/>
              <a:t>8</a:t>
            </a:fld>
            <a:endParaRPr/>
          </a:p>
        </p:txBody>
      </p:sp>
      <p:sp>
        <p:nvSpPr>
          <p:cNvPr id="9" name="コンテンツ プレースホルダー 2">
            <a:extLst>
              <a:ext uri="{FF2B5EF4-FFF2-40B4-BE49-F238E27FC236}">
                <a16:creationId xmlns:a16="http://schemas.microsoft.com/office/drawing/2014/main" id="{C1539116-3C6B-D7F6-C066-17644665B23E}"/>
              </a:ext>
            </a:extLst>
          </p:cNvPr>
          <p:cNvSpPr>
            <a:spLocks noGrp="1"/>
          </p:cNvSpPr>
          <p:nvPr/>
        </p:nvSpPr>
        <p:spPr>
          <a:xfrm>
            <a:off x="605390" y="3654025"/>
            <a:ext cx="10515600" cy="2569852"/>
          </a:xfrm>
          <a:prstGeom prst="rect">
            <a:avLst/>
          </a:prstGeom>
        </p:spPr>
        <p:txBody>
          <a:bodyPr vert="horz" lIns="91440" tIns="45720" rIns="91440" bIns="45720">
            <a:noAutofit/>
          </a:bodyPr>
          <a:lstStyle>
            <a:lvl1pPr marL="228600" indent="-228600" algn="l">
              <a:lnSpc>
                <a:spcPct val="90000"/>
              </a:lnSpc>
              <a:spcBef>
                <a:spcPts val="1000"/>
              </a:spcBef>
              <a:buChar char="•"/>
              <a:defRPr sz="2000">
                <a:solidFill>
                  <a:schemeClr val="tx1"/>
                </a:solidFill>
                <a:latin typeface="+mn-lt"/>
                <a:ea typeface="+mn-lt"/>
                <a:cs typeface="+mn-lt"/>
              </a:defRPr>
            </a:lvl1pPr>
            <a:lvl2pPr marL="685800" indent="-228600" algn="l">
              <a:lnSpc>
                <a:spcPct val="90000"/>
              </a:lnSpc>
              <a:spcBef>
                <a:spcPts val="500"/>
              </a:spcBef>
              <a:buChar char="•"/>
              <a:defRPr sz="1800">
                <a:solidFill>
                  <a:schemeClr val="tx1"/>
                </a:solidFill>
                <a:latin typeface="+mn-lt"/>
                <a:ea typeface="+mn-lt"/>
                <a:cs typeface="+mn-lt"/>
              </a:defRPr>
            </a:lvl2pPr>
            <a:lvl3pPr marL="1143000" indent="-228600" algn="l">
              <a:lnSpc>
                <a:spcPct val="90000"/>
              </a:lnSpc>
              <a:spcBef>
                <a:spcPts val="500"/>
              </a:spcBef>
              <a:buChar char="•"/>
              <a:defRPr sz="1600">
                <a:solidFill>
                  <a:schemeClr val="tx1"/>
                </a:solidFill>
                <a:latin typeface="+mn-lt"/>
                <a:ea typeface="+mn-lt"/>
                <a:cs typeface="+mn-lt"/>
              </a:defRPr>
            </a:lvl3pPr>
            <a:lvl4pPr marL="1600200" indent="-228600" algn="l">
              <a:lnSpc>
                <a:spcPct val="90000"/>
              </a:lnSpc>
              <a:spcBef>
                <a:spcPts val="500"/>
              </a:spcBef>
              <a:buChar char="•"/>
              <a:defRPr sz="1400">
                <a:solidFill>
                  <a:schemeClr val="tx1"/>
                </a:solidFill>
                <a:latin typeface="+mn-lt"/>
                <a:ea typeface="+mn-lt"/>
                <a:cs typeface="+mn-lt"/>
              </a:defRPr>
            </a:lvl4pPr>
            <a:lvl5pPr marL="2057400" indent="-228600" algn="l">
              <a:lnSpc>
                <a:spcPct val="90000"/>
              </a:lnSpc>
              <a:spcBef>
                <a:spcPts val="500"/>
              </a:spcBef>
              <a:buChar char="•"/>
              <a:defRPr sz="12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a:lstStyle>
          <a:p>
            <a:pPr marL="0" indent="0">
              <a:buNone/>
            </a:pPr>
            <a:r>
              <a:rPr b="1"/>
              <a:t>2. Provide feedback on generated scenarios and estimates</a:t>
            </a:r>
          </a:p>
          <a:p>
            <a:pPr marL="0" indent="0">
              <a:buNone/>
            </a:pPr>
            <a:r>
              <a:rPr sz="1800"/>
              <a:t>Please review the scenarios and pedestrian-flow estimates from these perspectives:</a:t>
            </a:r>
          </a:p>
          <a:p>
            <a:r>
              <a:rPr sz="1800"/>
              <a:t>Any major gaps from planning expectations</a:t>
            </a:r>
          </a:p>
          <a:p>
            <a:r>
              <a:rPr sz="1800"/>
              <a:t>Reasonableness of use mix and scale assumptions</a:t>
            </a:r>
          </a:p>
          <a:p>
            <a:r>
              <a:rPr sz="1800"/>
              <a:t>Plausibility of visitor and congestion estimates</a:t>
            </a:r>
          </a:p>
          <a:p>
            <a:r>
              <a:rPr sz="1800"/>
              <a:t>Additional conditions or alternatives to examine</a:t>
            </a:r>
          </a:p>
          <a:p>
            <a:pPr marL="0" indent="0">
              <a:buNone/>
            </a:pPr>
            <a:r>
              <a:rPr sz="1800" b="1"/>
              <a:t>We will update the scenarios and estimates based on your feedback.</a:t>
            </a:r>
          </a:p>
        </p:txBody>
      </p:sp>
    </p:spTree>
    <p:extLst>
      <p:ext uri="{BB962C8B-B14F-4D97-AF65-F5344CB8AC3E}">
        <p14:creationId xmlns:p14="http://schemas.microsoft.com/office/powerpoint/2010/main" val="1165167113"/>
      </p:ext>
    </p:extLst>
  </p:cSld>
  <p:clrMapOvr>
    <a:masterClrMapping/>
  </p:clrMapOvr>
</p:sld>
</file>

<file path=ppt/theme/theme1.xml><?xml version="1.0" encoding="utf-8"?>
<a:theme xmlns:a="http://schemas.openxmlformats.org/drawingml/2006/main" name="標準スライド">
  <a:themeElements>
    <a:clrScheme name="Office テーマ">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テーマ">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標準スライド">
  <a:themeElements>
    <a:clrScheme name="Office テーマ">
      <a:dk1>
        <a:sysClr val="windowText" lastClr="000000"/>
      </a:dk1>
      <a:lt1>
        <a:sysClr val="window" lastClr="FFFFFF"/>
      </a:lt1>
      <a:dk2>
        <a:srgbClr val="0E2841"/>
      </a:dk2>
      <a:lt2>
        <a:srgbClr val="E8E8E8"/>
      </a:lt2>
      <a:accent1>
        <a:srgbClr val="196B24"/>
      </a:accent1>
      <a:accent2>
        <a:srgbClr val="4EA72E"/>
      </a:accent2>
      <a:accent3>
        <a:srgbClr val="156082"/>
      </a:accent3>
      <a:accent4>
        <a:srgbClr val="0F9ED5"/>
      </a:accent4>
      <a:accent5>
        <a:srgbClr val="A02B93"/>
      </a:accent5>
      <a:accent6>
        <a:srgbClr val="E97132"/>
      </a:accent6>
      <a:hlink>
        <a:srgbClr val="467886"/>
      </a:hlink>
      <a:folHlink>
        <a:srgbClr val="96607D"/>
      </a:folHlink>
    </a:clrScheme>
    <a:fontScheme name="Calibri">
      <a:maj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libri"/>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Office テーマ">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1933</Words>
  <Application>Microsoft Macintosh PowerPoint</Application>
  <DocSecurity>0</DocSecurity>
  <PresentationFormat>ワイド画面</PresentationFormat>
  <Paragraphs>183</Paragraphs>
  <Slides>8</Slides>
  <Notes>8</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8</vt:i4>
      </vt:variant>
    </vt:vector>
  </HeadingPairs>
  <TitlesOfParts>
    <vt:vector size="13" baseType="lpstr">
      <vt:lpstr>HGMinchoE</vt:lpstr>
      <vt:lpstr>Noto Sans CJK JP</vt:lpstr>
      <vt:lpstr>Arial</vt:lpstr>
      <vt:lpstr>Calibri</vt:lpstr>
      <vt:lpstr>標準スライド</vt:lpstr>
      <vt:lpstr>OKR(FY2026 2Q : Jul. - Sep. (Name: Yuki WATANABE) </vt:lpstr>
      <vt:lpstr>Natural-Language Flow Scenarios
Comparing the Impact of Multiple Conditions
— Meitetsu Nagoya Station Case Study</vt:lpstr>
      <vt:lpstr>First Three Months (Q2: Jul–Sep): Defining Site Conditions</vt:lpstr>
      <vt:lpstr>First Three Months (Q2: Jul–Sep): Pedestrian-Flow Analysis Around Meitetsu</vt:lpstr>
      <vt:lpstr>Positioning of This Research</vt:lpstr>
      <vt:lpstr>Roadmap for the Rest of the Fiscal Year (Q3–Q4: Oct–Mar)</vt:lpstr>
      <vt:lpstr>Benefits for Development Partners</vt:lpstr>
      <vt:lpstr>Support Requested from Development Partners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渡辺　悠生</cp:lastModifiedBy>
  <cp:revision>1</cp:revision>
  <dcterms:created xsi:type="dcterms:W3CDTF">2026-07-15T04:28:51Z</dcterms:created>
  <dcterms:modified xsi:type="dcterms:W3CDTF">2026-07-15T12:06:52Z</dcterms:modified>
</cp:coreProperties>
</file>