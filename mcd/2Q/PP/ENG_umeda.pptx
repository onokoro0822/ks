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04_E8CFB32B.xml" ContentType="application/vnd.ms-powerpoint.comments+xml"/>
  <Override PartName="/ppt/comments/modernComment_103_3E3AE82A.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7"/>
  </p:notesMasterIdLst>
  <p:sldIdLst>
    <p:sldId id="256" r:id="rId2"/>
    <p:sldId id="262" r:id="rId3"/>
    <p:sldId id="263" r:id="rId4"/>
    <p:sldId id="260" r:id="rId5"/>
    <p:sldId id="259"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AA7D6E4-D81E-CF32-42CA-661684C67DD7}" name="渡辺　悠生" initials="悠渡" userId="S::5317704775@utac.u-tokyo.ac.jp::6bac083b-911a-4d96-88e0-5ba3986ff10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E2741"/>
    <a:srgbClr val="0432FF"/>
    <a:srgbClr val="BACCEC"/>
    <a:srgbClr val="BAEAC4"/>
    <a:srgbClr val="CCFFD9"/>
    <a:srgbClr val="E4ECF8"/>
    <a:srgbClr val="F2B3ED"/>
    <a:srgbClr val="E5E97E"/>
    <a:srgbClr val="000000"/>
    <a:srgbClr val="EDD0A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03447BB-5D67-496B-8E87-E561075AD55C}" styleName="濃色スタイル 1 - アクセント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B344D84-9AFB-497E-A393-DC336BA19D2E}" styleName="中間スタイル 3 - アクセント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1351"/>
    <p:restoredTop sz="96137"/>
  </p:normalViewPr>
  <p:slideViewPr>
    <p:cSldViewPr>
      <p:cViewPr>
        <p:scale>
          <a:sx n="110" d="100"/>
          <a:sy n="110" d="100"/>
        </p:scale>
        <p:origin x="224" y="424"/>
      </p:cViewPr>
      <p:guideLst>
        <p:guide orient="horz" pos="2160"/>
        <p:guide pos="3840"/>
      </p:guideLst>
    </p:cSldViewPr>
  </p:slideViewPr>
  <p:notesTextViewPr>
    <p:cViewPr>
      <p:scale>
        <a:sx n="1" d="1"/>
        <a:sy n="1" d="1"/>
      </p:scale>
      <p:origin x="0" y="0"/>
    </p:cViewPr>
  </p:notesTextViewPr>
  <p:gridSpacing cx="45005" cy="45005"/>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8/10/relationships/authors" Target="author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omments/modernComment_103_3E3AE82A.xml><?xml version="1.0" encoding="utf-8"?>
<p188:cmLst xmlns:a="http://schemas.openxmlformats.org/drawingml/2006/main" xmlns:r="http://schemas.openxmlformats.org/officeDocument/2006/relationships" xmlns:p188="http://schemas.microsoft.com/office/powerpoint/2018/8/main">
  <p188:cm id="{8D9EFE99-CBB6-ED48-AF03-977D88D3F8F8}" authorId="{5AA7D6E4-D81E-CF32-42CA-661684C67DD7}" status="resolved" created="2026-06-24T02:09:57.028" complete="100000">
    <pc:sldMkLst xmlns:pc="http://schemas.microsoft.com/office/powerpoint/2013/main/command">
      <pc:docMk/>
      <pc:sldMk cId="1044047914" sldId="259"/>
    </pc:sldMkLst>
    <p188:txBody>
      <a:bodyPr/>
      <a:lstStyle/>
      <a:p>
        <a:r>
          <a:rPr lang="ja-JP" altLang="en-US"/>
          <a:t>段階ごとにする</a:t>
        </a:r>
      </a:p>
    </p188:txBody>
  </p188:cm>
  <p188:cm id="{4776F74C-6F01-5A4B-B0BB-A9011A930B08}" authorId="{5AA7D6E4-D81E-CF32-42CA-661684C67DD7}" status="resolved" created="2026-06-24T14:54:00.983" complete="100000">
    <pc:sldMkLst xmlns:pc="http://schemas.microsoft.com/office/powerpoint/2013/main/command">
      <pc:docMk/>
      <pc:sldMk cId="1044047914" sldId="259"/>
    </pc:sldMkLst>
    <p188:txBody>
      <a:bodyPr/>
      <a:lstStyle/>
      <a:p>
        <a:r>
          <a:rPr lang="ja-JP" altLang="en-US"/>
          <a:t>典型的な5シナリオとそれぞれのバリエーションを抑え、開発計画のパターンをある程度抑える</a:t>
        </a:r>
      </a:p>
    </p188:txBody>
  </p188:cm>
</p188:cmLst>
</file>

<file path=ppt/comments/modernComment_104_E8CFB32B.xml><?xml version="1.0" encoding="utf-8"?>
<p188:cmLst xmlns:a="http://schemas.openxmlformats.org/drawingml/2006/main" xmlns:r="http://schemas.openxmlformats.org/officeDocument/2006/relationships" xmlns:p188="http://schemas.microsoft.com/office/powerpoint/2018/8/main">
  <p188:cm id="{3EC7CBDE-E659-6B45-88B2-AC1CE0637DF1}" authorId="{5AA7D6E4-D81E-CF32-42CA-661684C67DD7}" status="resolved" created="2026-06-24T02:34:11.118" complete="100000">
    <pc:sldMkLst xmlns:pc="http://schemas.microsoft.com/office/powerpoint/2013/main/command">
      <pc:docMk/>
      <pc:sldMk cId="3905925931" sldId="260"/>
    </pc:sldMkLst>
    <p188:txBody>
      <a:bodyPr/>
      <a:lstStyle/>
      <a:p>
        <a:r>
          <a:rPr lang="ja-JP" altLang="en-US"/>
          <a:t>LLMを用いて開発計画を具体化していく
商業施設を作るなどのシナリオに対する人流予測に関する研究
同時にやるところが新規性</a:t>
        </a:r>
      </a:p>
    </p188:txBody>
    <p188:extLst>
      <p:ext xmlns:p="http://schemas.openxmlformats.org/presentationml/2006/main" uri="{57CB4572-C831-44C2-8A1C-0ADB6CCDFE69}">
        <p223:reactions xmlns:p223="http://schemas.microsoft.com/office/powerpoint/2022/03/main">
          <p223:rxn type="👍">
            <p223:instance time="2026-06-26T16:37:06.948" authorId="{5AA7D6E4-D81E-CF32-42CA-661684C67DD7}"/>
          </p223:rxn>
        </p223:reaction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DB4693-6362-5249-BACC-AA4F518A400C}" type="datetimeFigureOut">
              <a:t>2026/7/1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1E38E2-DE2E-7340-982E-9A5D15609A22}" type="slidenum">
              <a:t>‹#›</a:t>
            </a:fld>
            <a:endParaRPr kumimoji="1" lang="ja-JP" altLang="en-US"/>
          </a:p>
        </p:txBody>
      </p:sp>
    </p:spTree>
    <p:extLst>
      <p:ext uri="{BB962C8B-B14F-4D97-AF65-F5344CB8AC3E}">
        <p14:creationId xmlns:p14="http://schemas.microsoft.com/office/powerpoint/2010/main" val="2911633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F4B3A-7A44-5EE5-F1DE-9FBD4BC8C1C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CA3E473-643A-345B-0086-1959B5311A0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939F9DD-160F-E4EF-5736-A76DD4E154DB}"/>
              </a:ext>
            </a:extLst>
          </p:cNvPr>
          <p:cNvSpPr>
            <a:spLocks noGrp="1"/>
          </p:cNvSpPr>
          <p:nvPr>
            <p:ph type="body" idx="1"/>
          </p:nvPr>
        </p:nvSpPr>
        <p:spPr/>
        <p:txBody>
          <a:bodyPr/>
          <a:lstStyle/>
          <a:p>
            <a:r>
              <a:rPr lang="ja-JP" altLang="ja-JP"/>
              <a:t>This slide shows how we develop a planning proposal through dialogue with an LLM.</a:t>
            </a:r>
          </a:p>
          <a:p>
            <a:r>
              <a:rPr lang="ja-JP" altLang="ja-JP"/>
              <a:t>First, we identify the target area, Shibata 1-chome, and confirm its surrounding stations and pedestrian networks. Then, we organize basic planning conditions, such as land use, scale, pedestrian flow, functions, and constraints.</a:t>
            </a:r>
          </a:p>
          <a:p>
            <a:r>
              <a:rPr lang="ja-JP" altLang="ja-JP"/>
              <a:t>Next, we compare several planning directions, such as commercial-focused, circulation-focused, and office-focused plans. Through this process, the user and the LLM gradually narrow down the proposal.</a:t>
            </a:r>
          </a:p>
          <a:p>
            <a:r>
              <a:rPr lang="ja-JP" altLang="ja-JP"/>
              <a:t>Finally, the selected direction is translated into a concrete development plan, including commercial functions, offices, public open space, and improved pedestrian connections.</a:t>
            </a:r>
          </a:p>
        </p:txBody>
      </p:sp>
      <p:sp>
        <p:nvSpPr>
          <p:cNvPr id="4" name="スライド番号プレースホルダー 3">
            <a:extLst>
              <a:ext uri="{FF2B5EF4-FFF2-40B4-BE49-F238E27FC236}">
                <a16:creationId xmlns:a16="http://schemas.microsoft.com/office/drawing/2014/main" id="{C31D2105-506E-9F25-931E-66A5466B0815}"/>
              </a:ext>
            </a:extLst>
          </p:cNvPr>
          <p:cNvSpPr>
            <a:spLocks noGrp="1"/>
          </p:cNvSpPr>
          <p:nvPr>
            <p:ph type="sldNum" sz="quarter" idx="5"/>
          </p:nvPr>
        </p:nvSpPr>
        <p:spPr/>
        <p:txBody>
          <a:bodyPr/>
          <a:lstStyle/>
          <a:p>
            <a:fld id="{0B1E38E2-DE2E-7340-982E-9A5D15609A22}" type="slidenum">
              <a:t>2</a:t>
            </a:fld>
            <a:endParaRPr kumimoji="1" lang="ja-JP" altLang="en-US"/>
          </a:p>
        </p:txBody>
      </p:sp>
    </p:spTree>
    <p:extLst>
      <p:ext uri="{BB962C8B-B14F-4D97-AF65-F5344CB8AC3E}">
        <p14:creationId xmlns:p14="http://schemas.microsoft.com/office/powerpoint/2010/main" val="3740240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07403-4577-0CA9-496B-F6E27FF5233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57B0894-A332-5D43-B0F4-4F38FB2AC94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432591A-9D08-B579-1A78-7C707136809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756AD0E-8B4E-90A7-B5CD-5CF599871460}"/>
              </a:ext>
            </a:extLst>
          </p:cNvPr>
          <p:cNvSpPr>
            <a:spLocks noGrp="1"/>
          </p:cNvSpPr>
          <p:nvPr>
            <p:ph type="sldNum" sz="quarter" idx="5"/>
          </p:nvPr>
        </p:nvSpPr>
        <p:spPr/>
        <p:txBody>
          <a:bodyPr/>
          <a:lstStyle/>
          <a:p>
            <a:fld id="{0B1E38E2-DE2E-7340-982E-9A5D15609A22}" type="slidenum">
              <a:rPr lang="en-US" altLang="ja-JP"/>
              <a:t>3</a:t>
            </a:fld>
            <a:endParaRPr kumimoji="1" lang="ja-JP" altLang="en-US"/>
          </a:p>
        </p:txBody>
      </p:sp>
    </p:spTree>
    <p:extLst>
      <p:ext uri="{BB962C8B-B14F-4D97-AF65-F5344CB8AC3E}">
        <p14:creationId xmlns:p14="http://schemas.microsoft.com/office/powerpoint/2010/main" val="31138010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FC55205D-1BEA-5E5D-5B92-8C3331D1DC79}"/>
              </a:ext>
            </a:extLst>
          </p:cNvPr>
          <p:cNvSpPr>
            <a:spLocks noGrp="1" noRot="1" noMove="1" noResize="1" noEditPoints="1" noAdjustHandles="1" noChangeArrowheads="1" noChangeShapeType="1"/>
          </p:cNvSpPr>
          <p:nvPr userDrawn="1"/>
        </p:nvSpPr>
        <p:spPr>
          <a:xfrm>
            <a:off x="0" y="1"/>
            <a:ext cx="12192000" cy="6857999"/>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011358BB-C83D-DC73-90A9-FD099D231007}"/>
              </a:ext>
            </a:extLst>
          </p:cNvPr>
          <p:cNvSpPr>
            <a:spLocks/>
          </p:cNvSpPr>
          <p:nvPr userDrawn="1"/>
        </p:nvSpPr>
        <p:spPr>
          <a:xfrm>
            <a:off x="627893" y="1718810"/>
            <a:ext cx="10936214" cy="36454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2" name="Title 1"/>
          <p:cNvSpPr>
            <a:spLocks noGrp="1"/>
          </p:cNvSpPr>
          <p:nvPr>
            <p:ph type="ctrTitle"/>
          </p:nvPr>
        </p:nvSpPr>
        <p:spPr>
          <a:xfrm>
            <a:off x="815698" y="1822519"/>
            <a:ext cx="8981594" cy="1800200"/>
          </a:xfrm>
        </p:spPr>
        <p:txBody>
          <a:bodyPr anchor="b"/>
          <a:lstStyle>
            <a:lvl1pPr algn="ctr">
              <a:defRPr sz="6000">
                <a:latin typeface="HGMinchoE" panose="02020909000000000000" pitchFamily="49" charset="-128"/>
                <a:ea typeface="HGMinchoE" panose="02020909000000000000" pitchFamily="49" charset="-128"/>
              </a:defRPr>
            </a:lvl1pPr>
          </a:lstStyle>
          <a:p>
            <a:r>
              <a:rPr lang="ja-JP" altLang="en-US" dirty="0"/>
              <a:t>マスター タイトルの書式設定</a:t>
            </a:r>
            <a:endParaRPr lang="en-US" dirty="0"/>
          </a:p>
        </p:txBody>
      </p:sp>
      <p:sp>
        <p:nvSpPr>
          <p:cNvPr id="4" name="Date Placeholder 3"/>
          <p:cNvSpPr>
            <a:spLocks noGrp="1"/>
          </p:cNvSpPr>
          <p:nvPr>
            <p:ph type="dt" sz="half" idx="10"/>
          </p:nvPr>
        </p:nvSpPr>
        <p:spPr/>
        <p:txBody>
          <a:bodyPr/>
          <a:lstStyle/>
          <a:p>
            <a:r>
              <a:rPr lang="en-US" altLang="ja-JP"/>
              <a:t>2026/6</a:t>
            </a:r>
            <a:endParaRPr kumimoji="1" lang="ja-JP" altLang="en-US"/>
          </a:p>
        </p:txBody>
      </p:sp>
      <p:sp>
        <p:nvSpPr>
          <p:cNvPr id="5" name="Footer Placeholder 4"/>
          <p:cNvSpPr>
            <a:spLocks noGrp="1"/>
          </p:cNvSpPr>
          <p:nvPr>
            <p:ph type="ftr" sz="quarter" idx="11"/>
          </p:nvPr>
        </p:nvSpPr>
        <p:spPr/>
        <p:txBody>
          <a:bodyPr/>
          <a:lstStyle/>
          <a:p>
            <a:r>
              <a:rPr kumimoji="1" lang="ja-JP" altLang="en-US"/>
              <a:t>関本・中居研究室</a:t>
            </a:r>
          </a:p>
        </p:txBody>
      </p:sp>
      <p:sp>
        <p:nvSpPr>
          <p:cNvPr id="6" name="Slide Number Placeholder 5"/>
          <p:cNvSpPr>
            <a:spLocks noGrp="1"/>
          </p:cNvSpPr>
          <p:nvPr>
            <p:ph type="sldNum" sz="quarter" idx="12"/>
          </p:nvPr>
        </p:nvSpPr>
        <p:spPr/>
        <p:txBody>
          <a:bodyPr/>
          <a:lstStyle/>
          <a:p>
            <a:fld id="{6539E37A-E522-3D47-AAB7-DDF67C94A05D}" type="slidenum">
              <a:t>‹#›</a:t>
            </a:fld>
            <a:endParaRPr kumimoji="1" lang="ja-JP" altLang="en-US"/>
          </a:p>
        </p:txBody>
      </p:sp>
      <p:sp>
        <p:nvSpPr>
          <p:cNvPr id="10" name="正方形/長方形 9">
            <a:extLst>
              <a:ext uri="{FF2B5EF4-FFF2-40B4-BE49-F238E27FC236}">
                <a16:creationId xmlns:a16="http://schemas.microsoft.com/office/drawing/2014/main" id="{4CD3B0C5-05CC-6CD8-19D9-83A04040DEB5}"/>
              </a:ext>
            </a:extLst>
          </p:cNvPr>
          <p:cNvSpPr/>
          <p:nvPr userDrawn="1"/>
        </p:nvSpPr>
        <p:spPr>
          <a:xfrm>
            <a:off x="815696" y="3900233"/>
            <a:ext cx="3915435" cy="45719"/>
          </a:xfrm>
          <a:prstGeom prst="rect">
            <a:avLst/>
          </a:prstGeom>
          <a:solidFill>
            <a:schemeClr val="tx2">
              <a:lumMod val="75000"/>
              <a:lumOff val="2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Subtitle 2">
            <a:extLst>
              <a:ext uri="{FF2B5EF4-FFF2-40B4-BE49-F238E27FC236}">
                <a16:creationId xmlns:a16="http://schemas.microsoft.com/office/drawing/2014/main" id="{1EA00032-B280-9C70-9D60-577AEB1A3456}"/>
              </a:ext>
            </a:extLst>
          </p:cNvPr>
          <p:cNvSpPr txBox="1">
            <a:spLocks/>
          </p:cNvSpPr>
          <p:nvPr userDrawn="1"/>
        </p:nvSpPr>
        <p:spPr>
          <a:xfrm>
            <a:off x="815695" y="4494532"/>
            <a:ext cx="5032775" cy="39863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altLang="ja-JP" sz="1800" dirty="0">
                <a:solidFill>
                  <a:schemeClr val="bg2">
                    <a:lumMod val="50000"/>
                  </a:schemeClr>
                </a:solidFill>
              </a:rPr>
              <a:t>2026</a:t>
            </a:r>
            <a:r>
              <a:rPr lang="ja-JP" altLang="en-US" sz="1800" dirty="0">
                <a:solidFill>
                  <a:schemeClr val="bg2">
                    <a:lumMod val="50000"/>
                  </a:schemeClr>
                </a:solidFill>
              </a:rPr>
              <a:t>年</a:t>
            </a:r>
            <a:r>
              <a:rPr lang="en-US" altLang="ja-JP" sz="1800" dirty="0">
                <a:solidFill>
                  <a:schemeClr val="bg2">
                    <a:lumMod val="50000"/>
                  </a:schemeClr>
                </a:solidFill>
              </a:rPr>
              <a:t>6</a:t>
            </a:r>
            <a:r>
              <a:rPr lang="ja-JP" altLang="en-US" sz="1800" dirty="0">
                <a:solidFill>
                  <a:schemeClr val="bg2">
                    <a:lumMod val="50000"/>
                  </a:schemeClr>
                </a:solidFill>
              </a:rPr>
              <a:t>月　関本・中居研究室</a:t>
            </a:r>
            <a:endParaRPr lang="en-US" sz="1800" dirty="0">
              <a:solidFill>
                <a:schemeClr val="bg2">
                  <a:lumMod val="50000"/>
                </a:schemeClr>
              </a:solidFill>
            </a:endParaRPr>
          </a:p>
        </p:txBody>
      </p:sp>
      <p:sp>
        <p:nvSpPr>
          <p:cNvPr id="12" name="Subtitle 2">
            <a:extLst>
              <a:ext uri="{FF2B5EF4-FFF2-40B4-BE49-F238E27FC236}">
                <a16:creationId xmlns:a16="http://schemas.microsoft.com/office/drawing/2014/main" id="{8C5479DB-FB15-2DE2-02DC-3F41B6BAA47D}"/>
              </a:ext>
            </a:extLst>
          </p:cNvPr>
          <p:cNvSpPr txBox="1">
            <a:spLocks/>
          </p:cNvSpPr>
          <p:nvPr userDrawn="1"/>
        </p:nvSpPr>
        <p:spPr>
          <a:xfrm>
            <a:off x="815696" y="4636415"/>
            <a:ext cx="5032775" cy="39863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endParaRPr lang="en-US" sz="1400" dirty="0">
              <a:solidFill>
                <a:schemeClr val="bg2">
                  <a:lumMod val="50000"/>
                </a:schemeClr>
              </a:solidFill>
            </a:endParaRPr>
          </a:p>
        </p:txBody>
      </p:sp>
      <p:sp>
        <p:nvSpPr>
          <p:cNvPr id="13" name="Subtitle 2">
            <a:extLst>
              <a:ext uri="{FF2B5EF4-FFF2-40B4-BE49-F238E27FC236}">
                <a16:creationId xmlns:a16="http://schemas.microsoft.com/office/drawing/2014/main" id="{265B0414-1E04-19AB-89FC-B267F02CDFAF}"/>
              </a:ext>
            </a:extLst>
          </p:cNvPr>
          <p:cNvSpPr txBox="1">
            <a:spLocks/>
          </p:cNvSpPr>
          <p:nvPr userDrawn="1"/>
        </p:nvSpPr>
        <p:spPr>
          <a:xfrm>
            <a:off x="834852" y="4095900"/>
            <a:ext cx="5032775" cy="39863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ja-JP" altLang="en-US" sz="1800" dirty="0">
                <a:solidFill>
                  <a:schemeClr val="bg2">
                    <a:lumMod val="50000"/>
                  </a:schemeClr>
                </a:solidFill>
              </a:rPr>
              <a:t>芝田一丁目　取組計画</a:t>
            </a:r>
            <a:endParaRPr lang="en-US" sz="1800" dirty="0">
              <a:solidFill>
                <a:schemeClr val="bg2">
                  <a:lumMod val="50000"/>
                </a:schemeClr>
              </a:solidFill>
            </a:endParaRPr>
          </a:p>
        </p:txBody>
      </p:sp>
    </p:spTree>
    <p:extLst>
      <p:ext uri="{BB962C8B-B14F-4D97-AF65-F5344CB8AC3E}">
        <p14:creationId xmlns:p14="http://schemas.microsoft.com/office/powerpoint/2010/main" val="1756810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844EDEF3-5F82-A47A-BCEE-E6EA44217C62}"/>
              </a:ext>
            </a:extLst>
          </p:cNvPr>
          <p:cNvSpPr>
            <a:spLocks noGrp="1" noRot="1" noMove="1" noResize="1" noEditPoints="1" noAdjustHandles="1" noChangeArrowheads="1" noChangeShapeType="1"/>
          </p:cNvSpPr>
          <p:nvPr userDrawn="1"/>
        </p:nvSpPr>
        <p:spPr>
          <a:xfrm>
            <a:off x="0" y="1"/>
            <a:ext cx="12192000" cy="908719"/>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Title 1"/>
          <p:cNvSpPr>
            <a:spLocks noGrp="1"/>
          </p:cNvSpPr>
          <p:nvPr>
            <p:ph type="title"/>
          </p:nvPr>
        </p:nvSpPr>
        <p:spPr>
          <a:xfrm>
            <a:off x="200345" y="1"/>
            <a:ext cx="10326470" cy="908719"/>
          </a:xfrm>
        </p:spPr>
        <p:txBody>
          <a:bodyPr/>
          <a:lstStyle>
            <a:lvl1pPr>
              <a:defRPr sz="2400">
                <a:solidFill>
                  <a:schemeClr val="bg1"/>
                </a:solidFill>
                <a:latin typeface="HGMinchoE" panose="02020909000000000000" pitchFamily="49" charset="-128"/>
                <a:ea typeface="HGMinchoE" panose="02020909000000000000" pitchFamily="49" charset="-128"/>
              </a:defRPr>
            </a:lvl1pPr>
          </a:lstStyle>
          <a:p>
            <a:r>
              <a:rPr lang="ja-JP" altLang="en-US" dirty="0"/>
              <a:t>マスター タイトルの書式設定</a:t>
            </a:r>
            <a:endParaRPr lang="en-US" dirty="0"/>
          </a:p>
        </p:txBody>
      </p:sp>
      <p:sp>
        <p:nvSpPr>
          <p:cNvPr id="3" name="Content Placeholder 2"/>
          <p:cNvSpPr>
            <a:spLocks noGrp="1"/>
          </p:cNvSpPr>
          <p:nvPr>
            <p:ph idx="1"/>
          </p:nvPr>
        </p:nvSpPr>
        <p:spPr>
          <a:xfrm>
            <a:off x="838200" y="1253331"/>
            <a:ext cx="10515600" cy="4351338"/>
          </a:xfr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10"/>
          </p:nvPr>
        </p:nvSpPr>
        <p:spPr/>
        <p:txBody>
          <a:bodyPr/>
          <a:lstStyle/>
          <a:p>
            <a:r>
              <a:rPr lang="en-US" altLang="ja-JP"/>
              <a:t>2026/6</a:t>
            </a:r>
            <a:endParaRPr kumimoji="1" lang="ja-JP" altLang="en-US"/>
          </a:p>
        </p:txBody>
      </p:sp>
      <p:sp>
        <p:nvSpPr>
          <p:cNvPr id="5" name="Footer Placeholder 4"/>
          <p:cNvSpPr>
            <a:spLocks noGrp="1"/>
          </p:cNvSpPr>
          <p:nvPr>
            <p:ph type="ftr" sz="quarter" idx="11"/>
          </p:nvPr>
        </p:nvSpPr>
        <p:spPr/>
        <p:txBody>
          <a:bodyPr/>
          <a:lstStyle/>
          <a:p>
            <a:r>
              <a:rPr kumimoji="1" lang="ja-JP" altLang="en-US"/>
              <a:t>関本・中居研究室</a:t>
            </a:r>
          </a:p>
        </p:txBody>
      </p:sp>
      <p:sp>
        <p:nvSpPr>
          <p:cNvPr id="6" name="Slide Number Placeholder 5"/>
          <p:cNvSpPr>
            <a:spLocks noGrp="1"/>
          </p:cNvSpPr>
          <p:nvPr>
            <p:ph type="sldNum" sz="quarter" idx="12"/>
          </p:nvPr>
        </p:nvSpPr>
        <p:spPr/>
        <p:txBody>
          <a:bodyPr/>
          <a:lstStyle/>
          <a:p>
            <a:fld id="{6539E37A-E522-3D47-AAB7-DDF67C94A05D}" type="slidenum">
              <a:rPr/>
              <a:t>‹#›</a:t>
            </a:fld>
            <a:endParaRPr kumimoji="1" lang="ja-JP" altLang="en-US"/>
          </a:p>
        </p:txBody>
      </p:sp>
    </p:spTree>
    <p:extLst>
      <p:ext uri="{BB962C8B-B14F-4D97-AF65-F5344CB8AC3E}">
        <p14:creationId xmlns:p14="http://schemas.microsoft.com/office/powerpoint/2010/main" val="1383340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dirty="0"/>
              <a:t>マスター タイトルの書式設定</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ja-JP" altLang="en-US" dirty="0"/>
              <a:t>マスター テキストの書式設定</a:t>
            </a:r>
          </a:p>
        </p:txBody>
      </p:sp>
      <p:sp>
        <p:nvSpPr>
          <p:cNvPr id="4" name="Date Placeholder 3"/>
          <p:cNvSpPr>
            <a:spLocks noGrp="1"/>
          </p:cNvSpPr>
          <p:nvPr>
            <p:ph type="dt" sz="half" idx="10"/>
          </p:nvPr>
        </p:nvSpPr>
        <p:spPr/>
        <p:txBody>
          <a:bodyPr/>
          <a:lstStyle/>
          <a:p>
            <a:r>
              <a:rPr lang="en-US" altLang="ja-JP"/>
              <a:t>2026/6</a:t>
            </a:r>
            <a:endParaRPr kumimoji="1" lang="ja-JP" altLang="en-US"/>
          </a:p>
        </p:txBody>
      </p:sp>
      <p:sp>
        <p:nvSpPr>
          <p:cNvPr id="5" name="Footer Placeholder 4"/>
          <p:cNvSpPr>
            <a:spLocks noGrp="1"/>
          </p:cNvSpPr>
          <p:nvPr>
            <p:ph type="ftr" sz="quarter" idx="11"/>
          </p:nvPr>
        </p:nvSpPr>
        <p:spPr/>
        <p:txBody>
          <a:bodyPr/>
          <a:lstStyle/>
          <a:p>
            <a:r>
              <a:rPr kumimoji="1" lang="ja-JP" altLang="en-US"/>
              <a:t>関本・中居研究室</a:t>
            </a:r>
          </a:p>
        </p:txBody>
      </p:sp>
      <p:sp>
        <p:nvSpPr>
          <p:cNvPr id="6" name="Slide Number Placeholder 5"/>
          <p:cNvSpPr>
            <a:spLocks noGrp="1"/>
          </p:cNvSpPr>
          <p:nvPr>
            <p:ph type="sldNum" sz="quarter" idx="12"/>
          </p:nvPr>
        </p:nvSpPr>
        <p:spPr/>
        <p:txBody>
          <a:bodyPr/>
          <a:lstStyle/>
          <a:p>
            <a:fld id="{6539E37A-E522-3D47-AAB7-DDF67C94A05D}" type="slidenum">
              <a:t>‹#›</a:t>
            </a:fld>
            <a:endParaRPr kumimoji="1" lang="ja-JP" altLang="en-US"/>
          </a:p>
        </p:txBody>
      </p:sp>
    </p:spTree>
    <p:extLst>
      <p:ext uri="{BB962C8B-B14F-4D97-AF65-F5344CB8AC3E}">
        <p14:creationId xmlns:p14="http://schemas.microsoft.com/office/powerpoint/2010/main" val="3826114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Date Placeholder 4"/>
          <p:cNvSpPr>
            <a:spLocks noGrp="1"/>
          </p:cNvSpPr>
          <p:nvPr>
            <p:ph type="dt" sz="half" idx="10"/>
          </p:nvPr>
        </p:nvSpPr>
        <p:spPr/>
        <p:txBody>
          <a:bodyPr/>
          <a:lstStyle/>
          <a:p>
            <a:r>
              <a:rPr lang="en-US" altLang="ja-JP"/>
              <a:t>2026/6</a:t>
            </a:r>
            <a:endParaRPr kumimoji="1" lang="ja-JP" altLang="en-US"/>
          </a:p>
        </p:txBody>
      </p:sp>
      <p:sp>
        <p:nvSpPr>
          <p:cNvPr id="6" name="Footer Placeholder 5"/>
          <p:cNvSpPr>
            <a:spLocks noGrp="1"/>
          </p:cNvSpPr>
          <p:nvPr>
            <p:ph type="ftr" sz="quarter" idx="11"/>
          </p:nvPr>
        </p:nvSpPr>
        <p:spPr/>
        <p:txBody>
          <a:bodyPr/>
          <a:lstStyle/>
          <a:p>
            <a:r>
              <a:rPr kumimoji="1" lang="ja-JP" altLang="en-US"/>
              <a:t>関本・中居研究室</a:t>
            </a:r>
          </a:p>
        </p:txBody>
      </p:sp>
      <p:sp>
        <p:nvSpPr>
          <p:cNvPr id="7" name="Slide Number Placeholder 6"/>
          <p:cNvSpPr>
            <a:spLocks noGrp="1"/>
          </p:cNvSpPr>
          <p:nvPr>
            <p:ph type="sldNum" sz="quarter" idx="12"/>
          </p:nvPr>
        </p:nvSpPr>
        <p:spPr/>
        <p:txBody>
          <a:bodyPr/>
          <a:lstStyle/>
          <a:p>
            <a:fld id="{6539E37A-E522-3D47-AAB7-DDF67C94A05D}" type="slidenum">
              <a:t>‹#›</a:t>
            </a:fld>
            <a:endParaRPr kumimoji="1" lang="ja-JP" altLang="en-US"/>
          </a:p>
        </p:txBody>
      </p:sp>
    </p:spTree>
    <p:extLst>
      <p:ext uri="{BB962C8B-B14F-4D97-AF65-F5344CB8AC3E}">
        <p14:creationId xmlns:p14="http://schemas.microsoft.com/office/powerpoint/2010/main" val="33750509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dirty="0"/>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dirty="0"/>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7" name="Date Placeholder 6"/>
          <p:cNvSpPr>
            <a:spLocks noGrp="1"/>
          </p:cNvSpPr>
          <p:nvPr>
            <p:ph type="dt" sz="half" idx="10"/>
          </p:nvPr>
        </p:nvSpPr>
        <p:spPr/>
        <p:txBody>
          <a:bodyPr/>
          <a:lstStyle/>
          <a:p>
            <a:r>
              <a:rPr lang="en-US" altLang="ja-JP"/>
              <a:t>2026/6</a:t>
            </a:r>
            <a:endParaRPr kumimoji="1" lang="ja-JP" altLang="en-US"/>
          </a:p>
        </p:txBody>
      </p:sp>
      <p:sp>
        <p:nvSpPr>
          <p:cNvPr id="8" name="Footer Placeholder 7"/>
          <p:cNvSpPr>
            <a:spLocks noGrp="1"/>
          </p:cNvSpPr>
          <p:nvPr>
            <p:ph type="ftr" sz="quarter" idx="11"/>
          </p:nvPr>
        </p:nvSpPr>
        <p:spPr/>
        <p:txBody>
          <a:bodyPr/>
          <a:lstStyle/>
          <a:p>
            <a:r>
              <a:rPr kumimoji="1" lang="ja-JP" altLang="en-US"/>
              <a:t>関本・中居研究室</a:t>
            </a:r>
          </a:p>
        </p:txBody>
      </p:sp>
      <p:sp>
        <p:nvSpPr>
          <p:cNvPr id="9" name="Slide Number Placeholder 8"/>
          <p:cNvSpPr>
            <a:spLocks noGrp="1"/>
          </p:cNvSpPr>
          <p:nvPr>
            <p:ph type="sldNum" sz="quarter" idx="12"/>
          </p:nvPr>
        </p:nvSpPr>
        <p:spPr/>
        <p:txBody>
          <a:bodyPr/>
          <a:lstStyle/>
          <a:p>
            <a:fld id="{6539E37A-E522-3D47-AAB7-DDF67C94A05D}" type="slidenum">
              <a:t>‹#›</a:t>
            </a:fld>
            <a:endParaRPr kumimoji="1" lang="ja-JP" altLang="en-US"/>
          </a:p>
        </p:txBody>
      </p:sp>
    </p:spTree>
    <p:extLst>
      <p:ext uri="{BB962C8B-B14F-4D97-AF65-F5344CB8AC3E}">
        <p14:creationId xmlns:p14="http://schemas.microsoft.com/office/powerpoint/2010/main" val="38314755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Date Placeholder 2"/>
          <p:cNvSpPr>
            <a:spLocks noGrp="1"/>
          </p:cNvSpPr>
          <p:nvPr>
            <p:ph type="dt" sz="half" idx="10"/>
          </p:nvPr>
        </p:nvSpPr>
        <p:spPr/>
        <p:txBody>
          <a:bodyPr/>
          <a:lstStyle/>
          <a:p>
            <a:r>
              <a:rPr lang="en-US" altLang="ja-JP"/>
              <a:t>2026/6</a:t>
            </a:r>
            <a:endParaRPr kumimoji="1" lang="ja-JP" altLang="en-US"/>
          </a:p>
        </p:txBody>
      </p:sp>
      <p:sp>
        <p:nvSpPr>
          <p:cNvPr id="4" name="Footer Placeholder 3"/>
          <p:cNvSpPr>
            <a:spLocks noGrp="1"/>
          </p:cNvSpPr>
          <p:nvPr>
            <p:ph type="ftr" sz="quarter" idx="11"/>
          </p:nvPr>
        </p:nvSpPr>
        <p:spPr/>
        <p:txBody>
          <a:bodyPr/>
          <a:lstStyle/>
          <a:p>
            <a:r>
              <a:rPr kumimoji="1" lang="ja-JP" altLang="en-US"/>
              <a:t>関本・中居研究室</a:t>
            </a:r>
          </a:p>
        </p:txBody>
      </p:sp>
      <p:sp>
        <p:nvSpPr>
          <p:cNvPr id="5" name="Slide Number Placeholder 4"/>
          <p:cNvSpPr>
            <a:spLocks noGrp="1"/>
          </p:cNvSpPr>
          <p:nvPr>
            <p:ph type="sldNum" sz="quarter" idx="12"/>
          </p:nvPr>
        </p:nvSpPr>
        <p:spPr/>
        <p:txBody>
          <a:bodyPr/>
          <a:lstStyle/>
          <a:p>
            <a:fld id="{6539E37A-E522-3D47-AAB7-DDF67C94A05D}" type="slidenum">
              <a:t>‹#›</a:t>
            </a:fld>
            <a:endParaRPr kumimoji="1" lang="ja-JP" altLang="en-US"/>
          </a:p>
        </p:txBody>
      </p:sp>
    </p:spTree>
    <p:extLst>
      <p:ext uri="{BB962C8B-B14F-4D97-AF65-F5344CB8AC3E}">
        <p14:creationId xmlns:p14="http://schemas.microsoft.com/office/powerpoint/2010/main" val="924625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ltLang="ja-JP"/>
              <a:t>2026/6</a:t>
            </a:r>
            <a:endParaRPr kumimoji="1" lang="ja-JP" altLang="en-US"/>
          </a:p>
        </p:txBody>
      </p:sp>
      <p:sp>
        <p:nvSpPr>
          <p:cNvPr id="3" name="Footer Placeholder 2"/>
          <p:cNvSpPr>
            <a:spLocks noGrp="1"/>
          </p:cNvSpPr>
          <p:nvPr>
            <p:ph type="ftr" sz="quarter" idx="11"/>
          </p:nvPr>
        </p:nvSpPr>
        <p:spPr/>
        <p:txBody>
          <a:bodyPr/>
          <a:lstStyle/>
          <a:p>
            <a:r>
              <a:rPr kumimoji="1" lang="ja-JP" altLang="en-US"/>
              <a:t>関本・中居研究室</a:t>
            </a:r>
          </a:p>
        </p:txBody>
      </p:sp>
      <p:sp>
        <p:nvSpPr>
          <p:cNvPr id="4" name="Slide Number Placeholder 3"/>
          <p:cNvSpPr>
            <a:spLocks noGrp="1"/>
          </p:cNvSpPr>
          <p:nvPr>
            <p:ph type="sldNum" sz="quarter" idx="12"/>
          </p:nvPr>
        </p:nvSpPr>
        <p:spPr/>
        <p:txBody>
          <a:bodyPr/>
          <a:lstStyle/>
          <a:p>
            <a:fld id="{6539E37A-E522-3D47-AAB7-DDF67C94A05D}" type="slidenum">
              <a:t>‹#›</a:t>
            </a:fld>
            <a:endParaRPr kumimoji="1" lang="ja-JP" altLang="en-US"/>
          </a:p>
        </p:txBody>
      </p:sp>
    </p:spTree>
    <p:extLst>
      <p:ext uri="{BB962C8B-B14F-4D97-AF65-F5344CB8AC3E}">
        <p14:creationId xmlns:p14="http://schemas.microsoft.com/office/powerpoint/2010/main" val="338419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dirty="0"/>
              <a:t>マスター タイトルの書式設定</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dirty="0"/>
              <a:t>マスター テキストの書式設定</a:t>
            </a:r>
          </a:p>
        </p:txBody>
      </p:sp>
      <p:sp>
        <p:nvSpPr>
          <p:cNvPr id="5" name="Date Placeholder 4"/>
          <p:cNvSpPr>
            <a:spLocks noGrp="1"/>
          </p:cNvSpPr>
          <p:nvPr>
            <p:ph type="dt" sz="half" idx="10"/>
          </p:nvPr>
        </p:nvSpPr>
        <p:spPr/>
        <p:txBody>
          <a:bodyPr/>
          <a:lstStyle/>
          <a:p>
            <a:r>
              <a:rPr lang="en-US" altLang="ja-JP"/>
              <a:t>2026/6</a:t>
            </a:r>
            <a:endParaRPr kumimoji="1" lang="ja-JP" altLang="en-US"/>
          </a:p>
        </p:txBody>
      </p:sp>
      <p:sp>
        <p:nvSpPr>
          <p:cNvPr id="6" name="Footer Placeholder 5"/>
          <p:cNvSpPr>
            <a:spLocks noGrp="1"/>
          </p:cNvSpPr>
          <p:nvPr>
            <p:ph type="ftr" sz="quarter" idx="11"/>
          </p:nvPr>
        </p:nvSpPr>
        <p:spPr/>
        <p:txBody>
          <a:bodyPr/>
          <a:lstStyle/>
          <a:p>
            <a:r>
              <a:rPr kumimoji="1" lang="ja-JP" altLang="en-US"/>
              <a:t>関本・中居研究室</a:t>
            </a:r>
          </a:p>
        </p:txBody>
      </p:sp>
      <p:sp>
        <p:nvSpPr>
          <p:cNvPr id="7" name="Slide Number Placeholder 6"/>
          <p:cNvSpPr>
            <a:spLocks noGrp="1"/>
          </p:cNvSpPr>
          <p:nvPr>
            <p:ph type="sldNum" sz="quarter" idx="12"/>
          </p:nvPr>
        </p:nvSpPr>
        <p:spPr/>
        <p:txBody>
          <a:bodyPr/>
          <a:lstStyle/>
          <a:p>
            <a:fld id="{6539E37A-E522-3D47-AAB7-DDF67C94A05D}" type="slidenum">
              <a:t>‹#›</a:t>
            </a:fld>
            <a:endParaRPr kumimoji="1" lang="ja-JP" altLang="en-US"/>
          </a:p>
        </p:txBody>
      </p:sp>
    </p:spTree>
    <p:extLst>
      <p:ext uri="{BB962C8B-B14F-4D97-AF65-F5344CB8AC3E}">
        <p14:creationId xmlns:p14="http://schemas.microsoft.com/office/powerpoint/2010/main" val="2960222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dirty="0"/>
              <a:t>マスター タイトルの書式設定</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dirty="0"/>
              <a:t>アイコンをクリックして図を追加</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dirty="0"/>
              <a:t>マスター テキストの書式設定</a:t>
            </a:r>
          </a:p>
        </p:txBody>
      </p:sp>
      <p:sp>
        <p:nvSpPr>
          <p:cNvPr id="5" name="Date Placeholder 4"/>
          <p:cNvSpPr>
            <a:spLocks noGrp="1"/>
          </p:cNvSpPr>
          <p:nvPr>
            <p:ph type="dt" sz="half" idx="10"/>
          </p:nvPr>
        </p:nvSpPr>
        <p:spPr/>
        <p:txBody>
          <a:bodyPr/>
          <a:lstStyle/>
          <a:p>
            <a:r>
              <a:rPr lang="en-US" altLang="ja-JP"/>
              <a:t>2026/6</a:t>
            </a:r>
            <a:endParaRPr kumimoji="1" lang="ja-JP" altLang="en-US"/>
          </a:p>
        </p:txBody>
      </p:sp>
      <p:sp>
        <p:nvSpPr>
          <p:cNvPr id="6" name="Footer Placeholder 5"/>
          <p:cNvSpPr>
            <a:spLocks noGrp="1"/>
          </p:cNvSpPr>
          <p:nvPr>
            <p:ph type="ftr" sz="quarter" idx="11"/>
          </p:nvPr>
        </p:nvSpPr>
        <p:spPr/>
        <p:txBody>
          <a:bodyPr/>
          <a:lstStyle/>
          <a:p>
            <a:r>
              <a:rPr kumimoji="1" lang="ja-JP" altLang="en-US"/>
              <a:t>関本・中居研究室</a:t>
            </a:r>
          </a:p>
        </p:txBody>
      </p:sp>
      <p:sp>
        <p:nvSpPr>
          <p:cNvPr id="7" name="Slide Number Placeholder 6"/>
          <p:cNvSpPr>
            <a:spLocks noGrp="1"/>
          </p:cNvSpPr>
          <p:nvPr>
            <p:ph type="sldNum" sz="quarter" idx="12"/>
          </p:nvPr>
        </p:nvSpPr>
        <p:spPr/>
        <p:txBody>
          <a:bodyPr/>
          <a:lstStyle/>
          <a:p>
            <a:fld id="{6539E37A-E522-3D47-AAB7-DDF67C94A05D}" type="slidenum">
              <a:t>‹#›</a:t>
            </a:fld>
            <a:endParaRPr kumimoji="1" lang="ja-JP" altLang="en-US"/>
          </a:p>
        </p:txBody>
      </p:sp>
    </p:spTree>
    <p:extLst>
      <p:ext uri="{BB962C8B-B14F-4D97-AF65-F5344CB8AC3E}">
        <p14:creationId xmlns:p14="http://schemas.microsoft.com/office/powerpoint/2010/main" val="1562891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10"/>
          </p:nvPr>
        </p:nvSpPr>
        <p:spPr/>
        <p:txBody>
          <a:bodyPr/>
          <a:lstStyle/>
          <a:p>
            <a:r>
              <a:rPr lang="en-US" altLang="ja-JP"/>
              <a:t>2026/6</a:t>
            </a:r>
            <a:endParaRPr kumimoji="1" lang="ja-JP" altLang="en-US"/>
          </a:p>
        </p:txBody>
      </p:sp>
      <p:sp>
        <p:nvSpPr>
          <p:cNvPr id="5" name="Footer Placeholder 4"/>
          <p:cNvSpPr>
            <a:spLocks noGrp="1"/>
          </p:cNvSpPr>
          <p:nvPr>
            <p:ph type="ftr" sz="quarter" idx="11"/>
          </p:nvPr>
        </p:nvSpPr>
        <p:spPr/>
        <p:txBody>
          <a:bodyPr/>
          <a:lstStyle/>
          <a:p>
            <a:r>
              <a:rPr kumimoji="1" lang="ja-JP" altLang="en-US"/>
              <a:t>関本・中居研究室</a:t>
            </a:r>
          </a:p>
        </p:txBody>
      </p:sp>
      <p:sp>
        <p:nvSpPr>
          <p:cNvPr id="6" name="Slide Number Placeholder 5"/>
          <p:cNvSpPr>
            <a:spLocks noGrp="1"/>
          </p:cNvSpPr>
          <p:nvPr>
            <p:ph type="sldNum" sz="quarter" idx="12"/>
          </p:nvPr>
        </p:nvSpPr>
        <p:spPr/>
        <p:txBody>
          <a:bodyPr/>
          <a:lstStyle/>
          <a:p>
            <a:fld id="{6539E37A-E522-3D47-AAB7-DDF67C94A05D}" type="slidenum">
              <a:t>‹#›</a:t>
            </a:fld>
            <a:endParaRPr kumimoji="1" lang="ja-JP" altLang="en-US"/>
          </a:p>
        </p:txBody>
      </p:sp>
    </p:spTree>
    <p:extLst>
      <p:ext uri="{BB962C8B-B14F-4D97-AF65-F5344CB8AC3E}">
        <p14:creationId xmlns:p14="http://schemas.microsoft.com/office/powerpoint/2010/main" val="5920281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dirty="0"/>
              <a:t>マスター タイトルの書式設定</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10"/>
          </p:nvPr>
        </p:nvSpPr>
        <p:spPr/>
        <p:txBody>
          <a:bodyPr/>
          <a:lstStyle/>
          <a:p>
            <a:r>
              <a:rPr lang="en-US" altLang="ja-JP"/>
              <a:t>2026/6</a:t>
            </a:r>
            <a:endParaRPr kumimoji="1" lang="ja-JP" altLang="en-US"/>
          </a:p>
        </p:txBody>
      </p:sp>
      <p:sp>
        <p:nvSpPr>
          <p:cNvPr id="5" name="Footer Placeholder 4"/>
          <p:cNvSpPr>
            <a:spLocks noGrp="1"/>
          </p:cNvSpPr>
          <p:nvPr>
            <p:ph type="ftr" sz="quarter" idx="11"/>
          </p:nvPr>
        </p:nvSpPr>
        <p:spPr/>
        <p:txBody>
          <a:bodyPr/>
          <a:lstStyle/>
          <a:p>
            <a:r>
              <a:rPr kumimoji="1" lang="ja-JP" altLang="en-US"/>
              <a:t>関本・中居研究室</a:t>
            </a:r>
          </a:p>
        </p:txBody>
      </p:sp>
      <p:sp>
        <p:nvSpPr>
          <p:cNvPr id="6" name="Slide Number Placeholder 5"/>
          <p:cNvSpPr>
            <a:spLocks noGrp="1"/>
          </p:cNvSpPr>
          <p:nvPr>
            <p:ph type="sldNum" sz="quarter" idx="12"/>
          </p:nvPr>
        </p:nvSpPr>
        <p:spPr/>
        <p:txBody>
          <a:bodyPr/>
          <a:lstStyle/>
          <a:p>
            <a:fld id="{6539E37A-E522-3D47-AAB7-DDF67C94A05D}" type="slidenum">
              <a:t>‹#›</a:t>
            </a:fld>
            <a:endParaRPr kumimoji="1" lang="ja-JP" altLang="en-US"/>
          </a:p>
        </p:txBody>
      </p:sp>
    </p:spTree>
    <p:extLst>
      <p:ext uri="{BB962C8B-B14F-4D97-AF65-F5344CB8AC3E}">
        <p14:creationId xmlns:p14="http://schemas.microsoft.com/office/powerpoint/2010/main" val="2585553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US" altLang="ja-JP"/>
              <a:t>2026/6</a:t>
            </a:r>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kumimoji="1" lang="ja-JP" altLang="en-US"/>
              <a:t>関本・中居研究室</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a:solidFill>
                  <a:schemeClr val="tx1">
                    <a:tint val="82000"/>
                  </a:schemeClr>
                </a:solidFill>
              </a:defRPr>
            </a:lvl1pPr>
          </a:lstStyle>
          <a:p>
            <a:fld id="{6539E37A-E522-3D47-AAB7-DDF67C94A05D}" type="slidenum">
              <a:rPr kumimoji="1" lang="ja-JP" altLang="en-US"/>
              <a:pPr/>
              <a:t>‹#›</a:t>
            </a:fld>
            <a:endParaRPr kumimoji="1" lang="ja-JP" altLang="en-US" b="1"/>
          </a:p>
        </p:txBody>
      </p:sp>
    </p:spTree>
    <p:extLst>
      <p:ext uri="{BB962C8B-B14F-4D97-AF65-F5344CB8AC3E}">
        <p14:creationId xmlns:p14="http://schemas.microsoft.com/office/powerpoint/2010/main" val="29235446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kumimoji="1"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2" Type="http://schemas.microsoft.com/office/2018/10/relationships/comments" Target="../comments/modernComment_104_E8CFB32B.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microsoft.com/office/2018/10/relationships/comments" Target="../comments/modernComment_103_3E3AE82A.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9B55DF-5A51-4866-F273-38E181C764D2}"/>
              </a:ext>
            </a:extLst>
          </p:cNvPr>
          <p:cNvSpPr>
            <a:spLocks noGrp="1"/>
          </p:cNvSpPr>
          <p:nvPr>
            <p:ph type="ctrTitle"/>
          </p:nvPr>
        </p:nvSpPr>
        <p:spPr>
          <a:xfrm>
            <a:off x="830414" y="1943835"/>
            <a:ext cx="10621181" cy="1665185"/>
          </a:xfrm>
        </p:spPr>
        <p:txBody>
          <a:bodyPr anchor="t">
            <a:normAutofit fontScale="90000"/>
          </a:bodyPr>
          <a:lstStyle/>
          <a:p>
            <a:pPr algn="l"/>
            <a:r>
              <a:rPr lang="en" altLang="ja-JP" sz="3600"/>
              <a:t>Generation and Evaluation of Various Patterns Based on the Level of Detail in Development Plans:</a:t>
            </a:r>
            <a:br>
              <a:rPr lang="en" altLang="ja-JP" sz="3600"/>
            </a:br>
            <a:r>
              <a:rPr lang="en" altLang="ja-JP" sz="3600"/>
              <a:t>A Case Study of the Shibata 1-chome Development Plan</a:t>
            </a:r>
            <a:endParaRPr kumimoji="1" lang="ja-JP" altLang="en-US" sz="3600"/>
          </a:p>
        </p:txBody>
      </p:sp>
    </p:spTree>
    <p:extLst>
      <p:ext uri="{BB962C8B-B14F-4D97-AF65-F5344CB8AC3E}">
        <p14:creationId xmlns:p14="http://schemas.microsoft.com/office/powerpoint/2010/main" val="36255565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AAB8C-7B96-8798-4D85-2D27073D1464}"/>
            </a:ext>
          </a:extLst>
        </p:cNvPr>
        <p:cNvGrpSpPr/>
        <p:nvPr/>
      </p:nvGrpSpPr>
      <p:grpSpPr>
        <a:xfrm>
          <a:off x="0" y="0"/>
          <a:ext cx="0" cy="0"/>
          <a:chOff x="0" y="0"/>
          <a:chExt cx="0" cy="0"/>
        </a:xfrm>
      </p:grpSpPr>
      <p:sp>
        <p:nvSpPr>
          <p:cNvPr id="44" name="Rounded Rectangle 5">
            <a:extLst>
              <a:ext uri="{FF2B5EF4-FFF2-40B4-BE49-F238E27FC236}">
                <a16:creationId xmlns:a16="http://schemas.microsoft.com/office/drawing/2014/main" id="{670416E6-6D7B-A209-7791-301DA7440C98}"/>
              </a:ext>
            </a:extLst>
          </p:cNvPr>
          <p:cNvSpPr/>
          <p:nvPr/>
        </p:nvSpPr>
        <p:spPr>
          <a:xfrm>
            <a:off x="10628133" y="5693203"/>
            <a:ext cx="1317137" cy="318304"/>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5">
            <a:extLst>
              <a:ext uri="{FF2B5EF4-FFF2-40B4-BE49-F238E27FC236}">
                <a16:creationId xmlns:a16="http://schemas.microsoft.com/office/drawing/2014/main" id="{8516D0A0-491C-9680-7C5D-3345C1021839}"/>
              </a:ext>
            </a:extLst>
          </p:cNvPr>
          <p:cNvSpPr/>
          <p:nvPr/>
        </p:nvSpPr>
        <p:spPr>
          <a:xfrm>
            <a:off x="10603101" y="3335696"/>
            <a:ext cx="1317137" cy="294790"/>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7" name="グループ化 6">
            <a:extLst>
              <a:ext uri="{FF2B5EF4-FFF2-40B4-BE49-F238E27FC236}">
                <a16:creationId xmlns:a16="http://schemas.microsoft.com/office/drawing/2014/main" id="{3FE538E4-2223-6431-F1CF-855E00BDA069}"/>
              </a:ext>
            </a:extLst>
          </p:cNvPr>
          <p:cNvGrpSpPr/>
          <p:nvPr/>
        </p:nvGrpSpPr>
        <p:grpSpPr>
          <a:xfrm>
            <a:off x="672770" y="2217744"/>
            <a:ext cx="2966492" cy="4136912"/>
            <a:chOff x="649685" y="1422978"/>
            <a:chExt cx="3383674" cy="4804980"/>
          </a:xfrm>
        </p:grpSpPr>
        <p:pic>
          <p:nvPicPr>
            <p:cNvPr id="8" name="図 7">
              <a:extLst>
                <a:ext uri="{FF2B5EF4-FFF2-40B4-BE49-F238E27FC236}">
                  <a16:creationId xmlns:a16="http://schemas.microsoft.com/office/drawing/2014/main" id="{A462132F-E7F7-CF45-A873-2D1FA19B92C9}"/>
                </a:ext>
              </a:extLst>
            </p:cNvPr>
            <p:cNvPicPr>
              <a:picLocks noChangeAspect="1"/>
            </p:cNvPicPr>
            <p:nvPr/>
          </p:nvPicPr>
          <p:blipFill>
            <a:blip r:embed="rId3"/>
            <a:srcRect/>
            <a:stretch/>
          </p:blipFill>
          <p:spPr>
            <a:xfrm>
              <a:off x="649685" y="1422978"/>
              <a:ext cx="3383674" cy="4804980"/>
            </a:xfrm>
            <a:prstGeom prst="rect">
              <a:avLst/>
            </a:prstGeom>
          </p:spPr>
        </p:pic>
        <p:sp>
          <p:nvSpPr>
            <p:cNvPr id="28" name="Oval 6">
              <a:extLst>
                <a:ext uri="{FF2B5EF4-FFF2-40B4-BE49-F238E27FC236}">
                  <a16:creationId xmlns:a16="http://schemas.microsoft.com/office/drawing/2014/main" id="{7C3E15D9-68B2-E19C-E7C8-D7CD4B650E0C}"/>
                </a:ext>
              </a:extLst>
            </p:cNvPr>
            <p:cNvSpPr/>
            <p:nvPr/>
          </p:nvSpPr>
          <p:spPr>
            <a:xfrm>
              <a:off x="1269322" y="3690529"/>
              <a:ext cx="180163" cy="192372"/>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1500" b="1">
                  <a:solidFill>
                    <a:srgbClr val="FFFFFF"/>
                  </a:solidFill>
                  <a:latin typeface="Noto Sans CJK JP"/>
                </a:rPr>
                <a:t>1</a:t>
              </a:r>
              <a:endParaRPr sz="1500" b="1">
                <a:solidFill>
                  <a:srgbClr val="FFFFFF"/>
                </a:solidFill>
                <a:latin typeface="Noto Sans CJK JP"/>
              </a:endParaRPr>
            </a:p>
          </p:txBody>
        </p:sp>
        <p:sp>
          <p:nvSpPr>
            <p:cNvPr id="43" name="テキスト ボックス 42">
              <a:extLst>
                <a:ext uri="{FF2B5EF4-FFF2-40B4-BE49-F238E27FC236}">
                  <a16:creationId xmlns:a16="http://schemas.microsoft.com/office/drawing/2014/main" id="{83221305-79EF-2CB5-EDF6-B149F6477A1F}"/>
                </a:ext>
              </a:extLst>
            </p:cNvPr>
            <p:cNvSpPr txBox="1"/>
            <p:nvPr/>
          </p:nvSpPr>
          <p:spPr>
            <a:xfrm>
              <a:off x="1235459" y="3899991"/>
              <a:ext cx="744131" cy="294921"/>
            </a:xfrm>
            <a:prstGeom prst="rect">
              <a:avLst/>
            </a:prstGeom>
            <a:noFill/>
          </p:spPr>
          <p:txBody>
            <a:bodyPr wrap="square" rtlCol="0">
              <a:spAutoFit/>
            </a:bodyPr>
            <a:lstStyle/>
            <a:p>
              <a:r>
                <a:rPr kumimoji="1" lang="en-US" altLang="ja-JP" sz="1050"/>
                <a:t>1,98</a:t>
              </a:r>
              <a:r>
                <a:rPr lang="ja-JP" altLang="ja-JP" sz="1050"/>
                <a:t>0㎡</a:t>
              </a:r>
              <a:endParaRPr kumimoji="1" lang="en-US" altLang="ja-JP" sz="1050"/>
            </a:p>
          </p:txBody>
        </p:sp>
        <p:sp>
          <p:nvSpPr>
            <p:cNvPr id="216" name="Oval 6">
              <a:extLst>
                <a:ext uri="{FF2B5EF4-FFF2-40B4-BE49-F238E27FC236}">
                  <a16:creationId xmlns:a16="http://schemas.microsoft.com/office/drawing/2014/main" id="{03DDD7FC-AFC7-1CC9-F6DD-13B41AD7539E}"/>
                </a:ext>
              </a:extLst>
            </p:cNvPr>
            <p:cNvSpPr/>
            <p:nvPr/>
          </p:nvSpPr>
          <p:spPr>
            <a:xfrm>
              <a:off x="841365" y="4591304"/>
              <a:ext cx="180163" cy="192372"/>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1500" b="1">
                  <a:solidFill>
                    <a:srgbClr val="FFFFFF"/>
                  </a:solidFill>
                  <a:latin typeface="Noto Sans CJK JP"/>
                </a:rPr>
                <a:t>3</a:t>
              </a:r>
              <a:endParaRPr sz="1500" b="1">
                <a:solidFill>
                  <a:srgbClr val="FFFFFF"/>
                </a:solidFill>
                <a:latin typeface="Noto Sans CJK JP"/>
              </a:endParaRPr>
            </a:p>
          </p:txBody>
        </p:sp>
        <p:sp>
          <p:nvSpPr>
            <p:cNvPr id="246" name="正方形/長方形 245">
              <a:extLst>
                <a:ext uri="{FF2B5EF4-FFF2-40B4-BE49-F238E27FC236}">
                  <a16:creationId xmlns:a16="http://schemas.microsoft.com/office/drawing/2014/main" id="{590121A2-65D4-44D1-656B-2A5D0D638487}"/>
                </a:ext>
              </a:extLst>
            </p:cNvPr>
            <p:cNvSpPr/>
            <p:nvPr/>
          </p:nvSpPr>
          <p:spPr>
            <a:xfrm rot="21007099">
              <a:off x="1478102" y="2877394"/>
              <a:ext cx="421475" cy="600768"/>
            </a:xfrm>
            <a:prstGeom prst="rect">
              <a:avLst/>
            </a:pr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7" name="正方形/長方形 246">
              <a:extLst>
                <a:ext uri="{FF2B5EF4-FFF2-40B4-BE49-F238E27FC236}">
                  <a16:creationId xmlns:a16="http://schemas.microsoft.com/office/drawing/2014/main" id="{3BB79DDD-3E38-028E-D169-DA1A3620D0DA}"/>
                </a:ext>
              </a:extLst>
            </p:cNvPr>
            <p:cNvSpPr/>
            <p:nvPr/>
          </p:nvSpPr>
          <p:spPr>
            <a:xfrm rot="21007099">
              <a:off x="1286658" y="2931056"/>
              <a:ext cx="272063" cy="1397919"/>
            </a:xfrm>
            <a:custGeom>
              <a:avLst/>
              <a:gdLst>
                <a:gd name="csX0" fmla="*/ 0 w 421475"/>
                <a:gd name="csY0" fmla="*/ 0 h 600768"/>
                <a:gd name="csX1" fmla="*/ 421475 w 421475"/>
                <a:gd name="csY1" fmla="*/ 0 h 600768"/>
                <a:gd name="csX2" fmla="*/ 421475 w 421475"/>
                <a:gd name="csY2" fmla="*/ 600768 h 600768"/>
                <a:gd name="csX3" fmla="*/ 0 w 421475"/>
                <a:gd name="csY3" fmla="*/ 600768 h 600768"/>
                <a:gd name="csX4" fmla="*/ 0 w 421475"/>
                <a:gd name="csY4" fmla="*/ 0 h 600768"/>
                <a:gd name="csX0" fmla="*/ 0 w 421475"/>
                <a:gd name="csY0" fmla="*/ 0 h 1397919"/>
                <a:gd name="csX1" fmla="*/ 421475 w 421475"/>
                <a:gd name="csY1" fmla="*/ 0 h 1397919"/>
                <a:gd name="csX2" fmla="*/ 421475 w 421475"/>
                <a:gd name="csY2" fmla="*/ 600768 h 1397919"/>
                <a:gd name="csX3" fmla="*/ 154414 w 421475"/>
                <a:gd name="csY3" fmla="*/ 1397919 h 1397919"/>
                <a:gd name="csX4" fmla="*/ 0 w 421475"/>
                <a:gd name="csY4" fmla="*/ 0 h 1397919"/>
                <a:gd name="csX0" fmla="*/ 5165 w 267061"/>
                <a:gd name="csY0" fmla="*/ 804496 h 1397919"/>
                <a:gd name="csX1" fmla="*/ 267061 w 267061"/>
                <a:gd name="csY1" fmla="*/ 0 h 1397919"/>
                <a:gd name="csX2" fmla="*/ 267061 w 267061"/>
                <a:gd name="csY2" fmla="*/ 600768 h 1397919"/>
                <a:gd name="csX3" fmla="*/ 0 w 267061"/>
                <a:gd name="csY3" fmla="*/ 1397919 h 1397919"/>
                <a:gd name="csX4" fmla="*/ 5165 w 267061"/>
                <a:gd name="csY4" fmla="*/ 804496 h 1397919"/>
                <a:gd name="csX0" fmla="*/ 238 w 272063"/>
                <a:gd name="csY0" fmla="*/ 805988 h 1397919"/>
                <a:gd name="csX1" fmla="*/ 272063 w 272063"/>
                <a:gd name="csY1" fmla="*/ 0 h 1397919"/>
                <a:gd name="csX2" fmla="*/ 272063 w 272063"/>
                <a:gd name="csY2" fmla="*/ 600768 h 1397919"/>
                <a:gd name="csX3" fmla="*/ 5002 w 272063"/>
                <a:gd name="csY3" fmla="*/ 1397919 h 1397919"/>
                <a:gd name="csX4" fmla="*/ 238 w 272063"/>
                <a:gd name="csY4" fmla="*/ 805988 h 1397919"/>
              </a:gdLst>
              <a:ahLst/>
              <a:cxnLst>
                <a:cxn ang="0">
                  <a:pos x="csX0" y="csY0"/>
                </a:cxn>
                <a:cxn ang="0">
                  <a:pos x="csX1" y="csY1"/>
                </a:cxn>
                <a:cxn ang="0">
                  <a:pos x="csX2" y="csY2"/>
                </a:cxn>
                <a:cxn ang="0">
                  <a:pos x="csX3" y="csY3"/>
                </a:cxn>
                <a:cxn ang="0">
                  <a:pos x="csX4" y="csY4"/>
                </a:cxn>
              </a:cxnLst>
              <a:rect l="l" t="t" r="r" b="b"/>
              <a:pathLst>
                <a:path w="272063" h="1397919">
                  <a:moveTo>
                    <a:pt x="238" y="805988"/>
                  </a:moveTo>
                  <a:lnTo>
                    <a:pt x="272063" y="0"/>
                  </a:lnTo>
                  <a:lnTo>
                    <a:pt x="272063" y="600768"/>
                  </a:lnTo>
                  <a:lnTo>
                    <a:pt x="5002" y="1397919"/>
                  </a:lnTo>
                  <a:cubicBezTo>
                    <a:pt x="6724" y="1200111"/>
                    <a:pt x="-1484" y="1003796"/>
                    <a:pt x="238" y="805988"/>
                  </a:cubicBezTo>
                  <a:close/>
                </a:path>
              </a:pathLst>
            </a:cu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8" name="正方形/長方形 246">
              <a:extLst>
                <a:ext uri="{FF2B5EF4-FFF2-40B4-BE49-F238E27FC236}">
                  <a16:creationId xmlns:a16="http://schemas.microsoft.com/office/drawing/2014/main" id="{44C8F8CA-9CF7-FCD1-5225-5D9032EA4C77}"/>
                </a:ext>
              </a:extLst>
            </p:cNvPr>
            <p:cNvSpPr/>
            <p:nvPr/>
          </p:nvSpPr>
          <p:spPr>
            <a:xfrm rot="21007099">
              <a:off x="1700558" y="2853614"/>
              <a:ext cx="272063" cy="1397919"/>
            </a:xfrm>
            <a:custGeom>
              <a:avLst/>
              <a:gdLst>
                <a:gd name="csX0" fmla="*/ 0 w 421475"/>
                <a:gd name="csY0" fmla="*/ 0 h 600768"/>
                <a:gd name="csX1" fmla="*/ 421475 w 421475"/>
                <a:gd name="csY1" fmla="*/ 0 h 600768"/>
                <a:gd name="csX2" fmla="*/ 421475 w 421475"/>
                <a:gd name="csY2" fmla="*/ 600768 h 600768"/>
                <a:gd name="csX3" fmla="*/ 0 w 421475"/>
                <a:gd name="csY3" fmla="*/ 600768 h 600768"/>
                <a:gd name="csX4" fmla="*/ 0 w 421475"/>
                <a:gd name="csY4" fmla="*/ 0 h 600768"/>
                <a:gd name="csX0" fmla="*/ 0 w 421475"/>
                <a:gd name="csY0" fmla="*/ 0 h 1397919"/>
                <a:gd name="csX1" fmla="*/ 421475 w 421475"/>
                <a:gd name="csY1" fmla="*/ 0 h 1397919"/>
                <a:gd name="csX2" fmla="*/ 421475 w 421475"/>
                <a:gd name="csY2" fmla="*/ 600768 h 1397919"/>
                <a:gd name="csX3" fmla="*/ 154414 w 421475"/>
                <a:gd name="csY3" fmla="*/ 1397919 h 1397919"/>
                <a:gd name="csX4" fmla="*/ 0 w 421475"/>
                <a:gd name="csY4" fmla="*/ 0 h 1397919"/>
                <a:gd name="csX0" fmla="*/ 5165 w 267061"/>
                <a:gd name="csY0" fmla="*/ 804496 h 1397919"/>
                <a:gd name="csX1" fmla="*/ 267061 w 267061"/>
                <a:gd name="csY1" fmla="*/ 0 h 1397919"/>
                <a:gd name="csX2" fmla="*/ 267061 w 267061"/>
                <a:gd name="csY2" fmla="*/ 600768 h 1397919"/>
                <a:gd name="csX3" fmla="*/ 0 w 267061"/>
                <a:gd name="csY3" fmla="*/ 1397919 h 1397919"/>
                <a:gd name="csX4" fmla="*/ 5165 w 267061"/>
                <a:gd name="csY4" fmla="*/ 804496 h 1397919"/>
                <a:gd name="csX0" fmla="*/ 238 w 272063"/>
                <a:gd name="csY0" fmla="*/ 805988 h 1397919"/>
                <a:gd name="csX1" fmla="*/ 272063 w 272063"/>
                <a:gd name="csY1" fmla="*/ 0 h 1397919"/>
                <a:gd name="csX2" fmla="*/ 272063 w 272063"/>
                <a:gd name="csY2" fmla="*/ 600768 h 1397919"/>
                <a:gd name="csX3" fmla="*/ 5002 w 272063"/>
                <a:gd name="csY3" fmla="*/ 1397919 h 1397919"/>
                <a:gd name="csX4" fmla="*/ 238 w 272063"/>
                <a:gd name="csY4" fmla="*/ 805988 h 1397919"/>
              </a:gdLst>
              <a:ahLst/>
              <a:cxnLst>
                <a:cxn ang="0">
                  <a:pos x="csX0" y="csY0"/>
                </a:cxn>
                <a:cxn ang="0">
                  <a:pos x="csX1" y="csY1"/>
                </a:cxn>
                <a:cxn ang="0">
                  <a:pos x="csX2" y="csY2"/>
                </a:cxn>
                <a:cxn ang="0">
                  <a:pos x="csX3" y="csY3"/>
                </a:cxn>
                <a:cxn ang="0">
                  <a:pos x="csX4" y="csY4"/>
                </a:cxn>
              </a:cxnLst>
              <a:rect l="l" t="t" r="r" b="b"/>
              <a:pathLst>
                <a:path w="272063" h="1397919">
                  <a:moveTo>
                    <a:pt x="238" y="805988"/>
                  </a:moveTo>
                  <a:lnTo>
                    <a:pt x="272063" y="0"/>
                  </a:lnTo>
                  <a:lnTo>
                    <a:pt x="272063" y="600768"/>
                  </a:lnTo>
                  <a:lnTo>
                    <a:pt x="5002" y="1397919"/>
                  </a:lnTo>
                  <a:cubicBezTo>
                    <a:pt x="6724" y="1200111"/>
                    <a:pt x="-1484" y="1003796"/>
                    <a:pt x="238" y="805988"/>
                  </a:cubicBezTo>
                  <a:close/>
                </a:path>
              </a:pathLst>
            </a:cu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3" name="正方形/長方形 252">
              <a:extLst>
                <a:ext uri="{FF2B5EF4-FFF2-40B4-BE49-F238E27FC236}">
                  <a16:creationId xmlns:a16="http://schemas.microsoft.com/office/drawing/2014/main" id="{E2F33600-DD06-438F-8FBD-AF8766AD0814}"/>
                </a:ext>
              </a:extLst>
            </p:cNvPr>
            <p:cNvSpPr/>
            <p:nvPr/>
          </p:nvSpPr>
          <p:spPr>
            <a:xfrm rot="21007099">
              <a:off x="1342753" y="3495540"/>
              <a:ext cx="684421" cy="808641"/>
            </a:xfrm>
            <a:custGeom>
              <a:avLst/>
              <a:gdLst>
                <a:gd name="csX0" fmla="*/ 0 w 421475"/>
                <a:gd name="csY0" fmla="*/ 0 h 600768"/>
                <a:gd name="csX1" fmla="*/ 421475 w 421475"/>
                <a:gd name="csY1" fmla="*/ 0 h 600768"/>
                <a:gd name="csX2" fmla="*/ 421475 w 421475"/>
                <a:gd name="csY2" fmla="*/ 600768 h 600768"/>
                <a:gd name="csX3" fmla="*/ 0 w 421475"/>
                <a:gd name="csY3" fmla="*/ 600768 h 600768"/>
                <a:gd name="csX4" fmla="*/ 0 w 421475"/>
                <a:gd name="csY4" fmla="*/ 0 h 600768"/>
                <a:gd name="csX0" fmla="*/ 262946 w 684421"/>
                <a:gd name="csY0" fmla="*/ 0 h 796674"/>
                <a:gd name="csX1" fmla="*/ 684421 w 684421"/>
                <a:gd name="csY1" fmla="*/ 0 h 796674"/>
                <a:gd name="csX2" fmla="*/ 684421 w 684421"/>
                <a:gd name="csY2" fmla="*/ 600768 h 796674"/>
                <a:gd name="csX3" fmla="*/ 0 w 684421"/>
                <a:gd name="csY3" fmla="*/ 796674 h 796674"/>
                <a:gd name="csX4" fmla="*/ 262946 w 684421"/>
                <a:gd name="csY4" fmla="*/ 0 h 796674"/>
                <a:gd name="csX0" fmla="*/ 262946 w 684421"/>
                <a:gd name="csY0" fmla="*/ 0 h 808641"/>
                <a:gd name="csX1" fmla="*/ 684421 w 684421"/>
                <a:gd name="csY1" fmla="*/ 0 h 808641"/>
                <a:gd name="csX2" fmla="*/ 416167 w 684421"/>
                <a:gd name="csY2" fmla="*/ 808641 h 808641"/>
                <a:gd name="csX3" fmla="*/ 0 w 684421"/>
                <a:gd name="csY3" fmla="*/ 796674 h 808641"/>
                <a:gd name="csX4" fmla="*/ 262946 w 684421"/>
                <a:gd name="csY4" fmla="*/ 0 h 808641"/>
              </a:gdLst>
              <a:ahLst/>
              <a:cxnLst>
                <a:cxn ang="0">
                  <a:pos x="csX0" y="csY0"/>
                </a:cxn>
                <a:cxn ang="0">
                  <a:pos x="csX1" y="csY1"/>
                </a:cxn>
                <a:cxn ang="0">
                  <a:pos x="csX2" y="csY2"/>
                </a:cxn>
                <a:cxn ang="0">
                  <a:pos x="csX3" y="csY3"/>
                </a:cxn>
                <a:cxn ang="0">
                  <a:pos x="csX4" y="csY4"/>
                </a:cxn>
              </a:cxnLst>
              <a:rect l="l" t="t" r="r" b="b"/>
              <a:pathLst>
                <a:path w="684421" h="808641">
                  <a:moveTo>
                    <a:pt x="262946" y="0"/>
                  </a:moveTo>
                  <a:lnTo>
                    <a:pt x="684421" y="0"/>
                  </a:lnTo>
                  <a:lnTo>
                    <a:pt x="416167" y="808641"/>
                  </a:lnTo>
                  <a:lnTo>
                    <a:pt x="0" y="796674"/>
                  </a:lnTo>
                  <a:lnTo>
                    <a:pt x="262946" y="0"/>
                  </a:lnTo>
                  <a:close/>
                </a:path>
              </a:pathLst>
            </a:cu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4" name="テキスト ボックス 253">
              <a:extLst>
                <a:ext uri="{FF2B5EF4-FFF2-40B4-BE49-F238E27FC236}">
                  <a16:creationId xmlns:a16="http://schemas.microsoft.com/office/drawing/2014/main" id="{8DC170C1-D01B-2C8A-7D9A-74C5DB4C4EDF}"/>
                </a:ext>
              </a:extLst>
            </p:cNvPr>
            <p:cNvSpPr txBox="1"/>
            <p:nvPr/>
          </p:nvSpPr>
          <p:spPr>
            <a:xfrm>
              <a:off x="1303390" y="3058820"/>
              <a:ext cx="770137" cy="321731"/>
            </a:xfrm>
            <a:prstGeom prst="rect">
              <a:avLst/>
            </a:prstGeom>
            <a:noFill/>
          </p:spPr>
          <p:txBody>
            <a:bodyPr wrap="none" rtlCol="0">
              <a:spAutoFit/>
            </a:bodyPr>
            <a:lstStyle/>
            <a:p>
              <a:r>
                <a:rPr kumimoji="1" lang="en-US" altLang="ja-JP" sz="1200"/>
                <a:t>25 floor</a:t>
              </a:r>
              <a:endParaRPr kumimoji="1" lang="ja-JP" altLang="en-US" sz="1200"/>
            </a:p>
          </p:txBody>
        </p:sp>
        <p:sp>
          <p:nvSpPr>
            <p:cNvPr id="243" name="Oval 6">
              <a:extLst>
                <a:ext uri="{FF2B5EF4-FFF2-40B4-BE49-F238E27FC236}">
                  <a16:creationId xmlns:a16="http://schemas.microsoft.com/office/drawing/2014/main" id="{B97AF7DC-AAF8-7323-CDCC-FDAD3BA8C4F9}"/>
                </a:ext>
              </a:extLst>
            </p:cNvPr>
            <p:cNvSpPr/>
            <p:nvPr/>
          </p:nvSpPr>
          <p:spPr>
            <a:xfrm>
              <a:off x="1449200" y="2821894"/>
              <a:ext cx="180163" cy="192372"/>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1500" b="1">
                  <a:solidFill>
                    <a:srgbClr val="FFFFFF"/>
                  </a:solidFill>
                  <a:latin typeface="Noto Sans CJK JP"/>
                </a:rPr>
                <a:t>2</a:t>
              </a:r>
              <a:endParaRPr sz="1500" b="1">
                <a:solidFill>
                  <a:srgbClr val="FFFFFF"/>
                </a:solidFill>
                <a:latin typeface="Noto Sans CJK JP"/>
              </a:endParaRPr>
            </a:p>
          </p:txBody>
        </p:sp>
        <p:sp>
          <p:nvSpPr>
            <p:cNvPr id="129" name="フリーフォーム 128">
              <a:extLst>
                <a:ext uri="{FF2B5EF4-FFF2-40B4-BE49-F238E27FC236}">
                  <a16:creationId xmlns:a16="http://schemas.microsoft.com/office/drawing/2014/main" id="{CD92FC51-FADD-C671-F95E-729259A81831}"/>
                </a:ext>
              </a:extLst>
            </p:cNvPr>
            <p:cNvSpPr/>
            <p:nvPr/>
          </p:nvSpPr>
          <p:spPr>
            <a:xfrm>
              <a:off x="1614076" y="3425050"/>
              <a:ext cx="647927" cy="904330"/>
            </a:xfrm>
            <a:custGeom>
              <a:avLst/>
              <a:gdLst>
                <a:gd name="csX0" fmla="*/ 654689 w 654689"/>
                <a:gd name="csY0" fmla="*/ 0 h 302996"/>
                <a:gd name="csX1" fmla="*/ 0 w 654689"/>
                <a:gd name="csY1" fmla="*/ 124445 h 302996"/>
                <a:gd name="csX2" fmla="*/ 21643 w 654689"/>
                <a:gd name="csY2" fmla="*/ 302996 h 302996"/>
                <a:gd name="csX0" fmla="*/ 654689 w 654689"/>
                <a:gd name="csY0" fmla="*/ 0 h 389741"/>
                <a:gd name="csX1" fmla="*/ 0 w 654689"/>
                <a:gd name="csY1" fmla="*/ 124445 h 389741"/>
                <a:gd name="csX2" fmla="*/ 40986 w 654689"/>
                <a:gd name="csY2" fmla="*/ 389741 h 389741"/>
                <a:gd name="csX0" fmla="*/ 657913 w 657913"/>
                <a:gd name="csY0" fmla="*/ 0 h 389741"/>
                <a:gd name="csX1" fmla="*/ 0 w 657913"/>
                <a:gd name="csY1" fmla="*/ 127781 h 389741"/>
                <a:gd name="csX2" fmla="*/ 44210 w 657913"/>
                <a:gd name="csY2" fmla="*/ 389741 h 389741"/>
                <a:gd name="csX0" fmla="*/ 657913 w 657913"/>
                <a:gd name="csY0" fmla="*/ 0 h 950284"/>
                <a:gd name="csX1" fmla="*/ 0 w 657913"/>
                <a:gd name="csY1" fmla="*/ 127781 h 950284"/>
                <a:gd name="csX2" fmla="*/ 135262 w 657913"/>
                <a:gd name="csY2" fmla="*/ 950284 h 950284"/>
              </a:gdLst>
              <a:ahLst/>
              <a:cxnLst>
                <a:cxn ang="0">
                  <a:pos x="csX0" y="csY0"/>
                </a:cxn>
                <a:cxn ang="0">
                  <a:pos x="csX1" y="csY1"/>
                </a:cxn>
                <a:cxn ang="0">
                  <a:pos x="csX2" y="csY2"/>
                </a:cxn>
              </a:cxnLst>
              <a:rect l="l" t="t" r="r" b="b"/>
              <a:pathLst>
                <a:path w="657913" h="950284">
                  <a:moveTo>
                    <a:pt x="657913" y="0"/>
                  </a:moveTo>
                  <a:lnTo>
                    <a:pt x="0" y="127781"/>
                  </a:lnTo>
                  <a:cubicBezTo>
                    <a:pt x="7214" y="187298"/>
                    <a:pt x="128048" y="890767"/>
                    <a:pt x="135262" y="950284"/>
                  </a:cubicBezTo>
                </a:path>
              </a:pathLst>
            </a:custGeom>
            <a:noFill/>
            <a:ln w="38100">
              <a:solidFill>
                <a:srgbClr val="F2B3ED"/>
              </a:solidFill>
              <a:tailEnd type="triangle"/>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1" name="フリーフォーム 130">
              <a:extLst>
                <a:ext uri="{FF2B5EF4-FFF2-40B4-BE49-F238E27FC236}">
                  <a16:creationId xmlns:a16="http://schemas.microsoft.com/office/drawing/2014/main" id="{C09B888A-813C-B25A-348E-FE2CB16ADE60}"/>
                </a:ext>
              </a:extLst>
            </p:cNvPr>
            <p:cNvSpPr/>
            <p:nvPr/>
          </p:nvSpPr>
          <p:spPr>
            <a:xfrm>
              <a:off x="1716137" y="3610497"/>
              <a:ext cx="887248" cy="842965"/>
            </a:xfrm>
            <a:custGeom>
              <a:avLst/>
              <a:gdLst>
                <a:gd name="csX0" fmla="*/ 773723 w 773723"/>
                <a:gd name="csY0" fmla="*/ 56271 h 196948"/>
                <a:gd name="csX1" fmla="*/ 28135 w 773723"/>
                <a:gd name="csY1" fmla="*/ 196948 h 196948"/>
                <a:gd name="csX2" fmla="*/ 0 w 773723"/>
                <a:gd name="csY2" fmla="*/ 0 h 196948"/>
                <a:gd name="csX0" fmla="*/ 802298 w 802298"/>
                <a:gd name="csY0" fmla="*/ 183271 h 323948"/>
                <a:gd name="csX1" fmla="*/ 56710 w 802298"/>
                <a:gd name="csY1" fmla="*/ 323948 h 323948"/>
                <a:gd name="csX2" fmla="*/ 0 w 802298"/>
                <a:gd name="csY2" fmla="*/ 0 h 323948"/>
                <a:gd name="csX0" fmla="*/ 896686 w 896686"/>
                <a:gd name="csY0" fmla="*/ 750347 h 891024"/>
                <a:gd name="csX1" fmla="*/ 151098 w 896686"/>
                <a:gd name="csY1" fmla="*/ 891024 h 891024"/>
                <a:gd name="csX2" fmla="*/ 0 w 896686"/>
                <a:gd name="csY2" fmla="*/ 0 h 891024"/>
                <a:gd name="csX0" fmla="*/ 887247 w 887247"/>
                <a:gd name="csY0" fmla="*/ 702289 h 842966"/>
                <a:gd name="csX1" fmla="*/ 141659 w 887247"/>
                <a:gd name="csY1" fmla="*/ 842966 h 842966"/>
                <a:gd name="csX2" fmla="*/ 0 w 887247"/>
                <a:gd name="csY2" fmla="*/ 0 h 842966"/>
              </a:gdLst>
              <a:ahLst/>
              <a:cxnLst>
                <a:cxn ang="0">
                  <a:pos x="csX0" y="csY0"/>
                </a:cxn>
                <a:cxn ang="0">
                  <a:pos x="csX1" y="csY1"/>
                </a:cxn>
                <a:cxn ang="0">
                  <a:pos x="csX2" y="csY2"/>
                </a:cxn>
              </a:cxnLst>
              <a:rect l="l" t="t" r="r" b="b"/>
              <a:pathLst>
                <a:path w="887247" h="842966">
                  <a:moveTo>
                    <a:pt x="887247" y="702289"/>
                  </a:moveTo>
                  <a:lnTo>
                    <a:pt x="141659" y="842966"/>
                  </a:lnTo>
                  <a:cubicBezTo>
                    <a:pt x="132281" y="777317"/>
                    <a:pt x="9378" y="65649"/>
                    <a:pt x="0" y="0"/>
                  </a:cubicBezTo>
                </a:path>
              </a:pathLst>
            </a:custGeom>
            <a:noFill/>
            <a:ln w="38100">
              <a:solidFill>
                <a:srgbClr val="F2B3ED"/>
              </a:solidFill>
              <a:tailEnd type="triangle"/>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1" name="フリーフォーム 180">
              <a:extLst>
                <a:ext uri="{FF2B5EF4-FFF2-40B4-BE49-F238E27FC236}">
                  <a16:creationId xmlns:a16="http://schemas.microsoft.com/office/drawing/2014/main" id="{99BC6C34-D071-985E-57C9-1F483F78C3DC}"/>
                </a:ext>
              </a:extLst>
            </p:cNvPr>
            <p:cNvSpPr/>
            <p:nvPr/>
          </p:nvSpPr>
          <p:spPr>
            <a:xfrm>
              <a:off x="756168" y="3546416"/>
              <a:ext cx="838200" cy="311150"/>
            </a:xfrm>
            <a:custGeom>
              <a:avLst/>
              <a:gdLst>
                <a:gd name="csX0" fmla="*/ 838200 w 838200"/>
                <a:gd name="csY0" fmla="*/ 0 h 311150"/>
                <a:gd name="csX1" fmla="*/ 415925 w 838200"/>
                <a:gd name="csY1" fmla="*/ 82550 h 311150"/>
                <a:gd name="csX2" fmla="*/ 0 w 838200"/>
                <a:gd name="csY2" fmla="*/ 311150 h 311150"/>
              </a:gdLst>
              <a:ahLst/>
              <a:cxnLst>
                <a:cxn ang="0">
                  <a:pos x="csX0" y="csY0"/>
                </a:cxn>
                <a:cxn ang="0">
                  <a:pos x="csX1" y="csY1"/>
                </a:cxn>
                <a:cxn ang="0">
                  <a:pos x="csX2" y="csY2"/>
                </a:cxn>
              </a:cxnLst>
              <a:rect l="l" t="t" r="r" b="b"/>
              <a:pathLst>
                <a:path w="838200" h="311150">
                  <a:moveTo>
                    <a:pt x="838200" y="0"/>
                  </a:moveTo>
                  <a:lnTo>
                    <a:pt x="415925" y="82550"/>
                  </a:lnTo>
                  <a:lnTo>
                    <a:pt x="0" y="311150"/>
                  </a:lnTo>
                </a:path>
              </a:pathLst>
            </a:custGeom>
            <a:noFill/>
            <a:ln w="38100">
              <a:solidFill>
                <a:srgbClr val="F2B3ED"/>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4" name="Oval 6">
              <a:extLst>
                <a:ext uri="{FF2B5EF4-FFF2-40B4-BE49-F238E27FC236}">
                  <a16:creationId xmlns:a16="http://schemas.microsoft.com/office/drawing/2014/main" id="{A911328C-EC46-2092-B036-735EBD8B6AF9}"/>
                </a:ext>
              </a:extLst>
            </p:cNvPr>
            <p:cNvSpPr/>
            <p:nvPr/>
          </p:nvSpPr>
          <p:spPr>
            <a:xfrm>
              <a:off x="2368253" y="4266909"/>
              <a:ext cx="180163" cy="192372"/>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b="1">
                  <a:solidFill>
                    <a:srgbClr val="FFFFFF"/>
                  </a:solidFill>
                  <a:latin typeface="Noto Sans CJK JP"/>
                </a:rPr>
                <a:t>4</a:t>
              </a:r>
              <a:endParaRPr sz="1500" b="1">
                <a:solidFill>
                  <a:srgbClr val="FFFFFF"/>
                </a:solidFill>
                <a:latin typeface="Noto Sans CJK JP"/>
              </a:endParaRPr>
            </a:p>
          </p:txBody>
        </p:sp>
      </p:grpSp>
      <p:sp>
        <p:nvSpPr>
          <p:cNvPr id="2" name="タイトル 1">
            <a:extLst>
              <a:ext uri="{FF2B5EF4-FFF2-40B4-BE49-F238E27FC236}">
                <a16:creationId xmlns:a16="http://schemas.microsoft.com/office/drawing/2014/main" id="{3DB7D953-961A-0C86-23D5-190D3A58FD1A}"/>
              </a:ext>
            </a:extLst>
          </p:cNvPr>
          <p:cNvSpPr>
            <a:spLocks noGrp="1"/>
          </p:cNvSpPr>
          <p:nvPr>
            <p:ph type="title"/>
          </p:nvPr>
        </p:nvSpPr>
        <p:spPr>
          <a:xfrm>
            <a:off x="189866" y="0"/>
            <a:ext cx="9296996" cy="908720"/>
          </a:xfrm>
        </p:spPr>
        <p:txBody>
          <a:bodyPr anchor="ctr"/>
          <a:lstStyle/>
          <a:p>
            <a:r>
              <a:rPr lang="en" altLang="ja-JP"/>
              <a:t>Overview of Initiatives for the First Three Months</a:t>
            </a:r>
            <a:br>
              <a:rPr lang="en" altLang="ja-JP"/>
            </a:br>
            <a:r>
              <a:rPr lang="en" altLang="ja-JP"/>
              <a:t>(2Q: July–September)</a:t>
            </a:r>
            <a:endParaRPr kumimoji="1" lang="ja-JP" altLang="en-US">
              <a:latin typeface="HGMinchoE" panose="02020909000000000000" pitchFamily="49" charset="-128"/>
              <a:ea typeface="HGMinchoE" panose="02020909000000000000" pitchFamily="49" charset="-128"/>
            </a:endParaRPr>
          </a:p>
        </p:txBody>
      </p:sp>
      <p:sp>
        <p:nvSpPr>
          <p:cNvPr id="3" name="コンテンツ プレースホルダー 2">
            <a:extLst>
              <a:ext uri="{FF2B5EF4-FFF2-40B4-BE49-F238E27FC236}">
                <a16:creationId xmlns:a16="http://schemas.microsoft.com/office/drawing/2014/main" id="{A421FFD3-CB16-2746-79BA-7F60972841E4}"/>
              </a:ext>
            </a:extLst>
          </p:cNvPr>
          <p:cNvSpPr>
            <a:spLocks noGrp="1"/>
          </p:cNvSpPr>
          <p:nvPr>
            <p:ph idx="1"/>
          </p:nvPr>
        </p:nvSpPr>
        <p:spPr>
          <a:xfrm>
            <a:off x="597136" y="1041383"/>
            <a:ext cx="5726114" cy="404645"/>
          </a:xfrm>
        </p:spPr>
        <p:txBody>
          <a:bodyPr>
            <a:normAutofit fontScale="85000" lnSpcReduction="10000"/>
          </a:bodyPr>
          <a:lstStyle/>
          <a:p>
            <a:pPr marL="0" indent="0">
              <a:buNone/>
            </a:pPr>
            <a:r>
              <a:rPr lang="en-US" altLang="ja-JP" b="1"/>
              <a:t>1. Refining the draft plan through dialogue with the LLM</a:t>
            </a:r>
            <a:endParaRPr kumimoji="1" lang="ja-JP" altLang="en-US"/>
          </a:p>
        </p:txBody>
      </p:sp>
      <p:sp>
        <p:nvSpPr>
          <p:cNvPr id="4" name="日付プレースホルダー 3">
            <a:extLst>
              <a:ext uri="{FF2B5EF4-FFF2-40B4-BE49-F238E27FC236}">
                <a16:creationId xmlns:a16="http://schemas.microsoft.com/office/drawing/2014/main" id="{1E37C397-1E3C-9C60-59D6-15235091DE13}"/>
              </a:ext>
            </a:extLst>
          </p:cNvPr>
          <p:cNvSpPr>
            <a:spLocks noGrp="1"/>
          </p:cNvSpPr>
          <p:nvPr>
            <p:ph type="dt" sz="half" idx="10"/>
          </p:nvPr>
        </p:nvSpPr>
        <p:spPr/>
        <p:txBody>
          <a:bodyPr/>
          <a:lstStyle/>
          <a:p>
            <a:r>
              <a:rPr lang="en-US" altLang="ja-JP"/>
              <a:t>2026/6</a:t>
            </a:r>
            <a:endParaRPr kumimoji="1" lang="ja-JP" altLang="en-US"/>
          </a:p>
        </p:txBody>
      </p:sp>
      <p:sp>
        <p:nvSpPr>
          <p:cNvPr id="5" name="フッター プレースホルダー 4">
            <a:extLst>
              <a:ext uri="{FF2B5EF4-FFF2-40B4-BE49-F238E27FC236}">
                <a16:creationId xmlns:a16="http://schemas.microsoft.com/office/drawing/2014/main" id="{DB185221-EB95-DE46-5DC4-E5E697994A18}"/>
              </a:ext>
            </a:extLst>
          </p:cNvPr>
          <p:cNvSpPr>
            <a:spLocks noGrp="1"/>
          </p:cNvSpPr>
          <p:nvPr>
            <p:ph type="ftr" sz="quarter" idx="11"/>
          </p:nvPr>
        </p:nvSpPr>
        <p:spPr/>
        <p:txBody>
          <a:bodyPr/>
          <a:lstStyle/>
          <a:p>
            <a:r>
              <a:rPr kumimoji="1" lang="ja-JP" altLang="en-US"/>
              <a:t>関本・中居研究室</a:t>
            </a:r>
          </a:p>
        </p:txBody>
      </p:sp>
      <p:sp>
        <p:nvSpPr>
          <p:cNvPr id="6" name="スライド番号プレースホルダー 5">
            <a:extLst>
              <a:ext uri="{FF2B5EF4-FFF2-40B4-BE49-F238E27FC236}">
                <a16:creationId xmlns:a16="http://schemas.microsoft.com/office/drawing/2014/main" id="{B3B91617-188B-FF7B-A976-7F171DEB4A95}"/>
              </a:ext>
            </a:extLst>
          </p:cNvPr>
          <p:cNvSpPr>
            <a:spLocks noGrp="1"/>
          </p:cNvSpPr>
          <p:nvPr>
            <p:ph type="sldNum" sz="quarter" idx="12"/>
          </p:nvPr>
        </p:nvSpPr>
        <p:spPr/>
        <p:txBody>
          <a:bodyPr/>
          <a:lstStyle/>
          <a:p>
            <a:fld id="{6539E37A-E522-3D47-AAB7-DDF67C94A05D}" type="slidenum">
              <a:rPr lang="en-US" altLang="ja-JP"/>
              <a:t>2</a:t>
            </a:fld>
            <a:endParaRPr kumimoji="1" lang="ja-JP" altLang="en-US"/>
          </a:p>
        </p:txBody>
      </p:sp>
      <p:sp>
        <p:nvSpPr>
          <p:cNvPr id="11" name="TextBox 79">
            <a:extLst>
              <a:ext uri="{FF2B5EF4-FFF2-40B4-BE49-F238E27FC236}">
                <a16:creationId xmlns:a16="http://schemas.microsoft.com/office/drawing/2014/main" id="{A6D76D41-1471-FD8B-01C8-FE305D7C917A}"/>
              </a:ext>
            </a:extLst>
          </p:cNvPr>
          <p:cNvSpPr txBox="1"/>
          <p:nvPr/>
        </p:nvSpPr>
        <p:spPr>
          <a:xfrm>
            <a:off x="975664" y="1381050"/>
            <a:ext cx="7450883" cy="486287"/>
          </a:xfrm>
          <a:prstGeom prst="rect">
            <a:avLst/>
          </a:prstGeom>
          <a:noFill/>
          <a:ln>
            <a:noFill/>
          </a:ln>
        </p:spPr>
        <p:txBody>
          <a:bodyPr wrap="square" lIns="36576" tIns="36576" rIns="36576" bIns="36576" anchor="t">
            <a:spAutoFit/>
          </a:bodyPr>
          <a:lstStyle/>
          <a:p>
            <a:r>
              <a:rPr lang="en" sz="1340" b="1">
                <a:solidFill>
                  <a:schemeClr val="bg2">
                    <a:lumMod val="10000"/>
                  </a:schemeClr>
                </a:solidFill>
                <a:latin typeface="Noto Sans CJK JP"/>
              </a:rPr>
              <a:t>Through dialogue with the LLM, the development concept is gradually converted into the parameters necessary for predicting pedestrian flow.</a:t>
            </a:r>
            <a:endParaRPr lang="ja-JP" altLang="en-US" sz="1340" b="1">
              <a:solidFill>
                <a:schemeClr val="bg2">
                  <a:lumMod val="10000"/>
                </a:schemeClr>
              </a:solidFill>
              <a:latin typeface="Noto Sans CJK JP"/>
            </a:endParaRPr>
          </a:p>
        </p:txBody>
      </p:sp>
      <p:sp>
        <p:nvSpPr>
          <p:cNvPr id="12" name="Rounded Rectangle 5">
            <a:extLst>
              <a:ext uri="{FF2B5EF4-FFF2-40B4-BE49-F238E27FC236}">
                <a16:creationId xmlns:a16="http://schemas.microsoft.com/office/drawing/2014/main" id="{AD297800-830A-8224-51EB-6C7132C8F991}"/>
              </a:ext>
            </a:extLst>
          </p:cNvPr>
          <p:cNvSpPr/>
          <p:nvPr/>
        </p:nvSpPr>
        <p:spPr>
          <a:xfrm>
            <a:off x="4088689" y="1933900"/>
            <a:ext cx="3056518" cy="1817418"/>
          </a:xfrm>
          <a:prstGeom prst="roundRect">
            <a:avLst>
              <a:gd name="adj" fmla="val 9000"/>
            </a:avLst>
          </a:prstGeom>
          <a:solidFill>
            <a:srgbClr val="E5E97E">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6">
            <a:extLst>
              <a:ext uri="{FF2B5EF4-FFF2-40B4-BE49-F238E27FC236}">
                <a16:creationId xmlns:a16="http://schemas.microsoft.com/office/drawing/2014/main" id="{A94F91C9-6AAF-3928-51C1-B3F22EB6C263}"/>
              </a:ext>
            </a:extLst>
          </p:cNvPr>
          <p:cNvSpPr/>
          <p:nvPr/>
        </p:nvSpPr>
        <p:spPr>
          <a:xfrm>
            <a:off x="4171902" y="1975625"/>
            <a:ext cx="329184" cy="329184"/>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1500" b="1">
                <a:solidFill>
                  <a:srgbClr val="FFFFFF"/>
                </a:solidFill>
                <a:latin typeface="Noto Sans CJK JP"/>
              </a:rPr>
              <a:t>1</a:t>
            </a:r>
            <a:endParaRPr sz="1500" b="1">
              <a:solidFill>
                <a:srgbClr val="FFFFFF"/>
              </a:solidFill>
              <a:latin typeface="Noto Sans CJK JP"/>
            </a:endParaRPr>
          </a:p>
        </p:txBody>
      </p:sp>
      <p:sp>
        <p:nvSpPr>
          <p:cNvPr id="14" name="TextBox 7">
            <a:extLst>
              <a:ext uri="{FF2B5EF4-FFF2-40B4-BE49-F238E27FC236}">
                <a16:creationId xmlns:a16="http://schemas.microsoft.com/office/drawing/2014/main" id="{56A6C7B2-6281-21A7-E8F4-53405DA8428F}"/>
              </a:ext>
            </a:extLst>
          </p:cNvPr>
          <p:cNvSpPr txBox="1"/>
          <p:nvPr/>
        </p:nvSpPr>
        <p:spPr>
          <a:xfrm>
            <a:off x="4527641" y="1985510"/>
            <a:ext cx="2668459" cy="320088"/>
          </a:xfrm>
          <a:prstGeom prst="roundRect">
            <a:avLst/>
          </a:prstGeom>
          <a:noFill/>
          <a:ln>
            <a:noFill/>
          </a:ln>
        </p:spPr>
        <p:txBody>
          <a:bodyPr wrap="square" lIns="36576" tIns="36576" rIns="36576" bIns="36576" anchor="t">
            <a:spAutoFit/>
          </a:bodyPr>
          <a:lstStyle/>
          <a:p>
            <a:r>
              <a:rPr lang="en" sz="1400" b="1">
                <a:solidFill>
                  <a:srgbClr val="0B2B5B"/>
                </a:solidFill>
                <a:latin typeface="Noto Sans CJK JP"/>
              </a:rPr>
              <a:t>Organizing the Target Area</a:t>
            </a:r>
            <a:endParaRPr sz="1400" b="1">
              <a:solidFill>
                <a:srgbClr val="0B2B5B"/>
              </a:solidFill>
              <a:latin typeface="Noto Sans CJK JP"/>
            </a:endParaRPr>
          </a:p>
        </p:txBody>
      </p:sp>
      <p:grpSp>
        <p:nvGrpSpPr>
          <p:cNvPr id="46" name="グループ化 45">
            <a:extLst>
              <a:ext uri="{FF2B5EF4-FFF2-40B4-BE49-F238E27FC236}">
                <a16:creationId xmlns:a16="http://schemas.microsoft.com/office/drawing/2014/main" id="{F73FAA5E-B6EF-8059-ED04-C07754BF4CA3}"/>
              </a:ext>
            </a:extLst>
          </p:cNvPr>
          <p:cNvGrpSpPr/>
          <p:nvPr/>
        </p:nvGrpSpPr>
        <p:grpSpPr>
          <a:xfrm>
            <a:off x="4099944" y="3783686"/>
            <a:ext cx="3056518" cy="2572664"/>
            <a:chOff x="7185801" y="1620805"/>
            <a:chExt cx="3034007" cy="2572664"/>
          </a:xfrm>
        </p:grpSpPr>
        <p:sp>
          <p:nvSpPr>
            <p:cNvPr id="15" name="Rounded Rectangle 5">
              <a:extLst>
                <a:ext uri="{FF2B5EF4-FFF2-40B4-BE49-F238E27FC236}">
                  <a16:creationId xmlns:a16="http://schemas.microsoft.com/office/drawing/2014/main" id="{33F500D9-CF9C-5B34-C4C6-099286B7D9CE}"/>
                </a:ext>
              </a:extLst>
            </p:cNvPr>
            <p:cNvSpPr/>
            <p:nvPr/>
          </p:nvSpPr>
          <p:spPr>
            <a:xfrm>
              <a:off x="7185801" y="1620805"/>
              <a:ext cx="3034007" cy="2572664"/>
            </a:xfrm>
            <a:prstGeom prst="roundRect">
              <a:avLst>
                <a:gd name="adj" fmla="val 9000"/>
              </a:avLst>
            </a:prstGeom>
            <a:solidFill>
              <a:srgbClr val="BAEAC4">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6">
              <a:extLst>
                <a:ext uri="{FF2B5EF4-FFF2-40B4-BE49-F238E27FC236}">
                  <a16:creationId xmlns:a16="http://schemas.microsoft.com/office/drawing/2014/main" id="{CB0FD11A-87D3-A96A-2088-A465B47E0A29}"/>
                </a:ext>
              </a:extLst>
            </p:cNvPr>
            <p:cNvSpPr/>
            <p:nvPr/>
          </p:nvSpPr>
          <p:spPr>
            <a:xfrm>
              <a:off x="7261640" y="1671422"/>
              <a:ext cx="329184" cy="329184"/>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b="1">
                  <a:solidFill>
                    <a:srgbClr val="FFFFFF"/>
                  </a:solidFill>
                  <a:latin typeface="Noto Sans CJK JP"/>
                </a:rPr>
                <a:t>2</a:t>
              </a:r>
              <a:endParaRPr sz="1500" b="1">
                <a:solidFill>
                  <a:srgbClr val="FFFFFF"/>
                </a:solidFill>
                <a:latin typeface="Noto Sans CJK JP"/>
              </a:endParaRPr>
            </a:p>
          </p:txBody>
        </p:sp>
        <p:sp>
          <p:nvSpPr>
            <p:cNvPr id="17" name="TextBox 7">
              <a:extLst>
                <a:ext uri="{FF2B5EF4-FFF2-40B4-BE49-F238E27FC236}">
                  <a16:creationId xmlns:a16="http://schemas.microsoft.com/office/drawing/2014/main" id="{ABAB1503-61F5-57E2-398A-87E8B5145005}"/>
                </a:ext>
              </a:extLst>
            </p:cNvPr>
            <p:cNvSpPr txBox="1"/>
            <p:nvPr/>
          </p:nvSpPr>
          <p:spPr>
            <a:xfrm>
              <a:off x="7610348" y="1691253"/>
              <a:ext cx="2304378" cy="304699"/>
            </a:xfrm>
            <a:prstGeom prst="rect">
              <a:avLst/>
            </a:prstGeom>
            <a:noFill/>
            <a:ln>
              <a:noFill/>
            </a:ln>
          </p:spPr>
          <p:txBody>
            <a:bodyPr wrap="square" lIns="36576" tIns="36576" rIns="36576" bIns="36576" anchor="t">
              <a:spAutoFit/>
            </a:bodyPr>
            <a:lstStyle/>
            <a:p>
              <a:r>
                <a:rPr lang="en" altLang="ja-JP" sz="1500" b="1">
                  <a:solidFill>
                    <a:srgbClr val="0B2B5B"/>
                  </a:solidFill>
                  <a:latin typeface="Noto Sans CJK JP"/>
                </a:rPr>
                <a:t>Purpose and Scale</a:t>
              </a:r>
            </a:p>
          </p:txBody>
        </p:sp>
      </p:grpSp>
      <p:grpSp>
        <p:nvGrpSpPr>
          <p:cNvPr id="45" name="グループ化 44">
            <a:extLst>
              <a:ext uri="{FF2B5EF4-FFF2-40B4-BE49-F238E27FC236}">
                <a16:creationId xmlns:a16="http://schemas.microsoft.com/office/drawing/2014/main" id="{D2B5CDA2-78E8-A505-FE14-663F76CF71A1}"/>
              </a:ext>
            </a:extLst>
          </p:cNvPr>
          <p:cNvGrpSpPr/>
          <p:nvPr/>
        </p:nvGrpSpPr>
        <p:grpSpPr>
          <a:xfrm>
            <a:off x="7185801" y="1933899"/>
            <a:ext cx="3034007" cy="2003588"/>
            <a:chOff x="7973258" y="362729"/>
            <a:chExt cx="3034007" cy="2003588"/>
          </a:xfrm>
        </p:grpSpPr>
        <p:sp>
          <p:nvSpPr>
            <p:cNvPr id="18" name="Rounded Rectangle 5">
              <a:extLst>
                <a:ext uri="{FF2B5EF4-FFF2-40B4-BE49-F238E27FC236}">
                  <a16:creationId xmlns:a16="http://schemas.microsoft.com/office/drawing/2014/main" id="{C6D69BE9-D12E-262B-B9C9-6ABA9913A1A3}"/>
                </a:ext>
              </a:extLst>
            </p:cNvPr>
            <p:cNvSpPr/>
            <p:nvPr/>
          </p:nvSpPr>
          <p:spPr>
            <a:xfrm>
              <a:off x="7973258" y="362729"/>
              <a:ext cx="3034007" cy="2003588"/>
            </a:xfrm>
            <a:prstGeom prst="roundRect">
              <a:avLst>
                <a:gd name="adj" fmla="val 9000"/>
              </a:avLst>
            </a:prstGeom>
            <a:solidFill>
              <a:srgbClr val="BACCEC">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6">
              <a:extLst>
                <a:ext uri="{FF2B5EF4-FFF2-40B4-BE49-F238E27FC236}">
                  <a16:creationId xmlns:a16="http://schemas.microsoft.com/office/drawing/2014/main" id="{009B14BC-2912-59AC-EB9D-6E7A53F5900F}"/>
                </a:ext>
              </a:extLst>
            </p:cNvPr>
            <p:cNvSpPr/>
            <p:nvPr/>
          </p:nvSpPr>
          <p:spPr>
            <a:xfrm>
              <a:off x="8036987" y="405616"/>
              <a:ext cx="329184" cy="329184"/>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b="1">
                  <a:solidFill>
                    <a:srgbClr val="FFFFFF"/>
                  </a:solidFill>
                  <a:latin typeface="Noto Sans CJK JP"/>
                </a:rPr>
                <a:t>3</a:t>
              </a:r>
              <a:endParaRPr sz="1500" b="1">
                <a:solidFill>
                  <a:srgbClr val="FFFFFF"/>
                </a:solidFill>
                <a:latin typeface="Noto Sans CJK JP"/>
              </a:endParaRPr>
            </a:p>
          </p:txBody>
        </p:sp>
        <p:sp>
          <p:nvSpPr>
            <p:cNvPr id="20" name="TextBox 7">
              <a:extLst>
                <a:ext uri="{FF2B5EF4-FFF2-40B4-BE49-F238E27FC236}">
                  <a16:creationId xmlns:a16="http://schemas.microsoft.com/office/drawing/2014/main" id="{6816F2C6-7793-6653-D498-0B1EBA2BB962}"/>
                </a:ext>
              </a:extLst>
            </p:cNvPr>
            <p:cNvSpPr txBox="1"/>
            <p:nvPr/>
          </p:nvSpPr>
          <p:spPr>
            <a:xfrm>
              <a:off x="8385655" y="425045"/>
              <a:ext cx="2149004" cy="304699"/>
            </a:xfrm>
            <a:prstGeom prst="rect">
              <a:avLst/>
            </a:prstGeom>
            <a:noFill/>
            <a:ln>
              <a:noFill/>
            </a:ln>
          </p:spPr>
          <p:txBody>
            <a:bodyPr wrap="square" lIns="36576" tIns="36576" rIns="36576" bIns="36576" anchor="t">
              <a:spAutoFit/>
            </a:bodyPr>
            <a:lstStyle/>
            <a:p>
              <a:r>
                <a:rPr lang="en" altLang="ja-JP" sz="1500" b="1">
                  <a:solidFill>
                    <a:srgbClr val="0B2B5B"/>
                  </a:solidFill>
                  <a:latin typeface="Noto Sans CJK JP"/>
                </a:rPr>
                <a:t>Building Attributes</a:t>
              </a:r>
              <a:endParaRPr sz="1500" b="1">
                <a:solidFill>
                  <a:srgbClr val="0B2B5B"/>
                </a:solidFill>
                <a:latin typeface="Noto Sans CJK JP"/>
              </a:endParaRPr>
            </a:p>
          </p:txBody>
        </p:sp>
      </p:grpSp>
      <p:sp>
        <p:nvSpPr>
          <p:cNvPr id="21" name="Rounded Rectangle 5">
            <a:extLst>
              <a:ext uri="{FF2B5EF4-FFF2-40B4-BE49-F238E27FC236}">
                <a16:creationId xmlns:a16="http://schemas.microsoft.com/office/drawing/2014/main" id="{63521FC1-95D6-B0F7-C2F0-0B4700C56632}"/>
              </a:ext>
            </a:extLst>
          </p:cNvPr>
          <p:cNvSpPr/>
          <p:nvPr/>
        </p:nvSpPr>
        <p:spPr>
          <a:xfrm>
            <a:off x="7196100" y="3987742"/>
            <a:ext cx="3034007" cy="2368608"/>
          </a:xfrm>
          <a:prstGeom prst="roundRect">
            <a:avLst>
              <a:gd name="adj" fmla="val 9000"/>
            </a:avLst>
          </a:prstGeom>
          <a:solidFill>
            <a:srgbClr val="F2B3ED">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6">
            <a:extLst>
              <a:ext uri="{FF2B5EF4-FFF2-40B4-BE49-F238E27FC236}">
                <a16:creationId xmlns:a16="http://schemas.microsoft.com/office/drawing/2014/main" id="{6D00757E-6F02-4FE5-27BA-49BC15C21C04}"/>
              </a:ext>
            </a:extLst>
          </p:cNvPr>
          <p:cNvSpPr/>
          <p:nvPr/>
        </p:nvSpPr>
        <p:spPr>
          <a:xfrm>
            <a:off x="7248779" y="4048291"/>
            <a:ext cx="329184" cy="329184"/>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b="1">
                <a:solidFill>
                  <a:srgbClr val="FFFFFF"/>
                </a:solidFill>
                <a:latin typeface="Noto Sans CJK JP"/>
              </a:rPr>
              <a:t>4</a:t>
            </a:r>
            <a:endParaRPr sz="1500" b="1">
              <a:solidFill>
                <a:srgbClr val="FFFFFF"/>
              </a:solidFill>
              <a:latin typeface="Noto Sans CJK JP"/>
            </a:endParaRPr>
          </a:p>
        </p:txBody>
      </p:sp>
      <p:sp>
        <p:nvSpPr>
          <p:cNvPr id="23" name="TextBox 7">
            <a:extLst>
              <a:ext uri="{FF2B5EF4-FFF2-40B4-BE49-F238E27FC236}">
                <a16:creationId xmlns:a16="http://schemas.microsoft.com/office/drawing/2014/main" id="{05917BDB-ED8A-EA90-FC3D-2989200E4B48}"/>
              </a:ext>
            </a:extLst>
          </p:cNvPr>
          <p:cNvSpPr txBox="1"/>
          <p:nvPr/>
        </p:nvSpPr>
        <p:spPr>
          <a:xfrm>
            <a:off x="7598198" y="4060533"/>
            <a:ext cx="2482136" cy="304699"/>
          </a:xfrm>
          <a:prstGeom prst="rect">
            <a:avLst/>
          </a:prstGeom>
          <a:noFill/>
          <a:ln>
            <a:noFill/>
          </a:ln>
        </p:spPr>
        <p:txBody>
          <a:bodyPr wrap="square" lIns="36576" tIns="36576" rIns="36576" bIns="36576" anchor="t">
            <a:spAutoFit/>
          </a:bodyPr>
          <a:lstStyle/>
          <a:p>
            <a:r>
              <a:rPr lang="en" altLang="ja-JP" sz="1500" b="1">
                <a:solidFill>
                  <a:srgbClr val="0B2B5B"/>
                </a:solidFill>
                <a:latin typeface="Noto Sans CJK JP"/>
              </a:rPr>
              <a:t>Layout and Connections</a:t>
            </a:r>
            <a:endParaRPr sz="1500" b="1">
              <a:solidFill>
                <a:srgbClr val="0B2B5B"/>
              </a:solidFill>
              <a:latin typeface="Noto Sans CJK JP"/>
            </a:endParaRPr>
          </a:p>
        </p:txBody>
      </p:sp>
      <p:grpSp>
        <p:nvGrpSpPr>
          <p:cNvPr id="9" name="グループ化 8">
            <a:extLst>
              <a:ext uri="{FF2B5EF4-FFF2-40B4-BE49-F238E27FC236}">
                <a16:creationId xmlns:a16="http://schemas.microsoft.com/office/drawing/2014/main" id="{294D6BFF-D3DE-049F-D30B-049A8190469D}"/>
              </a:ext>
            </a:extLst>
          </p:cNvPr>
          <p:cNvGrpSpPr/>
          <p:nvPr/>
        </p:nvGrpSpPr>
        <p:grpSpPr>
          <a:xfrm>
            <a:off x="10803516" y="2274590"/>
            <a:ext cx="916310" cy="3736917"/>
            <a:chOff x="10493876" y="2107854"/>
            <a:chExt cx="992220" cy="4047875"/>
          </a:xfrm>
        </p:grpSpPr>
        <p:grpSp>
          <p:nvGrpSpPr>
            <p:cNvPr id="30" name="グループ化 29">
              <a:extLst>
                <a:ext uri="{FF2B5EF4-FFF2-40B4-BE49-F238E27FC236}">
                  <a16:creationId xmlns:a16="http://schemas.microsoft.com/office/drawing/2014/main" id="{3C9FE906-DAD6-F5AE-F21A-A2AC2D52D040}"/>
                </a:ext>
              </a:extLst>
            </p:cNvPr>
            <p:cNvGrpSpPr/>
            <p:nvPr/>
          </p:nvGrpSpPr>
          <p:grpSpPr>
            <a:xfrm>
              <a:off x="10493876" y="2107854"/>
              <a:ext cx="992220" cy="1549469"/>
              <a:chOff x="1096976" y="5391625"/>
              <a:chExt cx="992220" cy="1549469"/>
            </a:xfrm>
          </p:grpSpPr>
          <p:grpSp>
            <p:nvGrpSpPr>
              <p:cNvPr id="31" name="グラフィックス 5" descr="ユーザー 単色塗りつぶし">
                <a:extLst>
                  <a:ext uri="{FF2B5EF4-FFF2-40B4-BE49-F238E27FC236}">
                    <a16:creationId xmlns:a16="http://schemas.microsoft.com/office/drawing/2014/main" id="{2F4D0496-47A8-3378-51F4-BC3A78F3A366}"/>
                  </a:ext>
                </a:extLst>
              </p:cNvPr>
              <p:cNvGrpSpPr/>
              <p:nvPr/>
            </p:nvGrpSpPr>
            <p:grpSpPr>
              <a:xfrm>
                <a:off x="1096976" y="5391625"/>
                <a:ext cx="992220" cy="1054234"/>
                <a:chOff x="774295" y="5401243"/>
                <a:chExt cx="992220" cy="1054234"/>
              </a:xfrm>
              <a:solidFill>
                <a:srgbClr val="000000"/>
              </a:solidFill>
            </p:grpSpPr>
            <p:sp>
              <p:nvSpPr>
                <p:cNvPr id="33" name="円/楕円 32">
                  <a:extLst>
                    <a:ext uri="{FF2B5EF4-FFF2-40B4-BE49-F238E27FC236}">
                      <a16:creationId xmlns:a16="http://schemas.microsoft.com/office/drawing/2014/main" id="{863664CA-A4DD-74DC-D0CD-B3F8C7A609FB}"/>
                    </a:ext>
                  </a:extLst>
                </p:cNvPr>
                <p:cNvSpPr/>
                <p:nvPr/>
              </p:nvSpPr>
              <p:spPr>
                <a:xfrm>
                  <a:off x="1022350" y="5401243"/>
                  <a:ext cx="496110" cy="496110"/>
                </a:xfrm>
                <a:prstGeom prst="ellipse">
                  <a:avLst/>
                </a:prstGeom>
                <a:solidFill>
                  <a:srgbClr val="000000"/>
                </a:solidFill>
                <a:ln w="15478" cap="flat">
                  <a:noFill/>
                  <a:prstDash val="solid"/>
                  <a:miter/>
                </a:ln>
              </p:spPr>
              <p:txBody>
                <a:bodyPr/>
                <a:lstStyle/>
                <a:p>
                  <a:endParaRPr lang="ja-JP" altLang="en-US"/>
                </a:p>
              </p:txBody>
            </p:sp>
            <p:sp>
              <p:nvSpPr>
                <p:cNvPr id="34" name="フリーフォーム 33">
                  <a:extLst>
                    <a:ext uri="{FF2B5EF4-FFF2-40B4-BE49-F238E27FC236}">
                      <a16:creationId xmlns:a16="http://schemas.microsoft.com/office/drawing/2014/main" id="{1ADA9A37-D641-9731-E000-62D56064CC34}"/>
                    </a:ext>
                  </a:extLst>
                </p:cNvPr>
                <p:cNvSpPr/>
                <p:nvPr/>
              </p:nvSpPr>
              <p:spPr>
                <a:xfrm>
                  <a:off x="774295" y="5959367"/>
                  <a:ext cx="992220" cy="496110"/>
                </a:xfrm>
                <a:custGeom>
                  <a:avLst/>
                  <a:gdLst>
                    <a:gd name="csX0" fmla="*/ 992221 w 992220"/>
                    <a:gd name="csY0" fmla="*/ 496110 h 496110"/>
                    <a:gd name="csX1" fmla="*/ 992221 w 992220"/>
                    <a:gd name="csY1" fmla="*/ 248055 h 496110"/>
                    <a:gd name="csX2" fmla="*/ 942610 w 992220"/>
                    <a:gd name="csY2" fmla="*/ 148833 h 496110"/>
                    <a:gd name="csX3" fmla="*/ 700756 w 992220"/>
                    <a:gd name="csY3" fmla="*/ 31007 h 496110"/>
                    <a:gd name="csX4" fmla="*/ 496110 w 992220"/>
                    <a:gd name="csY4" fmla="*/ 0 h 496110"/>
                    <a:gd name="csX5" fmla="*/ 291465 w 992220"/>
                    <a:gd name="csY5" fmla="*/ 31007 h 496110"/>
                    <a:gd name="csX6" fmla="*/ 49611 w 992220"/>
                    <a:gd name="csY6" fmla="*/ 148833 h 496110"/>
                    <a:gd name="csX7" fmla="*/ 0 w 992220"/>
                    <a:gd name="csY7" fmla="*/ 248055 h 496110"/>
                    <a:gd name="csX8" fmla="*/ 0 w 992220"/>
                    <a:gd name="csY8" fmla="*/ 496110 h 496110"/>
                    <a:gd name="csX9" fmla="*/ 992221 w 992220"/>
                    <a:gd name="csY9" fmla="*/ 496110 h 4961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92220" h="496110">
                      <a:moveTo>
                        <a:pt x="992221" y="496110"/>
                      </a:moveTo>
                      <a:lnTo>
                        <a:pt x="992221" y="248055"/>
                      </a:lnTo>
                      <a:cubicBezTo>
                        <a:pt x="992221" y="210847"/>
                        <a:pt x="973617" y="173639"/>
                        <a:pt x="942610" y="148833"/>
                      </a:cubicBezTo>
                      <a:cubicBezTo>
                        <a:pt x="874395" y="93021"/>
                        <a:pt x="787575" y="55812"/>
                        <a:pt x="700756" y="31007"/>
                      </a:cubicBezTo>
                      <a:cubicBezTo>
                        <a:pt x="638742" y="12403"/>
                        <a:pt x="570527" y="0"/>
                        <a:pt x="496110" y="0"/>
                      </a:cubicBezTo>
                      <a:cubicBezTo>
                        <a:pt x="427895" y="0"/>
                        <a:pt x="359680" y="12403"/>
                        <a:pt x="291465" y="31007"/>
                      </a:cubicBezTo>
                      <a:cubicBezTo>
                        <a:pt x="204646" y="55812"/>
                        <a:pt x="117826" y="99222"/>
                        <a:pt x="49611" y="148833"/>
                      </a:cubicBezTo>
                      <a:cubicBezTo>
                        <a:pt x="18604" y="173639"/>
                        <a:pt x="0" y="210847"/>
                        <a:pt x="0" y="248055"/>
                      </a:cubicBezTo>
                      <a:lnTo>
                        <a:pt x="0" y="496110"/>
                      </a:lnTo>
                      <a:lnTo>
                        <a:pt x="992221" y="496110"/>
                      </a:lnTo>
                      <a:close/>
                    </a:path>
                  </a:pathLst>
                </a:custGeom>
                <a:solidFill>
                  <a:srgbClr val="000000"/>
                </a:solidFill>
                <a:ln w="15478" cap="flat">
                  <a:noFill/>
                  <a:prstDash val="solid"/>
                  <a:miter/>
                </a:ln>
              </p:spPr>
              <p:txBody>
                <a:bodyPr/>
                <a:lstStyle/>
                <a:p>
                  <a:endParaRPr lang="ja-JP" altLang="en-US"/>
                </a:p>
              </p:txBody>
            </p:sp>
          </p:grpSp>
          <p:sp>
            <p:nvSpPr>
              <p:cNvPr id="32" name="テキスト ボックス 31">
                <a:extLst>
                  <a:ext uri="{FF2B5EF4-FFF2-40B4-BE49-F238E27FC236}">
                    <a16:creationId xmlns:a16="http://schemas.microsoft.com/office/drawing/2014/main" id="{E8F0E08D-C14E-188E-7CED-FC0857581B86}"/>
                  </a:ext>
                </a:extLst>
              </p:cNvPr>
              <p:cNvSpPr txBox="1"/>
              <p:nvPr/>
            </p:nvSpPr>
            <p:spPr>
              <a:xfrm>
                <a:off x="1258768" y="6541029"/>
                <a:ext cx="668631" cy="400065"/>
              </a:xfrm>
              <a:prstGeom prst="rect">
                <a:avLst/>
              </a:prstGeom>
              <a:noFill/>
            </p:spPr>
            <p:txBody>
              <a:bodyPr wrap="none" rtlCol="0">
                <a:spAutoFit/>
              </a:bodyPr>
              <a:lstStyle/>
              <a:p>
                <a:r>
                  <a:rPr kumimoji="1" lang="en-US" altLang="ja-JP"/>
                  <a:t>User</a:t>
                </a:r>
                <a:endParaRPr kumimoji="1" lang="ja-JP" altLang="en-US"/>
              </a:p>
            </p:txBody>
          </p:sp>
        </p:grpSp>
        <p:grpSp>
          <p:nvGrpSpPr>
            <p:cNvPr id="36" name="グループ化 35">
              <a:extLst>
                <a:ext uri="{FF2B5EF4-FFF2-40B4-BE49-F238E27FC236}">
                  <a16:creationId xmlns:a16="http://schemas.microsoft.com/office/drawing/2014/main" id="{1EF67900-9BB9-B332-A4E6-DDE9A8DAE2DC}"/>
                </a:ext>
              </a:extLst>
            </p:cNvPr>
            <p:cNvGrpSpPr/>
            <p:nvPr/>
          </p:nvGrpSpPr>
          <p:grpSpPr>
            <a:xfrm>
              <a:off x="10511738" y="4556712"/>
              <a:ext cx="956495" cy="1599017"/>
              <a:chOff x="10500880" y="3922314"/>
              <a:chExt cx="956495" cy="1599017"/>
            </a:xfrm>
          </p:grpSpPr>
          <p:sp>
            <p:nvSpPr>
              <p:cNvPr id="29" name="グラフィックス 9" descr="人工知能 単色塗りつぶし">
                <a:extLst>
                  <a:ext uri="{FF2B5EF4-FFF2-40B4-BE49-F238E27FC236}">
                    <a16:creationId xmlns:a16="http://schemas.microsoft.com/office/drawing/2014/main" id="{EA818BFD-F3CC-D9DC-F17B-E2FD004076FE}"/>
                  </a:ext>
                </a:extLst>
              </p:cNvPr>
              <p:cNvSpPr/>
              <p:nvPr/>
            </p:nvSpPr>
            <p:spPr>
              <a:xfrm flipH="1">
                <a:off x="10500880" y="3922314"/>
                <a:ext cx="956495" cy="1133846"/>
              </a:xfrm>
              <a:custGeom>
                <a:avLst/>
                <a:gdLst>
                  <a:gd name="csX0" fmla="*/ 942292 w 956495"/>
                  <a:gd name="csY0" fmla="*/ 613476 h 1133846"/>
                  <a:gd name="csX1" fmla="*/ 845250 w 956495"/>
                  <a:gd name="csY1" fmla="*/ 444707 h 1133846"/>
                  <a:gd name="csX2" fmla="*/ 845250 w 956495"/>
                  <a:gd name="csY2" fmla="*/ 437675 h 1133846"/>
                  <a:gd name="csX3" fmla="*/ 437392 w 956495"/>
                  <a:gd name="csY3" fmla="*/ 283 h 1133846"/>
                  <a:gd name="csX4" fmla="*/ 0 w 956495"/>
                  <a:gd name="csY4" fmla="*/ 406734 h 1133846"/>
                  <a:gd name="csX5" fmla="*/ 0 w 956495"/>
                  <a:gd name="csY5" fmla="*/ 437675 h 1133846"/>
                  <a:gd name="csX6" fmla="*/ 165956 w 956495"/>
                  <a:gd name="csY6" fmla="*/ 778026 h 1133846"/>
                  <a:gd name="csX7" fmla="*/ 165956 w 956495"/>
                  <a:gd name="csY7" fmla="*/ 1133846 h 1133846"/>
                  <a:gd name="csX8" fmla="*/ 610380 w 956495"/>
                  <a:gd name="csY8" fmla="*/ 1133846 h 1133846"/>
                  <a:gd name="csX9" fmla="*/ 610380 w 956495"/>
                  <a:gd name="csY9" fmla="*/ 965078 h 1133846"/>
                  <a:gd name="csX10" fmla="*/ 679294 w 956495"/>
                  <a:gd name="csY10" fmla="*/ 965078 h 1133846"/>
                  <a:gd name="csX11" fmla="*/ 845250 w 956495"/>
                  <a:gd name="csY11" fmla="*/ 799122 h 1133846"/>
                  <a:gd name="csX12" fmla="*/ 845250 w 956495"/>
                  <a:gd name="csY12" fmla="*/ 796309 h 1133846"/>
                  <a:gd name="csX13" fmla="*/ 845250 w 956495"/>
                  <a:gd name="csY13" fmla="*/ 711924 h 1133846"/>
                  <a:gd name="csX14" fmla="*/ 907132 w 956495"/>
                  <a:gd name="csY14" fmla="*/ 711924 h 1133846"/>
                  <a:gd name="csX15" fmla="*/ 942292 w 956495"/>
                  <a:gd name="csY15" fmla="*/ 613476 h 1133846"/>
                  <a:gd name="csX16" fmla="*/ 63288 w 956495"/>
                  <a:gd name="csY16" fmla="*/ 297035 h 1133846"/>
                  <a:gd name="csX17" fmla="*/ 140641 w 956495"/>
                  <a:gd name="csY17" fmla="*/ 297035 h 1133846"/>
                  <a:gd name="csX18" fmla="*/ 140641 w 956495"/>
                  <a:gd name="csY18" fmla="*/ 240778 h 1133846"/>
                  <a:gd name="csX19" fmla="*/ 133609 w 956495"/>
                  <a:gd name="csY19" fmla="*/ 191554 h 1133846"/>
                  <a:gd name="csX20" fmla="*/ 182833 w 956495"/>
                  <a:gd name="csY20" fmla="*/ 184522 h 1133846"/>
                  <a:gd name="csX21" fmla="*/ 189865 w 956495"/>
                  <a:gd name="csY21" fmla="*/ 233746 h 1133846"/>
                  <a:gd name="csX22" fmla="*/ 182833 w 956495"/>
                  <a:gd name="csY22" fmla="*/ 240778 h 1133846"/>
                  <a:gd name="csX23" fmla="*/ 182833 w 956495"/>
                  <a:gd name="csY23" fmla="*/ 297035 h 1133846"/>
                  <a:gd name="csX24" fmla="*/ 239089 w 956495"/>
                  <a:gd name="csY24" fmla="*/ 297035 h 1133846"/>
                  <a:gd name="csX25" fmla="*/ 239089 w 956495"/>
                  <a:gd name="csY25" fmla="*/ 395483 h 1133846"/>
                  <a:gd name="csX26" fmla="*/ 246121 w 956495"/>
                  <a:gd name="csY26" fmla="*/ 444707 h 1133846"/>
                  <a:gd name="csX27" fmla="*/ 196897 w 956495"/>
                  <a:gd name="csY27" fmla="*/ 451739 h 1133846"/>
                  <a:gd name="csX28" fmla="*/ 189865 w 956495"/>
                  <a:gd name="csY28" fmla="*/ 402515 h 1133846"/>
                  <a:gd name="csX29" fmla="*/ 196897 w 956495"/>
                  <a:gd name="csY29" fmla="*/ 395483 h 1133846"/>
                  <a:gd name="csX30" fmla="*/ 196897 w 956495"/>
                  <a:gd name="csY30" fmla="*/ 339227 h 1133846"/>
                  <a:gd name="csX31" fmla="*/ 50631 w 956495"/>
                  <a:gd name="csY31" fmla="*/ 339227 h 1133846"/>
                  <a:gd name="csX32" fmla="*/ 63288 w 956495"/>
                  <a:gd name="csY32" fmla="*/ 297035 h 1133846"/>
                  <a:gd name="csX33" fmla="*/ 454269 w 956495"/>
                  <a:gd name="csY33" fmla="*/ 534717 h 1133846"/>
                  <a:gd name="csX34" fmla="*/ 419109 w 956495"/>
                  <a:gd name="csY34" fmla="*/ 499557 h 1133846"/>
                  <a:gd name="csX35" fmla="*/ 419109 w 956495"/>
                  <a:gd name="csY35" fmla="*/ 493931 h 1133846"/>
                  <a:gd name="csX36" fmla="*/ 382543 w 956495"/>
                  <a:gd name="csY36" fmla="*/ 457365 h 1133846"/>
                  <a:gd name="csX37" fmla="*/ 323473 w 956495"/>
                  <a:gd name="csY37" fmla="*/ 516434 h 1133846"/>
                  <a:gd name="csX38" fmla="*/ 323473 w 956495"/>
                  <a:gd name="csY38" fmla="*/ 620508 h 1133846"/>
                  <a:gd name="csX39" fmla="*/ 330505 w 956495"/>
                  <a:gd name="csY39" fmla="*/ 669732 h 1133846"/>
                  <a:gd name="csX40" fmla="*/ 281281 w 956495"/>
                  <a:gd name="csY40" fmla="*/ 676764 h 1133846"/>
                  <a:gd name="csX41" fmla="*/ 274249 w 956495"/>
                  <a:gd name="csY41" fmla="*/ 627540 h 1133846"/>
                  <a:gd name="csX42" fmla="*/ 281281 w 956495"/>
                  <a:gd name="csY42" fmla="*/ 620508 h 1133846"/>
                  <a:gd name="csX43" fmla="*/ 281281 w 956495"/>
                  <a:gd name="csY43" fmla="*/ 606444 h 1133846"/>
                  <a:gd name="csX44" fmla="*/ 187052 w 956495"/>
                  <a:gd name="csY44" fmla="*/ 606444 h 1133846"/>
                  <a:gd name="csX45" fmla="*/ 120951 w 956495"/>
                  <a:gd name="csY45" fmla="*/ 529092 h 1133846"/>
                  <a:gd name="csX46" fmla="*/ 82978 w 956495"/>
                  <a:gd name="csY46" fmla="*/ 496744 h 1133846"/>
                  <a:gd name="csX47" fmla="*/ 115325 w 956495"/>
                  <a:gd name="csY47" fmla="*/ 458771 h 1133846"/>
                  <a:gd name="csX48" fmla="*/ 153298 w 956495"/>
                  <a:gd name="csY48" fmla="*/ 491119 h 1133846"/>
                  <a:gd name="csX49" fmla="*/ 153298 w 956495"/>
                  <a:gd name="csY49" fmla="*/ 500963 h 1133846"/>
                  <a:gd name="csX50" fmla="*/ 206742 w 956495"/>
                  <a:gd name="csY50" fmla="*/ 564252 h 1133846"/>
                  <a:gd name="csX51" fmla="*/ 281281 w 956495"/>
                  <a:gd name="csY51" fmla="*/ 564252 h 1133846"/>
                  <a:gd name="csX52" fmla="*/ 281281 w 956495"/>
                  <a:gd name="csY52" fmla="*/ 499557 h 1133846"/>
                  <a:gd name="csX53" fmla="*/ 353008 w 956495"/>
                  <a:gd name="csY53" fmla="*/ 427830 h 1133846"/>
                  <a:gd name="csX54" fmla="*/ 309409 w 956495"/>
                  <a:gd name="csY54" fmla="*/ 382825 h 1133846"/>
                  <a:gd name="csX55" fmla="*/ 309409 w 956495"/>
                  <a:gd name="csY55" fmla="*/ 128266 h 1133846"/>
                  <a:gd name="csX56" fmla="*/ 302377 w 956495"/>
                  <a:gd name="csY56" fmla="*/ 79042 h 1133846"/>
                  <a:gd name="csX57" fmla="*/ 351602 w 956495"/>
                  <a:gd name="csY57" fmla="*/ 72010 h 1133846"/>
                  <a:gd name="csX58" fmla="*/ 358634 w 956495"/>
                  <a:gd name="csY58" fmla="*/ 121234 h 1133846"/>
                  <a:gd name="csX59" fmla="*/ 351602 w 956495"/>
                  <a:gd name="csY59" fmla="*/ 128266 h 1133846"/>
                  <a:gd name="csX60" fmla="*/ 351602 w 956495"/>
                  <a:gd name="csY60" fmla="*/ 170458 h 1133846"/>
                  <a:gd name="csX61" fmla="*/ 464114 w 956495"/>
                  <a:gd name="csY61" fmla="*/ 170458 h 1133846"/>
                  <a:gd name="csX62" fmla="*/ 464114 w 956495"/>
                  <a:gd name="csY62" fmla="*/ 268906 h 1133846"/>
                  <a:gd name="csX63" fmla="*/ 471146 w 956495"/>
                  <a:gd name="csY63" fmla="*/ 318131 h 1133846"/>
                  <a:gd name="csX64" fmla="*/ 421922 w 956495"/>
                  <a:gd name="csY64" fmla="*/ 325163 h 1133846"/>
                  <a:gd name="csX65" fmla="*/ 414890 w 956495"/>
                  <a:gd name="csY65" fmla="*/ 275938 h 1133846"/>
                  <a:gd name="csX66" fmla="*/ 421922 w 956495"/>
                  <a:gd name="csY66" fmla="*/ 268906 h 1133846"/>
                  <a:gd name="csX67" fmla="*/ 421922 w 956495"/>
                  <a:gd name="csY67" fmla="*/ 212650 h 1133846"/>
                  <a:gd name="csX68" fmla="*/ 351602 w 956495"/>
                  <a:gd name="csY68" fmla="*/ 212650 h 1133846"/>
                  <a:gd name="csX69" fmla="*/ 351602 w 956495"/>
                  <a:gd name="csY69" fmla="*/ 365948 h 1133846"/>
                  <a:gd name="csX70" fmla="*/ 450050 w 956495"/>
                  <a:gd name="csY70" fmla="*/ 464397 h 1133846"/>
                  <a:gd name="csX71" fmla="*/ 454269 w 956495"/>
                  <a:gd name="csY71" fmla="*/ 464397 h 1133846"/>
                  <a:gd name="csX72" fmla="*/ 489429 w 956495"/>
                  <a:gd name="csY72" fmla="*/ 499557 h 1133846"/>
                  <a:gd name="csX73" fmla="*/ 454269 w 956495"/>
                  <a:gd name="csY73" fmla="*/ 534717 h 1133846"/>
                  <a:gd name="csX74" fmla="*/ 454269 w 956495"/>
                  <a:gd name="csY74" fmla="*/ 534717 h 1133846"/>
                  <a:gd name="csX75" fmla="*/ 625851 w 956495"/>
                  <a:gd name="csY75" fmla="*/ 250623 h 1133846"/>
                  <a:gd name="csX76" fmla="*/ 590691 w 956495"/>
                  <a:gd name="csY76" fmla="*/ 215463 h 1133846"/>
                  <a:gd name="csX77" fmla="*/ 590691 w 956495"/>
                  <a:gd name="csY77" fmla="*/ 212650 h 1133846"/>
                  <a:gd name="csX78" fmla="*/ 534434 w 956495"/>
                  <a:gd name="csY78" fmla="*/ 162020 h 1133846"/>
                  <a:gd name="csX79" fmla="*/ 534434 w 956495"/>
                  <a:gd name="csY79" fmla="*/ 59352 h 1133846"/>
                  <a:gd name="csX80" fmla="*/ 576627 w 956495"/>
                  <a:gd name="csY80" fmla="*/ 74822 h 1133846"/>
                  <a:gd name="csX81" fmla="*/ 576627 w 956495"/>
                  <a:gd name="csY81" fmla="*/ 143736 h 1133846"/>
                  <a:gd name="csX82" fmla="*/ 618819 w 956495"/>
                  <a:gd name="csY82" fmla="*/ 181709 h 1133846"/>
                  <a:gd name="csX83" fmla="*/ 625851 w 956495"/>
                  <a:gd name="csY83" fmla="*/ 181709 h 1133846"/>
                  <a:gd name="csX84" fmla="*/ 661011 w 956495"/>
                  <a:gd name="csY84" fmla="*/ 216869 h 1133846"/>
                  <a:gd name="csX85" fmla="*/ 625851 w 956495"/>
                  <a:gd name="csY85" fmla="*/ 250623 h 1133846"/>
                  <a:gd name="csX86" fmla="*/ 625851 w 956495"/>
                  <a:gd name="csY86" fmla="*/ 250623 h 11338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Lst>
                <a:rect l="l" t="t" r="r" b="b"/>
                <a:pathLst>
                  <a:path w="956495" h="1133846">
                    <a:moveTo>
                      <a:pt x="942292" y="613476"/>
                    </a:moveTo>
                    <a:lnTo>
                      <a:pt x="845250" y="444707"/>
                    </a:lnTo>
                    <a:lnTo>
                      <a:pt x="845250" y="437675"/>
                    </a:lnTo>
                    <a:cubicBezTo>
                      <a:pt x="853689" y="204212"/>
                      <a:pt x="670856" y="8721"/>
                      <a:pt x="437392" y="283"/>
                    </a:cubicBezTo>
                    <a:cubicBezTo>
                      <a:pt x="203929" y="-8156"/>
                      <a:pt x="8438" y="173271"/>
                      <a:pt x="0" y="406734"/>
                    </a:cubicBezTo>
                    <a:cubicBezTo>
                      <a:pt x="0" y="416579"/>
                      <a:pt x="0" y="427830"/>
                      <a:pt x="0" y="437675"/>
                    </a:cubicBezTo>
                    <a:cubicBezTo>
                      <a:pt x="0" y="571284"/>
                      <a:pt x="60475" y="696454"/>
                      <a:pt x="165956" y="778026"/>
                    </a:cubicBezTo>
                    <a:lnTo>
                      <a:pt x="165956" y="1133846"/>
                    </a:lnTo>
                    <a:lnTo>
                      <a:pt x="610380" y="1133846"/>
                    </a:lnTo>
                    <a:lnTo>
                      <a:pt x="610380" y="965078"/>
                    </a:lnTo>
                    <a:lnTo>
                      <a:pt x="679294" y="965078"/>
                    </a:lnTo>
                    <a:cubicBezTo>
                      <a:pt x="770711" y="965078"/>
                      <a:pt x="845250" y="890538"/>
                      <a:pt x="845250" y="799122"/>
                    </a:cubicBezTo>
                    <a:cubicBezTo>
                      <a:pt x="845250" y="797715"/>
                      <a:pt x="845250" y="797715"/>
                      <a:pt x="845250" y="796309"/>
                    </a:cubicBezTo>
                    <a:lnTo>
                      <a:pt x="845250" y="711924"/>
                    </a:lnTo>
                    <a:lnTo>
                      <a:pt x="907132" y="711924"/>
                    </a:lnTo>
                    <a:cubicBezTo>
                      <a:pt x="943699" y="707705"/>
                      <a:pt x="976046" y="665513"/>
                      <a:pt x="942292" y="613476"/>
                    </a:cubicBezTo>
                    <a:close/>
                    <a:moveTo>
                      <a:pt x="63288" y="297035"/>
                    </a:moveTo>
                    <a:lnTo>
                      <a:pt x="140641" y="297035"/>
                    </a:lnTo>
                    <a:lnTo>
                      <a:pt x="140641" y="240778"/>
                    </a:lnTo>
                    <a:cubicBezTo>
                      <a:pt x="125170" y="229527"/>
                      <a:pt x="122357" y="207025"/>
                      <a:pt x="133609" y="191554"/>
                    </a:cubicBezTo>
                    <a:cubicBezTo>
                      <a:pt x="144860" y="176084"/>
                      <a:pt x="167362" y="173271"/>
                      <a:pt x="182833" y="184522"/>
                    </a:cubicBezTo>
                    <a:cubicBezTo>
                      <a:pt x="198303" y="195773"/>
                      <a:pt x="201116" y="218276"/>
                      <a:pt x="189865" y="233746"/>
                    </a:cubicBezTo>
                    <a:cubicBezTo>
                      <a:pt x="188458" y="236559"/>
                      <a:pt x="185646" y="239372"/>
                      <a:pt x="182833" y="240778"/>
                    </a:cubicBezTo>
                    <a:lnTo>
                      <a:pt x="182833" y="297035"/>
                    </a:lnTo>
                    <a:lnTo>
                      <a:pt x="239089" y="297035"/>
                    </a:lnTo>
                    <a:lnTo>
                      <a:pt x="239089" y="395483"/>
                    </a:lnTo>
                    <a:cubicBezTo>
                      <a:pt x="254560" y="406734"/>
                      <a:pt x="257372" y="429237"/>
                      <a:pt x="246121" y="444707"/>
                    </a:cubicBezTo>
                    <a:cubicBezTo>
                      <a:pt x="234870" y="460178"/>
                      <a:pt x="212367" y="462990"/>
                      <a:pt x="196897" y="451739"/>
                    </a:cubicBezTo>
                    <a:cubicBezTo>
                      <a:pt x="181426" y="440488"/>
                      <a:pt x="178614" y="417985"/>
                      <a:pt x="189865" y="402515"/>
                    </a:cubicBezTo>
                    <a:cubicBezTo>
                      <a:pt x="191271" y="399702"/>
                      <a:pt x="194084" y="396889"/>
                      <a:pt x="196897" y="395483"/>
                    </a:cubicBezTo>
                    <a:lnTo>
                      <a:pt x="196897" y="339227"/>
                    </a:lnTo>
                    <a:lnTo>
                      <a:pt x="50631" y="339227"/>
                    </a:lnTo>
                    <a:cubicBezTo>
                      <a:pt x="54850" y="325163"/>
                      <a:pt x="57663" y="311099"/>
                      <a:pt x="63288" y="297035"/>
                    </a:cubicBezTo>
                    <a:close/>
                    <a:moveTo>
                      <a:pt x="454269" y="534717"/>
                    </a:moveTo>
                    <a:cubicBezTo>
                      <a:pt x="434580" y="534717"/>
                      <a:pt x="419109" y="519247"/>
                      <a:pt x="419109" y="499557"/>
                    </a:cubicBezTo>
                    <a:cubicBezTo>
                      <a:pt x="419109" y="498151"/>
                      <a:pt x="419109" y="495338"/>
                      <a:pt x="419109" y="493931"/>
                    </a:cubicBezTo>
                    <a:lnTo>
                      <a:pt x="382543" y="457365"/>
                    </a:lnTo>
                    <a:lnTo>
                      <a:pt x="323473" y="516434"/>
                    </a:lnTo>
                    <a:lnTo>
                      <a:pt x="323473" y="620508"/>
                    </a:lnTo>
                    <a:cubicBezTo>
                      <a:pt x="338944" y="631759"/>
                      <a:pt x="341757" y="654262"/>
                      <a:pt x="330505" y="669732"/>
                    </a:cubicBezTo>
                    <a:cubicBezTo>
                      <a:pt x="319254" y="685203"/>
                      <a:pt x="296752" y="688015"/>
                      <a:pt x="281281" y="676764"/>
                    </a:cubicBezTo>
                    <a:cubicBezTo>
                      <a:pt x="265811" y="665513"/>
                      <a:pt x="262998" y="643010"/>
                      <a:pt x="274249" y="627540"/>
                    </a:cubicBezTo>
                    <a:cubicBezTo>
                      <a:pt x="275656" y="624727"/>
                      <a:pt x="278468" y="621914"/>
                      <a:pt x="281281" y="620508"/>
                    </a:cubicBezTo>
                    <a:lnTo>
                      <a:pt x="281281" y="606444"/>
                    </a:lnTo>
                    <a:lnTo>
                      <a:pt x="187052" y="606444"/>
                    </a:lnTo>
                    <a:lnTo>
                      <a:pt x="120951" y="529092"/>
                    </a:lnTo>
                    <a:cubicBezTo>
                      <a:pt x="101261" y="530498"/>
                      <a:pt x="84384" y="516434"/>
                      <a:pt x="82978" y="496744"/>
                    </a:cubicBezTo>
                    <a:cubicBezTo>
                      <a:pt x="81572" y="477055"/>
                      <a:pt x="95636" y="460178"/>
                      <a:pt x="115325" y="458771"/>
                    </a:cubicBezTo>
                    <a:cubicBezTo>
                      <a:pt x="135015" y="457365"/>
                      <a:pt x="151892" y="471429"/>
                      <a:pt x="153298" y="491119"/>
                    </a:cubicBezTo>
                    <a:cubicBezTo>
                      <a:pt x="153298" y="493931"/>
                      <a:pt x="153298" y="498151"/>
                      <a:pt x="153298" y="500963"/>
                    </a:cubicBezTo>
                    <a:lnTo>
                      <a:pt x="206742" y="564252"/>
                    </a:lnTo>
                    <a:lnTo>
                      <a:pt x="281281" y="564252"/>
                    </a:lnTo>
                    <a:lnTo>
                      <a:pt x="281281" y="499557"/>
                    </a:lnTo>
                    <a:lnTo>
                      <a:pt x="353008" y="427830"/>
                    </a:lnTo>
                    <a:lnTo>
                      <a:pt x="309409" y="382825"/>
                    </a:lnTo>
                    <a:lnTo>
                      <a:pt x="309409" y="128266"/>
                    </a:lnTo>
                    <a:cubicBezTo>
                      <a:pt x="293939" y="117015"/>
                      <a:pt x="291126" y="94512"/>
                      <a:pt x="302377" y="79042"/>
                    </a:cubicBezTo>
                    <a:cubicBezTo>
                      <a:pt x="313629" y="63571"/>
                      <a:pt x="336131" y="60758"/>
                      <a:pt x="351602" y="72010"/>
                    </a:cubicBezTo>
                    <a:cubicBezTo>
                      <a:pt x="367072" y="83261"/>
                      <a:pt x="369885" y="105763"/>
                      <a:pt x="358634" y="121234"/>
                    </a:cubicBezTo>
                    <a:cubicBezTo>
                      <a:pt x="357227" y="124047"/>
                      <a:pt x="354414" y="126859"/>
                      <a:pt x="351602" y="128266"/>
                    </a:cubicBezTo>
                    <a:lnTo>
                      <a:pt x="351602" y="170458"/>
                    </a:lnTo>
                    <a:lnTo>
                      <a:pt x="464114" y="170458"/>
                    </a:lnTo>
                    <a:lnTo>
                      <a:pt x="464114" y="268906"/>
                    </a:lnTo>
                    <a:cubicBezTo>
                      <a:pt x="479585" y="280158"/>
                      <a:pt x="482397" y="302660"/>
                      <a:pt x="471146" y="318131"/>
                    </a:cubicBezTo>
                    <a:cubicBezTo>
                      <a:pt x="459895" y="333601"/>
                      <a:pt x="437392" y="336414"/>
                      <a:pt x="421922" y="325163"/>
                    </a:cubicBezTo>
                    <a:cubicBezTo>
                      <a:pt x="406451" y="313911"/>
                      <a:pt x="403639" y="291409"/>
                      <a:pt x="414890" y="275938"/>
                    </a:cubicBezTo>
                    <a:cubicBezTo>
                      <a:pt x="416296" y="273126"/>
                      <a:pt x="419109" y="270313"/>
                      <a:pt x="421922" y="268906"/>
                    </a:cubicBezTo>
                    <a:lnTo>
                      <a:pt x="421922" y="212650"/>
                    </a:lnTo>
                    <a:lnTo>
                      <a:pt x="351602" y="212650"/>
                    </a:lnTo>
                    <a:lnTo>
                      <a:pt x="351602" y="365948"/>
                    </a:lnTo>
                    <a:lnTo>
                      <a:pt x="450050" y="464397"/>
                    </a:lnTo>
                    <a:cubicBezTo>
                      <a:pt x="451456" y="464397"/>
                      <a:pt x="452863" y="464397"/>
                      <a:pt x="454269" y="464397"/>
                    </a:cubicBezTo>
                    <a:cubicBezTo>
                      <a:pt x="473959" y="464397"/>
                      <a:pt x="489429" y="479867"/>
                      <a:pt x="489429" y="499557"/>
                    </a:cubicBezTo>
                    <a:cubicBezTo>
                      <a:pt x="489429" y="519247"/>
                      <a:pt x="473959" y="534717"/>
                      <a:pt x="454269" y="534717"/>
                    </a:cubicBezTo>
                    <a:lnTo>
                      <a:pt x="454269" y="534717"/>
                    </a:lnTo>
                    <a:close/>
                    <a:moveTo>
                      <a:pt x="625851" y="250623"/>
                    </a:moveTo>
                    <a:cubicBezTo>
                      <a:pt x="606161" y="250623"/>
                      <a:pt x="590691" y="235153"/>
                      <a:pt x="590691" y="215463"/>
                    </a:cubicBezTo>
                    <a:cubicBezTo>
                      <a:pt x="590691" y="214057"/>
                      <a:pt x="590691" y="214057"/>
                      <a:pt x="590691" y="212650"/>
                    </a:cubicBezTo>
                    <a:lnTo>
                      <a:pt x="534434" y="162020"/>
                    </a:lnTo>
                    <a:lnTo>
                      <a:pt x="534434" y="59352"/>
                    </a:lnTo>
                    <a:cubicBezTo>
                      <a:pt x="548498" y="63571"/>
                      <a:pt x="562563" y="69197"/>
                      <a:pt x="576627" y="74822"/>
                    </a:cubicBezTo>
                    <a:lnTo>
                      <a:pt x="576627" y="143736"/>
                    </a:lnTo>
                    <a:lnTo>
                      <a:pt x="618819" y="181709"/>
                    </a:lnTo>
                    <a:cubicBezTo>
                      <a:pt x="621632" y="181709"/>
                      <a:pt x="623038" y="181709"/>
                      <a:pt x="625851" y="181709"/>
                    </a:cubicBezTo>
                    <a:cubicBezTo>
                      <a:pt x="645541" y="181709"/>
                      <a:pt x="661011" y="197180"/>
                      <a:pt x="661011" y="216869"/>
                    </a:cubicBezTo>
                    <a:cubicBezTo>
                      <a:pt x="661011" y="236559"/>
                      <a:pt x="645541" y="250623"/>
                      <a:pt x="625851" y="250623"/>
                    </a:cubicBezTo>
                    <a:lnTo>
                      <a:pt x="625851" y="250623"/>
                    </a:lnTo>
                    <a:close/>
                  </a:path>
                </a:pathLst>
              </a:custGeom>
              <a:solidFill>
                <a:srgbClr val="000000"/>
              </a:solidFill>
              <a:ln w="13990" cap="flat">
                <a:noFill/>
                <a:prstDash val="solid"/>
                <a:miter/>
              </a:ln>
            </p:spPr>
            <p:txBody>
              <a:bodyPr/>
              <a:lstStyle/>
              <a:p>
                <a:endParaRPr lang="ja-JP" altLang="en-US"/>
              </a:p>
            </p:txBody>
          </p:sp>
          <p:sp>
            <p:nvSpPr>
              <p:cNvPr id="35" name="テキスト ボックス 34">
                <a:extLst>
                  <a:ext uri="{FF2B5EF4-FFF2-40B4-BE49-F238E27FC236}">
                    <a16:creationId xmlns:a16="http://schemas.microsoft.com/office/drawing/2014/main" id="{20E4CE7C-7893-ED73-602B-9EC38EB7DC62}"/>
                  </a:ext>
                </a:extLst>
              </p:cNvPr>
              <p:cNvSpPr txBox="1"/>
              <p:nvPr/>
            </p:nvSpPr>
            <p:spPr>
              <a:xfrm>
                <a:off x="10690426" y="5151999"/>
                <a:ext cx="577402" cy="369332"/>
              </a:xfrm>
              <a:prstGeom prst="rect">
                <a:avLst/>
              </a:prstGeom>
              <a:noFill/>
            </p:spPr>
            <p:txBody>
              <a:bodyPr wrap="none" rtlCol="0">
                <a:spAutoFit/>
              </a:bodyPr>
              <a:lstStyle/>
              <a:p>
                <a:r>
                  <a:rPr kumimoji="1" lang="en-US" altLang="ja-JP"/>
                  <a:t>LLM</a:t>
                </a:r>
                <a:endParaRPr kumimoji="1" lang="ja-JP" altLang="en-US"/>
              </a:p>
            </p:txBody>
          </p:sp>
        </p:grpSp>
        <p:sp>
          <p:nvSpPr>
            <p:cNvPr id="37" name="下矢印 36">
              <a:extLst>
                <a:ext uri="{FF2B5EF4-FFF2-40B4-BE49-F238E27FC236}">
                  <a16:creationId xmlns:a16="http://schemas.microsoft.com/office/drawing/2014/main" id="{C3C4F32A-BF1F-154E-B124-A00E9AE6D804}"/>
                </a:ext>
              </a:extLst>
            </p:cNvPr>
            <p:cNvSpPr/>
            <p:nvPr/>
          </p:nvSpPr>
          <p:spPr>
            <a:xfrm>
              <a:off x="10741931" y="3714985"/>
              <a:ext cx="166858" cy="635126"/>
            </a:xfrm>
            <a:prstGeom prst="downArrow">
              <a:avLst/>
            </a:prstGeom>
            <a:solidFill>
              <a:srgbClr val="0E274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下矢印 37">
              <a:extLst>
                <a:ext uri="{FF2B5EF4-FFF2-40B4-BE49-F238E27FC236}">
                  <a16:creationId xmlns:a16="http://schemas.microsoft.com/office/drawing/2014/main" id="{C8C6CDB7-BB6C-D0CA-EB06-7FB46AD79B25}"/>
                </a:ext>
              </a:extLst>
            </p:cNvPr>
            <p:cNvSpPr/>
            <p:nvPr/>
          </p:nvSpPr>
          <p:spPr>
            <a:xfrm rot="10800000">
              <a:off x="11017091" y="3710413"/>
              <a:ext cx="166858" cy="635126"/>
            </a:xfrm>
            <a:prstGeom prst="downArrow">
              <a:avLst/>
            </a:prstGeom>
            <a:solidFill>
              <a:srgbClr val="0E274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0" name="コンテンツ プレースホルダー 2">
            <a:extLst>
              <a:ext uri="{FF2B5EF4-FFF2-40B4-BE49-F238E27FC236}">
                <a16:creationId xmlns:a16="http://schemas.microsoft.com/office/drawing/2014/main" id="{662114D5-0607-8C38-7800-E7BD92C7E33B}"/>
              </a:ext>
            </a:extLst>
          </p:cNvPr>
          <p:cNvSpPr txBox="1">
            <a:spLocks/>
          </p:cNvSpPr>
          <p:nvPr/>
        </p:nvSpPr>
        <p:spPr>
          <a:xfrm>
            <a:off x="103400" y="1906387"/>
            <a:ext cx="3996544" cy="4046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en" altLang="ja-JP" sz="1200" b="1">
                <a:solidFill>
                  <a:schemeClr val="tx2">
                    <a:lumMod val="90000"/>
                    <a:lumOff val="10000"/>
                  </a:schemeClr>
                </a:solidFill>
                <a:latin typeface="HGMinchoE" panose="02020909000000000000" pitchFamily="49" charset="-128"/>
                <a:ea typeface="HGMinchoE" panose="02020909000000000000" pitchFamily="49" charset="-128"/>
              </a:rPr>
              <a:t>Example: New hotel in front of Osaka Umeda Station</a:t>
            </a:r>
          </a:p>
        </p:txBody>
      </p:sp>
      <p:graphicFrame>
        <p:nvGraphicFramePr>
          <p:cNvPr id="215" name="表 214">
            <a:extLst>
              <a:ext uri="{FF2B5EF4-FFF2-40B4-BE49-F238E27FC236}">
                <a16:creationId xmlns:a16="http://schemas.microsoft.com/office/drawing/2014/main" id="{2A99B880-78DE-29E1-2480-A36EEDCCB780}"/>
              </a:ext>
            </a:extLst>
          </p:cNvPr>
          <p:cNvGraphicFramePr>
            <a:graphicFrameLocks noGrp="1"/>
          </p:cNvGraphicFramePr>
          <p:nvPr>
            <p:extLst>
              <p:ext uri="{D42A27DB-BD31-4B8C-83A1-F6EECF244321}">
                <p14:modId xmlns:p14="http://schemas.microsoft.com/office/powerpoint/2010/main" val="1016990336"/>
              </p:ext>
            </p:extLst>
          </p:nvPr>
        </p:nvGraphicFramePr>
        <p:xfrm>
          <a:off x="841142" y="5239380"/>
          <a:ext cx="2740257" cy="594970"/>
        </p:xfrm>
        <a:graphic>
          <a:graphicData uri="http://schemas.openxmlformats.org/drawingml/2006/table">
            <a:tbl>
              <a:tblPr firstRow="1" firstCol="1" bandRow="1">
                <a:tableStyleId>{5C22544A-7EE6-4342-B048-85BDC9FD1C3A}</a:tableStyleId>
              </a:tblPr>
              <a:tblGrid>
                <a:gridCol w="913419">
                  <a:extLst>
                    <a:ext uri="{9D8B030D-6E8A-4147-A177-3AD203B41FA5}">
                      <a16:colId xmlns:a16="http://schemas.microsoft.com/office/drawing/2014/main" val="646960523"/>
                    </a:ext>
                  </a:extLst>
                </a:gridCol>
                <a:gridCol w="913419">
                  <a:extLst>
                    <a:ext uri="{9D8B030D-6E8A-4147-A177-3AD203B41FA5}">
                      <a16:colId xmlns:a16="http://schemas.microsoft.com/office/drawing/2014/main" val="2734930776"/>
                    </a:ext>
                  </a:extLst>
                </a:gridCol>
                <a:gridCol w="913419">
                  <a:extLst>
                    <a:ext uri="{9D8B030D-6E8A-4147-A177-3AD203B41FA5}">
                      <a16:colId xmlns:a16="http://schemas.microsoft.com/office/drawing/2014/main" val="37053510"/>
                    </a:ext>
                  </a:extLst>
                </a:gridCol>
              </a:tblGrid>
              <a:tr h="365759">
                <a:tc>
                  <a:txBody>
                    <a:bodyPr/>
                    <a:lstStyle/>
                    <a:p>
                      <a:pPr algn="ctr"/>
                      <a:r>
                        <a:rPr kumimoji="1" lang="en" altLang="ja-JP" sz="900">
                          <a:solidFill>
                            <a:schemeClr val="tx2">
                              <a:lumMod val="90000"/>
                              <a:lumOff val="10000"/>
                            </a:schemeClr>
                          </a:solidFill>
                        </a:rPr>
                        <a:t>Proportion of Guest Rooms</a:t>
                      </a:r>
                      <a:endParaRPr kumimoji="1" lang="ja-JP" altLang="en-US" sz="900">
                        <a:solidFill>
                          <a:schemeClr val="tx2">
                            <a:lumMod val="90000"/>
                            <a:lumOff val="10000"/>
                          </a:schemeClr>
                        </a:solidFill>
                      </a:endParaRPr>
                    </a:p>
                  </a:txBody>
                  <a:tcPr anchor="ctr">
                    <a:solidFill>
                      <a:srgbClr val="BACCEC"/>
                    </a:solidFill>
                  </a:tcPr>
                </a:tc>
                <a:tc>
                  <a:txBody>
                    <a:bodyPr/>
                    <a:lstStyle/>
                    <a:p>
                      <a:pPr algn="ctr"/>
                      <a:r>
                        <a:rPr lang="en" altLang="ja-JP" sz="900">
                          <a:solidFill>
                            <a:schemeClr val="tx2">
                              <a:lumMod val="90000"/>
                              <a:lumOff val="10000"/>
                            </a:schemeClr>
                          </a:solidFill>
                        </a:rPr>
                        <a:t>Average Guest Room Size</a:t>
                      </a:r>
                      <a:endParaRPr kumimoji="1" lang="ja-JP" altLang="en-US" sz="900">
                        <a:solidFill>
                          <a:schemeClr val="tx2">
                            <a:lumMod val="90000"/>
                            <a:lumOff val="10000"/>
                          </a:schemeClr>
                        </a:solidFill>
                      </a:endParaRPr>
                    </a:p>
                  </a:txBody>
                  <a:tcPr anchor="ctr">
                    <a:solidFill>
                      <a:srgbClr val="BACCEC"/>
                    </a:solidFill>
                  </a:tcPr>
                </a:tc>
                <a:tc>
                  <a:txBody>
                    <a:bodyPr/>
                    <a:lstStyle/>
                    <a:p>
                      <a:pPr algn="ctr"/>
                      <a:r>
                        <a:rPr lang="en" altLang="ja-JP" sz="900">
                          <a:solidFill>
                            <a:schemeClr val="tx2">
                              <a:lumMod val="90000"/>
                              <a:lumOff val="10000"/>
                            </a:schemeClr>
                          </a:solidFill>
                        </a:rPr>
                        <a:t>Number of guest rooms</a:t>
                      </a:r>
                      <a:endParaRPr kumimoji="1" lang="ja-JP" altLang="en-US" sz="900">
                        <a:solidFill>
                          <a:schemeClr val="tx2">
                            <a:lumMod val="90000"/>
                            <a:lumOff val="10000"/>
                          </a:schemeClr>
                        </a:solidFill>
                      </a:endParaRPr>
                    </a:p>
                  </a:txBody>
                  <a:tcPr anchor="ctr">
                    <a:solidFill>
                      <a:srgbClr val="BACCEC"/>
                    </a:solidFill>
                  </a:tcPr>
                </a:tc>
                <a:extLst>
                  <a:ext uri="{0D108BD9-81ED-4DB2-BD59-A6C34878D82A}">
                    <a16:rowId xmlns:a16="http://schemas.microsoft.com/office/drawing/2014/main" val="2737853201"/>
                  </a:ext>
                </a:extLst>
              </a:tr>
              <a:tr h="229210">
                <a:tc>
                  <a:txBody>
                    <a:bodyPr/>
                    <a:lstStyle/>
                    <a:p>
                      <a:pPr algn="ctr"/>
                      <a:r>
                        <a:rPr kumimoji="1" lang="en-US" altLang="ja-JP" sz="900" b="0">
                          <a:solidFill>
                            <a:schemeClr val="tx2">
                              <a:lumMod val="90000"/>
                              <a:lumOff val="10000"/>
                            </a:schemeClr>
                          </a:solidFill>
                        </a:rPr>
                        <a:t>60%</a:t>
                      </a:r>
                      <a:endParaRPr kumimoji="1" lang="ja-JP" altLang="en-US" sz="900" b="0">
                        <a:solidFill>
                          <a:schemeClr val="tx2">
                            <a:lumMod val="90000"/>
                            <a:lumOff val="10000"/>
                          </a:schemeClr>
                        </a:solidFill>
                      </a:endParaRPr>
                    </a:p>
                  </a:txBody>
                  <a:tcPr anchor="ctr">
                    <a:solidFill>
                      <a:schemeClr val="bg2">
                        <a:lumMod val="90000"/>
                      </a:schemeClr>
                    </a:solidFill>
                  </a:tcPr>
                </a:tc>
                <a:tc>
                  <a:txBody>
                    <a:bodyPr/>
                    <a:lstStyle/>
                    <a:p>
                      <a:pPr algn="ctr"/>
                      <a:r>
                        <a:rPr lang="en-US" altLang="ja-JP" sz="900" b="0"/>
                        <a:t>27</a:t>
                      </a:r>
                      <a:r>
                        <a:rPr lang="ja-JP" altLang="ja-JP" sz="900" b="0"/>
                        <a:t>㎡</a:t>
                      </a:r>
                      <a:endParaRPr kumimoji="1" lang="ja-JP" altLang="en-US" sz="900" b="0">
                        <a:solidFill>
                          <a:schemeClr val="tx2">
                            <a:lumMod val="90000"/>
                            <a:lumOff val="10000"/>
                          </a:schemeClr>
                        </a:solidFill>
                      </a:endParaRPr>
                    </a:p>
                  </a:txBody>
                  <a:tcPr anchor="ctr">
                    <a:solidFill>
                      <a:schemeClr val="bg2">
                        <a:lumMod val="90000"/>
                      </a:schemeClr>
                    </a:solidFill>
                  </a:tcPr>
                </a:tc>
                <a:tc>
                  <a:txBody>
                    <a:bodyPr/>
                    <a:lstStyle/>
                    <a:p>
                      <a:pPr algn="ctr"/>
                      <a:r>
                        <a:rPr lang="en-US" altLang="ja-JP" sz="900" b="0"/>
                        <a:t>200 rooms</a:t>
                      </a:r>
                    </a:p>
                  </a:txBody>
                  <a:tcPr anchor="ctr">
                    <a:solidFill>
                      <a:schemeClr val="bg2">
                        <a:lumMod val="90000"/>
                      </a:schemeClr>
                    </a:solidFill>
                  </a:tcPr>
                </a:tc>
                <a:extLst>
                  <a:ext uri="{0D108BD9-81ED-4DB2-BD59-A6C34878D82A}">
                    <a16:rowId xmlns:a16="http://schemas.microsoft.com/office/drawing/2014/main" val="783521823"/>
                  </a:ext>
                </a:extLst>
              </a:tr>
            </a:tbl>
          </a:graphicData>
        </a:graphic>
      </p:graphicFrame>
      <p:sp>
        <p:nvSpPr>
          <p:cNvPr id="24" name="Rounded Rectangle 5">
            <a:extLst>
              <a:ext uri="{FF2B5EF4-FFF2-40B4-BE49-F238E27FC236}">
                <a16:creationId xmlns:a16="http://schemas.microsoft.com/office/drawing/2014/main" id="{7CAF5548-F103-06AE-7E18-7C7AB423FC3F}"/>
              </a:ext>
            </a:extLst>
          </p:cNvPr>
          <p:cNvSpPr/>
          <p:nvPr/>
        </p:nvSpPr>
        <p:spPr>
          <a:xfrm>
            <a:off x="4538491" y="2343566"/>
            <a:ext cx="2483144" cy="720369"/>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 altLang="ja-JP" sz="700">
                <a:solidFill>
                  <a:schemeClr val="tx1"/>
                </a:solidFill>
              </a:rPr>
              <a:t>Development plans in front of Osaka Umeda Station.</a:t>
            </a:r>
          </a:p>
          <a:p>
            <a:r>
              <a:rPr lang="en" altLang="ja-JP" sz="700">
                <a:solidFill>
                  <a:schemeClr val="tx1"/>
                </a:solidFill>
              </a:rPr>
              <a:t>The construction of a high-rise building is under consideration.</a:t>
            </a:r>
          </a:p>
          <a:p>
            <a:r>
              <a:rPr lang="en" altLang="ja-JP" sz="700">
                <a:solidFill>
                  <a:schemeClr val="tx1"/>
                </a:solidFill>
              </a:rPr>
              <a:t>The site is approximately 2,000 square meters and is located on the west side of Osaka Umeda Station, facing a pedestrian walkway.</a:t>
            </a:r>
            <a:endParaRPr sz="700">
              <a:solidFill>
                <a:schemeClr val="tx1"/>
              </a:solidFill>
            </a:endParaRPr>
          </a:p>
        </p:txBody>
      </p:sp>
      <p:sp>
        <p:nvSpPr>
          <p:cNvPr id="25" name="Rounded Rectangle 5">
            <a:extLst>
              <a:ext uri="{FF2B5EF4-FFF2-40B4-BE49-F238E27FC236}">
                <a16:creationId xmlns:a16="http://schemas.microsoft.com/office/drawing/2014/main" id="{6B6EE906-7A32-0A92-BB5B-23873193CAB2}"/>
              </a:ext>
            </a:extLst>
          </p:cNvPr>
          <p:cNvSpPr/>
          <p:nvPr/>
        </p:nvSpPr>
        <p:spPr>
          <a:xfrm>
            <a:off x="4236579" y="3115988"/>
            <a:ext cx="2483144" cy="573877"/>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 altLang="ja-JP" sz="700">
                <a:solidFill>
                  <a:schemeClr val="tx1"/>
                </a:solidFill>
              </a:rPr>
              <a:t>Is this site acceptable? It has an area of 1,980 square meters. Currently, it consists of walkways and open spaces, serving as a link between the station and nearby facilities.</a:t>
            </a:r>
            <a:endParaRPr kumimoji="1" lang="ja-JP" altLang="en-US" sz="700">
              <a:solidFill>
                <a:schemeClr val="tx1"/>
              </a:solidFill>
            </a:endParaRPr>
          </a:p>
        </p:txBody>
      </p:sp>
      <p:sp>
        <p:nvSpPr>
          <p:cNvPr id="50" name="Rounded Rectangle 5">
            <a:extLst>
              <a:ext uri="{FF2B5EF4-FFF2-40B4-BE49-F238E27FC236}">
                <a16:creationId xmlns:a16="http://schemas.microsoft.com/office/drawing/2014/main" id="{C30373DE-ED63-0698-E8A6-8F78F21214EB}"/>
              </a:ext>
            </a:extLst>
          </p:cNvPr>
          <p:cNvSpPr/>
          <p:nvPr/>
        </p:nvSpPr>
        <p:spPr>
          <a:xfrm>
            <a:off x="4236578" y="4205372"/>
            <a:ext cx="2482137" cy="399170"/>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 altLang="ja-JP" sz="800">
                <a:solidFill>
                  <a:schemeClr val="tx1"/>
                </a:solidFill>
              </a:rPr>
              <a:t>Given its location in front of the station, this site is suitable for mixed-use development, such as a hotel, offices, and retail space.</a:t>
            </a:r>
            <a:endParaRPr lang="ja-JP" altLang="ja-JP" sz="800">
              <a:solidFill>
                <a:schemeClr val="tx1"/>
              </a:solidFill>
            </a:endParaRPr>
          </a:p>
        </p:txBody>
      </p:sp>
      <p:sp>
        <p:nvSpPr>
          <p:cNvPr id="51" name="Rounded Rectangle 5">
            <a:extLst>
              <a:ext uri="{FF2B5EF4-FFF2-40B4-BE49-F238E27FC236}">
                <a16:creationId xmlns:a16="http://schemas.microsoft.com/office/drawing/2014/main" id="{B020A620-D008-CAD6-F3D8-2165E1C4197D}"/>
              </a:ext>
            </a:extLst>
          </p:cNvPr>
          <p:cNvSpPr/>
          <p:nvPr/>
        </p:nvSpPr>
        <p:spPr>
          <a:xfrm>
            <a:off x="4538490" y="4666044"/>
            <a:ext cx="2482137" cy="399170"/>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 altLang="ja-JP" sz="800">
                <a:solidFill>
                  <a:schemeClr val="tx1"/>
                </a:solidFill>
              </a:rPr>
              <a:t>The primary use will be a hotel, and we would like to include commercial facilities on the lower floors.</a:t>
            </a:r>
            <a:endParaRPr lang="en-US" altLang="ja-JP" sz="800">
              <a:solidFill>
                <a:schemeClr val="tx1"/>
              </a:solidFill>
            </a:endParaRPr>
          </a:p>
        </p:txBody>
      </p:sp>
      <p:sp>
        <p:nvSpPr>
          <p:cNvPr id="52" name="Rounded Rectangle 5">
            <a:extLst>
              <a:ext uri="{FF2B5EF4-FFF2-40B4-BE49-F238E27FC236}">
                <a16:creationId xmlns:a16="http://schemas.microsoft.com/office/drawing/2014/main" id="{DE60BB1C-A605-A4C6-6D0F-2D70EB3A84E9}"/>
              </a:ext>
            </a:extLst>
          </p:cNvPr>
          <p:cNvSpPr/>
          <p:nvPr/>
        </p:nvSpPr>
        <p:spPr>
          <a:xfrm>
            <a:off x="4236578" y="5127279"/>
            <a:ext cx="2482137" cy="399170"/>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 altLang="ja-JP" sz="800">
                <a:solidFill>
                  <a:schemeClr val="tx1"/>
                </a:solidFill>
              </a:rPr>
              <a:t>Let's assume that the first through third floors are commercial space and the upper floors are a hotel.</a:t>
            </a:r>
            <a:endParaRPr lang="ja-JP" altLang="ja-JP" sz="800">
              <a:solidFill>
                <a:schemeClr val="tx1"/>
              </a:solidFill>
            </a:endParaRPr>
          </a:p>
        </p:txBody>
      </p:sp>
      <p:sp>
        <p:nvSpPr>
          <p:cNvPr id="54" name="Rounded Rectangle 5">
            <a:extLst>
              <a:ext uri="{FF2B5EF4-FFF2-40B4-BE49-F238E27FC236}">
                <a16:creationId xmlns:a16="http://schemas.microsoft.com/office/drawing/2014/main" id="{F6191165-9121-0E03-B0FF-DEB59C654B4E}"/>
              </a:ext>
            </a:extLst>
          </p:cNvPr>
          <p:cNvSpPr/>
          <p:nvPr/>
        </p:nvSpPr>
        <p:spPr>
          <a:xfrm>
            <a:off x="4538490" y="5582071"/>
            <a:ext cx="2473070" cy="230353"/>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 altLang="ja-JP" sz="800">
                <a:solidFill>
                  <a:schemeClr val="tx1"/>
                </a:solidFill>
              </a:rPr>
              <a:t>We are considering a 25-story building.</a:t>
            </a:r>
          </a:p>
        </p:txBody>
      </p:sp>
      <p:sp>
        <p:nvSpPr>
          <p:cNvPr id="55" name="Rounded Rectangle 5">
            <a:extLst>
              <a:ext uri="{FF2B5EF4-FFF2-40B4-BE49-F238E27FC236}">
                <a16:creationId xmlns:a16="http://schemas.microsoft.com/office/drawing/2014/main" id="{2B43591C-33BD-0069-517F-137DE3DD6CFF}"/>
              </a:ext>
            </a:extLst>
          </p:cNvPr>
          <p:cNvSpPr/>
          <p:nvPr/>
        </p:nvSpPr>
        <p:spPr>
          <a:xfrm>
            <a:off x="4236578" y="5865388"/>
            <a:ext cx="2482137" cy="399170"/>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 altLang="ja-JP" sz="800">
                <a:solidFill>
                  <a:schemeClr val="tx1"/>
                </a:solidFill>
              </a:rPr>
              <a:t>We estimate the total floor area to be approximately 30,000 square meters.</a:t>
            </a:r>
          </a:p>
        </p:txBody>
      </p:sp>
      <p:sp>
        <p:nvSpPr>
          <p:cNvPr id="59" name="Rounded Rectangle 5">
            <a:extLst>
              <a:ext uri="{FF2B5EF4-FFF2-40B4-BE49-F238E27FC236}">
                <a16:creationId xmlns:a16="http://schemas.microsoft.com/office/drawing/2014/main" id="{5754FB86-EE13-1957-CCF2-1A88971F314A}"/>
              </a:ext>
            </a:extLst>
          </p:cNvPr>
          <p:cNvSpPr/>
          <p:nvPr/>
        </p:nvSpPr>
        <p:spPr>
          <a:xfrm>
            <a:off x="7307097" y="2393375"/>
            <a:ext cx="2482137" cy="257438"/>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 altLang="ja-JP" sz="800">
                <a:solidFill>
                  <a:schemeClr val="tx1"/>
                </a:solidFill>
              </a:rPr>
              <a:t>We will assume that the hotel portion covers approximately 25,000 square meters.</a:t>
            </a:r>
            <a:endParaRPr lang="ja-JP" altLang="ja-JP" sz="800">
              <a:solidFill>
                <a:schemeClr val="tx1"/>
              </a:solidFill>
            </a:endParaRPr>
          </a:p>
        </p:txBody>
      </p:sp>
      <p:sp>
        <p:nvSpPr>
          <p:cNvPr id="61" name="Rounded Rectangle 5">
            <a:extLst>
              <a:ext uri="{FF2B5EF4-FFF2-40B4-BE49-F238E27FC236}">
                <a16:creationId xmlns:a16="http://schemas.microsoft.com/office/drawing/2014/main" id="{2076248B-02EE-1BD1-E270-3326E6827907}"/>
              </a:ext>
            </a:extLst>
          </p:cNvPr>
          <p:cNvSpPr/>
          <p:nvPr/>
        </p:nvSpPr>
        <p:spPr>
          <a:xfrm>
            <a:off x="7307097" y="2703639"/>
            <a:ext cx="2482137" cy="397944"/>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 altLang="ja-JP" sz="800">
                <a:solidFill>
                  <a:schemeClr val="tx1"/>
                </a:solidFill>
              </a:rPr>
              <a:t>We estimate that the hotel has approximately 500 guest rooms, with an average room size of about 27 square meters.</a:t>
            </a:r>
            <a:endParaRPr lang="ja-JP" altLang="ja-JP" sz="800">
              <a:solidFill>
                <a:schemeClr val="tx1"/>
              </a:solidFill>
            </a:endParaRPr>
          </a:p>
        </p:txBody>
      </p:sp>
      <p:sp>
        <p:nvSpPr>
          <p:cNvPr id="62" name="Rounded Rectangle 5">
            <a:extLst>
              <a:ext uri="{FF2B5EF4-FFF2-40B4-BE49-F238E27FC236}">
                <a16:creationId xmlns:a16="http://schemas.microsoft.com/office/drawing/2014/main" id="{7A93DCD4-AD3B-F4DA-92C9-F84ABBAA71B3}"/>
              </a:ext>
            </a:extLst>
          </p:cNvPr>
          <p:cNvSpPr/>
          <p:nvPr/>
        </p:nvSpPr>
        <p:spPr>
          <a:xfrm>
            <a:off x="7303431" y="3152092"/>
            <a:ext cx="2482137" cy="397944"/>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 altLang="ja-JP" sz="800">
                <a:solidFill>
                  <a:schemeClr val="tx1"/>
                </a:solidFill>
              </a:rPr>
              <a:t>We will classify the proportion of guest rooms as approximately 60%.</a:t>
            </a:r>
            <a:endParaRPr lang="ja-JP" altLang="ja-JP" sz="800">
              <a:solidFill>
                <a:schemeClr val="tx1"/>
              </a:solidFill>
            </a:endParaRPr>
          </a:p>
        </p:txBody>
      </p:sp>
      <p:sp>
        <p:nvSpPr>
          <p:cNvPr id="63" name="Rounded Rectangle 5">
            <a:extLst>
              <a:ext uri="{FF2B5EF4-FFF2-40B4-BE49-F238E27FC236}">
                <a16:creationId xmlns:a16="http://schemas.microsoft.com/office/drawing/2014/main" id="{A8549FD5-2B3D-7F6A-9C22-A2C94539AD73}"/>
              </a:ext>
            </a:extLst>
          </p:cNvPr>
          <p:cNvSpPr/>
          <p:nvPr/>
        </p:nvSpPr>
        <p:spPr>
          <a:xfrm>
            <a:off x="7612721" y="3595756"/>
            <a:ext cx="2482137" cy="238547"/>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 altLang="ja-JP" sz="800">
                <a:solidFill>
                  <a:schemeClr val="tx1"/>
                </a:solidFill>
              </a:rPr>
              <a:t>Please proceed under those conditions.</a:t>
            </a:r>
          </a:p>
        </p:txBody>
      </p:sp>
      <p:sp>
        <p:nvSpPr>
          <p:cNvPr id="128" name="Rounded Rectangle 5">
            <a:extLst>
              <a:ext uri="{FF2B5EF4-FFF2-40B4-BE49-F238E27FC236}">
                <a16:creationId xmlns:a16="http://schemas.microsoft.com/office/drawing/2014/main" id="{877D59B7-F391-B689-F8C9-45230B9136C6}"/>
              </a:ext>
            </a:extLst>
          </p:cNvPr>
          <p:cNvSpPr/>
          <p:nvPr/>
        </p:nvSpPr>
        <p:spPr>
          <a:xfrm>
            <a:off x="7298543" y="4447645"/>
            <a:ext cx="2482137" cy="399170"/>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 altLang="ja-JP" sz="800">
                <a:solidFill>
                  <a:schemeClr val="tx1"/>
                </a:solidFill>
              </a:rPr>
              <a:t>On the first floor, a layout that preserves the pedestrian walkway and plaza is preferable.</a:t>
            </a:r>
          </a:p>
        </p:txBody>
      </p:sp>
      <p:sp>
        <p:nvSpPr>
          <p:cNvPr id="130" name="Rounded Rectangle 5">
            <a:extLst>
              <a:ext uri="{FF2B5EF4-FFF2-40B4-BE49-F238E27FC236}">
                <a16:creationId xmlns:a16="http://schemas.microsoft.com/office/drawing/2014/main" id="{934A8A9E-C0EC-A313-0B6C-8860E180404C}"/>
              </a:ext>
            </a:extLst>
          </p:cNvPr>
          <p:cNvSpPr/>
          <p:nvPr/>
        </p:nvSpPr>
        <p:spPr>
          <a:xfrm>
            <a:off x="7600455" y="4908317"/>
            <a:ext cx="2482137" cy="399170"/>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 altLang="ja-JP" sz="800">
                <a:solidFill>
                  <a:schemeClr val="tx1"/>
                </a:solidFill>
              </a:rPr>
              <a:t>I would like to connect the station ticket gates and the surrounding commercial facilities to the hotel.</a:t>
            </a:r>
          </a:p>
        </p:txBody>
      </p:sp>
      <p:sp>
        <p:nvSpPr>
          <p:cNvPr id="132" name="Rounded Rectangle 5">
            <a:extLst>
              <a:ext uri="{FF2B5EF4-FFF2-40B4-BE49-F238E27FC236}">
                <a16:creationId xmlns:a16="http://schemas.microsoft.com/office/drawing/2014/main" id="{469A67E9-DAC1-CF73-57E7-A920C135D4E0}"/>
              </a:ext>
            </a:extLst>
          </p:cNvPr>
          <p:cNvSpPr/>
          <p:nvPr/>
        </p:nvSpPr>
        <p:spPr>
          <a:xfrm>
            <a:off x="7298543" y="5369552"/>
            <a:ext cx="2482137" cy="399170"/>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 altLang="ja-JP" sz="800">
                <a:solidFill>
                  <a:schemeClr val="tx1"/>
                </a:solidFill>
              </a:rPr>
              <a:t>I will organize the proposal for creating a through passageway within the building.</a:t>
            </a:r>
          </a:p>
        </p:txBody>
      </p:sp>
      <p:sp>
        <p:nvSpPr>
          <p:cNvPr id="134" name="Rounded Rectangle 5">
            <a:extLst>
              <a:ext uri="{FF2B5EF4-FFF2-40B4-BE49-F238E27FC236}">
                <a16:creationId xmlns:a16="http://schemas.microsoft.com/office/drawing/2014/main" id="{B0155DE1-07A2-5092-54C5-D4F6B839096C}"/>
              </a:ext>
            </a:extLst>
          </p:cNvPr>
          <p:cNvSpPr/>
          <p:nvPr/>
        </p:nvSpPr>
        <p:spPr>
          <a:xfrm>
            <a:off x="7313765" y="5832917"/>
            <a:ext cx="2482137" cy="399170"/>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 altLang="ja-JP" sz="800">
                <a:solidFill>
                  <a:schemeClr val="tx1"/>
                </a:solidFill>
              </a:rPr>
              <a:t>These conditions will be output as a scenario for evaluating pedestrian traffic.</a:t>
            </a:r>
            <a:endParaRPr lang="ja-JP" altLang="ja-JP" sz="800">
              <a:solidFill>
                <a:schemeClr val="tx1"/>
              </a:solidFill>
            </a:endParaRPr>
          </a:p>
        </p:txBody>
      </p:sp>
    </p:spTree>
    <p:extLst>
      <p:ext uri="{BB962C8B-B14F-4D97-AF65-F5344CB8AC3E}">
        <p14:creationId xmlns:p14="http://schemas.microsoft.com/office/powerpoint/2010/main" val="1415970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E6FF5-1EEA-F6BF-99B6-78B330B9166F}"/>
            </a:ext>
          </a:extLst>
        </p:cNvPr>
        <p:cNvGrpSpPr/>
        <p:nvPr/>
      </p:nvGrpSpPr>
      <p:grpSpPr>
        <a:xfrm>
          <a:off x="0" y="0"/>
          <a:ext cx="0" cy="0"/>
          <a:chOff x="0" y="0"/>
          <a:chExt cx="0" cy="0"/>
        </a:xfrm>
      </p:grpSpPr>
      <p:sp>
        <p:nvSpPr>
          <p:cNvPr id="50" name="Rounded Rectangle 5">
            <a:extLst>
              <a:ext uri="{FF2B5EF4-FFF2-40B4-BE49-F238E27FC236}">
                <a16:creationId xmlns:a16="http://schemas.microsoft.com/office/drawing/2014/main" id="{04534713-5FD4-E535-AF63-0AD42356738F}"/>
              </a:ext>
            </a:extLst>
          </p:cNvPr>
          <p:cNvSpPr/>
          <p:nvPr/>
        </p:nvSpPr>
        <p:spPr>
          <a:xfrm>
            <a:off x="4038600" y="5013346"/>
            <a:ext cx="4278823" cy="1359230"/>
          </a:xfrm>
          <a:prstGeom prst="roundRect">
            <a:avLst>
              <a:gd name="adj" fmla="val 9000"/>
            </a:avLst>
          </a:prstGeom>
          <a:solidFill>
            <a:srgbClr val="BACCEC">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日付プレースホルダー 3">
            <a:extLst>
              <a:ext uri="{FF2B5EF4-FFF2-40B4-BE49-F238E27FC236}">
                <a16:creationId xmlns:a16="http://schemas.microsoft.com/office/drawing/2014/main" id="{F14F3E9F-54B5-737E-B597-51F3EC21C135}"/>
              </a:ext>
            </a:extLst>
          </p:cNvPr>
          <p:cNvSpPr>
            <a:spLocks noGrp="1"/>
          </p:cNvSpPr>
          <p:nvPr>
            <p:ph type="dt" sz="half" idx="10"/>
          </p:nvPr>
        </p:nvSpPr>
        <p:spPr/>
        <p:txBody>
          <a:bodyPr/>
          <a:lstStyle/>
          <a:p>
            <a:r>
              <a:rPr lang="en-US" altLang="ja-JP"/>
              <a:t>2026/6</a:t>
            </a:r>
            <a:endParaRPr kumimoji="1" lang="ja-JP" altLang="en-US"/>
          </a:p>
        </p:txBody>
      </p:sp>
      <p:sp>
        <p:nvSpPr>
          <p:cNvPr id="5" name="フッター プレースホルダー 4">
            <a:extLst>
              <a:ext uri="{FF2B5EF4-FFF2-40B4-BE49-F238E27FC236}">
                <a16:creationId xmlns:a16="http://schemas.microsoft.com/office/drawing/2014/main" id="{6EFC864B-0371-E5D8-569D-87B8300C193C}"/>
              </a:ext>
            </a:extLst>
          </p:cNvPr>
          <p:cNvSpPr>
            <a:spLocks noGrp="1"/>
          </p:cNvSpPr>
          <p:nvPr>
            <p:ph type="ftr" sz="quarter" idx="11"/>
          </p:nvPr>
        </p:nvSpPr>
        <p:spPr/>
        <p:txBody>
          <a:bodyPr/>
          <a:lstStyle/>
          <a:p>
            <a:r>
              <a:rPr kumimoji="1" lang="ja-JP" altLang="en-US"/>
              <a:t>関本・中居研究室</a:t>
            </a:r>
          </a:p>
        </p:txBody>
      </p:sp>
      <p:sp>
        <p:nvSpPr>
          <p:cNvPr id="6" name="スライド番号プレースホルダー 5">
            <a:extLst>
              <a:ext uri="{FF2B5EF4-FFF2-40B4-BE49-F238E27FC236}">
                <a16:creationId xmlns:a16="http://schemas.microsoft.com/office/drawing/2014/main" id="{A73D1B36-91BF-80AE-0546-0E2B326B1761}"/>
              </a:ext>
            </a:extLst>
          </p:cNvPr>
          <p:cNvSpPr>
            <a:spLocks noGrp="1"/>
          </p:cNvSpPr>
          <p:nvPr>
            <p:ph type="sldNum" sz="quarter" idx="12"/>
          </p:nvPr>
        </p:nvSpPr>
        <p:spPr/>
        <p:txBody>
          <a:bodyPr/>
          <a:lstStyle/>
          <a:p>
            <a:fld id="{6539E37A-E522-3D47-AAB7-DDF67C94A05D}" type="slidenum">
              <a:rPr lang="en-US" altLang="ja-JP"/>
              <a:t>3</a:t>
            </a:fld>
            <a:endParaRPr kumimoji="1" lang="ja-JP" altLang="en-US"/>
          </a:p>
        </p:txBody>
      </p:sp>
      <p:grpSp>
        <p:nvGrpSpPr>
          <p:cNvPr id="119" name="グループ化 118">
            <a:extLst>
              <a:ext uri="{FF2B5EF4-FFF2-40B4-BE49-F238E27FC236}">
                <a16:creationId xmlns:a16="http://schemas.microsoft.com/office/drawing/2014/main" id="{04FC4451-5535-823E-18F8-A2310A2DDF78}"/>
              </a:ext>
            </a:extLst>
          </p:cNvPr>
          <p:cNvGrpSpPr/>
          <p:nvPr/>
        </p:nvGrpSpPr>
        <p:grpSpPr>
          <a:xfrm>
            <a:off x="4291411" y="1980090"/>
            <a:ext cx="1298448" cy="262128"/>
            <a:chOff x="2843784" y="2029968"/>
            <a:chExt cx="1298448" cy="262128"/>
          </a:xfrm>
        </p:grpSpPr>
        <p:sp>
          <p:nvSpPr>
            <p:cNvPr id="120" name="Rounded Rectangle 16">
              <a:extLst>
                <a:ext uri="{FF2B5EF4-FFF2-40B4-BE49-F238E27FC236}">
                  <a16:creationId xmlns:a16="http://schemas.microsoft.com/office/drawing/2014/main" id="{0C214181-2DAE-B023-2CC2-43398DEAD776}"/>
                </a:ext>
              </a:extLst>
            </p:cNvPr>
            <p:cNvSpPr/>
            <p:nvPr/>
          </p:nvSpPr>
          <p:spPr>
            <a:xfrm>
              <a:off x="2843784" y="2036064"/>
              <a:ext cx="1298448" cy="256032"/>
            </a:xfrm>
            <a:prstGeom prst="roundRect">
              <a:avLst>
                <a:gd name="adj" fmla="val 9000"/>
              </a:avLst>
            </a:prstGeom>
            <a:solidFill>
              <a:srgbClr val="1B519F"/>
            </a:solidFill>
            <a:ln w="12700">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7">
              <a:extLst>
                <a:ext uri="{FF2B5EF4-FFF2-40B4-BE49-F238E27FC236}">
                  <a16:creationId xmlns:a16="http://schemas.microsoft.com/office/drawing/2014/main" id="{579DFA51-9248-DE3F-2A60-EC202A49DC80}"/>
                </a:ext>
              </a:extLst>
            </p:cNvPr>
            <p:cNvSpPr txBox="1"/>
            <p:nvPr/>
          </p:nvSpPr>
          <p:spPr>
            <a:xfrm>
              <a:off x="3163824" y="2029968"/>
              <a:ext cx="676656" cy="146304"/>
            </a:xfrm>
            <a:prstGeom prst="rect">
              <a:avLst/>
            </a:prstGeom>
            <a:noFill/>
            <a:ln>
              <a:noFill/>
            </a:ln>
          </p:spPr>
          <p:txBody>
            <a:bodyPr wrap="square" lIns="36576" tIns="36576" rIns="36576" bIns="36576" anchor="t">
              <a:spAutoFit/>
            </a:bodyPr>
            <a:lstStyle/>
            <a:p>
              <a:pPr algn="ctr"/>
              <a:r>
                <a:rPr sz="1400" b="1">
                  <a:solidFill>
                    <a:srgbClr val="FFFFFF"/>
                  </a:solidFill>
                  <a:latin typeface="Noto Sans CJK JP"/>
                </a:rPr>
                <a:t>Before</a:t>
              </a:r>
            </a:p>
          </p:txBody>
        </p:sp>
      </p:grpSp>
      <p:grpSp>
        <p:nvGrpSpPr>
          <p:cNvPr id="122" name="グループ化 121">
            <a:extLst>
              <a:ext uri="{FF2B5EF4-FFF2-40B4-BE49-F238E27FC236}">
                <a16:creationId xmlns:a16="http://schemas.microsoft.com/office/drawing/2014/main" id="{DFD05FD9-78DC-F785-7002-4F56A3128240}"/>
              </a:ext>
            </a:extLst>
          </p:cNvPr>
          <p:cNvGrpSpPr/>
          <p:nvPr/>
        </p:nvGrpSpPr>
        <p:grpSpPr>
          <a:xfrm>
            <a:off x="6728883" y="1980834"/>
            <a:ext cx="1298448" cy="265176"/>
            <a:chOff x="4681728" y="2029968"/>
            <a:chExt cx="1298448" cy="265176"/>
          </a:xfrm>
        </p:grpSpPr>
        <p:sp>
          <p:nvSpPr>
            <p:cNvPr id="123" name="Rounded Rectangle 18">
              <a:extLst>
                <a:ext uri="{FF2B5EF4-FFF2-40B4-BE49-F238E27FC236}">
                  <a16:creationId xmlns:a16="http://schemas.microsoft.com/office/drawing/2014/main" id="{DAB5462A-7B90-F602-155A-8C83691DE7C7}"/>
                </a:ext>
              </a:extLst>
            </p:cNvPr>
            <p:cNvSpPr/>
            <p:nvPr/>
          </p:nvSpPr>
          <p:spPr>
            <a:xfrm>
              <a:off x="4681728" y="2039112"/>
              <a:ext cx="1298448" cy="256032"/>
            </a:xfrm>
            <a:prstGeom prst="roundRect">
              <a:avLst>
                <a:gd name="adj" fmla="val 9000"/>
              </a:avLst>
            </a:prstGeom>
            <a:solidFill>
              <a:srgbClr val="D94C3D"/>
            </a:solidFill>
            <a:ln w="12700">
              <a:solidFill>
                <a:srgbClr val="D9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9">
              <a:extLst>
                <a:ext uri="{FF2B5EF4-FFF2-40B4-BE49-F238E27FC236}">
                  <a16:creationId xmlns:a16="http://schemas.microsoft.com/office/drawing/2014/main" id="{FE33D435-3BA5-5651-ED20-032CFEA48A03}"/>
                </a:ext>
              </a:extLst>
            </p:cNvPr>
            <p:cNvSpPr txBox="1"/>
            <p:nvPr/>
          </p:nvSpPr>
          <p:spPr>
            <a:xfrm>
              <a:off x="5029200" y="2029968"/>
              <a:ext cx="640080" cy="146304"/>
            </a:xfrm>
            <a:prstGeom prst="rect">
              <a:avLst/>
            </a:prstGeom>
            <a:noFill/>
            <a:ln>
              <a:noFill/>
            </a:ln>
          </p:spPr>
          <p:txBody>
            <a:bodyPr wrap="square" lIns="36576" tIns="36576" rIns="36576" bIns="36576" anchor="t">
              <a:spAutoFit/>
            </a:bodyPr>
            <a:lstStyle/>
            <a:p>
              <a:pPr algn="ctr"/>
              <a:r>
                <a:rPr sz="1400" b="1">
                  <a:solidFill>
                    <a:srgbClr val="FFFFFF"/>
                  </a:solidFill>
                  <a:latin typeface="Noto Sans CJK JP"/>
                </a:rPr>
                <a:t>After</a:t>
              </a:r>
            </a:p>
          </p:txBody>
        </p:sp>
      </p:grpSp>
      <p:sp>
        <p:nvSpPr>
          <p:cNvPr id="127" name="Rounded Rectangle 5">
            <a:extLst>
              <a:ext uri="{FF2B5EF4-FFF2-40B4-BE49-F238E27FC236}">
                <a16:creationId xmlns:a16="http://schemas.microsoft.com/office/drawing/2014/main" id="{5D72920D-2AA5-C468-7F6C-70244EC9B407}"/>
              </a:ext>
            </a:extLst>
          </p:cNvPr>
          <p:cNvSpPr/>
          <p:nvPr/>
        </p:nvSpPr>
        <p:spPr>
          <a:xfrm>
            <a:off x="8603487" y="2270138"/>
            <a:ext cx="3369872" cy="1246574"/>
          </a:xfrm>
          <a:prstGeom prst="roundRect">
            <a:avLst>
              <a:gd name="adj" fmla="val 9000"/>
            </a:avLst>
          </a:prstGeom>
          <a:solidFill>
            <a:srgbClr val="E5E97E">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TextBox 7">
            <a:extLst>
              <a:ext uri="{FF2B5EF4-FFF2-40B4-BE49-F238E27FC236}">
                <a16:creationId xmlns:a16="http://schemas.microsoft.com/office/drawing/2014/main" id="{9CD89372-741A-0D06-04DB-0F42B6DF20B4}"/>
              </a:ext>
            </a:extLst>
          </p:cNvPr>
          <p:cNvSpPr txBox="1"/>
          <p:nvPr/>
        </p:nvSpPr>
        <p:spPr>
          <a:xfrm>
            <a:off x="8801328" y="2273017"/>
            <a:ext cx="3024230" cy="286036"/>
          </a:xfrm>
          <a:prstGeom prst="roundRect">
            <a:avLst/>
          </a:prstGeom>
          <a:noFill/>
          <a:ln>
            <a:noFill/>
          </a:ln>
        </p:spPr>
        <p:txBody>
          <a:bodyPr wrap="square" lIns="36576" tIns="36576" rIns="36576" bIns="36576" anchor="t">
            <a:spAutoFit/>
          </a:bodyPr>
          <a:lstStyle/>
          <a:p>
            <a:pPr algn="ctr"/>
            <a:r>
              <a:rPr lang="en" altLang="ja-JP" sz="1200" b="1">
                <a:solidFill>
                  <a:srgbClr val="0B2B5B"/>
                </a:solidFill>
                <a:latin typeface="Noto Sans CJK JP"/>
              </a:rPr>
              <a:t>Ex. 1: Change in Plans</a:t>
            </a:r>
            <a:endParaRPr sz="1200" b="1">
              <a:solidFill>
                <a:srgbClr val="0B2B5B"/>
              </a:solidFill>
              <a:latin typeface="Noto Sans CJK JP"/>
            </a:endParaRPr>
          </a:p>
        </p:txBody>
      </p:sp>
      <p:sp>
        <p:nvSpPr>
          <p:cNvPr id="132" name="Rounded Rectangle 5">
            <a:extLst>
              <a:ext uri="{FF2B5EF4-FFF2-40B4-BE49-F238E27FC236}">
                <a16:creationId xmlns:a16="http://schemas.microsoft.com/office/drawing/2014/main" id="{BE80DE9F-DFD9-28A1-13B5-28A18107182F}"/>
              </a:ext>
            </a:extLst>
          </p:cNvPr>
          <p:cNvSpPr/>
          <p:nvPr/>
        </p:nvSpPr>
        <p:spPr>
          <a:xfrm>
            <a:off x="8615273" y="3555465"/>
            <a:ext cx="3369872" cy="1173569"/>
          </a:xfrm>
          <a:prstGeom prst="roundRect">
            <a:avLst>
              <a:gd name="adj" fmla="val 9000"/>
            </a:avLst>
          </a:prstGeom>
          <a:solidFill>
            <a:srgbClr val="E5E97E">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7">
            <a:extLst>
              <a:ext uri="{FF2B5EF4-FFF2-40B4-BE49-F238E27FC236}">
                <a16:creationId xmlns:a16="http://schemas.microsoft.com/office/drawing/2014/main" id="{370A8F6C-0E05-4F01-0270-11721816DAD6}"/>
              </a:ext>
            </a:extLst>
          </p:cNvPr>
          <p:cNvSpPr txBox="1"/>
          <p:nvPr/>
        </p:nvSpPr>
        <p:spPr>
          <a:xfrm>
            <a:off x="8878010" y="3528531"/>
            <a:ext cx="2870867" cy="286036"/>
          </a:xfrm>
          <a:prstGeom prst="roundRect">
            <a:avLst/>
          </a:prstGeom>
          <a:noFill/>
          <a:ln>
            <a:noFill/>
          </a:ln>
        </p:spPr>
        <p:txBody>
          <a:bodyPr wrap="square" lIns="36576" tIns="36576" rIns="36576" bIns="36576" anchor="t">
            <a:spAutoFit/>
          </a:bodyPr>
          <a:lstStyle/>
          <a:p>
            <a:pPr algn="ctr"/>
            <a:r>
              <a:rPr lang="en" altLang="ja-JP" sz="1200" b="1">
                <a:solidFill>
                  <a:srgbClr val="0B2B5B"/>
                </a:solidFill>
                <a:latin typeface="Noto Sans CJK JP"/>
              </a:rPr>
              <a:t>Ex. 2: A Specific Scenario</a:t>
            </a:r>
          </a:p>
        </p:txBody>
      </p:sp>
      <p:sp>
        <p:nvSpPr>
          <p:cNvPr id="135" name="Rounded Rectangle 5">
            <a:extLst>
              <a:ext uri="{FF2B5EF4-FFF2-40B4-BE49-F238E27FC236}">
                <a16:creationId xmlns:a16="http://schemas.microsoft.com/office/drawing/2014/main" id="{DC19770B-343B-23B1-97C1-541A66451B07}"/>
              </a:ext>
            </a:extLst>
          </p:cNvPr>
          <p:cNvSpPr/>
          <p:nvPr/>
        </p:nvSpPr>
        <p:spPr>
          <a:xfrm>
            <a:off x="8628508" y="4779552"/>
            <a:ext cx="3369872" cy="1593024"/>
          </a:xfrm>
          <a:prstGeom prst="roundRect">
            <a:avLst>
              <a:gd name="adj" fmla="val 9000"/>
            </a:avLst>
          </a:prstGeom>
          <a:solidFill>
            <a:srgbClr val="E5E97E">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7">
            <a:extLst>
              <a:ext uri="{FF2B5EF4-FFF2-40B4-BE49-F238E27FC236}">
                <a16:creationId xmlns:a16="http://schemas.microsoft.com/office/drawing/2014/main" id="{D7085D2D-45D2-43BF-CEF4-A39AC8E3B3C3}"/>
              </a:ext>
            </a:extLst>
          </p:cNvPr>
          <p:cNvSpPr txBox="1"/>
          <p:nvPr/>
        </p:nvSpPr>
        <p:spPr>
          <a:xfrm>
            <a:off x="8742400" y="4805593"/>
            <a:ext cx="3069924" cy="269010"/>
          </a:xfrm>
          <a:prstGeom prst="roundRect">
            <a:avLst/>
          </a:prstGeom>
          <a:noFill/>
          <a:ln>
            <a:noFill/>
          </a:ln>
        </p:spPr>
        <p:txBody>
          <a:bodyPr wrap="square" lIns="36576" tIns="36576" rIns="36576" bIns="36576" anchor="t">
            <a:spAutoFit/>
          </a:bodyPr>
          <a:lstStyle/>
          <a:p>
            <a:pPr algn="ctr"/>
            <a:r>
              <a:rPr lang="en" altLang="ja-JP" sz="1100" b="1">
                <a:solidFill>
                  <a:srgbClr val="0B2B5B"/>
                </a:solidFill>
                <a:latin typeface="Noto Sans CJK JP"/>
              </a:rPr>
              <a:t>Ex. 3: Upward and Downward Scenarios</a:t>
            </a:r>
          </a:p>
        </p:txBody>
      </p:sp>
      <p:sp>
        <p:nvSpPr>
          <p:cNvPr id="138" name="コンテンツ プレースホルダー 2">
            <a:extLst>
              <a:ext uri="{FF2B5EF4-FFF2-40B4-BE49-F238E27FC236}">
                <a16:creationId xmlns:a16="http://schemas.microsoft.com/office/drawing/2014/main" id="{F934E9E5-4E99-6839-09C5-25FC5181C9AB}"/>
              </a:ext>
            </a:extLst>
          </p:cNvPr>
          <p:cNvSpPr txBox="1">
            <a:spLocks/>
          </p:cNvSpPr>
          <p:nvPr/>
        </p:nvSpPr>
        <p:spPr>
          <a:xfrm>
            <a:off x="8954492" y="1854515"/>
            <a:ext cx="2717902" cy="404645"/>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en" altLang="ja-JP" sz="1600" b="1"/>
              <a:t>Comparison of Pedestrian Traffic by Situation</a:t>
            </a:r>
            <a:endParaRPr lang="ja-JP" altLang="en-US" sz="1600"/>
          </a:p>
        </p:txBody>
      </p:sp>
      <p:grpSp>
        <p:nvGrpSpPr>
          <p:cNvPr id="41" name="グループ化 40">
            <a:extLst>
              <a:ext uri="{FF2B5EF4-FFF2-40B4-BE49-F238E27FC236}">
                <a16:creationId xmlns:a16="http://schemas.microsoft.com/office/drawing/2014/main" id="{63470504-AA79-EC57-3011-3ED1EC7808B5}"/>
              </a:ext>
            </a:extLst>
          </p:cNvPr>
          <p:cNvGrpSpPr/>
          <p:nvPr/>
        </p:nvGrpSpPr>
        <p:grpSpPr>
          <a:xfrm>
            <a:off x="4065224" y="2300786"/>
            <a:ext cx="1866616" cy="2650684"/>
            <a:chOff x="4680529" y="2155879"/>
            <a:chExt cx="1866616" cy="2650684"/>
          </a:xfrm>
        </p:grpSpPr>
        <p:pic>
          <p:nvPicPr>
            <p:cNvPr id="125" name="図 124">
              <a:extLst>
                <a:ext uri="{FF2B5EF4-FFF2-40B4-BE49-F238E27FC236}">
                  <a16:creationId xmlns:a16="http://schemas.microsoft.com/office/drawing/2014/main" id="{A98BE586-7944-65CE-945B-072E50645C91}"/>
                </a:ext>
              </a:extLst>
            </p:cNvPr>
            <p:cNvPicPr>
              <a:picLocks noChangeAspect="1"/>
            </p:cNvPicPr>
            <p:nvPr/>
          </p:nvPicPr>
          <p:blipFill>
            <a:blip r:embed="rId3"/>
            <a:srcRect/>
            <a:stretch/>
          </p:blipFill>
          <p:spPr>
            <a:xfrm>
              <a:off x="4680529" y="2155879"/>
              <a:ext cx="1866616" cy="2650684"/>
            </a:xfrm>
            <a:prstGeom prst="rect">
              <a:avLst/>
            </a:prstGeom>
          </p:spPr>
        </p:pic>
        <p:cxnSp>
          <p:nvCxnSpPr>
            <p:cNvPr id="15" name="直線矢印コネクタ 14">
              <a:extLst>
                <a:ext uri="{FF2B5EF4-FFF2-40B4-BE49-F238E27FC236}">
                  <a16:creationId xmlns:a16="http://schemas.microsoft.com/office/drawing/2014/main" id="{470192CC-F805-A63D-4CD0-444E97B52B0B}"/>
                </a:ext>
              </a:extLst>
            </p:cNvPr>
            <p:cNvCxnSpPr/>
            <p:nvPr/>
          </p:nvCxnSpPr>
          <p:spPr>
            <a:xfrm flipV="1">
              <a:off x="4888319" y="3277057"/>
              <a:ext cx="555465" cy="90010"/>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19" name="直線矢印コネクタ 18">
              <a:extLst>
                <a:ext uri="{FF2B5EF4-FFF2-40B4-BE49-F238E27FC236}">
                  <a16:creationId xmlns:a16="http://schemas.microsoft.com/office/drawing/2014/main" id="{048093A6-6DC1-B63F-6A4B-20E16592C517}"/>
                </a:ext>
              </a:extLst>
            </p:cNvPr>
            <p:cNvCxnSpPr>
              <a:cxnSpLocks/>
            </p:cNvCxnSpPr>
            <p:nvPr/>
          </p:nvCxnSpPr>
          <p:spPr>
            <a:xfrm flipV="1">
              <a:off x="4997777" y="4194085"/>
              <a:ext cx="558163" cy="115429"/>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22" name="直線矢印コネクタ 21">
              <a:extLst>
                <a:ext uri="{FF2B5EF4-FFF2-40B4-BE49-F238E27FC236}">
                  <a16:creationId xmlns:a16="http://schemas.microsoft.com/office/drawing/2014/main" id="{110F0104-2E4C-75E3-E44C-C8356721C11B}"/>
                </a:ext>
              </a:extLst>
            </p:cNvPr>
            <p:cNvCxnSpPr>
              <a:cxnSpLocks/>
            </p:cNvCxnSpPr>
            <p:nvPr/>
          </p:nvCxnSpPr>
          <p:spPr>
            <a:xfrm>
              <a:off x="5465930" y="3277057"/>
              <a:ext cx="138764" cy="917028"/>
            </a:xfrm>
            <a:prstGeom prst="straightConnector1">
              <a:avLst/>
            </a:prstGeom>
            <a:ln w="31750">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25" name="直線矢印コネクタ 24">
              <a:extLst>
                <a:ext uri="{FF2B5EF4-FFF2-40B4-BE49-F238E27FC236}">
                  <a16:creationId xmlns:a16="http://schemas.microsoft.com/office/drawing/2014/main" id="{E7265852-D95F-FD85-B0A2-4E361DAA35F8}"/>
                </a:ext>
              </a:extLst>
            </p:cNvPr>
            <p:cNvCxnSpPr>
              <a:cxnSpLocks/>
            </p:cNvCxnSpPr>
            <p:nvPr/>
          </p:nvCxnSpPr>
          <p:spPr>
            <a:xfrm flipV="1">
              <a:off x="5673084" y="4216557"/>
              <a:ext cx="558163" cy="115429"/>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26" name="直線矢印コネクタ 25">
              <a:extLst>
                <a:ext uri="{FF2B5EF4-FFF2-40B4-BE49-F238E27FC236}">
                  <a16:creationId xmlns:a16="http://schemas.microsoft.com/office/drawing/2014/main" id="{0232EAA0-54B4-0A19-F5E7-11294C2497BA}"/>
                </a:ext>
              </a:extLst>
            </p:cNvPr>
            <p:cNvCxnSpPr>
              <a:cxnSpLocks/>
            </p:cNvCxnSpPr>
            <p:nvPr/>
          </p:nvCxnSpPr>
          <p:spPr>
            <a:xfrm>
              <a:off x="5308395" y="2618910"/>
              <a:ext cx="95752" cy="610791"/>
            </a:xfrm>
            <a:prstGeom prst="straightConnector1">
              <a:avLst/>
            </a:prstGeom>
            <a:ln w="15875">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29" name="直線矢印コネクタ 28">
              <a:extLst>
                <a:ext uri="{FF2B5EF4-FFF2-40B4-BE49-F238E27FC236}">
                  <a16:creationId xmlns:a16="http://schemas.microsoft.com/office/drawing/2014/main" id="{BC34AB95-6834-6F12-AE31-D49F3D0A8FD0}"/>
                </a:ext>
              </a:extLst>
            </p:cNvPr>
            <p:cNvCxnSpPr>
              <a:cxnSpLocks/>
            </p:cNvCxnSpPr>
            <p:nvPr/>
          </p:nvCxnSpPr>
          <p:spPr>
            <a:xfrm>
              <a:off x="5124665" y="3812444"/>
              <a:ext cx="59313" cy="381641"/>
            </a:xfrm>
            <a:prstGeom prst="straightConnector1">
              <a:avLst/>
            </a:prstGeom>
            <a:ln w="12700">
              <a:headEnd type="triangle"/>
              <a:tailEnd type="triangle"/>
            </a:ln>
          </p:spPr>
          <p:style>
            <a:lnRef idx="2">
              <a:schemeClr val="accent4"/>
            </a:lnRef>
            <a:fillRef idx="0">
              <a:schemeClr val="accent4"/>
            </a:fillRef>
            <a:effectRef idx="1">
              <a:schemeClr val="accent4"/>
            </a:effectRef>
            <a:fontRef idx="minor">
              <a:schemeClr val="tx1"/>
            </a:fontRef>
          </p:style>
        </p:cxnSp>
      </p:grpSp>
      <p:grpSp>
        <p:nvGrpSpPr>
          <p:cNvPr id="40" name="グループ化 39">
            <a:extLst>
              <a:ext uri="{FF2B5EF4-FFF2-40B4-BE49-F238E27FC236}">
                <a16:creationId xmlns:a16="http://schemas.microsoft.com/office/drawing/2014/main" id="{D1CF8874-12AA-9A9B-052C-3CC75DA3AB69}"/>
              </a:ext>
            </a:extLst>
          </p:cNvPr>
          <p:cNvGrpSpPr/>
          <p:nvPr/>
        </p:nvGrpSpPr>
        <p:grpSpPr>
          <a:xfrm>
            <a:off x="6439776" y="2308393"/>
            <a:ext cx="1876661" cy="2657597"/>
            <a:chOff x="6975760" y="2155879"/>
            <a:chExt cx="1876661" cy="2657597"/>
          </a:xfrm>
        </p:grpSpPr>
        <p:pic>
          <p:nvPicPr>
            <p:cNvPr id="126" name="図 125">
              <a:extLst>
                <a:ext uri="{FF2B5EF4-FFF2-40B4-BE49-F238E27FC236}">
                  <a16:creationId xmlns:a16="http://schemas.microsoft.com/office/drawing/2014/main" id="{B0E6FD01-CC64-95E7-47BB-46BB409F165B}"/>
                </a:ext>
              </a:extLst>
            </p:cNvPr>
            <p:cNvPicPr>
              <a:picLocks noChangeAspect="1"/>
            </p:cNvPicPr>
            <p:nvPr/>
          </p:nvPicPr>
          <p:blipFill>
            <a:blip r:embed="rId4"/>
            <a:srcRect/>
            <a:stretch/>
          </p:blipFill>
          <p:spPr>
            <a:xfrm>
              <a:off x="6975760" y="2155879"/>
              <a:ext cx="1871071" cy="2650684"/>
            </a:xfrm>
            <a:prstGeom prst="rect">
              <a:avLst/>
            </a:prstGeom>
          </p:spPr>
        </p:pic>
        <p:pic>
          <p:nvPicPr>
            <p:cNvPr id="31" name="図 30">
              <a:extLst>
                <a:ext uri="{FF2B5EF4-FFF2-40B4-BE49-F238E27FC236}">
                  <a16:creationId xmlns:a16="http://schemas.microsoft.com/office/drawing/2014/main" id="{F2FE2C76-CE20-57A9-D1F9-1618F87D27CE}"/>
                </a:ext>
              </a:extLst>
            </p:cNvPr>
            <p:cNvPicPr>
              <a:picLocks noChangeAspect="1"/>
            </p:cNvPicPr>
            <p:nvPr/>
          </p:nvPicPr>
          <p:blipFill>
            <a:blip r:embed="rId3"/>
            <a:srcRect/>
            <a:stretch/>
          </p:blipFill>
          <p:spPr>
            <a:xfrm>
              <a:off x="6985805" y="2162792"/>
              <a:ext cx="1866616" cy="2650684"/>
            </a:xfrm>
            <a:prstGeom prst="rect">
              <a:avLst/>
            </a:prstGeom>
          </p:spPr>
        </p:pic>
        <p:cxnSp>
          <p:nvCxnSpPr>
            <p:cNvPr id="32" name="直線矢印コネクタ 31">
              <a:extLst>
                <a:ext uri="{FF2B5EF4-FFF2-40B4-BE49-F238E27FC236}">
                  <a16:creationId xmlns:a16="http://schemas.microsoft.com/office/drawing/2014/main" id="{C072F1B8-F073-D375-FA35-EF07DCF8B8E0}"/>
                </a:ext>
              </a:extLst>
            </p:cNvPr>
            <p:cNvCxnSpPr/>
            <p:nvPr/>
          </p:nvCxnSpPr>
          <p:spPr>
            <a:xfrm flipV="1">
              <a:off x="7193595" y="3283970"/>
              <a:ext cx="555465" cy="90010"/>
            </a:xfrm>
            <a:prstGeom prst="straightConnector1">
              <a:avLst/>
            </a:prstGeom>
            <a:ln w="41275">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4" name="直線矢印コネクタ 33">
              <a:extLst>
                <a:ext uri="{FF2B5EF4-FFF2-40B4-BE49-F238E27FC236}">
                  <a16:creationId xmlns:a16="http://schemas.microsoft.com/office/drawing/2014/main" id="{D1292F6C-30DE-939B-9758-8D70341CB70C}"/>
                </a:ext>
              </a:extLst>
            </p:cNvPr>
            <p:cNvCxnSpPr>
              <a:cxnSpLocks/>
            </p:cNvCxnSpPr>
            <p:nvPr/>
          </p:nvCxnSpPr>
          <p:spPr>
            <a:xfrm flipV="1">
              <a:off x="7303053" y="4200998"/>
              <a:ext cx="558163" cy="115429"/>
            </a:xfrm>
            <a:prstGeom prst="straightConnector1">
              <a:avLst/>
            </a:prstGeom>
            <a:ln>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5" name="直線矢印コネクタ 34">
              <a:extLst>
                <a:ext uri="{FF2B5EF4-FFF2-40B4-BE49-F238E27FC236}">
                  <a16:creationId xmlns:a16="http://schemas.microsoft.com/office/drawing/2014/main" id="{E034EBC6-DAC2-F167-0636-BEE3654BADDE}"/>
                </a:ext>
              </a:extLst>
            </p:cNvPr>
            <p:cNvCxnSpPr>
              <a:cxnSpLocks/>
            </p:cNvCxnSpPr>
            <p:nvPr/>
          </p:nvCxnSpPr>
          <p:spPr>
            <a:xfrm>
              <a:off x="7771206" y="3283970"/>
              <a:ext cx="138764" cy="917028"/>
            </a:xfrm>
            <a:prstGeom prst="straightConnector1">
              <a:avLst/>
            </a:prstGeom>
            <a:ln w="25400">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6" name="直線矢印コネクタ 35">
              <a:extLst>
                <a:ext uri="{FF2B5EF4-FFF2-40B4-BE49-F238E27FC236}">
                  <a16:creationId xmlns:a16="http://schemas.microsoft.com/office/drawing/2014/main" id="{46924E5A-6C63-88D8-B9AC-E320CC3F6BD0}"/>
                </a:ext>
              </a:extLst>
            </p:cNvPr>
            <p:cNvCxnSpPr>
              <a:cxnSpLocks/>
            </p:cNvCxnSpPr>
            <p:nvPr/>
          </p:nvCxnSpPr>
          <p:spPr>
            <a:xfrm flipV="1">
              <a:off x="7978360" y="4223470"/>
              <a:ext cx="558163" cy="115429"/>
            </a:xfrm>
            <a:prstGeom prst="straightConnector1">
              <a:avLst/>
            </a:prstGeom>
            <a:ln>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7" name="直線矢印コネクタ 36">
              <a:extLst>
                <a:ext uri="{FF2B5EF4-FFF2-40B4-BE49-F238E27FC236}">
                  <a16:creationId xmlns:a16="http://schemas.microsoft.com/office/drawing/2014/main" id="{CA717A52-5D35-0E68-1603-27C78B085D28}"/>
                </a:ext>
              </a:extLst>
            </p:cNvPr>
            <p:cNvCxnSpPr>
              <a:cxnSpLocks/>
            </p:cNvCxnSpPr>
            <p:nvPr/>
          </p:nvCxnSpPr>
          <p:spPr>
            <a:xfrm>
              <a:off x="7613671" y="2625823"/>
              <a:ext cx="95752" cy="610791"/>
            </a:xfrm>
            <a:prstGeom prst="straightConnector1">
              <a:avLst/>
            </a:prstGeom>
            <a:ln>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8" name="直線矢印コネクタ 37">
              <a:extLst>
                <a:ext uri="{FF2B5EF4-FFF2-40B4-BE49-F238E27FC236}">
                  <a16:creationId xmlns:a16="http://schemas.microsoft.com/office/drawing/2014/main" id="{7EA08612-FC50-06EC-3984-30D1568DB131}"/>
                </a:ext>
              </a:extLst>
            </p:cNvPr>
            <p:cNvCxnSpPr>
              <a:cxnSpLocks/>
            </p:cNvCxnSpPr>
            <p:nvPr/>
          </p:nvCxnSpPr>
          <p:spPr>
            <a:xfrm>
              <a:off x="7429941" y="3819357"/>
              <a:ext cx="59313" cy="381641"/>
            </a:xfrm>
            <a:prstGeom prst="straightConnector1">
              <a:avLst/>
            </a:prstGeom>
            <a:ln w="28575">
              <a:headEnd type="triangle"/>
              <a:tailEnd type="triangle"/>
            </a:ln>
          </p:spPr>
          <p:style>
            <a:lnRef idx="2">
              <a:schemeClr val="accent6"/>
            </a:lnRef>
            <a:fillRef idx="0">
              <a:schemeClr val="accent6"/>
            </a:fillRef>
            <a:effectRef idx="1">
              <a:schemeClr val="accent6"/>
            </a:effectRef>
            <a:fontRef idx="minor">
              <a:schemeClr val="tx1"/>
            </a:fontRef>
          </p:style>
        </p:cxnSp>
        <p:cxnSp>
          <p:nvCxnSpPr>
            <p:cNvPr id="39" name="直線矢印コネクタ 38">
              <a:extLst>
                <a:ext uri="{FF2B5EF4-FFF2-40B4-BE49-F238E27FC236}">
                  <a16:creationId xmlns:a16="http://schemas.microsoft.com/office/drawing/2014/main" id="{E8C40642-1745-97A9-0F9A-6D3F01EF90A2}"/>
                </a:ext>
              </a:extLst>
            </p:cNvPr>
            <p:cNvCxnSpPr>
              <a:cxnSpLocks/>
            </p:cNvCxnSpPr>
            <p:nvPr/>
          </p:nvCxnSpPr>
          <p:spPr>
            <a:xfrm>
              <a:off x="7537167" y="3359660"/>
              <a:ext cx="54089" cy="413628"/>
            </a:xfrm>
            <a:prstGeom prst="straightConnector1">
              <a:avLst/>
            </a:prstGeom>
            <a:ln w="28575">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grpSp>
      <p:sp>
        <p:nvSpPr>
          <p:cNvPr id="28" name="コンテンツ プレースホルダー 2">
            <a:extLst>
              <a:ext uri="{FF2B5EF4-FFF2-40B4-BE49-F238E27FC236}">
                <a16:creationId xmlns:a16="http://schemas.microsoft.com/office/drawing/2014/main" id="{6A8F459F-7F1D-F5A0-92CF-B834E940EBE0}"/>
              </a:ext>
            </a:extLst>
          </p:cNvPr>
          <p:cNvSpPr txBox="1">
            <a:spLocks/>
          </p:cNvSpPr>
          <p:nvPr/>
        </p:nvSpPr>
        <p:spPr>
          <a:xfrm>
            <a:off x="597136" y="1041383"/>
            <a:ext cx="5726114" cy="4046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b="1"/>
              <a:t>2. </a:t>
            </a:r>
            <a:r>
              <a:rPr lang="en" altLang="ja-JP" b="1"/>
              <a:t>Make predictions using simulated pedestrian flow</a:t>
            </a:r>
            <a:endParaRPr lang="ja-JP" altLang="en-US"/>
          </a:p>
        </p:txBody>
      </p:sp>
      <p:sp>
        <p:nvSpPr>
          <p:cNvPr id="30" name="TextBox 79">
            <a:extLst>
              <a:ext uri="{FF2B5EF4-FFF2-40B4-BE49-F238E27FC236}">
                <a16:creationId xmlns:a16="http://schemas.microsoft.com/office/drawing/2014/main" id="{A41CC48D-359F-0082-72BA-AAB0B08176E7}"/>
              </a:ext>
            </a:extLst>
          </p:cNvPr>
          <p:cNvSpPr txBox="1"/>
          <p:nvPr/>
        </p:nvSpPr>
        <p:spPr>
          <a:xfrm>
            <a:off x="975665" y="1381050"/>
            <a:ext cx="8855750" cy="280077"/>
          </a:xfrm>
          <a:prstGeom prst="rect">
            <a:avLst/>
          </a:prstGeom>
          <a:noFill/>
          <a:ln>
            <a:noFill/>
          </a:ln>
        </p:spPr>
        <p:txBody>
          <a:bodyPr wrap="square" lIns="36576" tIns="36576" rIns="36576" bIns="36576" anchor="t">
            <a:spAutoFit/>
          </a:bodyPr>
          <a:lstStyle/>
          <a:p>
            <a:r>
              <a:rPr lang="en" sz="1340" b="1">
                <a:solidFill>
                  <a:schemeClr val="bg2">
                    <a:lumMod val="10000"/>
                  </a:schemeClr>
                </a:solidFill>
                <a:latin typeface="Noto Sans CJK JP"/>
              </a:rPr>
              <a:t>・ Refine plans based on foot traffic forecasts and conduct simulations for various scenarios.</a:t>
            </a:r>
            <a:endParaRPr lang="ja-JP" altLang="en-US" sz="1340" b="1">
              <a:solidFill>
                <a:schemeClr val="bg2">
                  <a:lumMod val="10000"/>
                </a:schemeClr>
              </a:solidFill>
              <a:latin typeface="Noto Sans CJK JP"/>
            </a:endParaRPr>
          </a:p>
        </p:txBody>
      </p:sp>
      <p:sp>
        <p:nvSpPr>
          <p:cNvPr id="42" name="右矢印 41">
            <a:extLst>
              <a:ext uri="{FF2B5EF4-FFF2-40B4-BE49-F238E27FC236}">
                <a16:creationId xmlns:a16="http://schemas.microsoft.com/office/drawing/2014/main" id="{BBEFE5E3-4DE9-D477-98D5-BDBE1A541782}"/>
              </a:ext>
            </a:extLst>
          </p:cNvPr>
          <p:cNvSpPr/>
          <p:nvPr/>
        </p:nvSpPr>
        <p:spPr>
          <a:xfrm>
            <a:off x="6033379" y="3579260"/>
            <a:ext cx="355895" cy="182778"/>
          </a:xfrm>
          <a:prstGeom prst="rightArrow">
            <a:avLst/>
          </a:prstGeom>
          <a:solidFill>
            <a:srgbClr val="00206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Rounded Rectangle 5">
            <a:extLst>
              <a:ext uri="{FF2B5EF4-FFF2-40B4-BE49-F238E27FC236}">
                <a16:creationId xmlns:a16="http://schemas.microsoft.com/office/drawing/2014/main" id="{0B2913D3-BD74-6D36-DB85-7FEB8E595874}"/>
              </a:ext>
            </a:extLst>
          </p:cNvPr>
          <p:cNvSpPr/>
          <p:nvPr/>
        </p:nvSpPr>
        <p:spPr>
          <a:xfrm>
            <a:off x="5712201" y="5084871"/>
            <a:ext cx="2482137" cy="238547"/>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 altLang="ja-JP" sz="1050">
                <a:solidFill>
                  <a:schemeClr val="tx1"/>
                </a:solidFill>
              </a:rPr>
              <a:t>Please predict the flow of people.</a:t>
            </a:r>
            <a:endParaRPr lang="en-US" altLang="ja-JP" sz="1050">
              <a:solidFill>
                <a:schemeClr val="tx1"/>
              </a:solidFill>
            </a:endParaRPr>
          </a:p>
        </p:txBody>
      </p:sp>
      <p:sp>
        <p:nvSpPr>
          <p:cNvPr id="44" name="Rounded Rectangle 5">
            <a:extLst>
              <a:ext uri="{FF2B5EF4-FFF2-40B4-BE49-F238E27FC236}">
                <a16:creationId xmlns:a16="http://schemas.microsoft.com/office/drawing/2014/main" id="{83E3009E-5B3A-5D07-E2DE-F61DA4CBCAB0}"/>
              </a:ext>
            </a:extLst>
          </p:cNvPr>
          <p:cNvSpPr/>
          <p:nvPr/>
        </p:nvSpPr>
        <p:spPr>
          <a:xfrm>
            <a:off x="4187952" y="5400133"/>
            <a:ext cx="2888402" cy="880236"/>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 altLang="ja-JP" sz="1000">
                <a:solidFill>
                  <a:schemeClr val="tx1"/>
                </a:solidFill>
              </a:rPr>
              <a:t>This chart shows the pedestrian traffic forecast.</a:t>
            </a:r>
          </a:p>
          <a:p>
            <a:pPr algn="ctr"/>
            <a:r>
              <a:rPr lang="en" altLang="ja-JP" sz="1000">
                <a:solidFill>
                  <a:schemeClr val="tx1"/>
                </a:solidFill>
              </a:rPr>
              <a:t>Weekday visitors: </a:t>
            </a:r>
            <a:r>
              <a:rPr lang="ja-JP" altLang="en-US" sz="1000">
                <a:solidFill>
                  <a:schemeClr val="tx1"/>
                </a:solidFill>
              </a:rPr>
              <a:t>〇〇 </a:t>
            </a:r>
            <a:r>
              <a:rPr lang="en-US" altLang="ja-JP" sz="1000">
                <a:solidFill>
                  <a:schemeClr val="tx1"/>
                </a:solidFill>
              </a:rPr>
              <a:t>thousands </a:t>
            </a:r>
            <a:r>
              <a:rPr lang="en" altLang="ja-JP" sz="1000">
                <a:solidFill>
                  <a:schemeClr val="tx1"/>
                </a:solidFill>
              </a:rPr>
              <a:t>people</a:t>
            </a:r>
          </a:p>
          <a:p>
            <a:pPr algn="ctr"/>
            <a:r>
              <a:rPr lang="en" altLang="ja-JP" sz="1000">
                <a:solidFill>
                  <a:schemeClr val="tx1"/>
                </a:solidFill>
              </a:rPr>
              <a:t>Weekend visitors: △△</a:t>
            </a:r>
            <a:r>
              <a:rPr lang="ja-JP" altLang="en-US" sz="1000">
                <a:solidFill>
                  <a:schemeClr val="tx1"/>
                </a:solidFill>
              </a:rPr>
              <a:t> </a:t>
            </a:r>
            <a:r>
              <a:rPr lang="en-US" altLang="ja-JP" sz="1000">
                <a:solidFill>
                  <a:schemeClr val="tx1"/>
                </a:solidFill>
              </a:rPr>
              <a:t>thousands </a:t>
            </a:r>
            <a:r>
              <a:rPr lang="en" altLang="ja-JP" sz="1000">
                <a:solidFill>
                  <a:schemeClr val="tx1"/>
                </a:solidFill>
              </a:rPr>
              <a:t>people</a:t>
            </a:r>
          </a:p>
          <a:p>
            <a:pPr algn="ctr"/>
            <a:r>
              <a:rPr lang="en" altLang="ja-JP" sz="1000">
                <a:solidFill>
                  <a:schemeClr val="tx1"/>
                </a:solidFill>
              </a:rPr>
              <a:t>There has been a particularly sharp increase in the number of people using ~~Street.</a:t>
            </a:r>
            <a:endParaRPr lang="ja-JP" altLang="en-US" sz="1000">
              <a:solidFill>
                <a:schemeClr val="tx1"/>
              </a:solidFill>
            </a:endParaRPr>
          </a:p>
        </p:txBody>
      </p:sp>
      <p:sp>
        <p:nvSpPr>
          <p:cNvPr id="45" name="Rounded Rectangle 5">
            <a:extLst>
              <a:ext uri="{FF2B5EF4-FFF2-40B4-BE49-F238E27FC236}">
                <a16:creationId xmlns:a16="http://schemas.microsoft.com/office/drawing/2014/main" id="{F0CCA1F7-8CD5-D722-83A8-30F14043783A}"/>
              </a:ext>
            </a:extLst>
          </p:cNvPr>
          <p:cNvSpPr/>
          <p:nvPr/>
        </p:nvSpPr>
        <p:spPr>
          <a:xfrm>
            <a:off x="9386433" y="2583187"/>
            <a:ext cx="2483144" cy="404645"/>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 altLang="ja-JP" sz="1050">
                <a:solidFill>
                  <a:schemeClr val="tx1"/>
                </a:solidFill>
              </a:rPr>
              <a:t>Maybe I'll adjust the balance of the commercial facilities... something like this.</a:t>
            </a:r>
            <a:endParaRPr sz="1050">
              <a:solidFill>
                <a:schemeClr val="tx1"/>
              </a:solidFill>
            </a:endParaRPr>
          </a:p>
        </p:txBody>
      </p:sp>
      <p:sp>
        <p:nvSpPr>
          <p:cNvPr id="46" name="Rounded Rectangle 5">
            <a:extLst>
              <a:ext uri="{FF2B5EF4-FFF2-40B4-BE49-F238E27FC236}">
                <a16:creationId xmlns:a16="http://schemas.microsoft.com/office/drawing/2014/main" id="{E0DFFC78-6EC4-F509-0351-A0A555716C26}"/>
              </a:ext>
            </a:extLst>
          </p:cNvPr>
          <p:cNvSpPr/>
          <p:nvPr/>
        </p:nvSpPr>
        <p:spPr>
          <a:xfrm>
            <a:off x="8733515" y="3040582"/>
            <a:ext cx="2483144" cy="425581"/>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kumimoji="1" lang="en" altLang="ja-JP" sz="1050">
                <a:solidFill>
                  <a:schemeClr val="tx1"/>
                </a:solidFill>
              </a:rPr>
              <a:t>In that case, the number of visitors will change to </a:t>
            </a:r>
            <a:r>
              <a:rPr kumimoji="1" lang="ja-JP" altLang="en-US" sz="1050">
                <a:solidFill>
                  <a:schemeClr val="tx1"/>
                </a:solidFill>
              </a:rPr>
              <a:t>〇〇</a:t>
            </a:r>
            <a:r>
              <a:rPr kumimoji="1" lang="en-US" altLang="ja-JP" sz="1050">
                <a:solidFill>
                  <a:schemeClr val="tx1"/>
                </a:solidFill>
              </a:rPr>
              <a:t> thousands people.</a:t>
            </a:r>
          </a:p>
        </p:txBody>
      </p:sp>
      <p:sp>
        <p:nvSpPr>
          <p:cNvPr id="47" name="Rounded Rectangle 5">
            <a:extLst>
              <a:ext uri="{FF2B5EF4-FFF2-40B4-BE49-F238E27FC236}">
                <a16:creationId xmlns:a16="http://schemas.microsoft.com/office/drawing/2014/main" id="{B367B70A-7657-6858-F488-6094574F0AFD}"/>
              </a:ext>
            </a:extLst>
          </p:cNvPr>
          <p:cNvSpPr/>
          <p:nvPr/>
        </p:nvSpPr>
        <p:spPr>
          <a:xfrm>
            <a:off x="9379339" y="3806760"/>
            <a:ext cx="2483144" cy="385405"/>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nSpc>
                <a:spcPct val="150000"/>
              </a:lnSpc>
            </a:pPr>
            <a:r>
              <a:rPr kumimoji="1" lang="en" altLang="ja-JP" sz="800">
                <a:solidFill>
                  <a:schemeClr val="tx1"/>
                </a:solidFill>
                <a:latin typeface="+mn-ea"/>
              </a:rPr>
              <a:t>I'd like to see how the numbers change when it rains all day.</a:t>
            </a:r>
            <a:endParaRPr kumimoji="1" lang="ja-JP" altLang="en-US" sz="800">
              <a:solidFill>
                <a:schemeClr val="tx1"/>
              </a:solidFill>
              <a:latin typeface="+mn-ea"/>
            </a:endParaRPr>
          </a:p>
        </p:txBody>
      </p:sp>
      <p:sp>
        <p:nvSpPr>
          <p:cNvPr id="48" name="Rounded Rectangle 5">
            <a:extLst>
              <a:ext uri="{FF2B5EF4-FFF2-40B4-BE49-F238E27FC236}">
                <a16:creationId xmlns:a16="http://schemas.microsoft.com/office/drawing/2014/main" id="{2CD80D3E-3C3C-04C1-BF3C-183F3AB00014}"/>
              </a:ext>
            </a:extLst>
          </p:cNvPr>
          <p:cNvSpPr/>
          <p:nvPr/>
        </p:nvSpPr>
        <p:spPr>
          <a:xfrm>
            <a:off x="9379339" y="5091629"/>
            <a:ext cx="2483144" cy="720245"/>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nSpc>
                <a:spcPct val="150000"/>
              </a:lnSpc>
            </a:pPr>
            <a:r>
              <a:rPr kumimoji="1" lang="en" altLang="ja-JP" sz="800">
                <a:solidFill>
                  <a:schemeClr val="tx1"/>
                </a:solidFill>
                <a:latin typeface="+mn-ea"/>
              </a:rPr>
              <a:t>I'd like to know the best-case and worst-case scenarios for the first year of business if it becomes a hit and goes well.</a:t>
            </a:r>
            <a:endParaRPr kumimoji="1" lang="ja-JP" altLang="en-US" sz="800">
              <a:solidFill>
                <a:schemeClr val="tx1"/>
              </a:solidFill>
              <a:latin typeface="+mn-ea"/>
            </a:endParaRPr>
          </a:p>
        </p:txBody>
      </p:sp>
      <p:sp>
        <p:nvSpPr>
          <p:cNvPr id="53" name="Rounded Rectangle 5">
            <a:extLst>
              <a:ext uri="{FF2B5EF4-FFF2-40B4-BE49-F238E27FC236}">
                <a16:creationId xmlns:a16="http://schemas.microsoft.com/office/drawing/2014/main" id="{58C384DB-13FB-5358-95F8-C14FC57C28FD}"/>
              </a:ext>
            </a:extLst>
          </p:cNvPr>
          <p:cNvSpPr/>
          <p:nvPr/>
        </p:nvSpPr>
        <p:spPr>
          <a:xfrm>
            <a:off x="8710330" y="4235487"/>
            <a:ext cx="2605334" cy="436924"/>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kumimoji="1" lang="en" altLang="ja-JP" sz="900">
                <a:solidFill>
                  <a:schemeClr val="tx1"/>
                </a:solidFill>
              </a:rPr>
              <a:t>When it rains, the number of visitors on weekdays drops to </a:t>
            </a:r>
            <a:r>
              <a:rPr kumimoji="1" lang="ja-JP" altLang="en-US" sz="900">
                <a:solidFill>
                  <a:schemeClr val="tx1"/>
                </a:solidFill>
              </a:rPr>
              <a:t>〇〇</a:t>
            </a:r>
            <a:r>
              <a:rPr kumimoji="1" lang="en-US" altLang="ja-JP" sz="900">
                <a:solidFill>
                  <a:schemeClr val="tx1"/>
                </a:solidFill>
              </a:rPr>
              <a:t> thousands people, </a:t>
            </a:r>
            <a:r>
              <a:rPr kumimoji="1" lang="en" altLang="ja-JP" sz="900">
                <a:solidFill>
                  <a:schemeClr val="tx1"/>
                </a:solidFill>
              </a:rPr>
              <a:t>and on weekends to △△</a:t>
            </a:r>
            <a:r>
              <a:rPr kumimoji="1" lang="en-US" altLang="ja-JP" sz="900">
                <a:solidFill>
                  <a:schemeClr val="tx1"/>
                </a:solidFill>
              </a:rPr>
              <a:t> thousands people.</a:t>
            </a:r>
            <a:endParaRPr kumimoji="1" lang="ja-JP" altLang="en-US" sz="900">
              <a:solidFill>
                <a:schemeClr val="tx1"/>
              </a:solidFill>
            </a:endParaRPr>
          </a:p>
        </p:txBody>
      </p:sp>
      <p:sp>
        <p:nvSpPr>
          <p:cNvPr id="54" name="Rounded Rectangle 5">
            <a:extLst>
              <a:ext uri="{FF2B5EF4-FFF2-40B4-BE49-F238E27FC236}">
                <a16:creationId xmlns:a16="http://schemas.microsoft.com/office/drawing/2014/main" id="{E1F9C3E9-68EF-687E-C527-D1AE17B96561}"/>
              </a:ext>
            </a:extLst>
          </p:cNvPr>
          <p:cNvSpPr/>
          <p:nvPr/>
        </p:nvSpPr>
        <p:spPr>
          <a:xfrm>
            <a:off x="8727150" y="5862392"/>
            <a:ext cx="2605334" cy="436924"/>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 altLang="ja-JP" sz="1000">
                <a:solidFill>
                  <a:schemeClr val="tx1"/>
                </a:solidFill>
              </a:rPr>
              <a:t>We will create and compare two scenarios: an upside scenario and a downside scenario.</a:t>
            </a:r>
          </a:p>
        </p:txBody>
      </p:sp>
      <p:grpSp>
        <p:nvGrpSpPr>
          <p:cNvPr id="3" name="グループ化 2">
            <a:extLst>
              <a:ext uri="{FF2B5EF4-FFF2-40B4-BE49-F238E27FC236}">
                <a16:creationId xmlns:a16="http://schemas.microsoft.com/office/drawing/2014/main" id="{1CDE2820-86A1-D161-FDC9-95BFFC8F767D}"/>
              </a:ext>
            </a:extLst>
          </p:cNvPr>
          <p:cNvGrpSpPr/>
          <p:nvPr/>
        </p:nvGrpSpPr>
        <p:grpSpPr>
          <a:xfrm>
            <a:off x="672770" y="2217744"/>
            <a:ext cx="2966492" cy="4136912"/>
            <a:chOff x="649685" y="1422978"/>
            <a:chExt cx="3383674" cy="4804980"/>
          </a:xfrm>
        </p:grpSpPr>
        <p:pic>
          <p:nvPicPr>
            <p:cNvPr id="7" name="図 6">
              <a:extLst>
                <a:ext uri="{FF2B5EF4-FFF2-40B4-BE49-F238E27FC236}">
                  <a16:creationId xmlns:a16="http://schemas.microsoft.com/office/drawing/2014/main" id="{4E48A90D-2829-DD34-5441-60B3FF20DBBC}"/>
                </a:ext>
              </a:extLst>
            </p:cNvPr>
            <p:cNvPicPr>
              <a:picLocks noChangeAspect="1"/>
            </p:cNvPicPr>
            <p:nvPr/>
          </p:nvPicPr>
          <p:blipFill>
            <a:blip r:embed="rId3"/>
            <a:srcRect/>
            <a:stretch/>
          </p:blipFill>
          <p:spPr>
            <a:xfrm>
              <a:off x="649685" y="1422978"/>
              <a:ext cx="3383674" cy="4804980"/>
            </a:xfrm>
            <a:prstGeom prst="rect">
              <a:avLst/>
            </a:prstGeom>
          </p:spPr>
        </p:pic>
        <p:sp>
          <p:nvSpPr>
            <p:cNvPr id="49" name="Oval 6">
              <a:extLst>
                <a:ext uri="{FF2B5EF4-FFF2-40B4-BE49-F238E27FC236}">
                  <a16:creationId xmlns:a16="http://schemas.microsoft.com/office/drawing/2014/main" id="{07F0D54C-E757-3044-6D5D-7D5947BE4933}"/>
                </a:ext>
              </a:extLst>
            </p:cNvPr>
            <p:cNvSpPr/>
            <p:nvPr/>
          </p:nvSpPr>
          <p:spPr>
            <a:xfrm>
              <a:off x="1269322" y="3690529"/>
              <a:ext cx="180163" cy="192372"/>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1500" b="1">
                  <a:solidFill>
                    <a:srgbClr val="FFFFFF"/>
                  </a:solidFill>
                  <a:latin typeface="Noto Sans CJK JP"/>
                </a:rPr>
                <a:t>1</a:t>
              </a:r>
              <a:endParaRPr sz="1500" b="1">
                <a:solidFill>
                  <a:srgbClr val="FFFFFF"/>
                </a:solidFill>
                <a:latin typeface="Noto Sans CJK JP"/>
              </a:endParaRPr>
            </a:p>
          </p:txBody>
        </p:sp>
        <p:sp>
          <p:nvSpPr>
            <p:cNvPr id="51" name="テキスト ボックス 50">
              <a:extLst>
                <a:ext uri="{FF2B5EF4-FFF2-40B4-BE49-F238E27FC236}">
                  <a16:creationId xmlns:a16="http://schemas.microsoft.com/office/drawing/2014/main" id="{B3D2F5E3-B14A-6CA3-0C59-9ABCD19821D3}"/>
                </a:ext>
              </a:extLst>
            </p:cNvPr>
            <p:cNvSpPr txBox="1"/>
            <p:nvPr/>
          </p:nvSpPr>
          <p:spPr>
            <a:xfrm>
              <a:off x="1235459" y="3899991"/>
              <a:ext cx="744131" cy="294921"/>
            </a:xfrm>
            <a:prstGeom prst="rect">
              <a:avLst/>
            </a:prstGeom>
            <a:noFill/>
          </p:spPr>
          <p:txBody>
            <a:bodyPr wrap="square" rtlCol="0">
              <a:spAutoFit/>
            </a:bodyPr>
            <a:lstStyle/>
            <a:p>
              <a:r>
                <a:rPr kumimoji="1" lang="en-US" altLang="ja-JP" sz="1050"/>
                <a:t>1,98</a:t>
              </a:r>
              <a:r>
                <a:rPr lang="ja-JP" altLang="ja-JP" sz="1050"/>
                <a:t>0㎡</a:t>
              </a:r>
              <a:endParaRPr kumimoji="1" lang="en-US" altLang="ja-JP" sz="1050"/>
            </a:p>
          </p:txBody>
        </p:sp>
        <p:sp>
          <p:nvSpPr>
            <p:cNvPr id="52" name="Oval 6">
              <a:extLst>
                <a:ext uri="{FF2B5EF4-FFF2-40B4-BE49-F238E27FC236}">
                  <a16:creationId xmlns:a16="http://schemas.microsoft.com/office/drawing/2014/main" id="{A073BEA9-70D9-9698-1A68-B218DA485066}"/>
                </a:ext>
              </a:extLst>
            </p:cNvPr>
            <p:cNvSpPr/>
            <p:nvPr/>
          </p:nvSpPr>
          <p:spPr>
            <a:xfrm>
              <a:off x="841365" y="4591304"/>
              <a:ext cx="180163" cy="192372"/>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1500" b="1">
                  <a:solidFill>
                    <a:srgbClr val="FFFFFF"/>
                  </a:solidFill>
                  <a:latin typeface="Noto Sans CJK JP"/>
                </a:rPr>
                <a:t>3</a:t>
              </a:r>
              <a:endParaRPr sz="1500" b="1">
                <a:solidFill>
                  <a:srgbClr val="FFFFFF"/>
                </a:solidFill>
                <a:latin typeface="Noto Sans CJK JP"/>
              </a:endParaRPr>
            </a:p>
          </p:txBody>
        </p:sp>
        <p:sp>
          <p:nvSpPr>
            <p:cNvPr id="55" name="正方形/長方形 54">
              <a:extLst>
                <a:ext uri="{FF2B5EF4-FFF2-40B4-BE49-F238E27FC236}">
                  <a16:creationId xmlns:a16="http://schemas.microsoft.com/office/drawing/2014/main" id="{CC169224-F8E8-DCAE-70DF-B6018D323C8B}"/>
                </a:ext>
              </a:extLst>
            </p:cNvPr>
            <p:cNvSpPr/>
            <p:nvPr/>
          </p:nvSpPr>
          <p:spPr>
            <a:xfrm rot="21007099">
              <a:off x="1478102" y="2877394"/>
              <a:ext cx="421475" cy="600768"/>
            </a:xfrm>
            <a:prstGeom prst="rect">
              <a:avLst/>
            </a:pr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正方形/長方形 246">
              <a:extLst>
                <a:ext uri="{FF2B5EF4-FFF2-40B4-BE49-F238E27FC236}">
                  <a16:creationId xmlns:a16="http://schemas.microsoft.com/office/drawing/2014/main" id="{FB52C7F2-B0C6-B730-733D-942D17553620}"/>
                </a:ext>
              </a:extLst>
            </p:cNvPr>
            <p:cNvSpPr/>
            <p:nvPr/>
          </p:nvSpPr>
          <p:spPr>
            <a:xfrm rot="21007099">
              <a:off x="1286658" y="2931056"/>
              <a:ext cx="272063" cy="1397919"/>
            </a:xfrm>
            <a:custGeom>
              <a:avLst/>
              <a:gdLst>
                <a:gd name="csX0" fmla="*/ 0 w 421475"/>
                <a:gd name="csY0" fmla="*/ 0 h 600768"/>
                <a:gd name="csX1" fmla="*/ 421475 w 421475"/>
                <a:gd name="csY1" fmla="*/ 0 h 600768"/>
                <a:gd name="csX2" fmla="*/ 421475 w 421475"/>
                <a:gd name="csY2" fmla="*/ 600768 h 600768"/>
                <a:gd name="csX3" fmla="*/ 0 w 421475"/>
                <a:gd name="csY3" fmla="*/ 600768 h 600768"/>
                <a:gd name="csX4" fmla="*/ 0 w 421475"/>
                <a:gd name="csY4" fmla="*/ 0 h 600768"/>
                <a:gd name="csX0" fmla="*/ 0 w 421475"/>
                <a:gd name="csY0" fmla="*/ 0 h 1397919"/>
                <a:gd name="csX1" fmla="*/ 421475 w 421475"/>
                <a:gd name="csY1" fmla="*/ 0 h 1397919"/>
                <a:gd name="csX2" fmla="*/ 421475 w 421475"/>
                <a:gd name="csY2" fmla="*/ 600768 h 1397919"/>
                <a:gd name="csX3" fmla="*/ 154414 w 421475"/>
                <a:gd name="csY3" fmla="*/ 1397919 h 1397919"/>
                <a:gd name="csX4" fmla="*/ 0 w 421475"/>
                <a:gd name="csY4" fmla="*/ 0 h 1397919"/>
                <a:gd name="csX0" fmla="*/ 5165 w 267061"/>
                <a:gd name="csY0" fmla="*/ 804496 h 1397919"/>
                <a:gd name="csX1" fmla="*/ 267061 w 267061"/>
                <a:gd name="csY1" fmla="*/ 0 h 1397919"/>
                <a:gd name="csX2" fmla="*/ 267061 w 267061"/>
                <a:gd name="csY2" fmla="*/ 600768 h 1397919"/>
                <a:gd name="csX3" fmla="*/ 0 w 267061"/>
                <a:gd name="csY3" fmla="*/ 1397919 h 1397919"/>
                <a:gd name="csX4" fmla="*/ 5165 w 267061"/>
                <a:gd name="csY4" fmla="*/ 804496 h 1397919"/>
                <a:gd name="csX0" fmla="*/ 238 w 272063"/>
                <a:gd name="csY0" fmla="*/ 805988 h 1397919"/>
                <a:gd name="csX1" fmla="*/ 272063 w 272063"/>
                <a:gd name="csY1" fmla="*/ 0 h 1397919"/>
                <a:gd name="csX2" fmla="*/ 272063 w 272063"/>
                <a:gd name="csY2" fmla="*/ 600768 h 1397919"/>
                <a:gd name="csX3" fmla="*/ 5002 w 272063"/>
                <a:gd name="csY3" fmla="*/ 1397919 h 1397919"/>
                <a:gd name="csX4" fmla="*/ 238 w 272063"/>
                <a:gd name="csY4" fmla="*/ 805988 h 1397919"/>
              </a:gdLst>
              <a:ahLst/>
              <a:cxnLst>
                <a:cxn ang="0">
                  <a:pos x="csX0" y="csY0"/>
                </a:cxn>
                <a:cxn ang="0">
                  <a:pos x="csX1" y="csY1"/>
                </a:cxn>
                <a:cxn ang="0">
                  <a:pos x="csX2" y="csY2"/>
                </a:cxn>
                <a:cxn ang="0">
                  <a:pos x="csX3" y="csY3"/>
                </a:cxn>
                <a:cxn ang="0">
                  <a:pos x="csX4" y="csY4"/>
                </a:cxn>
              </a:cxnLst>
              <a:rect l="l" t="t" r="r" b="b"/>
              <a:pathLst>
                <a:path w="272063" h="1397919">
                  <a:moveTo>
                    <a:pt x="238" y="805988"/>
                  </a:moveTo>
                  <a:lnTo>
                    <a:pt x="272063" y="0"/>
                  </a:lnTo>
                  <a:lnTo>
                    <a:pt x="272063" y="600768"/>
                  </a:lnTo>
                  <a:lnTo>
                    <a:pt x="5002" y="1397919"/>
                  </a:lnTo>
                  <a:cubicBezTo>
                    <a:pt x="6724" y="1200111"/>
                    <a:pt x="-1484" y="1003796"/>
                    <a:pt x="238" y="805988"/>
                  </a:cubicBezTo>
                  <a:close/>
                </a:path>
              </a:pathLst>
            </a:cu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正方形/長方形 246">
              <a:extLst>
                <a:ext uri="{FF2B5EF4-FFF2-40B4-BE49-F238E27FC236}">
                  <a16:creationId xmlns:a16="http://schemas.microsoft.com/office/drawing/2014/main" id="{1A1B1DCA-CD00-E90D-A039-A01A9B8A01B3}"/>
                </a:ext>
              </a:extLst>
            </p:cNvPr>
            <p:cNvSpPr/>
            <p:nvPr/>
          </p:nvSpPr>
          <p:spPr>
            <a:xfrm rot="21007099">
              <a:off x="1700558" y="2853614"/>
              <a:ext cx="272063" cy="1397919"/>
            </a:xfrm>
            <a:custGeom>
              <a:avLst/>
              <a:gdLst>
                <a:gd name="csX0" fmla="*/ 0 w 421475"/>
                <a:gd name="csY0" fmla="*/ 0 h 600768"/>
                <a:gd name="csX1" fmla="*/ 421475 w 421475"/>
                <a:gd name="csY1" fmla="*/ 0 h 600768"/>
                <a:gd name="csX2" fmla="*/ 421475 w 421475"/>
                <a:gd name="csY2" fmla="*/ 600768 h 600768"/>
                <a:gd name="csX3" fmla="*/ 0 w 421475"/>
                <a:gd name="csY3" fmla="*/ 600768 h 600768"/>
                <a:gd name="csX4" fmla="*/ 0 w 421475"/>
                <a:gd name="csY4" fmla="*/ 0 h 600768"/>
                <a:gd name="csX0" fmla="*/ 0 w 421475"/>
                <a:gd name="csY0" fmla="*/ 0 h 1397919"/>
                <a:gd name="csX1" fmla="*/ 421475 w 421475"/>
                <a:gd name="csY1" fmla="*/ 0 h 1397919"/>
                <a:gd name="csX2" fmla="*/ 421475 w 421475"/>
                <a:gd name="csY2" fmla="*/ 600768 h 1397919"/>
                <a:gd name="csX3" fmla="*/ 154414 w 421475"/>
                <a:gd name="csY3" fmla="*/ 1397919 h 1397919"/>
                <a:gd name="csX4" fmla="*/ 0 w 421475"/>
                <a:gd name="csY4" fmla="*/ 0 h 1397919"/>
                <a:gd name="csX0" fmla="*/ 5165 w 267061"/>
                <a:gd name="csY0" fmla="*/ 804496 h 1397919"/>
                <a:gd name="csX1" fmla="*/ 267061 w 267061"/>
                <a:gd name="csY1" fmla="*/ 0 h 1397919"/>
                <a:gd name="csX2" fmla="*/ 267061 w 267061"/>
                <a:gd name="csY2" fmla="*/ 600768 h 1397919"/>
                <a:gd name="csX3" fmla="*/ 0 w 267061"/>
                <a:gd name="csY3" fmla="*/ 1397919 h 1397919"/>
                <a:gd name="csX4" fmla="*/ 5165 w 267061"/>
                <a:gd name="csY4" fmla="*/ 804496 h 1397919"/>
                <a:gd name="csX0" fmla="*/ 238 w 272063"/>
                <a:gd name="csY0" fmla="*/ 805988 h 1397919"/>
                <a:gd name="csX1" fmla="*/ 272063 w 272063"/>
                <a:gd name="csY1" fmla="*/ 0 h 1397919"/>
                <a:gd name="csX2" fmla="*/ 272063 w 272063"/>
                <a:gd name="csY2" fmla="*/ 600768 h 1397919"/>
                <a:gd name="csX3" fmla="*/ 5002 w 272063"/>
                <a:gd name="csY3" fmla="*/ 1397919 h 1397919"/>
                <a:gd name="csX4" fmla="*/ 238 w 272063"/>
                <a:gd name="csY4" fmla="*/ 805988 h 1397919"/>
              </a:gdLst>
              <a:ahLst/>
              <a:cxnLst>
                <a:cxn ang="0">
                  <a:pos x="csX0" y="csY0"/>
                </a:cxn>
                <a:cxn ang="0">
                  <a:pos x="csX1" y="csY1"/>
                </a:cxn>
                <a:cxn ang="0">
                  <a:pos x="csX2" y="csY2"/>
                </a:cxn>
                <a:cxn ang="0">
                  <a:pos x="csX3" y="csY3"/>
                </a:cxn>
                <a:cxn ang="0">
                  <a:pos x="csX4" y="csY4"/>
                </a:cxn>
              </a:cxnLst>
              <a:rect l="l" t="t" r="r" b="b"/>
              <a:pathLst>
                <a:path w="272063" h="1397919">
                  <a:moveTo>
                    <a:pt x="238" y="805988"/>
                  </a:moveTo>
                  <a:lnTo>
                    <a:pt x="272063" y="0"/>
                  </a:lnTo>
                  <a:lnTo>
                    <a:pt x="272063" y="600768"/>
                  </a:lnTo>
                  <a:lnTo>
                    <a:pt x="5002" y="1397919"/>
                  </a:lnTo>
                  <a:cubicBezTo>
                    <a:pt x="6724" y="1200111"/>
                    <a:pt x="-1484" y="1003796"/>
                    <a:pt x="238" y="805988"/>
                  </a:cubicBezTo>
                  <a:close/>
                </a:path>
              </a:pathLst>
            </a:cu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正方形/長方形 252">
              <a:extLst>
                <a:ext uri="{FF2B5EF4-FFF2-40B4-BE49-F238E27FC236}">
                  <a16:creationId xmlns:a16="http://schemas.microsoft.com/office/drawing/2014/main" id="{4CBEE561-A069-AAF1-BB04-548DD4BBA938}"/>
                </a:ext>
              </a:extLst>
            </p:cNvPr>
            <p:cNvSpPr/>
            <p:nvPr/>
          </p:nvSpPr>
          <p:spPr>
            <a:xfrm rot="21007099">
              <a:off x="1342753" y="3495540"/>
              <a:ext cx="684421" cy="808641"/>
            </a:xfrm>
            <a:custGeom>
              <a:avLst/>
              <a:gdLst>
                <a:gd name="csX0" fmla="*/ 0 w 421475"/>
                <a:gd name="csY0" fmla="*/ 0 h 600768"/>
                <a:gd name="csX1" fmla="*/ 421475 w 421475"/>
                <a:gd name="csY1" fmla="*/ 0 h 600768"/>
                <a:gd name="csX2" fmla="*/ 421475 w 421475"/>
                <a:gd name="csY2" fmla="*/ 600768 h 600768"/>
                <a:gd name="csX3" fmla="*/ 0 w 421475"/>
                <a:gd name="csY3" fmla="*/ 600768 h 600768"/>
                <a:gd name="csX4" fmla="*/ 0 w 421475"/>
                <a:gd name="csY4" fmla="*/ 0 h 600768"/>
                <a:gd name="csX0" fmla="*/ 262946 w 684421"/>
                <a:gd name="csY0" fmla="*/ 0 h 796674"/>
                <a:gd name="csX1" fmla="*/ 684421 w 684421"/>
                <a:gd name="csY1" fmla="*/ 0 h 796674"/>
                <a:gd name="csX2" fmla="*/ 684421 w 684421"/>
                <a:gd name="csY2" fmla="*/ 600768 h 796674"/>
                <a:gd name="csX3" fmla="*/ 0 w 684421"/>
                <a:gd name="csY3" fmla="*/ 796674 h 796674"/>
                <a:gd name="csX4" fmla="*/ 262946 w 684421"/>
                <a:gd name="csY4" fmla="*/ 0 h 796674"/>
                <a:gd name="csX0" fmla="*/ 262946 w 684421"/>
                <a:gd name="csY0" fmla="*/ 0 h 808641"/>
                <a:gd name="csX1" fmla="*/ 684421 w 684421"/>
                <a:gd name="csY1" fmla="*/ 0 h 808641"/>
                <a:gd name="csX2" fmla="*/ 416167 w 684421"/>
                <a:gd name="csY2" fmla="*/ 808641 h 808641"/>
                <a:gd name="csX3" fmla="*/ 0 w 684421"/>
                <a:gd name="csY3" fmla="*/ 796674 h 808641"/>
                <a:gd name="csX4" fmla="*/ 262946 w 684421"/>
                <a:gd name="csY4" fmla="*/ 0 h 808641"/>
              </a:gdLst>
              <a:ahLst/>
              <a:cxnLst>
                <a:cxn ang="0">
                  <a:pos x="csX0" y="csY0"/>
                </a:cxn>
                <a:cxn ang="0">
                  <a:pos x="csX1" y="csY1"/>
                </a:cxn>
                <a:cxn ang="0">
                  <a:pos x="csX2" y="csY2"/>
                </a:cxn>
                <a:cxn ang="0">
                  <a:pos x="csX3" y="csY3"/>
                </a:cxn>
                <a:cxn ang="0">
                  <a:pos x="csX4" y="csY4"/>
                </a:cxn>
              </a:cxnLst>
              <a:rect l="l" t="t" r="r" b="b"/>
              <a:pathLst>
                <a:path w="684421" h="808641">
                  <a:moveTo>
                    <a:pt x="262946" y="0"/>
                  </a:moveTo>
                  <a:lnTo>
                    <a:pt x="684421" y="0"/>
                  </a:lnTo>
                  <a:lnTo>
                    <a:pt x="416167" y="808641"/>
                  </a:lnTo>
                  <a:lnTo>
                    <a:pt x="0" y="796674"/>
                  </a:lnTo>
                  <a:lnTo>
                    <a:pt x="262946" y="0"/>
                  </a:lnTo>
                  <a:close/>
                </a:path>
              </a:pathLst>
            </a:cu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テキスト ボックス 58">
              <a:extLst>
                <a:ext uri="{FF2B5EF4-FFF2-40B4-BE49-F238E27FC236}">
                  <a16:creationId xmlns:a16="http://schemas.microsoft.com/office/drawing/2014/main" id="{64454FE2-B4FE-0FD0-96FD-844A1FF1E718}"/>
                </a:ext>
              </a:extLst>
            </p:cNvPr>
            <p:cNvSpPr txBox="1"/>
            <p:nvPr/>
          </p:nvSpPr>
          <p:spPr>
            <a:xfrm>
              <a:off x="1303390" y="3058820"/>
              <a:ext cx="770137" cy="321731"/>
            </a:xfrm>
            <a:prstGeom prst="rect">
              <a:avLst/>
            </a:prstGeom>
            <a:noFill/>
          </p:spPr>
          <p:txBody>
            <a:bodyPr wrap="none" rtlCol="0">
              <a:spAutoFit/>
            </a:bodyPr>
            <a:lstStyle/>
            <a:p>
              <a:r>
                <a:rPr kumimoji="1" lang="en-US" altLang="ja-JP" sz="1200"/>
                <a:t>25 floor</a:t>
              </a:r>
              <a:endParaRPr kumimoji="1" lang="ja-JP" altLang="en-US" sz="1200"/>
            </a:p>
          </p:txBody>
        </p:sp>
        <p:sp>
          <p:nvSpPr>
            <p:cNvPr id="60" name="Oval 6">
              <a:extLst>
                <a:ext uri="{FF2B5EF4-FFF2-40B4-BE49-F238E27FC236}">
                  <a16:creationId xmlns:a16="http://schemas.microsoft.com/office/drawing/2014/main" id="{901B641D-5A30-77A5-033F-BEC1A9383C5B}"/>
                </a:ext>
              </a:extLst>
            </p:cNvPr>
            <p:cNvSpPr/>
            <p:nvPr/>
          </p:nvSpPr>
          <p:spPr>
            <a:xfrm>
              <a:off x="1449200" y="2821894"/>
              <a:ext cx="180163" cy="192372"/>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1500" b="1">
                  <a:solidFill>
                    <a:srgbClr val="FFFFFF"/>
                  </a:solidFill>
                  <a:latin typeface="Noto Sans CJK JP"/>
                </a:rPr>
                <a:t>2</a:t>
              </a:r>
              <a:endParaRPr sz="1500" b="1">
                <a:solidFill>
                  <a:srgbClr val="FFFFFF"/>
                </a:solidFill>
                <a:latin typeface="Noto Sans CJK JP"/>
              </a:endParaRPr>
            </a:p>
          </p:txBody>
        </p:sp>
        <p:sp>
          <p:nvSpPr>
            <p:cNvPr id="61" name="フリーフォーム 60">
              <a:extLst>
                <a:ext uri="{FF2B5EF4-FFF2-40B4-BE49-F238E27FC236}">
                  <a16:creationId xmlns:a16="http://schemas.microsoft.com/office/drawing/2014/main" id="{D842E966-6991-DE15-BFA5-768A9C0D62F4}"/>
                </a:ext>
              </a:extLst>
            </p:cNvPr>
            <p:cNvSpPr/>
            <p:nvPr/>
          </p:nvSpPr>
          <p:spPr>
            <a:xfrm>
              <a:off x="1614076" y="3425050"/>
              <a:ext cx="647927" cy="904330"/>
            </a:xfrm>
            <a:custGeom>
              <a:avLst/>
              <a:gdLst>
                <a:gd name="csX0" fmla="*/ 654689 w 654689"/>
                <a:gd name="csY0" fmla="*/ 0 h 302996"/>
                <a:gd name="csX1" fmla="*/ 0 w 654689"/>
                <a:gd name="csY1" fmla="*/ 124445 h 302996"/>
                <a:gd name="csX2" fmla="*/ 21643 w 654689"/>
                <a:gd name="csY2" fmla="*/ 302996 h 302996"/>
                <a:gd name="csX0" fmla="*/ 654689 w 654689"/>
                <a:gd name="csY0" fmla="*/ 0 h 389741"/>
                <a:gd name="csX1" fmla="*/ 0 w 654689"/>
                <a:gd name="csY1" fmla="*/ 124445 h 389741"/>
                <a:gd name="csX2" fmla="*/ 40986 w 654689"/>
                <a:gd name="csY2" fmla="*/ 389741 h 389741"/>
                <a:gd name="csX0" fmla="*/ 657913 w 657913"/>
                <a:gd name="csY0" fmla="*/ 0 h 389741"/>
                <a:gd name="csX1" fmla="*/ 0 w 657913"/>
                <a:gd name="csY1" fmla="*/ 127781 h 389741"/>
                <a:gd name="csX2" fmla="*/ 44210 w 657913"/>
                <a:gd name="csY2" fmla="*/ 389741 h 389741"/>
                <a:gd name="csX0" fmla="*/ 657913 w 657913"/>
                <a:gd name="csY0" fmla="*/ 0 h 950284"/>
                <a:gd name="csX1" fmla="*/ 0 w 657913"/>
                <a:gd name="csY1" fmla="*/ 127781 h 950284"/>
                <a:gd name="csX2" fmla="*/ 135262 w 657913"/>
                <a:gd name="csY2" fmla="*/ 950284 h 950284"/>
              </a:gdLst>
              <a:ahLst/>
              <a:cxnLst>
                <a:cxn ang="0">
                  <a:pos x="csX0" y="csY0"/>
                </a:cxn>
                <a:cxn ang="0">
                  <a:pos x="csX1" y="csY1"/>
                </a:cxn>
                <a:cxn ang="0">
                  <a:pos x="csX2" y="csY2"/>
                </a:cxn>
              </a:cxnLst>
              <a:rect l="l" t="t" r="r" b="b"/>
              <a:pathLst>
                <a:path w="657913" h="950284">
                  <a:moveTo>
                    <a:pt x="657913" y="0"/>
                  </a:moveTo>
                  <a:lnTo>
                    <a:pt x="0" y="127781"/>
                  </a:lnTo>
                  <a:cubicBezTo>
                    <a:pt x="7214" y="187298"/>
                    <a:pt x="128048" y="890767"/>
                    <a:pt x="135262" y="950284"/>
                  </a:cubicBezTo>
                </a:path>
              </a:pathLst>
            </a:custGeom>
            <a:noFill/>
            <a:ln w="38100">
              <a:solidFill>
                <a:srgbClr val="F2B3ED"/>
              </a:solidFill>
              <a:tailEnd type="triangle"/>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フリーフォーム 61">
              <a:extLst>
                <a:ext uri="{FF2B5EF4-FFF2-40B4-BE49-F238E27FC236}">
                  <a16:creationId xmlns:a16="http://schemas.microsoft.com/office/drawing/2014/main" id="{1E7F37D3-F3E0-367A-6104-E825A6BD2404}"/>
                </a:ext>
              </a:extLst>
            </p:cNvPr>
            <p:cNvSpPr/>
            <p:nvPr/>
          </p:nvSpPr>
          <p:spPr>
            <a:xfrm>
              <a:off x="1716137" y="3610497"/>
              <a:ext cx="887248" cy="842965"/>
            </a:xfrm>
            <a:custGeom>
              <a:avLst/>
              <a:gdLst>
                <a:gd name="csX0" fmla="*/ 773723 w 773723"/>
                <a:gd name="csY0" fmla="*/ 56271 h 196948"/>
                <a:gd name="csX1" fmla="*/ 28135 w 773723"/>
                <a:gd name="csY1" fmla="*/ 196948 h 196948"/>
                <a:gd name="csX2" fmla="*/ 0 w 773723"/>
                <a:gd name="csY2" fmla="*/ 0 h 196948"/>
                <a:gd name="csX0" fmla="*/ 802298 w 802298"/>
                <a:gd name="csY0" fmla="*/ 183271 h 323948"/>
                <a:gd name="csX1" fmla="*/ 56710 w 802298"/>
                <a:gd name="csY1" fmla="*/ 323948 h 323948"/>
                <a:gd name="csX2" fmla="*/ 0 w 802298"/>
                <a:gd name="csY2" fmla="*/ 0 h 323948"/>
                <a:gd name="csX0" fmla="*/ 896686 w 896686"/>
                <a:gd name="csY0" fmla="*/ 750347 h 891024"/>
                <a:gd name="csX1" fmla="*/ 151098 w 896686"/>
                <a:gd name="csY1" fmla="*/ 891024 h 891024"/>
                <a:gd name="csX2" fmla="*/ 0 w 896686"/>
                <a:gd name="csY2" fmla="*/ 0 h 891024"/>
                <a:gd name="csX0" fmla="*/ 887247 w 887247"/>
                <a:gd name="csY0" fmla="*/ 702289 h 842966"/>
                <a:gd name="csX1" fmla="*/ 141659 w 887247"/>
                <a:gd name="csY1" fmla="*/ 842966 h 842966"/>
                <a:gd name="csX2" fmla="*/ 0 w 887247"/>
                <a:gd name="csY2" fmla="*/ 0 h 842966"/>
              </a:gdLst>
              <a:ahLst/>
              <a:cxnLst>
                <a:cxn ang="0">
                  <a:pos x="csX0" y="csY0"/>
                </a:cxn>
                <a:cxn ang="0">
                  <a:pos x="csX1" y="csY1"/>
                </a:cxn>
                <a:cxn ang="0">
                  <a:pos x="csX2" y="csY2"/>
                </a:cxn>
              </a:cxnLst>
              <a:rect l="l" t="t" r="r" b="b"/>
              <a:pathLst>
                <a:path w="887247" h="842966">
                  <a:moveTo>
                    <a:pt x="887247" y="702289"/>
                  </a:moveTo>
                  <a:lnTo>
                    <a:pt x="141659" y="842966"/>
                  </a:lnTo>
                  <a:cubicBezTo>
                    <a:pt x="132281" y="777317"/>
                    <a:pt x="9378" y="65649"/>
                    <a:pt x="0" y="0"/>
                  </a:cubicBezTo>
                </a:path>
              </a:pathLst>
            </a:custGeom>
            <a:noFill/>
            <a:ln w="38100">
              <a:solidFill>
                <a:srgbClr val="F2B3ED"/>
              </a:solidFill>
              <a:tailEnd type="triangle"/>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フリーフォーム 62">
              <a:extLst>
                <a:ext uri="{FF2B5EF4-FFF2-40B4-BE49-F238E27FC236}">
                  <a16:creationId xmlns:a16="http://schemas.microsoft.com/office/drawing/2014/main" id="{A9BA936F-90D8-CC2D-852C-EF945C5AB9FF}"/>
                </a:ext>
              </a:extLst>
            </p:cNvPr>
            <p:cNvSpPr/>
            <p:nvPr/>
          </p:nvSpPr>
          <p:spPr>
            <a:xfrm>
              <a:off x="756168" y="3546416"/>
              <a:ext cx="838200" cy="311150"/>
            </a:xfrm>
            <a:custGeom>
              <a:avLst/>
              <a:gdLst>
                <a:gd name="csX0" fmla="*/ 838200 w 838200"/>
                <a:gd name="csY0" fmla="*/ 0 h 311150"/>
                <a:gd name="csX1" fmla="*/ 415925 w 838200"/>
                <a:gd name="csY1" fmla="*/ 82550 h 311150"/>
                <a:gd name="csX2" fmla="*/ 0 w 838200"/>
                <a:gd name="csY2" fmla="*/ 311150 h 311150"/>
              </a:gdLst>
              <a:ahLst/>
              <a:cxnLst>
                <a:cxn ang="0">
                  <a:pos x="csX0" y="csY0"/>
                </a:cxn>
                <a:cxn ang="0">
                  <a:pos x="csX1" y="csY1"/>
                </a:cxn>
                <a:cxn ang="0">
                  <a:pos x="csX2" y="csY2"/>
                </a:cxn>
              </a:cxnLst>
              <a:rect l="l" t="t" r="r" b="b"/>
              <a:pathLst>
                <a:path w="838200" h="311150">
                  <a:moveTo>
                    <a:pt x="838200" y="0"/>
                  </a:moveTo>
                  <a:lnTo>
                    <a:pt x="415925" y="82550"/>
                  </a:lnTo>
                  <a:lnTo>
                    <a:pt x="0" y="311150"/>
                  </a:lnTo>
                </a:path>
              </a:pathLst>
            </a:custGeom>
            <a:noFill/>
            <a:ln w="38100">
              <a:solidFill>
                <a:srgbClr val="F2B3ED"/>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Oval 6">
              <a:extLst>
                <a:ext uri="{FF2B5EF4-FFF2-40B4-BE49-F238E27FC236}">
                  <a16:creationId xmlns:a16="http://schemas.microsoft.com/office/drawing/2014/main" id="{FE0EA847-77B0-5790-1C8A-4D5DC5CD14E5}"/>
                </a:ext>
              </a:extLst>
            </p:cNvPr>
            <p:cNvSpPr/>
            <p:nvPr/>
          </p:nvSpPr>
          <p:spPr>
            <a:xfrm>
              <a:off x="2368253" y="4266909"/>
              <a:ext cx="180163" cy="192372"/>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b="1">
                  <a:solidFill>
                    <a:srgbClr val="FFFFFF"/>
                  </a:solidFill>
                  <a:latin typeface="Noto Sans CJK JP"/>
                </a:rPr>
                <a:t>4</a:t>
              </a:r>
              <a:endParaRPr sz="1500" b="1">
                <a:solidFill>
                  <a:srgbClr val="FFFFFF"/>
                </a:solidFill>
                <a:latin typeface="Noto Sans CJK JP"/>
              </a:endParaRPr>
            </a:p>
          </p:txBody>
        </p:sp>
      </p:grpSp>
      <p:sp>
        <p:nvSpPr>
          <p:cNvPr id="65" name="コンテンツ プレースホルダー 2">
            <a:extLst>
              <a:ext uri="{FF2B5EF4-FFF2-40B4-BE49-F238E27FC236}">
                <a16:creationId xmlns:a16="http://schemas.microsoft.com/office/drawing/2014/main" id="{C503F950-0EAF-AC95-E6EB-CF1D06D1382A}"/>
              </a:ext>
            </a:extLst>
          </p:cNvPr>
          <p:cNvSpPr txBox="1">
            <a:spLocks/>
          </p:cNvSpPr>
          <p:nvPr/>
        </p:nvSpPr>
        <p:spPr>
          <a:xfrm>
            <a:off x="103400" y="1906387"/>
            <a:ext cx="3996544" cy="4046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en" altLang="ja-JP" sz="1200" b="1">
                <a:solidFill>
                  <a:schemeClr val="tx2">
                    <a:lumMod val="90000"/>
                    <a:lumOff val="10000"/>
                  </a:schemeClr>
                </a:solidFill>
                <a:latin typeface="HGMinchoE" panose="02020909000000000000" pitchFamily="49" charset="-128"/>
                <a:ea typeface="HGMinchoE" panose="02020909000000000000" pitchFamily="49" charset="-128"/>
              </a:rPr>
              <a:t>Example: New hotel in front of Osaka Umeda Station</a:t>
            </a:r>
          </a:p>
        </p:txBody>
      </p:sp>
      <p:sp>
        <p:nvSpPr>
          <p:cNvPr id="70" name="タイトル 1">
            <a:extLst>
              <a:ext uri="{FF2B5EF4-FFF2-40B4-BE49-F238E27FC236}">
                <a16:creationId xmlns:a16="http://schemas.microsoft.com/office/drawing/2014/main" id="{1DE56EEF-15D9-A2B8-51AD-8AC920F25D25}"/>
              </a:ext>
            </a:extLst>
          </p:cNvPr>
          <p:cNvSpPr>
            <a:spLocks noGrp="1"/>
          </p:cNvSpPr>
          <p:nvPr>
            <p:ph type="title"/>
          </p:nvPr>
        </p:nvSpPr>
        <p:spPr>
          <a:xfrm>
            <a:off x="189866" y="0"/>
            <a:ext cx="9296996" cy="908720"/>
          </a:xfrm>
        </p:spPr>
        <p:txBody>
          <a:bodyPr anchor="ctr"/>
          <a:lstStyle/>
          <a:p>
            <a:r>
              <a:rPr lang="en" altLang="ja-JP"/>
              <a:t>Overview of Initiatives for the First Three Months</a:t>
            </a:r>
            <a:br>
              <a:rPr lang="en" altLang="ja-JP"/>
            </a:br>
            <a:r>
              <a:rPr lang="en" altLang="ja-JP"/>
              <a:t>(2Q: July–September)</a:t>
            </a:r>
            <a:endParaRPr kumimoji="1" lang="ja-JP" altLang="en-US">
              <a:latin typeface="HGMinchoE" panose="02020909000000000000" pitchFamily="49" charset="-128"/>
              <a:ea typeface="HGMinchoE" panose="02020909000000000000" pitchFamily="49" charset="-128"/>
            </a:endParaRPr>
          </a:p>
        </p:txBody>
      </p:sp>
    </p:spTree>
    <p:extLst>
      <p:ext uri="{BB962C8B-B14F-4D97-AF65-F5344CB8AC3E}">
        <p14:creationId xmlns:p14="http://schemas.microsoft.com/office/powerpoint/2010/main" val="2708325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E576B1-22A1-0D05-6DB9-A4AD50C6CE11}"/>
              </a:ext>
            </a:extLst>
          </p:cNvPr>
          <p:cNvSpPr>
            <a:spLocks noGrp="1"/>
          </p:cNvSpPr>
          <p:nvPr>
            <p:ph type="title"/>
          </p:nvPr>
        </p:nvSpPr>
        <p:spPr/>
        <p:txBody>
          <a:bodyPr/>
          <a:lstStyle/>
          <a:p>
            <a:r>
              <a:rPr lang="ja-JP" altLang="ja-JP"/>
              <a:t>Positioning of This Research</a:t>
            </a:r>
            <a:endParaRPr lang="en" altLang="ja-JP"/>
          </a:p>
        </p:txBody>
      </p:sp>
      <p:sp>
        <p:nvSpPr>
          <p:cNvPr id="4" name="日付プレースホルダー 3">
            <a:extLst>
              <a:ext uri="{FF2B5EF4-FFF2-40B4-BE49-F238E27FC236}">
                <a16:creationId xmlns:a16="http://schemas.microsoft.com/office/drawing/2014/main" id="{BE9387B3-A02B-3389-7A72-675A0DF4C767}"/>
              </a:ext>
            </a:extLst>
          </p:cNvPr>
          <p:cNvSpPr>
            <a:spLocks noGrp="1"/>
          </p:cNvSpPr>
          <p:nvPr>
            <p:ph type="dt" sz="half" idx="10"/>
          </p:nvPr>
        </p:nvSpPr>
        <p:spPr/>
        <p:txBody>
          <a:bodyPr/>
          <a:lstStyle/>
          <a:p>
            <a:r>
              <a:rPr lang="en-US" altLang="ja-JP"/>
              <a:t>2026/6</a:t>
            </a:r>
            <a:endParaRPr kumimoji="1" lang="ja-JP" altLang="en-US"/>
          </a:p>
        </p:txBody>
      </p:sp>
      <p:sp>
        <p:nvSpPr>
          <p:cNvPr id="5" name="フッター プレースホルダー 4">
            <a:extLst>
              <a:ext uri="{FF2B5EF4-FFF2-40B4-BE49-F238E27FC236}">
                <a16:creationId xmlns:a16="http://schemas.microsoft.com/office/drawing/2014/main" id="{665A0854-A25E-86D0-D931-BC6F83E9840C}"/>
              </a:ext>
            </a:extLst>
          </p:cNvPr>
          <p:cNvSpPr>
            <a:spLocks noGrp="1"/>
          </p:cNvSpPr>
          <p:nvPr>
            <p:ph type="ftr" sz="quarter" idx="11"/>
          </p:nvPr>
        </p:nvSpPr>
        <p:spPr/>
        <p:txBody>
          <a:bodyPr/>
          <a:lstStyle/>
          <a:p>
            <a:r>
              <a:rPr kumimoji="1" lang="ja-JP" altLang="en-US"/>
              <a:t>関本・中居研究室</a:t>
            </a:r>
          </a:p>
        </p:txBody>
      </p:sp>
      <p:sp>
        <p:nvSpPr>
          <p:cNvPr id="6" name="スライド番号プレースホルダー 5">
            <a:extLst>
              <a:ext uri="{FF2B5EF4-FFF2-40B4-BE49-F238E27FC236}">
                <a16:creationId xmlns:a16="http://schemas.microsoft.com/office/drawing/2014/main" id="{83DE9FBD-C16D-C3C4-2F2E-38E16C008899}"/>
              </a:ext>
            </a:extLst>
          </p:cNvPr>
          <p:cNvSpPr>
            <a:spLocks noGrp="1"/>
          </p:cNvSpPr>
          <p:nvPr>
            <p:ph type="sldNum" sz="quarter" idx="12"/>
          </p:nvPr>
        </p:nvSpPr>
        <p:spPr/>
        <p:txBody>
          <a:bodyPr/>
          <a:lstStyle/>
          <a:p>
            <a:fld id="{6539E37A-E522-3D47-AAB7-DDF67C94A05D}" type="slidenum">
              <a:rPr lang="en-US" altLang="ja-JP"/>
              <a:t>4</a:t>
            </a:fld>
            <a:endParaRPr kumimoji="1" lang="ja-JP" altLang="en-US"/>
          </a:p>
        </p:txBody>
      </p:sp>
      <p:sp>
        <p:nvSpPr>
          <p:cNvPr id="22" name="コンテンツ プレースホルダー 2">
            <a:extLst>
              <a:ext uri="{FF2B5EF4-FFF2-40B4-BE49-F238E27FC236}">
                <a16:creationId xmlns:a16="http://schemas.microsoft.com/office/drawing/2014/main" id="{37CAFBFB-CBC4-5813-B1BF-5950CD11BF53}"/>
              </a:ext>
            </a:extLst>
          </p:cNvPr>
          <p:cNvSpPr txBox="1">
            <a:spLocks/>
          </p:cNvSpPr>
          <p:nvPr/>
        </p:nvSpPr>
        <p:spPr>
          <a:xfrm>
            <a:off x="597135" y="1041382"/>
            <a:ext cx="10944469" cy="149692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400" b="1"/>
              <a:t>Research on using LLM to support urban development planning is effective for organizing conceptual frameworks, but its integration with pflow analysis is limited.</a:t>
            </a:r>
          </a:p>
          <a:p>
            <a:r>
              <a:rPr lang="en" altLang="ja-JP" sz="1400" b="1"/>
              <a:t>Research on pedestrian flow prediction is effective for evaluating the effectiveness of facility placement and policy measures, but it is difficult to directly handle planning intentions expressed in natural language.</a:t>
            </a:r>
          </a:p>
          <a:p>
            <a:r>
              <a:rPr lang="en" altLang="ja-JP" sz="1400" b="1"/>
              <a:t>This study links the use of LLMs to concretize development plans with pedestrian flow prediction, enabling the evaluation of initial conceptual frameworks.</a:t>
            </a:r>
            <a:endParaRPr lang="ja-JP" altLang="en-US" sz="1400"/>
          </a:p>
        </p:txBody>
      </p:sp>
      <p:grpSp>
        <p:nvGrpSpPr>
          <p:cNvPr id="28" name="グループ化 27">
            <a:extLst>
              <a:ext uri="{FF2B5EF4-FFF2-40B4-BE49-F238E27FC236}">
                <a16:creationId xmlns:a16="http://schemas.microsoft.com/office/drawing/2014/main" id="{6BAE53AC-D060-6226-44E1-EAF436AB3683}"/>
              </a:ext>
            </a:extLst>
          </p:cNvPr>
          <p:cNvGrpSpPr/>
          <p:nvPr/>
        </p:nvGrpSpPr>
        <p:grpSpPr>
          <a:xfrm>
            <a:off x="597135" y="2561517"/>
            <a:ext cx="3420380" cy="3778068"/>
            <a:chOff x="1235460" y="2511315"/>
            <a:chExt cx="3420380" cy="3510390"/>
          </a:xfrm>
          <a:effectLst/>
        </p:grpSpPr>
        <p:grpSp>
          <p:nvGrpSpPr>
            <p:cNvPr id="26" name="グループ化 25">
              <a:extLst>
                <a:ext uri="{FF2B5EF4-FFF2-40B4-BE49-F238E27FC236}">
                  <a16:creationId xmlns:a16="http://schemas.microsoft.com/office/drawing/2014/main" id="{AC9FF0E6-393E-13DD-554E-C70174F65199}"/>
                </a:ext>
              </a:extLst>
            </p:cNvPr>
            <p:cNvGrpSpPr/>
            <p:nvPr/>
          </p:nvGrpSpPr>
          <p:grpSpPr>
            <a:xfrm>
              <a:off x="1235460" y="2511315"/>
              <a:ext cx="3420380" cy="3510390"/>
              <a:chOff x="833099" y="2578989"/>
              <a:chExt cx="2888402" cy="3510390"/>
            </a:xfrm>
          </p:grpSpPr>
          <p:sp>
            <p:nvSpPr>
              <p:cNvPr id="23" name="Rounded Rectangle 5">
                <a:extLst>
                  <a:ext uri="{FF2B5EF4-FFF2-40B4-BE49-F238E27FC236}">
                    <a16:creationId xmlns:a16="http://schemas.microsoft.com/office/drawing/2014/main" id="{C43EEF9F-8FED-7BFA-2237-7E54BB5AC069}"/>
                  </a:ext>
                </a:extLst>
              </p:cNvPr>
              <p:cNvSpPr/>
              <p:nvPr/>
            </p:nvSpPr>
            <p:spPr>
              <a:xfrm>
                <a:off x="833099" y="2578989"/>
                <a:ext cx="2888402" cy="3510390"/>
              </a:xfrm>
              <a:prstGeom prst="roundRect">
                <a:avLst>
                  <a:gd name="adj" fmla="val 9000"/>
                </a:avLst>
              </a:prstGeom>
              <a:solidFill>
                <a:schemeClr val="bg2">
                  <a:lumMod val="90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200">
                  <a:solidFill>
                    <a:schemeClr val="tx1"/>
                  </a:solidFill>
                </a:endParaRPr>
              </a:p>
            </p:txBody>
          </p:sp>
          <p:sp>
            <p:nvSpPr>
              <p:cNvPr id="25" name="片側の 2 つの角を丸めた四角形 24">
                <a:extLst>
                  <a:ext uri="{FF2B5EF4-FFF2-40B4-BE49-F238E27FC236}">
                    <a16:creationId xmlns:a16="http://schemas.microsoft.com/office/drawing/2014/main" id="{9DE9E5CF-2253-6B56-FF3E-D828592A5EFC}"/>
                  </a:ext>
                </a:extLst>
              </p:cNvPr>
              <p:cNvSpPr/>
              <p:nvPr/>
            </p:nvSpPr>
            <p:spPr>
              <a:xfrm>
                <a:off x="833099" y="2578990"/>
                <a:ext cx="2888402" cy="540060"/>
              </a:xfrm>
              <a:prstGeom prst="round2SameRect">
                <a:avLst>
                  <a:gd name="adj1" fmla="val 50000"/>
                  <a:gd name="adj2" fmla="val 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7" name="テキスト ボックス 26">
              <a:extLst>
                <a:ext uri="{FF2B5EF4-FFF2-40B4-BE49-F238E27FC236}">
                  <a16:creationId xmlns:a16="http://schemas.microsoft.com/office/drawing/2014/main" id="{1E22F820-3F64-C1A8-3BE1-4F4AEB548CBA}"/>
                </a:ext>
              </a:extLst>
            </p:cNvPr>
            <p:cNvSpPr txBox="1"/>
            <p:nvPr/>
          </p:nvSpPr>
          <p:spPr>
            <a:xfrm>
              <a:off x="1264274" y="2663911"/>
              <a:ext cx="3292824" cy="285971"/>
            </a:xfrm>
            <a:prstGeom prst="rect">
              <a:avLst/>
            </a:prstGeom>
            <a:noFill/>
          </p:spPr>
          <p:txBody>
            <a:bodyPr wrap="none" rtlCol="0">
              <a:spAutoFit/>
            </a:bodyPr>
            <a:lstStyle/>
            <a:p>
              <a:r>
                <a:rPr lang="en" altLang="ja-JP" sz="1400" b="1">
                  <a:solidFill>
                    <a:schemeClr val="bg1"/>
                  </a:solidFill>
                </a:rPr>
                <a:t>Implementing Urban Planning Using LLMs</a:t>
              </a:r>
              <a:endParaRPr kumimoji="1" lang="ja-JP" altLang="en-US" sz="1400" b="1">
                <a:solidFill>
                  <a:schemeClr val="bg1"/>
                </a:solidFill>
              </a:endParaRPr>
            </a:p>
          </p:txBody>
        </p:sp>
      </p:grpSp>
      <p:grpSp>
        <p:nvGrpSpPr>
          <p:cNvPr id="29" name="グループ化 28">
            <a:extLst>
              <a:ext uri="{FF2B5EF4-FFF2-40B4-BE49-F238E27FC236}">
                <a16:creationId xmlns:a16="http://schemas.microsoft.com/office/drawing/2014/main" id="{3D850FA2-3337-D956-B209-4C07B1636237}"/>
              </a:ext>
            </a:extLst>
          </p:cNvPr>
          <p:cNvGrpSpPr/>
          <p:nvPr/>
        </p:nvGrpSpPr>
        <p:grpSpPr>
          <a:xfrm>
            <a:off x="4271977" y="2573620"/>
            <a:ext cx="3420380" cy="3778068"/>
            <a:chOff x="1235460" y="2511315"/>
            <a:chExt cx="3420380" cy="3510390"/>
          </a:xfrm>
          <a:effectLst/>
        </p:grpSpPr>
        <p:grpSp>
          <p:nvGrpSpPr>
            <p:cNvPr id="30" name="グループ化 29">
              <a:extLst>
                <a:ext uri="{FF2B5EF4-FFF2-40B4-BE49-F238E27FC236}">
                  <a16:creationId xmlns:a16="http://schemas.microsoft.com/office/drawing/2014/main" id="{6D262424-F6E8-E1D9-242A-A273D486C4A5}"/>
                </a:ext>
              </a:extLst>
            </p:cNvPr>
            <p:cNvGrpSpPr/>
            <p:nvPr/>
          </p:nvGrpSpPr>
          <p:grpSpPr>
            <a:xfrm>
              <a:off x="1235460" y="2511315"/>
              <a:ext cx="3420380" cy="3510390"/>
              <a:chOff x="833099" y="2578989"/>
              <a:chExt cx="2888402" cy="3510390"/>
            </a:xfrm>
          </p:grpSpPr>
          <p:sp>
            <p:nvSpPr>
              <p:cNvPr id="32" name="Rounded Rectangle 5">
                <a:extLst>
                  <a:ext uri="{FF2B5EF4-FFF2-40B4-BE49-F238E27FC236}">
                    <a16:creationId xmlns:a16="http://schemas.microsoft.com/office/drawing/2014/main" id="{1DDBA576-D84B-C769-F1F4-317B8F416E9A}"/>
                  </a:ext>
                </a:extLst>
              </p:cNvPr>
              <p:cNvSpPr/>
              <p:nvPr/>
            </p:nvSpPr>
            <p:spPr>
              <a:xfrm>
                <a:off x="833099" y="2578989"/>
                <a:ext cx="2888402" cy="3510390"/>
              </a:xfrm>
              <a:prstGeom prst="roundRect">
                <a:avLst>
                  <a:gd name="adj" fmla="val 9000"/>
                </a:avLst>
              </a:prstGeom>
              <a:solidFill>
                <a:schemeClr val="bg2">
                  <a:lumMod val="90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200">
                  <a:solidFill>
                    <a:schemeClr val="tx1"/>
                  </a:solidFill>
                </a:endParaRPr>
              </a:p>
            </p:txBody>
          </p:sp>
          <p:sp>
            <p:nvSpPr>
              <p:cNvPr id="33" name="片側の 2 つの角を丸めた四角形 32">
                <a:extLst>
                  <a:ext uri="{FF2B5EF4-FFF2-40B4-BE49-F238E27FC236}">
                    <a16:creationId xmlns:a16="http://schemas.microsoft.com/office/drawing/2014/main" id="{74203617-3F6A-216D-834B-C6FAA31E59F3}"/>
                  </a:ext>
                </a:extLst>
              </p:cNvPr>
              <p:cNvSpPr/>
              <p:nvPr/>
            </p:nvSpPr>
            <p:spPr>
              <a:xfrm>
                <a:off x="833099" y="2578990"/>
                <a:ext cx="2888402" cy="540060"/>
              </a:xfrm>
              <a:prstGeom prst="round2SameRect">
                <a:avLst>
                  <a:gd name="adj1" fmla="val 50000"/>
                  <a:gd name="adj2" fmla="val 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1" name="テキスト ボックス 30">
              <a:extLst>
                <a:ext uri="{FF2B5EF4-FFF2-40B4-BE49-F238E27FC236}">
                  <a16:creationId xmlns:a16="http://schemas.microsoft.com/office/drawing/2014/main" id="{14247868-FCAF-015B-E2F5-AF6927669688}"/>
                </a:ext>
              </a:extLst>
            </p:cNvPr>
            <p:cNvSpPr txBox="1"/>
            <p:nvPr/>
          </p:nvSpPr>
          <p:spPr>
            <a:xfrm>
              <a:off x="1344544" y="2663671"/>
              <a:ext cx="3207994" cy="285971"/>
            </a:xfrm>
            <a:prstGeom prst="rect">
              <a:avLst/>
            </a:prstGeom>
            <a:noFill/>
          </p:spPr>
          <p:txBody>
            <a:bodyPr wrap="none" rtlCol="0">
              <a:spAutoFit/>
            </a:bodyPr>
            <a:lstStyle/>
            <a:p>
              <a:r>
                <a:rPr lang="en" altLang="ja-JP" sz="1400" b="1">
                  <a:solidFill>
                    <a:schemeClr val="bg1"/>
                  </a:solidFill>
                </a:rPr>
                <a:t>Research on Pedestrian Flow Forecasting</a:t>
              </a:r>
              <a:endParaRPr kumimoji="1" lang="ja-JP" altLang="en-US" sz="1400">
                <a:solidFill>
                  <a:schemeClr val="bg1"/>
                </a:solidFill>
              </a:endParaRPr>
            </a:p>
          </p:txBody>
        </p:sp>
      </p:grpSp>
      <p:grpSp>
        <p:nvGrpSpPr>
          <p:cNvPr id="34" name="グループ化 33">
            <a:extLst>
              <a:ext uri="{FF2B5EF4-FFF2-40B4-BE49-F238E27FC236}">
                <a16:creationId xmlns:a16="http://schemas.microsoft.com/office/drawing/2014/main" id="{E423460B-2572-0244-5C46-3BCEBD492064}"/>
              </a:ext>
            </a:extLst>
          </p:cNvPr>
          <p:cNvGrpSpPr/>
          <p:nvPr/>
        </p:nvGrpSpPr>
        <p:grpSpPr>
          <a:xfrm>
            <a:off x="7952601" y="2561517"/>
            <a:ext cx="3420380" cy="3778068"/>
            <a:chOff x="1235460" y="2511315"/>
            <a:chExt cx="3420380" cy="3510390"/>
          </a:xfrm>
          <a:effectLst/>
        </p:grpSpPr>
        <p:grpSp>
          <p:nvGrpSpPr>
            <p:cNvPr id="35" name="グループ化 34">
              <a:extLst>
                <a:ext uri="{FF2B5EF4-FFF2-40B4-BE49-F238E27FC236}">
                  <a16:creationId xmlns:a16="http://schemas.microsoft.com/office/drawing/2014/main" id="{00DC4BA9-D8C1-3C22-6BBE-F130B12A2B95}"/>
                </a:ext>
              </a:extLst>
            </p:cNvPr>
            <p:cNvGrpSpPr/>
            <p:nvPr/>
          </p:nvGrpSpPr>
          <p:grpSpPr>
            <a:xfrm>
              <a:off x="1235460" y="2511315"/>
              <a:ext cx="3420380" cy="3510390"/>
              <a:chOff x="833099" y="2578989"/>
              <a:chExt cx="2888402" cy="3510390"/>
            </a:xfrm>
          </p:grpSpPr>
          <p:sp>
            <p:nvSpPr>
              <p:cNvPr id="37" name="Rounded Rectangle 5">
                <a:extLst>
                  <a:ext uri="{FF2B5EF4-FFF2-40B4-BE49-F238E27FC236}">
                    <a16:creationId xmlns:a16="http://schemas.microsoft.com/office/drawing/2014/main" id="{901A5644-BA38-148B-2FBF-117266FDACE1}"/>
                  </a:ext>
                </a:extLst>
              </p:cNvPr>
              <p:cNvSpPr/>
              <p:nvPr/>
            </p:nvSpPr>
            <p:spPr>
              <a:xfrm>
                <a:off x="833099" y="2578989"/>
                <a:ext cx="2888402" cy="3510390"/>
              </a:xfrm>
              <a:prstGeom prst="roundRect">
                <a:avLst>
                  <a:gd name="adj" fmla="val 9000"/>
                </a:avLst>
              </a:prstGeom>
              <a:solidFill>
                <a:schemeClr val="bg2">
                  <a:lumMod val="90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200">
                  <a:solidFill>
                    <a:schemeClr val="tx1"/>
                  </a:solidFill>
                </a:endParaRPr>
              </a:p>
            </p:txBody>
          </p:sp>
          <p:sp>
            <p:nvSpPr>
              <p:cNvPr id="38" name="片側の 2 つの角を丸めた四角形 37">
                <a:extLst>
                  <a:ext uri="{FF2B5EF4-FFF2-40B4-BE49-F238E27FC236}">
                    <a16:creationId xmlns:a16="http://schemas.microsoft.com/office/drawing/2014/main" id="{54EDACB5-AFA3-E0EB-D685-67D7B83C2BEE}"/>
                  </a:ext>
                </a:extLst>
              </p:cNvPr>
              <p:cNvSpPr/>
              <p:nvPr/>
            </p:nvSpPr>
            <p:spPr>
              <a:xfrm>
                <a:off x="833099" y="2578990"/>
                <a:ext cx="2888402" cy="540060"/>
              </a:xfrm>
              <a:prstGeom prst="round2SameRect">
                <a:avLst>
                  <a:gd name="adj1" fmla="val 50000"/>
                  <a:gd name="adj2" fmla="val 0"/>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6" name="テキスト ボックス 35">
              <a:extLst>
                <a:ext uri="{FF2B5EF4-FFF2-40B4-BE49-F238E27FC236}">
                  <a16:creationId xmlns:a16="http://schemas.microsoft.com/office/drawing/2014/main" id="{C3B59545-2608-E897-EFF8-1E716E321E6B}"/>
                </a:ext>
              </a:extLst>
            </p:cNvPr>
            <p:cNvSpPr txBox="1"/>
            <p:nvPr/>
          </p:nvSpPr>
          <p:spPr>
            <a:xfrm>
              <a:off x="1343288" y="2663911"/>
              <a:ext cx="3190061" cy="314567"/>
            </a:xfrm>
            <a:prstGeom prst="rect">
              <a:avLst/>
            </a:prstGeom>
            <a:noFill/>
          </p:spPr>
          <p:txBody>
            <a:bodyPr wrap="square" rtlCol="0">
              <a:spAutoFit/>
            </a:bodyPr>
            <a:lstStyle/>
            <a:p>
              <a:pPr algn="ctr"/>
              <a:r>
                <a:rPr lang="en-US" altLang="ja-JP" sz="1600" b="1">
                  <a:solidFill>
                    <a:schemeClr val="bg1"/>
                  </a:solidFill>
                </a:rPr>
                <a:t>This research</a:t>
              </a:r>
              <a:endParaRPr kumimoji="1" lang="ja-JP" altLang="en-US" sz="1600">
                <a:solidFill>
                  <a:schemeClr val="bg1"/>
                </a:solidFill>
              </a:endParaRPr>
            </a:p>
          </p:txBody>
        </p:sp>
      </p:grpSp>
      <p:sp>
        <p:nvSpPr>
          <p:cNvPr id="39" name="テキスト ボックス 38">
            <a:extLst>
              <a:ext uri="{FF2B5EF4-FFF2-40B4-BE49-F238E27FC236}">
                <a16:creationId xmlns:a16="http://schemas.microsoft.com/office/drawing/2014/main" id="{F37AE888-B8AF-0F52-700A-F3F84ED9DBCF}"/>
              </a:ext>
            </a:extLst>
          </p:cNvPr>
          <p:cNvSpPr txBox="1"/>
          <p:nvPr/>
        </p:nvSpPr>
        <p:spPr>
          <a:xfrm>
            <a:off x="909588" y="3312317"/>
            <a:ext cx="2893150" cy="461665"/>
          </a:xfrm>
          <a:prstGeom prst="rect">
            <a:avLst/>
          </a:prstGeom>
          <a:noFill/>
        </p:spPr>
        <p:txBody>
          <a:bodyPr wrap="square" rtlCol="0">
            <a:spAutoFit/>
          </a:bodyPr>
          <a:lstStyle/>
          <a:p>
            <a:r>
              <a:rPr lang="en" altLang="ja-JP" sz="1200"/>
              <a:t>Organizing Planning Proposals and Land Use Proposals from Natural Language</a:t>
            </a:r>
            <a:endParaRPr kumimoji="1" lang="ja-JP" altLang="en-US" sz="1200"/>
          </a:p>
        </p:txBody>
      </p:sp>
      <p:sp>
        <p:nvSpPr>
          <p:cNvPr id="40" name="テキスト ボックス 39">
            <a:extLst>
              <a:ext uri="{FF2B5EF4-FFF2-40B4-BE49-F238E27FC236}">
                <a16:creationId xmlns:a16="http://schemas.microsoft.com/office/drawing/2014/main" id="{8C184932-869C-6A94-B380-98B79A7F7A16}"/>
              </a:ext>
            </a:extLst>
          </p:cNvPr>
          <p:cNvSpPr txBox="1"/>
          <p:nvPr/>
        </p:nvSpPr>
        <p:spPr>
          <a:xfrm>
            <a:off x="896919" y="3899808"/>
            <a:ext cx="2892486" cy="461665"/>
          </a:xfrm>
          <a:prstGeom prst="rect">
            <a:avLst/>
          </a:prstGeom>
          <a:noFill/>
        </p:spPr>
        <p:txBody>
          <a:bodyPr wrap="square" rtlCol="0">
            <a:spAutoFit/>
          </a:bodyPr>
          <a:lstStyle/>
          <a:p>
            <a:r>
              <a:rPr lang="en" altLang="ja-JP" sz="1200"/>
              <a:t>Requirement Clarification and Scenario Generation Through Dialogue</a:t>
            </a:r>
          </a:p>
        </p:txBody>
      </p:sp>
      <p:sp>
        <p:nvSpPr>
          <p:cNvPr id="41" name="テキスト ボックス 40">
            <a:extLst>
              <a:ext uri="{FF2B5EF4-FFF2-40B4-BE49-F238E27FC236}">
                <a16:creationId xmlns:a16="http://schemas.microsoft.com/office/drawing/2014/main" id="{02802972-72DE-69D5-C8C9-BA51A3B0CC6D}"/>
              </a:ext>
            </a:extLst>
          </p:cNvPr>
          <p:cNvSpPr txBox="1"/>
          <p:nvPr/>
        </p:nvSpPr>
        <p:spPr>
          <a:xfrm>
            <a:off x="909256" y="4480954"/>
            <a:ext cx="2880149" cy="461665"/>
          </a:xfrm>
          <a:prstGeom prst="rect">
            <a:avLst/>
          </a:prstGeom>
          <a:noFill/>
        </p:spPr>
        <p:txBody>
          <a:bodyPr wrap="square" rtlCol="0">
            <a:spAutoFit/>
          </a:bodyPr>
          <a:lstStyle/>
          <a:p>
            <a:r>
              <a:rPr lang="en" altLang="ja-JP" sz="1200"/>
              <a:t>Not connected to the input format for the pedestrian flow prediction model</a:t>
            </a:r>
            <a:endParaRPr kumimoji="1" lang="ja-JP" altLang="en-US" sz="1200"/>
          </a:p>
        </p:txBody>
      </p:sp>
      <p:sp>
        <p:nvSpPr>
          <p:cNvPr id="42" name="テキスト ボックス 41">
            <a:extLst>
              <a:ext uri="{FF2B5EF4-FFF2-40B4-BE49-F238E27FC236}">
                <a16:creationId xmlns:a16="http://schemas.microsoft.com/office/drawing/2014/main" id="{B6BC8E3A-0B14-9897-B6E6-C86284DDA489}"/>
              </a:ext>
            </a:extLst>
          </p:cNvPr>
          <p:cNvSpPr txBox="1"/>
          <p:nvPr/>
        </p:nvSpPr>
        <p:spPr>
          <a:xfrm>
            <a:off x="922589" y="5047921"/>
            <a:ext cx="2880149" cy="461665"/>
          </a:xfrm>
          <a:prstGeom prst="rect">
            <a:avLst/>
          </a:prstGeom>
          <a:noFill/>
        </p:spPr>
        <p:txBody>
          <a:bodyPr wrap="square" rtlCol="0">
            <a:spAutoFit/>
          </a:bodyPr>
          <a:lstStyle/>
          <a:p>
            <a:r>
              <a:rPr lang="en" altLang="ja-JP" sz="1200"/>
              <a:t>Effectiveness evaluations tend to remain qualitative</a:t>
            </a:r>
          </a:p>
        </p:txBody>
      </p:sp>
      <p:sp>
        <p:nvSpPr>
          <p:cNvPr id="44" name="テキスト ボックス 43">
            <a:extLst>
              <a:ext uri="{FF2B5EF4-FFF2-40B4-BE49-F238E27FC236}">
                <a16:creationId xmlns:a16="http://schemas.microsoft.com/office/drawing/2014/main" id="{22BDF1C2-2B45-BE08-BF47-DF5166742286}"/>
              </a:ext>
            </a:extLst>
          </p:cNvPr>
          <p:cNvSpPr txBox="1"/>
          <p:nvPr/>
        </p:nvSpPr>
        <p:spPr>
          <a:xfrm>
            <a:off x="621493" y="3368254"/>
            <a:ext cx="415498" cy="369332"/>
          </a:xfrm>
          <a:prstGeom prst="rect">
            <a:avLst/>
          </a:prstGeom>
          <a:noFill/>
        </p:spPr>
        <p:txBody>
          <a:bodyPr wrap="none" rtlCol="0">
            <a:spAutoFit/>
          </a:bodyPr>
          <a:lstStyle/>
          <a:p>
            <a:r>
              <a:rPr kumimoji="1" lang="ja-JP" altLang="en-US" b="1">
                <a:solidFill>
                  <a:srgbClr val="FF0000"/>
                </a:solidFill>
              </a:rPr>
              <a:t>○</a:t>
            </a:r>
          </a:p>
        </p:txBody>
      </p:sp>
      <p:sp>
        <p:nvSpPr>
          <p:cNvPr id="45" name="テキスト ボックス 44">
            <a:extLst>
              <a:ext uri="{FF2B5EF4-FFF2-40B4-BE49-F238E27FC236}">
                <a16:creationId xmlns:a16="http://schemas.microsoft.com/office/drawing/2014/main" id="{FAE73F34-F6EF-C339-747F-925F795D0348}"/>
              </a:ext>
            </a:extLst>
          </p:cNvPr>
          <p:cNvSpPr txBox="1"/>
          <p:nvPr/>
        </p:nvSpPr>
        <p:spPr>
          <a:xfrm>
            <a:off x="621493" y="3942413"/>
            <a:ext cx="415498" cy="369332"/>
          </a:xfrm>
          <a:prstGeom prst="rect">
            <a:avLst/>
          </a:prstGeom>
          <a:noFill/>
        </p:spPr>
        <p:txBody>
          <a:bodyPr wrap="none" rtlCol="0">
            <a:spAutoFit/>
          </a:bodyPr>
          <a:lstStyle/>
          <a:p>
            <a:r>
              <a:rPr kumimoji="1" lang="ja-JP" altLang="en-US" b="1">
                <a:solidFill>
                  <a:srgbClr val="FF0000"/>
                </a:solidFill>
              </a:rPr>
              <a:t>○</a:t>
            </a:r>
          </a:p>
        </p:txBody>
      </p:sp>
      <p:sp>
        <p:nvSpPr>
          <p:cNvPr id="46" name="テキスト ボックス 45">
            <a:extLst>
              <a:ext uri="{FF2B5EF4-FFF2-40B4-BE49-F238E27FC236}">
                <a16:creationId xmlns:a16="http://schemas.microsoft.com/office/drawing/2014/main" id="{13DA31AB-3A75-02E3-3AEF-48C8A0F4C9FD}"/>
              </a:ext>
            </a:extLst>
          </p:cNvPr>
          <p:cNvSpPr txBox="1"/>
          <p:nvPr/>
        </p:nvSpPr>
        <p:spPr>
          <a:xfrm>
            <a:off x="640729" y="4531282"/>
            <a:ext cx="377026" cy="369332"/>
          </a:xfrm>
          <a:prstGeom prst="rect">
            <a:avLst/>
          </a:prstGeom>
          <a:noFill/>
        </p:spPr>
        <p:txBody>
          <a:bodyPr wrap="none" rtlCol="0">
            <a:spAutoFit/>
          </a:bodyPr>
          <a:lstStyle/>
          <a:p>
            <a:r>
              <a:rPr kumimoji="1" lang="en-US" altLang="ja-JP">
                <a:solidFill>
                  <a:srgbClr val="0432FF"/>
                </a:solidFill>
              </a:rPr>
              <a:t>×</a:t>
            </a:r>
            <a:endParaRPr kumimoji="1" lang="ja-JP" altLang="en-US">
              <a:solidFill>
                <a:srgbClr val="0432FF"/>
              </a:solidFill>
            </a:endParaRPr>
          </a:p>
        </p:txBody>
      </p:sp>
      <p:sp>
        <p:nvSpPr>
          <p:cNvPr id="47" name="テキスト ボックス 46">
            <a:extLst>
              <a:ext uri="{FF2B5EF4-FFF2-40B4-BE49-F238E27FC236}">
                <a16:creationId xmlns:a16="http://schemas.microsoft.com/office/drawing/2014/main" id="{8CB71F67-AEF7-4394-2087-747BB5E777D6}"/>
              </a:ext>
            </a:extLst>
          </p:cNvPr>
          <p:cNvSpPr txBox="1"/>
          <p:nvPr/>
        </p:nvSpPr>
        <p:spPr>
          <a:xfrm>
            <a:off x="640729" y="5108798"/>
            <a:ext cx="377026" cy="369332"/>
          </a:xfrm>
          <a:prstGeom prst="rect">
            <a:avLst/>
          </a:prstGeom>
          <a:noFill/>
        </p:spPr>
        <p:txBody>
          <a:bodyPr wrap="none" rtlCol="0">
            <a:spAutoFit/>
          </a:bodyPr>
          <a:lstStyle/>
          <a:p>
            <a:r>
              <a:rPr kumimoji="1" lang="en-US" altLang="ja-JP">
                <a:solidFill>
                  <a:srgbClr val="0432FF"/>
                </a:solidFill>
              </a:rPr>
              <a:t>×</a:t>
            </a:r>
            <a:endParaRPr kumimoji="1" lang="ja-JP" altLang="en-US">
              <a:solidFill>
                <a:srgbClr val="0432FF"/>
              </a:solidFill>
            </a:endParaRPr>
          </a:p>
        </p:txBody>
      </p:sp>
      <p:sp>
        <p:nvSpPr>
          <p:cNvPr id="48" name="テキスト ボックス 47">
            <a:extLst>
              <a:ext uri="{FF2B5EF4-FFF2-40B4-BE49-F238E27FC236}">
                <a16:creationId xmlns:a16="http://schemas.microsoft.com/office/drawing/2014/main" id="{E74E280A-A690-513F-CDBD-E6412CC7188D}"/>
              </a:ext>
            </a:extLst>
          </p:cNvPr>
          <p:cNvSpPr txBox="1"/>
          <p:nvPr/>
        </p:nvSpPr>
        <p:spPr>
          <a:xfrm>
            <a:off x="704963" y="5610242"/>
            <a:ext cx="3204723" cy="523220"/>
          </a:xfrm>
          <a:prstGeom prst="rect">
            <a:avLst/>
          </a:prstGeom>
          <a:noFill/>
        </p:spPr>
        <p:txBody>
          <a:bodyPr wrap="square" rtlCol="0">
            <a:spAutoFit/>
          </a:bodyPr>
          <a:lstStyle/>
          <a:p>
            <a:r>
              <a:rPr kumimoji="1" lang="en-US" altLang="ja-JP" sz="1400"/>
              <a:t>Ex. PlanGPT, Large language model empowered participatory urban planning</a:t>
            </a:r>
            <a:endParaRPr kumimoji="1" lang="ja-JP" altLang="en-US" sz="1400"/>
          </a:p>
        </p:txBody>
      </p:sp>
      <p:sp>
        <p:nvSpPr>
          <p:cNvPr id="49" name="テキスト ボックス 48">
            <a:extLst>
              <a:ext uri="{FF2B5EF4-FFF2-40B4-BE49-F238E27FC236}">
                <a16:creationId xmlns:a16="http://schemas.microsoft.com/office/drawing/2014/main" id="{2A9C890E-6F5B-2745-F214-6150E50C5210}"/>
              </a:ext>
            </a:extLst>
          </p:cNvPr>
          <p:cNvSpPr txBox="1"/>
          <p:nvPr/>
        </p:nvSpPr>
        <p:spPr>
          <a:xfrm>
            <a:off x="4582498" y="3254350"/>
            <a:ext cx="2893150" cy="461665"/>
          </a:xfrm>
          <a:prstGeom prst="rect">
            <a:avLst/>
          </a:prstGeom>
          <a:noFill/>
        </p:spPr>
        <p:txBody>
          <a:bodyPr wrap="square" rtlCol="0">
            <a:spAutoFit/>
          </a:bodyPr>
          <a:lstStyle/>
          <a:p>
            <a:r>
              <a:rPr lang="en" altLang="ja-JP" sz="1200"/>
              <a:t>Assessing the Impact of Facility Layout and Policy Changes</a:t>
            </a:r>
            <a:endParaRPr kumimoji="1" lang="ja-JP" altLang="en-US" sz="1200"/>
          </a:p>
        </p:txBody>
      </p:sp>
      <p:sp>
        <p:nvSpPr>
          <p:cNvPr id="50" name="テキスト ボックス 49">
            <a:extLst>
              <a:ext uri="{FF2B5EF4-FFF2-40B4-BE49-F238E27FC236}">
                <a16:creationId xmlns:a16="http://schemas.microsoft.com/office/drawing/2014/main" id="{FB47F317-B7CF-8500-1F8D-127123FA82C4}"/>
              </a:ext>
            </a:extLst>
          </p:cNvPr>
          <p:cNvSpPr txBox="1"/>
          <p:nvPr/>
        </p:nvSpPr>
        <p:spPr>
          <a:xfrm>
            <a:off x="4582498" y="3839125"/>
            <a:ext cx="2892486" cy="461665"/>
          </a:xfrm>
          <a:prstGeom prst="rect">
            <a:avLst/>
          </a:prstGeom>
          <a:noFill/>
        </p:spPr>
        <p:txBody>
          <a:bodyPr wrap="square" rtlCol="0">
            <a:spAutoFit/>
          </a:bodyPr>
          <a:lstStyle/>
          <a:p>
            <a:r>
              <a:rPr lang="en" altLang="ja-JP" sz="1200"/>
              <a:t>Estimating Changes in Visitor Numbers, Crowding, and Length of Stay</a:t>
            </a:r>
            <a:endParaRPr kumimoji="1" lang="ja-JP" altLang="en-US" sz="1200"/>
          </a:p>
        </p:txBody>
      </p:sp>
      <p:sp>
        <p:nvSpPr>
          <p:cNvPr id="51" name="テキスト ボックス 50">
            <a:extLst>
              <a:ext uri="{FF2B5EF4-FFF2-40B4-BE49-F238E27FC236}">
                <a16:creationId xmlns:a16="http://schemas.microsoft.com/office/drawing/2014/main" id="{07632B67-AA4B-2FB6-77CD-FCC60D902BDB}"/>
              </a:ext>
            </a:extLst>
          </p:cNvPr>
          <p:cNvSpPr txBox="1"/>
          <p:nvPr/>
        </p:nvSpPr>
        <p:spPr>
          <a:xfrm>
            <a:off x="4581834" y="4411535"/>
            <a:ext cx="2880149" cy="461665"/>
          </a:xfrm>
          <a:prstGeom prst="rect">
            <a:avLst/>
          </a:prstGeom>
          <a:noFill/>
        </p:spPr>
        <p:txBody>
          <a:bodyPr wrap="square" rtlCol="0">
            <a:spAutoFit/>
          </a:bodyPr>
          <a:lstStyle/>
          <a:p>
            <a:r>
              <a:rPr lang="en" altLang="ja-JP" sz="1200"/>
              <a:t>It is difficult to directly address the ambiguity of the plan's intent</a:t>
            </a:r>
            <a:endParaRPr kumimoji="1" lang="ja-JP" altLang="en-US" sz="1200"/>
          </a:p>
        </p:txBody>
      </p:sp>
      <p:sp>
        <p:nvSpPr>
          <p:cNvPr id="52" name="テキスト ボックス 51">
            <a:extLst>
              <a:ext uri="{FF2B5EF4-FFF2-40B4-BE49-F238E27FC236}">
                <a16:creationId xmlns:a16="http://schemas.microsoft.com/office/drawing/2014/main" id="{5EC0B909-01CD-57AD-F085-EFF8DBA719AD}"/>
              </a:ext>
            </a:extLst>
          </p:cNvPr>
          <p:cNvSpPr txBox="1"/>
          <p:nvPr/>
        </p:nvSpPr>
        <p:spPr>
          <a:xfrm>
            <a:off x="4581834" y="5008675"/>
            <a:ext cx="2880149" cy="646331"/>
          </a:xfrm>
          <a:prstGeom prst="rect">
            <a:avLst/>
          </a:prstGeom>
          <a:noFill/>
        </p:spPr>
        <p:txBody>
          <a:bodyPr wrap="square" rtlCol="0">
            <a:spAutoFit/>
          </a:bodyPr>
          <a:lstStyle/>
          <a:p>
            <a:r>
              <a:rPr lang="en" altLang="ja-JP" sz="1200"/>
              <a:t>eveloping a scenario based on the initial concept is not within the scope of this project.</a:t>
            </a:r>
          </a:p>
        </p:txBody>
      </p:sp>
      <p:sp>
        <p:nvSpPr>
          <p:cNvPr id="53" name="テキスト ボックス 52">
            <a:extLst>
              <a:ext uri="{FF2B5EF4-FFF2-40B4-BE49-F238E27FC236}">
                <a16:creationId xmlns:a16="http://schemas.microsoft.com/office/drawing/2014/main" id="{0A1CF332-8B3C-7B7A-9099-C72E1956ED72}"/>
              </a:ext>
            </a:extLst>
          </p:cNvPr>
          <p:cNvSpPr txBox="1"/>
          <p:nvPr/>
        </p:nvSpPr>
        <p:spPr>
          <a:xfrm>
            <a:off x="4294071" y="3368254"/>
            <a:ext cx="415498" cy="369332"/>
          </a:xfrm>
          <a:prstGeom prst="rect">
            <a:avLst/>
          </a:prstGeom>
          <a:noFill/>
        </p:spPr>
        <p:txBody>
          <a:bodyPr wrap="none" rtlCol="0">
            <a:spAutoFit/>
          </a:bodyPr>
          <a:lstStyle/>
          <a:p>
            <a:r>
              <a:rPr kumimoji="1" lang="ja-JP" altLang="en-US" b="1">
                <a:solidFill>
                  <a:srgbClr val="FF0000"/>
                </a:solidFill>
              </a:rPr>
              <a:t>○</a:t>
            </a:r>
          </a:p>
        </p:txBody>
      </p:sp>
      <p:sp>
        <p:nvSpPr>
          <p:cNvPr id="54" name="テキスト ボックス 53">
            <a:extLst>
              <a:ext uri="{FF2B5EF4-FFF2-40B4-BE49-F238E27FC236}">
                <a16:creationId xmlns:a16="http://schemas.microsoft.com/office/drawing/2014/main" id="{CB7C5CD4-DD52-731C-AC6A-746DFA2F1B6A}"/>
              </a:ext>
            </a:extLst>
          </p:cNvPr>
          <p:cNvSpPr txBox="1"/>
          <p:nvPr/>
        </p:nvSpPr>
        <p:spPr>
          <a:xfrm>
            <a:off x="4294071" y="3942413"/>
            <a:ext cx="415498" cy="369332"/>
          </a:xfrm>
          <a:prstGeom prst="rect">
            <a:avLst/>
          </a:prstGeom>
          <a:noFill/>
        </p:spPr>
        <p:txBody>
          <a:bodyPr wrap="none" rtlCol="0">
            <a:spAutoFit/>
          </a:bodyPr>
          <a:lstStyle/>
          <a:p>
            <a:r>
              <a:rPr kumimoji="1" lang="ja-JP" altLang="en-US" b="1">
                <a:solidFill>
                  <a:srgbClr val="FF0000"/>
                </a:solidFill>
              </a:rPr>
              <a:t>○</a:t>
            </a:r>
          </a:p>
        </p:txBody>
      </p:sp>
      <p:sp>
        <p:nvSpPr>
          <p:cNvPr id="55" name="テキスト ボックス 54">
            <a:extLst>
              <a:ext uri="{FF2B5EF4-FFF2-40B4-BE49-F238E27FC236}">
                <a16:creationId xmlns:a16="http://schemas.microsoft.com/office/drawing/2014/main" id="{26EFA40C-0F9B-DB5C-CE78-A287761B62C2}"/>
              </a:ext>
            </a:extLst>
          </p:cNvPr>
          <p:cNvSpPr txBox="1"/>
          <p:nvPr/>
        </p:nvSpPr>
        <p:spPr>
          <a:xfrm>
            <a:off x="4294071" y="4516572"/>
            <a:ext cx="377026" cy="369332"/>
          </a:xfrm>
          <a:prstGeom prst="rect">
            <a:avLst/>
          </a:prstGeom>
          <a:noFill/>
        </p:spPr>
        <p:txBody>
          <a:bodyPr wrap="none" rtlCol="0">
            <a:spAutoFit/>
          </a:bodyPr>
          <a:lstStyle/>
          <a:p>
            <a:r>
              <a:rPr kumimoji="1" lang="en-US" altLang="ja-JP">
                <a:solidFill>
                  <a:srgbClr val="0432FF"/>
                </a:solidFill>
              </a:rPr>
              <a:t>×</a:t>
            </a:r>
            <a:endParaRPr kumimoji="1" lang="ja-JP" altLang="en-US">
              <a:solidFill>
                <a:srgbClr val="0432FF"/>
              </a:solidFill>
            </a:endParaRPr>
          </a:p>
        </p:txBody>
      </p:sp>
      <p:sp>
        <p:nvSpPr>
          <p:cNvPr id="56" name="テキスト ボックス 55">
            <a:extLst>
              <a:ext uri="{FF2B5EF4-FFF2-40B4-BE49-F238E27FC236}">
                <a16:creationId xmlns:a16="http://schemas.microsoft.com/office/drawing/2014/main" id="{6E429E77-67E6-5B7A-0297-EBEE4AC7328A}"/>
              </a:ext>
            </a:extLst>
          </p:cNvPr>
          <p:cNvSpPr txBox="1"/>
          <p:nvPr/>
        </p:nvSpPr>
        <p:spPr>
          <a:xfrm>
            <a:off x="4294071" y="5094088"/>
            <a:ext cx="377026" cy="369332"/>
          </a:xfrm>
          <a:prstGeom prst="rect">
            <a:avLst/>
          </a:prstGeom>
          <a:noFill/>
        </p:spPr>
        <p:txBody>
          <a:bodyPr wrap="none" rtlCol="0">
            <a:spAutoFit/>
          </a:bodyPr>
          <a:lstStyle/>
          <a:p>
            <a:r>
              <a:rPr kumimoji="1" lang="en-US" altLang="ja-JP">
                <a:solidFill>
                  <a:srgbClr val="0432FF"/>
                </a:solidFill>
              </a:rPr>
              <a:t>×</a:t>
            </a:r>
            <a:endParaRPr kumimoji="1" lang="ja-JP" altLang="en-US">
              <a:solidFill>
                <a:srgbClr val="0432FF"/>
              </a:solidFill>
            </a:endParaRPr>
          </a:p>
        </p:txBody>
      </p:sp>
      <p:sp>
        <p:nvSpPr>
          <p:cNvPr id="57" name="テキスト ボックス 56">
            <a:extLst>
              <a:ext uri="{FF2B5EF4-FFF2-40B4-BE49-F238E27FC236}">
                <a16:creationId xmlns:a16="http://schemas.microsoft.com/office/drawing/2014/main" id="{1F43922B-AB00-1438-9225-6FD1E733A61D}"/>
              </a:ext>
            </a:extLst>
          </p:cNvPr>
          <p:cNvSpPr txBox="1"/>
          <p:nvPr/>
        </p:nvSpPr>
        <p:spPr>
          <a:xfrm>
            <a:off x="4429934" y="5610242"/>
            <a:ext cx="3204723" cy="307777"/>
          </a:xfrm>
          <a:prstGeom prst="rect">
            <a:avLst/>
          </a:prstGeom>
          <a:noFill/>
        </p:spPr>
        <p:txBody>
          <a:bodyPr wrap="square" rtlCol="0">
            <a:spAutoFit/>
          </a:bodyPr>
          <a:lstStyle/>
          <a:p>
            <a:r>
              <a:rPr kumimoji="1" lang="en-US" altLang="ja-JP" sz="1400"/>
              <a:t>Ex.</a:t>
            </a:r>
            <a:r>
              <a:rPr lang="ja-JP" altLang="ja-JP" sz="1400"/>
              <a:t> CausalPOI</a:t>
            </a:r>
            <a:r>
              <a:rPr lang="en-US" altLang="ja-JP" sz="1400"/>
              <a:t>, </a:t>
            </a:r>
            <a:r>
              <a:rPr lang="ja-JP" altLang="ja-JP" sz="1400"/>
              <a:t>SeMob</a:t>
            </a:r>
            <a:endParaRPr kumimoji="1" lang="ja-JP" altLang="en-US" sz="1400"/>
          </a:p>
        </p:txBody>
      </p:sp>
      <p:sp>
        <p:nvSpPr>
          <p:cNvPr id="62" name="テキスト ボックス 61">
            <a:extLst>
              <a:ext uri="{FF2B5EF4-FFF2-40B4-BE49-F238E27FC236}">
                <a16:creationId xmlns:a16="http://schemas.microsoft.com/office/drawing/2014/main" id="{547BAB07-8676-EEA1-1FCD-05A8BA70B92E}"/>
              </a:ext>
            </a:extLst>
          </p:cNvPr>
          <p:cNvSpPr txBox="1"/>
          <p:nvPr/>
        </p:nvSpPr>
        <p:spPr>
          <a:xfrm>
            <a:off x="7973866" y="3368254"/>
            <a:ext cx="415498" cy="369332"/>
          </a:xfrm>
          <a:prstGeom prst="rect">
            <a:avLst/>
          </a:prstGeom>
          <a:noFill/>
        </p:spPr>
        <p:txBody>
          <a:bodyPr wrap="none" rtlCol="0">
            <a:spAutoFit/>
          </a:bodyPr>
          <a:lstStyle/>
          <a:p>
            <a:r>
              <a:rPr kumimoji="1" lang="ja-JP" altLang="en-US" b="1">
                <a:solidFill>
                  <a:srgbClr val="FF0000"/>
                </a:solidFill>
              </a:rPr>
              <a:t>○</a:t>
            </a:r>
          </a:p>
        </p:txBody>
      </p:sp>
      <p:sp>
        <p:nvSpPr>
          <p:cNvPr id="63" name="テキスト ボックス 62">
            <a:extLst>
              <a:ext uri="{FF2B5EF4-FFF2-40B4-BE49-F238E27FC236}">
                <a16:creationId xmlns:a16="http://schemas.microsoft.com/office/drawing/2014/main" id="{7B423202-A49D-2522-A6B0-F25CF2A95344}"/>
              </a:ext>
            </a:extLst>
          </p:cNvPr>
          <p:cNvSpPr txBox="1"/>
          <p:nvPr/>
        </p:nvSpPr>
        <p:spPr>
          <a:xfrm>
            <a:off x="7973866" y="3942413"/>
            <a:ext cx="415498" cy="369332"/>
          </a:xfrm>
          <a:prstGeom prst="rect">
            <a:avLst/>
          </a:prstGeom>
          <a:noFill/>
        </p:spPr>
        <p:txBody>
          <a:bodyPr wrap="none" rtlCol="0">
            <a:spAutoFit/>
          </a:bodyPr>
          <a:lstStyle/>
          <a:p>
            <a:r>
              <a:rPr kumimoji="1" lang="ja-JP" altLang="en-US" b="1">
                <a:solidFill>
                  <a:srgbClr val="FF0000"/>
                </a:solidFill>
              </a:rPr>
              <a:t>○</a:t>
            </a:r>
          </a:p>
        </p:txBody>
      </p:sp>
      <p:sp>
        <p:nvSpPr>
          <p:cNvPr id="76" name="テキスト ボックス 75">
            <a:extLst>
              <a:ext uri="{FF2B5EF4-FFF2-40B4-BE49-F238E27FC236}">
                <a16:creationId xmlns:a16="http://schemas.microsoft.com/office/drawing/2014/main" id="{B2F6402B-E88E-4D3E-467F-38D375476016}"/>
              </a:ext>
            </a:extLst>
          </p:cNvPr>
          <p:cNvSpPr txBox="1"/>
          <p:nvPr/>
        </p:nvSpPr>
        <p:spPr>
          <a:xfrm>
            <a:off x="8360425" y="3254350"/>
            <a:ext cx="2893150" cy="461665"/>
          </a:xfrm>
          <a:prstGeom prst="rect">
            <a:avLst/>
          </a:prstGeom>
          <a:noFill/>
        </p:spPr>
        <p:txBody>
          <a:bodyPr wrap="square" rtlCol="0">
            <a:spAutoFit/>
          </a:bodyPr>
          <a:lstStyle/>
          <a:p>
            <a:r>
              <a:rPr lang="en" altLang="ja-JP" sz="1200"/>
              <a:t>Fleshing Out Low-Level Development Concepts Through Dialogue with an LLM</a:t>
            </a:r>
            <a:endParaRPr kumimoji="1" lang="ja-JP" altLang="en-US" sz="1200"/>
          </a:p>
        </p:txBody>
      </p:sp>
      <p:sp>
        <p:nvSpPr>
          <p:cNvPr id="77" name="テキスト ボックス 76">
            <a:extLst>
              <a:ext uri="{FF2B5EF4-FFF2-40B4-BE49-F238E27FC236}">
                <a16:creationId xmlns:a16="http://schemas.microsoft.com/office/drawing/2014/main" id="{31150009-7B97-A334-D7CC-1F128CDD5E9A}"/>
              </a:ext>
            </a:extLst>
          </p:cNvPr>
          <p:cNvSpPr txBox="1"/>
          <p:nvPr/>
        </p:nvSpPr>
        <p:spPr>
          <a:xfrm>
            <a:off x="8360425" y="3839125"/>
            <a:ext cx="2892486" cy="461665"/>
          </a:xfrm>
          <a:prstGeom prst="rect">
            <a:avLst/>
          </a:prstGeom>
          <a:noFill/>
        </p:spPr>
        <p:txBody>
          <a:bodyPr wrap="square" rtlCol="0">
            <a:spAutoFit/>
          </a:bodyPr>
          <a:lstStyle/>
          <a:p>
            <a:r>
              <a:rPr lang="en" altLang="ja-JP" sz="1200"/>
              <a:t>Structured Transformation of Pedestrian Flow into Predictable Parameters</a:t>
            </a:r>
            <a:endParaRPr kumimoji="1" lang="ja-JP" altLang="en-US" sz="1200"/>
          </a:p>
        </p:txBody>
      </p:sp>
      <p:sp>
        <p:nvSpPr>
          <p:cNvPr id="78" name="テキスト ボックス 77">
            <a:extLst>
              <a:ext uri="{FF2B5EF4-FFF2-40B4-BE49-F238E27FC236}">
                <a16:creationId xmlns:a16="http://schemas.microsoft.com/office/drawing/2014/main" id="{59950C45-E8C2-9444-4857-EAC7326D66F4}"/>
              </a:ext>
            </a:extLst>
          </p:cNvPr>
          <p:cNvSpPr txBox="1"/>
          <p:nvPr/>
        </p:nvSpPr>
        <p:spPr>
          <a:xfrm>
            <a:off x="8359761" y="4411535"/>
            <a:ext cx="2880149" cy="646331"/>
          </a:xfrm>
          <a:prstGeom prst="rect">
            <a:avLst/>
          </a:prstGeom>
          <a:noFill/>
        </p:spPr>
        <p:txBody>
          <a:bodyPr wrap="square" rtlCol="0">
            <a:spAutoFit/>
          </a:bodyPr>
          <a:lstStyle/>
          <a:p>
            <a:r>
              <a:rPr lang="en" altLang="ja-JP" sz="1200"/>
              <a:t>Comparative evaluation of multiple detailed scenarios from the perspective of pedestrian flow</a:t>
            </a:r>
            <a:endParaRPr kumimoji="1" lang="ja-JP" altLang="en-US" sz="1200"/>
          </a:p>
        </p:txBody>
      </p:sp>
      <p:sp>
        <p:nvSpPr>
          <p:cNvPr id="79" name="テキスト ボックス 78">
            <a:extLst>
              <a:ext uri="{FF2B5EF4-FFF2-40B4-BE49-F238E27FC236}">
                <a16:creationId xmlns:a16="http://schemas.microsoft.com/office/drawing/2014/main" id="{D28E2104-AC83-F9C5-4B1B-4232200C731F}"/>
              </a:ext>
            </a:extLst>
          </p:cNvPr>
          <p:cNvSpPr txBox="1"/>
          <p:nvPr/>
        </p:nvSpPr>
        <p:spPr>
          <a:xfrm>
            <a:off x="8359761" y="5062631"/>
            <a:ext cx="2880149" cy="461665"/>
          </a:xfrm>
          <a:prstGeom prst="rect">
            <a:avLst/>
          </a:prstGeom>
          <a:noFill/>
        </p:spPr>
        <p:txBody>
          <a:bodyPr wrap="square" rtlCol="0">
            <a:spAutoFit/>
          </a:bodyPr>
          <a:lstStyle/>
          <a:p>
            <a:r>
              <a:rPr lang="en" altLang="ja-JP" sz="1200"/>
              <a:t>A Workflow That Integrates Plan Development and Pedestrian Flow Analysis</a:t>
            </a:r>
          </a:p>
        </p:txBody>
      </p:sp>
      <p:sp>
        <p:nvSpPr>
          <p:cNvPr id="85" name="テキスト ボックス 84">
            <a:extLst>
              <a:ext uri="{FF2B5EF4-FFF2-40B4-BE49-F238E27FC236}">
                <a16:creationId xmlns:a16="http://schemas.microsoft.com/office/drawing/2014/main" id="{71FACC7C-FB81-3B6A-BCBE-FE609F70F2CB}"/>
              </a:ext>
            </a:extLst>
          </p:cNvPr>
          <p:cNvSpPr txBox="1"/>
          <p:nvPr/>
        </p:nvSpPr>
        <p:spPr>
          <a:xfrm>
            <a:off x="7980120" y="4499186"/>
            <a:ext cx="415498" cy="369332"/>
          </a:xfrm>
          <a:prstGeom prst="rect">
            <a:avLst/>
          </a:prstGeom>
          <a:noFill/>
        </p:spPr>
        <p:txBody>
          <a:bodyPr wrap="none" rtlCol="0">
            <a:spAutoFit/>
          </a:bodyPr>
          <a:lstStyle/>
          <a:p>
            <a:r>
              <a:rPr kumimoji="1" lang="ja-JP" altLang="en-US" b="1">
                <a:solidFill>
                  <a:srgbClr val="FF0000"/>
                </a:solidFill>
              </a:rPr>
              <a:t>○</a:t>
            </a:r>
          </a:p>
        </p:txBody>
      </p:sp>
      <p:sp>
        <p:nvSpPr>
          <p:cNvPr id="86" name="テキスト ボックス 85">
            <a:extLst>
              <a:ext uri="{FF2B5EF4-FFF2-40B4-BE49-F238E27FC236}">
                <a16:creationId xmlns:a16="http://schemas.microsoft.com/office/drawing/2014/main" id="{C4E65F0F-CC50-2057-2504-519D8B4705CF}"/>
              </a:ext>
            </a:extLst>
          </p:cNvPr>
          <p:cNvSpPr txBox="1"/>
          <p:nvPr/>
        </p:nvSpPr>
        <p:spPr>
          <a:xfrm>
            <a:off x="7980120" y="5073345"/>
            <a:ext cx="415498" cy="369332"/>
          </a:xfrm>
          <a:prstGeom prst="rect">
            <a:avLst/>
          </a:prstGeom>
          <a:noFill/>
        </p:spPr>
        <p:txBody>
          <a:bodyPr wrap="none" rtlCol="0">
            <a:spAutoFit/>
          </a:bodyPr>
          <a:lstStyle/>
          <a:p>
            <a:r>
              <a:rPr kumimoji="1" lang="ja-JP" altLang="en-US" b="1">
                <a:solidFill>
                  <a:srgbClr val="FF0000"/>
                </a:solidFill>
              </a:rPr>
              <a:t>○</a:t>
            </a:r>
          </a:p>
        </p:txBody>
      </p:sp>
    </p:spTree>
    <p:extLst>
      <p:ext uri="{BB962C8B-B14F-4D97-AF65-F5344CB8AC3E}">
        <p14:creationId xmlns:p14="http://schemas.microsoft.com/office/powerpoint/2010/main" val="3905925931"/>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E4C036-3F18-6E1D-162E-A82FAD22AE36}"/>
              </a:ext>
            </a:extLst>
          </p:cNvPr>
          <p:cNvSpPr>
            <a:spLocks noGrp="1"/>
          </p:cNvSpPr>
          <p:nvPr>
            <p:ph type="title"/>
          </p:nvPr>
        </p:nvSpPr>
        <p:spPr/>
        <p:txBody>
          <a:bodyPr/>
          <a:lstStyle/>
          <a:p>
            <a:r>
              <a:rPr lang="ja-JP" altLang="ja-JP">
                <a:latin typeface="HGMinchoE" panose="02020909000000000000" pitchFamily="49" charset="-128"/>
                <a:ea typeface="HGMinchoE" panose="02020909000000000000" pitchFamily="49" charset="-128"/>
              </a:rPr>
              <a:t>その後の年度内（3-4Q</a:t>
            </a:r>
            <a:r>
              <a:rPr lang="en-US" altLang="ja-JP">
                <a:latin typeface="HGMinchoE" panose="02020909000000000000" pitchFamily="49" charset="-128"/>
                <a:ea typeface="HGMinchoE" panose="02020909000000000000" pitchFamily="49" charset="-128"/>
              </a:rPr>
              <a:t>:10-3</a:t>
            </a:r>
            <a:r>
              <a:rPr lang="ja-JP" altLang="en-US">
                <a:latin typeface="HGMinchoE" panose="02020909000000000000" pitchFamily="49" charset="-128"/>
                <a:ea typeface="HGMinchoE" panose="02020909000000000000" pitchFamily="49" charset="-128"/>
              </a:rPr>
              <a:t>月</a:t>
            </a:r>
            <a:r>
              <a:rPr lang="ja-JP" altLang="ja-JP">
                <a:latin typeface="HGMinchoE" panose="02020909000000000000" pitchFamily="49" charset="-128"/>
                <a:ea typeface="HGMinchoE" panose="02020909000000000000" pitchFamily="49" charset="-128"/>
              </a:rPr>
              <a:t>）の取組イメージ</a:t>
            </a:r>
            <a:endParaRPr kumimoji="1" lang="ja-JP" altLang="en-US">
              <a:latin typeface="HGMinchoE" panose="02020909000000000000" pitchFamily="49" charset="-128"/>
              <a:ea typeface="HGMinchoE" panose="02020909000000000000" pitchFamily="49" charset="-128"/>
            </a:endParaRPr>
          </a:p>
        </p:txBody>
      </p:sp>
      <p:sp>
        <p:nvSpPr>
          <p:cNvPr id="4" name="日付プレースホルダー 3">
            <a:extLst>
              <a:ext uri="{FF2B5EF4-FFF2-40B4-BE49-F238E27FC236}">
                <a16:creationId xmlns:a16="http://schemas.microsoft.com/office/drawing/2014/main" id="{1C4FBD14-DE56-0D3B-4F8B-C604B1070FBF}"/>
              </a:ext>
            </a:extLst>
          </p:cNvPr>
          <p:cNvSpPr>
            <a:spLocks noGrp="1"/>
          </p:cNvSpPr>
          <p:nvPr>
            <p:ph type="dt" sz="half" idx="10"/>
          </p:nvPr>
        </p:nvSpPr>
        <p:spPr/>
        <p:txBody>
          <a:bodyPr/>
          <a:lstStyle/>
          <a:p>
            <a:r>
              <a:rPr lang="en-US" altLang="ja-JP"/>
              <a:t>2026/6</a:t>
            </a:r>
            <a:endParaRPr kumimoji="1" lang="ja-JP" altLang="en-US"/>
          </a:p>
        </p:txBody>
      </p:sp>
      <p:sp>
        <p:nvSpPr>
          <p:cNvPr id="13" name="フッター プレースホルダー 12">
            <a:extLst>
              <a:ext uri="{FF2B5EF4-FFF2-40B4-BE49-F238E27FC236}">
                <a16:creationId xmlns:a16="http://schemas.microsoft.com/office/drawing/2014/main" id="{1A8E4A53-370A-7A19-FA44-D6158DDE1CE2}"/>
              </a:ext>
            </a:extLst>
          </p:cNvPr>
          <p:cNvSpPr>
            <a:spLocks noGrp="1"/>
          </p:cNvSpPr>
          <p:nvPr>
            <p:ph type="ftr" sz="quarter" idx="11"/>
          </p:nvPr>
        </p:nvSpPr>
        <p:spPr/>
        <p:txBody>
          <a:bodyPr/>
          <a:lstStyle/>
          <a:p>
            <a:r>
              <a:rPr kumimoji="1" lang="ja-JP" altLang="en-US"/>
              <a:t>関本・中居研究室</a:t>
            </a:r>
          </a:p>
        </p:txBody>
      </p:sp>
      <p:sp>
        <p:nvSpPr>
          <p:cNvPr id="15" name="スライド番号プレースホルダー 14">
            <a:extLst>
              <a:ext uri="{FF2B5EF4-FFF2-40B4-BE49-F238E27FC236}">
                <a16:creationId xmlns:a16="http://schemas.microsoft.com/office/drawing/2014/main" id="{93A80ED0-0708-2A89-E5DF-4884CAD76733}"/>
              </a:ext>
            </a:extLst>
          </p:cNvPr>
          <p:cNvSpPr>
            <a:spLocks noGrp="1"/>
          </p:cNvSpPr>
          <p:nvPr>
            <p:ph type="sldNum" sz="quarter" idx="12"/>
          </p:nvPr>
        </p:nvSpPr>
        <p:spPr/>
        <p:txBody>
          <a:bodyPr/>
          <a:lstStyle/>
          <a:p>
            <a:fld id="{6539E37A-E522-3D47-AAB7-DDF67C94A05D}" type="slidenum">
              <a:rPr lang="en-US" altLang="ja-JP"/>
              <a:t>5</a:t>
            </a:fld>
            <a:endParaRPr kumimoji="1" lang="ja-JP" altLang="en-US"/>
          </a:p>
        </p:txBody>
      </p:sp>
      <p:graphicFrame>
        <p:nvGraphicFramePr>
          <p:cNvPr id="6" name="表 5">
            <a:extLst>
              <a:ext uri="{FF2B5EF4-FFF2-40B4-BE49-F238E27FC236}">
                <a16:creationId xmlns:a16="http://schemas.microsoft.com/office/drawing/2014/main" id="{EA352AE2-742B-3D72-FDC5-97CE91A432B2}"/>
              </a:ext>
            </a:extLst>
          </p:cNvPr>
          <p:cNvGraphicFramePr>
            <a:graphicFrameLocks noGrp="1"/>
          </p:cNvGraphicFramePr>
          <p:nvPr>
            <p:extLst>
              <p:ext uri="{D42A27DB-BD31-4B8C-83A1-F6EECF244321}">
                <p14:modId xmlns:p14="http://schemas.microsoft.com/office/powerpoint/2010/main" val="603291925"/>
              </p:ext>
            </p:extLst>
          </p:nvPr>
        </p:nvGraphicFramePr>
        <p:xfrm>
          <a:off x="850556" y="2438890"/>
          <a:ext cx="10515600" cy="3024149"/>
        </p:xfrm>
        <a:graphic>
          <a:graphicData uri="http://schemas.openxmlformats.org/drawingml/2006/table">
            <a:tbl>
              <a:tblPr firstRow="1" bandRow="1">
                <a:effectLst>
                  <a:outerShdw blurRad="50800" dist="38100" dir="8100000" algn="tr" rotWithShape="0">
                    <a:prstClr val="black">
                      <a:alpha val="40000"/>
                    </a:prstClr>
                  </a:outerShdw>
                </a:effectLst>
                <a:tableStyleId>{F5AB1C69-6EDB-4FF4-983F-18BD219EF322}</a:tableStyleId>
              </a:tblPr>
              <a:tblGrid>
                <a:gridCol w="3505200">
                  <a:extLst>
                    <a:ext uri="{9D8B030D-6E8A-4147-A177-3AD203B41FA5}">
                      <a16:colId xmlns:a16="http://schemas.microsoft.com/office/drawing/2014/main" val="3531872289"/>
                    </a:ext>
                  </a:extLst>
                </a:gridCol>
                <a:gridCol w="3505200">
                  <a:extLst>
                    <a:ext uri="{9D8B030D-6E8A-4147-A177-3AD203B41FA5}">
                      <a16:colId xmlns:a16="http://schemas.microsoft.com/office/drawing/2014/main" val="3092549854"/>
                    </a:ext>
                  </a:extLst>
                </a:gridCol>
                <a:gridCol w="3505200">
                  <a:extLst>
                    <a:ext uri="{9D8B030D-6E8A-4147-A177-3AD203B41FA5}">
                      <a16:colId xmlns:a16="http://schemas.microsoft.com/office/drawing/2014/main" val="3137149798"/>
                    </a:ext>
                  </a:extLst>
                </a:gridCol>
              </a:tblGrid>
              <a:tr h="450050">
                <a:tc>
                  <a:txBody>
                    <a:bodyPr/>
                    <a:lstStyle/>
                    <a:p>
                      <a:pPr algn="ctr"/>
                      <a:r>
                        <a:rPr kumimoji="1" lang="ja-JP" altLang="en-US" sz="1600"/>
                        <a:t>期間</a:t>
                      </a:r>
                    </a:p>
                  </a:txBody>
                  <a:tcPr anchor="ctr">
                    <a:solidFill>
                      <a:srgbClr val="0E2741"/>
                    </a:solidFill>
                  </a:tcPr>
                </a:tc>
                <a:tc>
                  <a:txBody>
                    <a:bodyPr/>
                    <a:lstStyle/>
                    <a:p>
                      <a:pPr algn="ctr"/>
                      <a:r>
                        <a:rPr kumimoji="1" lang="ja-JP" altLang="en-US" sz="1600"/>
                        <a:t>概要</a:t>
                      </a:r>
                    </a:p>
                  </a:txBody>
                  <a:tcPr anchor="ctr">
                    <a:solidFill>
                      <a:srgbClr val="0E2741"/>
                    </a:solidFill>
                  </a:tcPr>
                </a:tc>
                <a:tc>
                  <a:txBody>
                    <a:bodyPr/>
                    <a:lstStyle/>
                    <a:p>
                      <a:pPr algn="ctr"/>
                      <a:r>
                        <a:rPr kumimoji="1" lang="ja-JP" altLang="en-US" sz="1600"/>
                        <a:t>詳細</a:t>
                      </a:r>
                    </a:p>
                  </a:txBody>
                  <a:tcPr anchor="ctr">
                    <a:solidFill>
                      <a:srgbClr val="0E2741"/>
                    </a:solidFill>
                  </a:tcPr>
                </a:tc>
                <a:extLst>
                  <a:ext uri="{0D108BD9-81ED-4DB2-BD59-A6C34878D82A}">
                    <a16:rowId xmlns:a16="http://schemas.microsoft.com/office/drawing/2014/main" val="2757490642"/>
                  </a:ext>
                </a:extLst>
              </a:tr>
              <a:tr h="858033">
                <a:tc>
                  <a:txBody>
                    <a:bodyPr/>
                    <a:lstStyle/>
                    <a:p>
                      <a:pPr algn="l"/>
                      <a:r>
                        <a:rPr kumimoji="1" lang="en-US" altLang="ja-JP" b="0"/>
                        <a:t> 2Q(7-9</a:t>
                      </a:r>
                      <a:r>
                        <a:rPr kumimoji="1" lang="ja-JP" altLang="en-US" b="0"/>
                        <a:t>月</a:t>
                      </a:r>
                      <a:r>
                        <a:rPr kumimoji="1" lang="en-US" altLang="ja-JP" b="0"/>
                        <a:t>)</a:t>
                      </a:r>
                      <a:endParaRPr kumimoji="1" lang="ja-JP" altLang="en-US" b="0"/>
                    </a:p>
                  </a:txBody>
                  <a:tcPr anchor="ctr"/>
                </a:tc>
                <a:tc>
                  <a:txBody>
                    <a:bodyPr/>
                    <a:lstStyle/>
                    <a:p>
                      <a:r>
                        <a:rPr lang="ja-JP" altLang="ja-JP" sz="1400" b="0"/>
                        <a:t>典型的な1シナリオにおける計画具体化から人流予測までの実装</a:t>
                      </a:r>
                    </a:p>
                  </a:txBody>
                  <a:tcPr anchor="ctr"/>
                </a:tc>
                <a:tc>
                  <a:txBody>
                    <a:bodyPr/>
                    <a:lstStyle/>
                    <a:p>
                      <a:r>
                        <a:rPr lang="en-US" altLang="ja-JP" sz="1400" b="0"/>
                        <a:t>LLM</a:t>
                      </a:r>
                      <a:r>
                        <a:rPr lang="ja-JP" altLang="en-US" sz="1400" b="0"/>
                        <a:t>との対話の中で計画案を具体化していき、人流予測を行う。</a:t>
                      </a:r>
                      <a:endParaRPr lang="en-US" altLang="ja-JP" sz="1400" b="0"/>
                    </a:p>
                    <a:p>
                      <a:pPr algn="l"/>
                      <a:r>
                        <a:rPr kumimoji="1" lang="ja-JP" altLang="en-US" sz="1400" b="0"/>
                        <a:t>特定の</a:t>
                      </a:r>
                      <a:r>
                        <a:rPr kumimoji="1" lang="en-US" altLang="ja-JP" sz="1400" b="0"/>
                        <a:t>1</a:t>
                      </a:r>
                      <a:r>
                        <a:rPr kumimoji="1" lang="ja-JP" altLang="en-US" sz="1400" b="0"/>
                        <a:t>シナリオで実現する。</a:t>
                      </a:r>
                    </a:p>
                  </a:txBody>
                  <a:tcPr anchor="ctr"/>
                </a:tc>
                <a:extLst>
                  <a:ext uri="{0D108BD9-81ED-4DB2-BD59-A6C34878D82A}">
                    <a16:rowId xmlns:a16="http://schemas.microsoft.com/office/drawing/2014/main" val="2358868952"/>
                  </a:ext>
                </a:extLst>
              </a:tr>
              <a:tr h="858033">
                <a:tc>
                  <a:txBody>
                    <a:bodyPr/>
                    <a:lstStyle/>
                    <a:p>
                      <a:pPr algn="l"/>
                      <a:r>
                        <a:rPr kumimoji="1" lang="en-US" altLang="ja-JP"/>
                        <a:t> 3Q(10-12</a:t>
                      </a:r>
                      <a:r>
                        <a:rPr kumimoji="1" lang="ja-JP" altLang="en-US"/>
                        <a:t>月</a:t>
                      </a:r>
                      <a:r>
                        <a:rPr kumimoji="1" lang="en-US" altLang="ja-JP"/>
                        <a:t>)</a:t>
                      </a:r>
                      <a:endParaRPr kumimoji="1" lang="ja-JP" altLang="en-US"/>
                    </a:p>
                  </a:txBody>
                  <a:tcPr anchor="ctr"/>
                </a:tc>
                <a:tc>
                  <a:txBody>
                    <a:bodyPr/>
                    <a:lstStyle/>
                    <a:p>
                      <a:r>
                        <a:rPr kumimoji="1" lang="ja-JP" altLang="en-US" sz="1400"/>
                        <a:t>他のシナリオへの応用</a:t>
                      </a:r>
                    </a:p>
                  </a:txBody>
                  <a:tcPr anchor="ctr"/>
                </a:tc>
                <a:tc>
                  <a:txBody>
                    <a:bodyPr/>
                    <a:lstStyle/>
                    <a:p>
                      <a:r>
                        <a:rPr kumimoji="1" lang="en-US" altLang="ja-JP" sz="1400"/>
                        <a:t>2Q</a:t>
                      </a:r>
                      <a:r>
                        <a:rPr kumimoji="1" lang="ja-JP" altLang="en-US" sz="1400"/>
                        <a:t>で完成させたフローを応用させ、別のシナリオにも対応可能にする。</a:t>
                      </a:r>
                    </a:p>
                  </a:txBody>
                  <a:tcPr anchor="ctr"/>
                </a:tc>
                <a:extLst>
                  <a:ext uri="{0D108BD9-81ED-4DB2-BD59-A6C34878D82A}">
                    <a16:rowId xmlns:a16="http://schemas.microsoft.com/office/drawing/2014/main" val="4201957"/>
                  </a:ext>
                </a:extLst>
              </a:tr>
              <a:tr h="858033">
                <a:tc>
                  <a:txBody>
                    <a:bodyPr/>
                    <a:lstStyle/>
                    <a:p>
                      <a:pPr algn="l"/>
                      <a:r>
                        <a:rPr kumimoji="1" lang="en-US" altLang="ja-JP"/>
                        <a:t> 4Q(1-3</a:t>
                      </a:r>
                      <a:r>
                        <a:rPr kumimoji="1" lang="ja-JP" altLang="en-US"/>
                        <a:t>月</a:t>
                      </a:r>
                      <a:r>
                        <a:rPr kumimoji="1" lang="en-US" altLang="ja-JP"/>
                        <a:t>)</a:t>
                      </a:r>
                      <a:endParaRPr kumimoji="1" lang="ja-JP" altLang="en-US"/>
                    </a:p>
                  </a:txBody>
                  <a:tcPr anchor="ctr"/>
                </a:tc>
                <a:tc>
                  <a:txBody>
                    <a:bodyPr/>
                    <a:lstStyle/>
                    <a:p>
                      <a:r>
                        <a:rPr lang="ja-JP" altLang="ja-JP" sz="1400" b="0"/>
                        <a:t>典型的な5シナリオへの適用と、生成結果の妥当性評価</a:t>
                      </a:r>
                    </a:p>
                  </a:txBody>
                  <a:tcPr anchor="ctr"/>
                </a:tc>
                <a:tc>
                  <a:txBody>
                    <a:bodyPr/>
                    <a:lstStyle/>
                    <a:p>
                      <a:r>
                        <a:rPr lang="ja-JP" altLang="ja-JP" sz="1400"/>
                        <a:t>典型的な5シナリオとそれぞれのバリエーションを抑え、</a:t>
                      </a:r>
                      <a:r>
                        <a:rPr lang="ja-JP" altLang="en-US" sz="1400"/>
                        <a:t>生成結果の妥当性を評価する。</a:t>
                      </a:r>
                      <a:endParaRPr kumimoji="1" lang="ja-JP" altLang="en-US" sz="1400"/>
                    </a:p>
                  </a:txBody>
                  <a:tcPr anchor="ctr"/>
                </a:tc>
                <a:extLst>
                  <a:ext uri="{0D108BD9-81ED-4DB2-BD59-A6C34878D82A}">
                    <a16:rowId xmlns:a16="http://schemas.microsoft.com/office/drawing/2014/main" val="378628186"/>
                  </a:ext>
                </a:extLst>
              </a:tr>
            </a:tbl>
          </a:graphicData>
        </a:graphic>
      </p:graphicFrame>
      <p:sp>
        <p:nvSpPr>
          <p:cNvPr id="7" name="テキスト ボックス 6">
            <a:extLst>
              <a:ext uri="{FF2B5EF4-FFF2-40B4-BE49-F238E27FC236}">
                <a16:creationId xmlns:a16="http://schemas.microsoft.com/office/drawing/2014/main" id="{6263B8DF-571D-45A7-6AE0-08068847513A}"/>
              </a:ext>
            </a:extLst>
          </p:cNvPr>
          <p:cNvSpPr txBox="1"/>
          <p:nvPr/>
        </p:nvSpPr>
        <p:spPr>
          <a:xfrm>
            <a:off x="838200" y="1345903"/>
            <a:ext cx="10326470" cy="646331"/>
          </a:xfrm>
          <a:prstGeom prst="rect">
            <a:avLst/>
          </a:prstGeom>
          <a:noFill/>
        </p:spPr>
        <p:txBody>
          <a:bodyPr wrap="square" rtlCol="0">
            <a:spAutoFit/>
          </a:bodyPr>
          <a:lstStyle/>
          <a:p>
            <a:r>
              <a:rPr lang="ja-JP" altLang="ja-JP" b="1"/>
              <a:t>年度内は、LLMとの対話を通じて開発計画を人流予測可能なシナリオへ具体化するワークフローを構築し、1シナリオでの実装から複数シナリオへの適用・評価へ段階的に拡張する。</a:t>
            </a:r>
            <a:endParaRPr kumimoji="1" lang="ja-JP" altLang="en-US" b="1"/>
          </a:p>
        </p:txBody>
      </p:sp>
    </p:spTree>
    <p:extLst>
      <p:ext uri="{BB962C8B-B14F-4D97-AF65-F5344CB8AC3E}">
        <p14:creationId xmlns:p14="http://schemas.microsoft.com/office/powerpoint/2010/main" val="1044047914"/>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標準スライド">
  <a:themeElements>
    <a:clrScheme name="Office テーマ">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6004</TotalTime>
  <Words>1227</Words>
  <Application>Microsoft Macintosh PowerPoint</Application>
  <PresentationFormat>ワイド画面</PresentationFormat>
  <Paragraphs>137</Paragraphs>
  <Slides>5</Slides>
  <Notes>2</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5</vt:i4>
      </vt:variant>
    </vt:vector>
  </HeadingPairs>
  <TitlesOfParts>
    <vt:vector size="11" baseType="lpstr">
      <vt:lpstr>HGMinchoE</vt:lpstr>
      <vt:lpstr>Noto Sans CJK JP</vt:lpstr>
      <vt:lpstr>游ゴシック</vt:lpstr>
      <vt:lpstr>Arial</vt:lpstr>
      <vt:lpstr>Calibri</vt:lpstr>
      <vt:lpstr>標準スライド</vt:lpstr>
      <vt:lpstr>Generation and Evaluation of Various Patterns Based on the Level of Detail in Development Plans: A Case Study of the Shibata 1-chome Development Plan</vt:lpstr>
      <vt:lpstr>Overview of Initiatives for the First Three Months (2Q: July–September)</vt:lpstr>
      <vt:lpstr>Overview of Initiatives for the First Three Months (2Q: July–September)</vt:lpstr>
      <vt:lpstr>Positioning of This Research</vt:lpstr>
      <vt:lpstr>その後の年度内（3-4Q:10-3月）の取組イメージ</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渡辺　悠生</dc:creator>
  <cp:lastModifiedBy>渡辺　悠生</cp:lastModifiedBy>
  <cp:revision>17</cp:revision>
  <dcterms:created xsi:type="dcterms:W3CDTF">2026-06-12T05:31:59Z</dcterms:created>
  <dcterms:modified xsi:type="dcterms:W3CDTF">2026-07-01T15:19:51Z</dcterms:modified>
</cp:coreProperties>
</file>