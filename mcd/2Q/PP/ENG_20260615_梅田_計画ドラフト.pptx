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3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94"/>
    <p:restoredTop sz="96066"/>
  </p:normalViewPr>
  <p:slideViewPr>
    <p:cSldViewPr>
      <p:cViewPr>
        <p:scale>
          <a:sx n="122" d="100"/>
          <a:sy n="122" d="100"/>
        </p:scale>
        <p:origin x="152" y="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B4693-6362-5249-BACC-AA4F518A400C}" type="datetimeFigureOut"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E38E2-DE2E-7340-982E-9A5D15609A2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E38E2-DE2E-7340-982E-9A5D15609A22}" type="slidenum"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83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E38E2-DE2E-7340-982E-9A5D15609A22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726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E38E2-DE2E-7340-982E-9A5D15609A22}" type="slidenum"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007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55205D-1BEA-5E5D-5B92-8C3331D1DC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11358BB-C83D-DC73-90A9-FD099D231007}"/>
              </a:ext>
            </a:extLst>
          </p:cNvPr>
          <p:cNvSpPr>
            <a:spLocks/>
          </p:cNvSpPr>
          <p:nvPr userDrawn="1"/>
        </p:nvSpPr>
        <p:spPr>
          <a:xfrm>
            <a:off x="627893" y="1718810"/>
            <a:ext cx="10936214" cy="3645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698" y="1822519"/>
            <a:ext cx="8981594" cy="1800200"/>
          </a:xfrm>
        </p:spPr>
        <p:txBody>
          <a:bodyPr anchor="b"/>
          <a:lstStyle>
            <a:lvl1pPr algn="ctr">
              <a:defRPr sz="6000">
                <a:latin typeface="HGMinchoE" panose="02020909000000000000" pitchFamily="49" charset="-128"/>
                <a:ea typeface="HGMinchoE" panose="02020909000000000000" pitchFamily="49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D3B0C5-05CC-6CD8-19D9-83A04040DEB5}"/>
              </a:ext>
            </a:extLst>
          </p:cNvPr>
          <p:cNvSpPr/>
          <p:nvPr userDrawn="1"/>
        </p:nvSpPr>
        <p:spPr>
          <a:xfrm>
            <a:off x="815696" y="3900233"/>
            <a:ext cx="3915435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A00032-B280-9C70-9D60-577AEB1A3456}"/>
              </a:ext>
            </a:extLst>
          </p:cNvPr>
          <p:cNvSpPr txBox="1">
            <a:spLocks/>
          </p:cNvSpPr>
          <p:nvPr userDrawn="1"/>
        </p:nvSpPr>
        <p:spPr>
          <a:xfrm>
            <a:off x="815695" y="4494532"/>
            <a:ext cx="5032775" cy="39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800" dirty="0">
                <a:solidFill>
                  <a:schemeClr val="bg2">
                    <a:lumMod val="50000"/>
                  </a:schemeClr>
                </a:solidFill>
              </a:rPr>
              <a:t>2026</a:t>
            </a:r>
            <a:r>
              <a:rPr lang="ja-JP" altLang="en-US" sz="1800" dirty="0">
                <a:solidFill>
                  <a:schemeClr val="bg2">
                    <a:lumMod val="50000"/>
                  </a:schemeClr>
                </a:solidFill>
              </a:rPr>
              <a:t>年</a:t>
            </a:r>
            <a:r>
              <a:rPr lang="en-US" altLang="ja-JP" sz="1800" dirty="0">
                <a:solidFill>
                  <a:schemeClr val="bg2">
                    <a:lumMod val="50000"/>
                  </a:schemeClr>
                </a:solidFill>
              </a:rPr>
              <a:t>6</a:t>
            </a:r>
            <a:r>
              <a:rPr lang="ja-JP" altLang="en-US" sz="1800" dirty="0">
                <a:solidFill>
                  <a:schemeClr val="bg2">
                    <a:lumMod val="50000"/>
                  </a:schemeClr>
                </a:solidFill>
              </a:rPr>
              <a:t>月　関本・中居研究室</a:t>
            </a: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C5479DB-FB15-2DE2-02DC-3F41B6BAA47D}"/>
              </a:ext>
            </a:extLst>
          </p:cNvPr>
          <p:cNvSpPr txBox="1">
            <a:spLocks/>
          </p:cNvSpPr>
          <p:nvPr userDrawn="1"/>
        </p:nvSpPr>
        <p:spPr>
          <a:xfrm>
            <a:off x="815696" y="4636415"/>
            <a:ext cx="5032775" cy="39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65B0414-1E04-19AB-89FC-B267F02CDFAF}"/>
              </a:ext>
            </a:extLst>
          </p:cNvPr>
          <p:cNvSpPr txBox="1">
            <a:spLocks/>
          </p:cNvSpPr>
          <p:nvPr userDrawn="1"/>
        </p:nvSpPr>
        <p:spPr>
          <a:xfrm>
            <a:off x="834852" y="4095900"/>
            <a:ext cx="5032775" cy="39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800" dirty="0">
                <a:solidFill>
                  <a:schemeClr val="bg2">
                    <a:lumMod val="50000"/>
                  </a:schemeClr>
                </a:solidFill>
              </a:rPr>
              <a:t>芝田一丁目　取組計画</a:t>
            </a: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81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4EDEF3-5F82-A47A-BCEE-E6EA44217C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90871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345" y="1"/>
            <a:ext cx="10326470" cy="908719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GMinchoE" panose="02020909000000000000" pitchFamily="49" charset="-128"/>
                <a:ea typeface="HGMinchoE" panose="02020909000000000000" pitchFamily="49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r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34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11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05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47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625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1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22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89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02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55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9E37A-E522-3D47-AAB7-DDF67C94A05D}" type="slidenum">
              <a:rPr kumimoji="1" lang="ja-JP" altLang="en-US"/>
              <a:pPr/>
              <a:t>‹#›</a:t>
            </a:fld>
            <a:endParaRPr kumimoji="1" lang="ja-JP" altLang="en-US" b="1"/>
          </a:p>
        </p:txBody>
      </p:sp>
    </p:spTree>
    <p:extLst>
      <p:ext uri="{BB962C8B-B14F-4D97-AF65-F5344CB8AC3E}">
        <p14:creationId xmlns:p14="http://schemas.microsoft.com/office/powerpoint/2010/main" val="292354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9B55DF-5A51-4866-F273-38E181C76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415" y="1943835"/>
            <a:ext cx="8910990" cy="1665185"/>
          </a:xfrm>
        </p:spPr>
        <p:txBody>
          <a:bodyPr anchor="t">
            <a:normAutofit/>
          </a:bodyPr>
          <a:lstStyle/>
          <a:p>
            <a:pPr algn="l"/>
            <a:r>
              <a:rPr lang="ja-JP" altLang="ja-JP" sz="3600"/>
              <a:t>開発計画の粒度に応じた</a:t>
            </a:r>
            <a:br>
              <a:rPr lang="en-US" altLang="ja-JP" sz="3600"/>
            </a:br>
            <a:r>
              <a:rPr lang="ja-JP" altLang="ja-JP" sz="3600"/>
              <a:t>様々なパターン生成とその評価</a:t>
            </a:r>
            <a:br>
              <a:rPr lang="en-US" altLang="ja-JP" sz="3600"/>
            </a:br>
            <a:r>
              <a:rPr lang="ja-JP" altLang="ja-JP" sz="3600"/>
              <a:t>～芝田一丁目の開発計画を題材に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62555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495058-29A2-8FB4-22CD-6A625EB0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66" y="0"/>
            <a:ext cx="9296996" cy="908720"/>
          </a:xfrm>
        </p:spPr>
        <p:txBody>
          <a:bodyPr anchor="ctr"/>
          <a:lstStyle/>
          <a:p>
            <a:r>
              <a:rPr lang="en" altLang="ja-JP"/>
              <a:t>2Q: Overview of Initiatives for July–September</a:t>
            </a:r>
            <a:endParaRPr kumimoji="1" lang="ja-JP" altLang="en-US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EE6471-9B88-D752-87C2-4DFD80E81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866" y="1018333"/>
            <a:ext cx="8363145" cy="404645"/>
          </a:xfrm>
        </p:spPr>
        <p:txBody>
          <a:bodyPr/>
          <a:lstStyle/>
          <a:p>
            <a:pPr marL="0" indent="0">
              <a:buNone/>
            </a:pPr>
            <a:r>
              <a:rPr lang="en-US" altLang="ja-JP" b="1"/>
              <a:t>1. Refining the plan through dialogue with the LLM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B8029A-8011-7DB4-1F2E-4EB1D60B3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1EE940-DED7-9CB4-4DC3-2A310811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B2B169-4457-04ED-59EA-57522758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rPr lang="en-US" altLang="ja-JP"/>
              <a:t>2</a:t>
            </a:fld>
            <a:endParaRPr kumimoji="1" lang="ja-JP" altLang="en-US"/>
          </a:p>
        </p:txBody>
      </p:sp>
      <p:sp>
        <p:nvSpPr>
          <p:cNvPr id="138" name="Rounded Rectangle 5">
            <a:extLst>
              <a:ext uri="{FF2B5EF4-FFF2-40B4-BE49-F238E27FC236}">
                <a16:creationId xmlns:a16="http://schemas.microsoft.com/office/drawing/2014/main" id="{577433BE-CA3A-28CF-787F-E24E491A19BE}"/>
              </a:ext>
            </a:extLst>
          </p:cNvPr>
          <p:cNvSpPr/>
          <p:nvPr/>
        </p:nvSpPr>
        <p:spPr>
          <a:xfrm>
            <a:off x="189866" y="1508382"/>
            <a:ext cx="2011680" cy="4343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6">
            <a:extLst>
              <a:ext uri="{FF2B5EF4-FFF2-40B4-BE49-F238E27FC236}">
                <a16:creationId xmlns:a16="http://schemas.microsoft.com/office/drawing/2014/main" id="{1C3A46CE-C53C-9AAB-0882-26901F525A05}"/>
              </a:ext>
            </a:extLst>
          </p:cNvPr>
          <p:cNvSpPr/>
          <p:nvPr/>
        </p:nvSpPr>
        <p:spPr>
          <a:xfrm>
            <a:off x="299593" y="1554102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40" name="TextBox 7">
            <a:extLst>
              <a:ext uri="{FF2B5EF4-FFF2-40B4-BE49-F238E27FC236}">
                <a16:creationId xmlns:a16="http://schemas.microsoft.com/office/drawing/2014/main" id="{3D4AB89A-B932-61F3-13F5-479F749DEBE1}"/>
              </a:ext>
            </a:extLst>
          </p:cNvPr>
          <p:cNvSpPr txBox="1"/>
          <p:nvPr/>
        </p:nvSpPr>
        <p:spPr>
          <a:xfrm>
            <a:off x="637920" y="1572390"/>
            <a:ext cx="1499617" cy="30469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r>
              <a:rPr lang="en" sz="1500" b="1">
                <a:solidFill>
                  <a:srgbClr val="0B2B5B"/>
                </a:solidFill>
                <a:latin typeface="Noto Sans CJK JP"/>
              </a:rPr>
              <a:t>Covered Area</a:t>
            </a:r>
            <a:endParaRPr sz="1500" b="1">
              <a:solidFill>
                <a:srgbClr val="0B2B5B"/>
              </a:solidFill>
              <a:latin typeface="Noto Sans CJK JP"/>
            </a:endParaRPr>
          </a:p>
        </p:txBody>
      </p:sp>
      <p:sp>
        <p:nvSpPr>
          <p:cNvPr id="141" name="Rounded Rectangle 8">
            <a:extLst>
              <a:ext uri="{FF2B5EF4-FFF2-40B4-BE49-F238E27FC236}">
                <a16:creationId xmlns:a16="http://schemas.microsoft.com/office/drawing/2014/main" id="{BCFCF5EE-791A-FF6E-76C5-9D0E20B52180}"/>
              </a:ext>
            </a:extLst>
          </p:cNvPr>
          <p:cNvSpPr/>
          <p:nvPr/>
        </p:nvSpPr>
        <p:spPr>
          <a:xfrm>
            <a:off x="2475866" y="1508382"/>
            <a:ext cx="2011680" cy="4343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9">
            <a:extLst>
              <a:ext uri="{FF2B5EF4-FFF2-40B4-BE49-F238E27FC236}">
                <a16:creationId xmlns:a16="http://schemas.microsoft.com/office/drawing/2014/main" id="{153A7F1D-4EA1-4D03-1194-70ED8F7C5D4C}"/>
              </a:ext>
            </a:extLst>
          </p:cNvPr>
          <p:cNvSpPr/>
          <p:nvPr/>
        </p:nvSpPr>
        <p:spPr>
          <a:xfrm>
            <a:off x="2585593" y="1553031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3" name="TextBox 10">
            <a:extLst>
              <a:ext uri="{FF2B5EF4-FFF2-40B4-BE49-F238E27FC236}">
                <a16:creationId xmlns:a16="http://schemas.microsoft.com/office/drawing/2014/main" id="{7DDC66E6-A8B8-5578-E126-7E14FA229D30}"/>
              </a:ext>
            </a:extLst>
          </p:cNvPr>
          <p:cNvSpPr txBox="1"/>
          <p:nvPr/>
        </p:nvSpPr>
        <p:spPr>
          <a:xfrm>
            <a:off x="2923921" y="1571319"/>
            <a:ext cx="1465714" cy="535531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r>
              <a:rPr lang="en" sz="1500" b="1">
                <a:solidFill>
                  <a:srgbClr val="0B2B5B"/>
                </a:solidFill>
                <a:latin typeface="Noto Sans CJK JP"/>
              </a:rPr>
              <a:t>Clarifying the Conditions</a:t>
            </a:r>
          </a:p>
        </p:txBody>
      </p:sp>
      <p:sp>
        <p:nvSpPr>
          <p:cNvPr id="144" name="Rounded Rectangle 11">
            <a:extLst>
              <a:ext uri="{FF2B5EF4-FFF2-40B4-BE49-F238E27FC236}">
                <a16:creationId xmlns:a16="http://schemas.microsoft.com/office/drawing/2014/main" id="{38774038-6DF8-FFBE-9E70-7D5518FD79ED}"/>
              </a:ext>
            </a:extLst>
          </p:cNvPr>
          <p:cNvSpPr>
            <a:spLocks/>
          </p:cNvSpPr>
          <p:nvPr/>
        </p:nvSpPr>
        <p:spPr>
          <a:xfrm>
            <a:off x="4757294" y="1502497"/>
            <a:ext cx="2011680" cy="4343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2">
            <a:extLst>
              <a:ext uri="{FF2B5EF4-FFF2-40B4-BE49-F238E27FC236}">
                <a16:creationId xmlns:a16="http://schemas.microsoft.com/office/drawing/2014/main" id="{8D167B9B-E5D8-EE27-A99E-053225037A76}"/>
              </a:ext>
            </a:extLst>
          </p:cNvPr>
          <p:cNvSpPr/>
          <p:nvPr/>
        </p:nvSpPr>
        <p:spPr>
          <a:xfrm>
            <a:off x="4869689" y="1566157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46" name="TextBox 13">
            <a:extLst>
              <a:ext uri="{FF2B5EF4-FFF2-40B4-BE49-F238E27FC236}">
                <a16:creationId xmlns:a16="http://schemas.microsoft.com/office/drawing/2014/main" id="{13C83DCF-8C73-33CD-EB2E-18FF88D34335}"/>
              </a:ext>
            </a:extLst>
          </p:cNvPr>
          <p:cNvSpPr txBox="1"/>
          <p:nvPr/>
        </p:nvSpPr>
        <p:spPr>
          <a:xfrm>
            <a:off x="5208017" y="158444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B2B5B"/>
                </a:solidFill>
                <a:latin typeface="Noto Sans CJK JP"/>
              </a:rPr>
              <a:t>案の比較</a:t>
            </a:r>
          </a:p>
        </p:txBody>
      </p:sp>
      <p:sp>
        <p:nvSpPr>
          <p:cNvPr id="147" name="Rounded Rectangle 14">
            <a:extLst>
              <a:ext uri="{FF2B5EF4-FFF2-40B4-BE49-F238E27FC236}">
                <a16:creationId xmlns:a16="http://schemas.microsoft.com/office/drawing/2014/main" id="{421C2033-6709-B9CD-DEB4-C3DC0611D9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47866" y="1508382"/>
            <a:ext cx="2011680" cy="4343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5">
            <a:extLst>
              <a:ext uri="{FF2B5EF4-FFF2-40B4-BE49-F238E27FC236}">
                <a16:creationId xmlns:a16="http://schemas.microsoft.com/office/drawing/2014/main" id="{D974D034-9C77-27F5-4BA3-3BA5008FDFA4}"/>
              </a:ext>
            </a:extLst>
          </p:cNvPr>
          <p:cNvSpPr/>
          <p:nvPr/>
        </p:nvSpPr>
        <p:spPr>
          <a:xfrm>
            <a:off x="7169411" y="1552410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149" name="TextBox 16">
            <a:extLst>
              <a:ext uri="{FF2B5EF4-FFF2-40B4-BE49-F238E27FC236}">
                <a16:creationId xmlns:a16="http://schemas.microsoft.com/office/drawing/2014/main" id="{936B6E50-991D-C741-3D08-F742A2D1E0D5}"/>
              </a:ext>
            </a:extLst>
          </p:cNvPr>
          <p:cNvSpPr txBox="1"/>
          <p:nvPr/>
        </p:nvSpPr>
        <p:spPr>
          <a:xfrm>
            <a:off x="7507738" y="157069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B2B5B"/>
                </a:solidFill>
                <a:latin typeface="Noto Sans CJK JP"/>
              </a:rPr>
              <a:t>案の具体化</a:t>
            </a:r>
          </a:p>
        </p:txBody>
      </p:sp>
      <p:sp>
        <p:nvSpPr>
          <p:cNvPr id="150" name="Right Arrow 17">
            <a:extLst>
              <a:ext uri="{FF2B5EF4-FFF2-40B4-BE49-F238E27FC236}">
                <a16:creationId xmlns:a16="http://schemas.microsoft.com/office/drawing/2014/main" id="{783EFAA0-6A1D-E75C-D02E-4D641BC68717}"/>
              </a:ext>
            </a:extLst>
          </p:cNvPr>
          <p:cNvSpPr/>
          <p:nvPr/>
        </p:nvSpPr>
        <p:spPr>
          <a:xfrm>
            <a:off x="2228978" y="3017142"/>
            <a:ext cx="210311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ight Arrow 18">
            <a:extLst>
              <a:ext uri="{FF2B5EF4-FFF2-40B4-BE49-F238E27FC236}">
                <a16:creationId xmlns:a16="http://schemas.microsoft.com/office/drawing/2014/main" id="{21396DA9-1E41-19A0-44F7-42AE34752FEA}"/>
              </a:ext>
            </a:extLst>
          </p:cNvPr>
          <p:cNvSpPr/>
          <p:nvPr/>
        </p:nvSpPr>
        <p:spPr>
          <a:xfrm>
            <a:off x="4514978" y="3017142"/>
            <a:ext cx="210311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ight Arrow 19">
            <a:extLst>
              <a:ext uri="{FF2B5EF4-FFF2-40B4-BE49-F238E27FC236}">
                <a16:creationId xmlns:a16="http://schemas.microsoft.com/office/drawing/2014/main" id="{DA2A159B-39AE-D8C3-BF41-544FA4892630}"/>
              </a:ext>
            </a:extLst>
          </p:cNvPr>
          <p:cNvSpPr/>
          <p:nvPr/>
        </p:nvSpPr>
        <p:spPr>
          <a:xfrm>
            <a:off x="6800978" y="3017142"/>
            <a:ext cx="210311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ight Arrow 20">
            <a:extLst>
              <a:ext uri="{FF2B5EF4-FFF2-40B4-BE49-F238E27FC236}">
                <a16:creationId xmlns:a16="http://schemas.microsoft.com/office/drawing/2014/main" id="{C3389523-8BD2-366D-97CC-ABBDF89D2889}"/>
              </a:ext>
            </a:extLst>
          </p:cNvPr>
          <p:cNvSpPr/>
          <p:nvPr/>
        </p:nvSpPr>
        <p:spPr>
          <a:xfrm>
            <a:off x="9114410" y="3017142"/>
            <a:ext cx="182879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" name="Picture 21" descr="site_map.png">
            <a:extLst>
              <a:ext uri="{FF2B5EF4-FFF2-40B4-BE49-F238E27FC236}">
                <a16:creationId xmlns:a16="http://schemas.microsoft.com/office/drawing/2014/main" id="{96C32DB0-F20B-728C-17FB-40A7CE80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19" y="2187887"/>
            <a:ext cx="1792224" cy="2121408"/>
          </a:xfrm>
          <a:prstGeom prst="rect">
            <a:avLst/>
          </a:prstGeom>
        </p:spPr>
      </p:pic>
      <p:grpSp>
        <p:nvGrpSpPr>
          <p:cNvPr id="213" name="グループ化 212">
            <a:extLst>
              <a:ext uri="{FF2B5EF4-FFF2-40B4-BE49-F238E27FC236}">
                <a16:creationId xmlns:a16="http://schemas.microsoft.com/office/drawing/2014/main" id="{9729BD1B-0C32-7F0B-D0DF-79AE42F650B6}"/>
              </a:ext>
            </a:extLst>
          </p:cNvPr>
          <p:cNvGrpSpPr/>
          <p:nvPr/>
        </p:nvGrpSpPr>
        <p:grpSpPr>
          <a:xfrm>
            <a:off x="409322" y="4644127"/>
            <a:ext cx="1572768" cy="471922"/>
            <a:chOff x="409322" y="4480182"/>
            <a:chExt cx="1572768" cy="471922"/>
          </a:xfrm>
        </p:grpSpPr>
        <p:sp>
          <p:nvSpPr>
            <p:cNvPr id="155" name="Rounded Rectangle 22">
              <a:extLst>
                <a:ext uri="{FF2B5EF4-FFF2-40B4-BE49-F238E27FC236}">
                  <a16:creationId xmlns:a16="http://schemas.microsoft.com/office/drawing/2014/main" id="{95D9FF0B-5262-84ED-D185-66C5C70986B3}"/>
                </a:ext>
              </a:extLst>
            </p:cNvPr>
            <p:cNvSpPr/>
            <p:nvPr/>
          </p:nvSpPr>
          <p:spPr>
            <a:xfrm>
              <a:off x="409322" y="4480182"/>
              <a:ext cx="1572768" cy="471922"/>
            </a:xfrm>
            <a:prstGeom prst="roundRect">
              <a:avLst>
                <a:gd name="adj" fmla="val 9000"/>
              </a:avLst>
            </a:prstGeom>
            <a:solidFill>
              <a:srgbClr val="EBF4FC"/>
            </a:solidFill>
            <a:ln w="12700">
              <a:solidFill>
                <a:srgbClr val="D2E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TextBox 23">
              <a:extLst>
                <a:ext uri="{FF2B5EF4-FFF2-40B4-BE49-F238E27FC236}">
                  <a16:creationId xmlns:a16="http://schemas.microsoft.com/office/drawing/2014/main" id="{A45505D7-F07B-4C17-1FD4-73776F8CC4C5}"/>
                </a:ext>
              </a:extLst>
            </p:cNvPr>
            <p:cNvSpPr txBox="1"/>
            <p:nvPr/>
          </p:nvSpPr>
          <p:spPr>
            <a:xfrm>
              <a:off x="509905" y="4535046"/>
              <a:ext cx="1389888" cy="406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en" sz="1080" b="1">
                  <a:solidFill>
                    <a:schemeClr val="tx2"/>
                  </a:solidFill>
                  <a:latin typeface="Noto Sans CJK JP"/>
                </a:rPr>
                <a:t>Where is Shibata 1-chome?</a:t>
              </a:r>
            </a:p>
          </p:txBody>
        </p:sp>
      </p:grpSp>
      <p:sp>
        <p:nvSpPr>
          <p:cNvPr id="157" name="TextBox 24">
            <a:extLst>
              <a:ext uri="{FF2B5EF4-FFF2-40B4-BE49-F238E27FC236}">
                <a16:creationId xmlns:a16="http://schemas.microsoft.com/office/drawing/2014/main" id="{682BC450-33BD-1E03-EF51-1B2788A69ACA}"/>
              </a:ext>
            </a:extLst>
          </p:cNvPr>
          <p:cNvSpPr txBox="1"/>
          <p:nvPr/>
        </p:nvSpPr>
        <p:spPr>
          <a:xfrm>
            <a:off x="281306" y="5267391"/>
            <a:ext cx="1755648" cy="3931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ja-JP" altLang="en-US" sz="1080" b="0">
                <a:solidFill>
                  <a:srgbClr val="1E1E1E"/>
                </a:solidFill>
                <a:latin typeface="Noto Sans CJK JP"/>
              </a:rPr>
              <a:t>まず、</a:t>
            </a:r>
            <a:r>
              <a:rPr sz="1080" b="0">
                <a:solidFill>
                  <a:srgbClr val="1E1E1E"/>
                </a:solidFill>
                <a:latin typeface="Noto Sans CJK JP"/>
              </a:rPr>
              <a:t>対象範囲と周辺環境を確認する</a:t>
            </a:r>
          </a:p>
        </p:txBody>
      </p:sp>
      <p:graphicFrame>
        <p:nvGraphicFramePr>
          <p:cNvPr id="158" name="Table 25">
            <a:extLst>
              <a:ext uri="{FF2B5EF4-FFF2-40B4-BE49-F238E27FC236}">
                <a16:creationId xmlns:a16="http://schemas.microsoft.com/office/drawing/2014/main" id="{D2069B88-1558-A358-098F-B78D2125C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630060"/>
              </p:ext>
            </p:extLst>
          </p:nvPr>
        </p:nvGraphicFramePr>
        <p:xfrm>
          <a:off x="2618983" y="2169599"/>
          <a:ext cx="164592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993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141414"/>
                          </a:solidFill>
                          <a:latin typeface="Noto Sans CJK JP"/>
                        </a:rPr>
                        <a:t>用途</a:t>
                      </a:r>
                    </a:p>
                  </a:txBody>
                  <a:tcPr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41414"/>
                          </a:solidFill>
                          <a:latin typeface="Noto Sans CJK JP"/>
                        </a:rPr>
                        <a:t>商業・業務・広場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141414"/>
                          </a:solidFill>
                          <a:latin typeface="Noto Sans CJK JP"/>
                        </a:rPr>
                        <a:t>規模</a:t>
                      </a:r>
                    </a:p>
                  </a:txBody>
                  <a:tcPr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41414"/>
                          </a:solidFill>
                          <a:latin typeface="Noto Sans CJK JP"/>
                        </a:rPr>
                        <a:t>延床面積・階数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141414"/>
                          </a:solidFill>
                          <a:latin typeface="Noto Sans CJK JP"/>
                        </a:rPr>
                        <a:t>動線</a:t>
                      </a:r>
                    </a:p>
                  </a:txBody>
                  <a:tcPr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41414"/>
                          </a:solidFill>
                          <a:latin typeface="Noto Sans CJK JP"/>
                        </a:rPr>
                        <a:t>駅接続・歩行者動線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141414"/>
                          </a:solidFill>
                          <a:latin typeface="Noto Sans CJK JP"/>
                        </a:rPr>
                        <a:t>機能</a:t>
                      </a:r>
                    </a:p>
                  </a:txBody>
                  <a:tcPr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41414"/>
                          </a:solidFill>
                          <a:latin typeface="Noto Sans CJK JP"/>
                        </a:rPr>
                        <a:t>にぎわい・公共性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6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141414"/>
                          </a:solidFill>
                          <a:latin typeface="Noto Sans CJK JP"/>
                        </a:rPr>
                        <a:t>条件</a:t>
                      </a:r>
                    </a:p>
                  </a:txBody>
                  <a:tcPr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41414"/>
                          </a:solidFill>
                          <a:latin typeface="Noto Sans CJK JP"/>
                        </a:rPr>
                        <a:t>景観・防災・回遊性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1" name="TextBox 28">
            <a:extLst>
              <a:ext uri="{FF2B5EF4-FFF2-40B4-BE49-F238E27FC236}">
                <a16:creationId xmlns:a16="http://schemas.microsoft.com/office/drawing/2014/main" id="{74F10B1F-4480-E1DF-A964-07EF911663E3}"/>
              </a:ext>
            </a:extLst>
          </p:cNvPr>
          <p:cNvSpPr txBox="1"/>
          <p:nvPr/>
        </p:nvSpPr>
        <p:spPr>
          <a:xfrm>
            <a:off x="2585593" y="5257014"/>
            <a:ext cx="1773936" cy="40011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60" b="0">
                <a:solidFill>
                  <a:srgbClr val="1E1E1E"/>
                </a:solidFill>
                <a:latin typeface="Noto Sans CJK JP"/>
              </a:rPr>
              <a:t>表形式の情報を参照しながら計画の前提を明確化する</a:t>
            </a:r>
          </a:p>
        </p:txBody>
      </p:sp>
      <p:grpSp>
        <p:nvGrpSpPr>
          <p:cNvPr id="238" name="グループ化 237">
            <a:extLst>
              <a:ext uri="{FF2B5EF4-FFF2-40B4-BE49-F238E27FC236}">
                <a16:creationId xmlns:a16="http://schemas.microsoft.com/office/drawing/2014/main" id="{CB0958C7-9162-3C31-9B52-C639FF5B76F5}"/>
              </a:ext>
            </a:extLst>
          </p:cNvPr>
          <p:cNvGrpSpPr/>
          <p:nvPr/>
        </p:nvGrpSpPr>
        <p:grpSpPr>
          <a:xfrm>
            <a:off x="4871594" y="1939919"/>
            <a:ext cx="1783080" cy="822960"/>
            <a:chOff x="4871594" y="1791846"/>
            <a:chExt cx="1783080" cy="822960"/>
          </a:xfrm>
        </p:grpSpPr>
        <p:sp>
          <p:nvSpPr>
            <p:cNvPr id="162" name="Rounded Rectangle 29">
              <a:extLst>
                <a:ext uri="{FF2B5EF4-FFF2-40B4-BE49-F238E27FC236}">
                  <a16:creationId xmlns:a16="http://schemas.microsoft.com/office/drawing/2014/main" id="{750B0C82-1476-697A-E8B1-7C4C30F8D5BC}"/>
                </a:ext>
              </a:extLst>
            </p:cNvPr>
            <p:cNvSpPr/>
            <p:nvPr/>
          </p:nvSpPr>
          <p:spPr>
            <a:xfrm>
              <a:off x="4871594" y="1791846"/>
              <a:ext cx="1783080" cy="822960"/>
            </a:xfrm>
            <a:prstGeom prst="roundRect">
              <a:avLst>
                <a:gd name="adj" fmla="val 9000"/>
              </a:avLst>
            </a:prstGeom>
            <a:solidFill>
              <a:srgbClr val="FAFCFF"/>
            </a:solidFill>
            <a:ln w="12700">
              <a:solidFill>
                <a:srgbClr val="B5C6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37" name="グループ化 236">
              <a:extLst>
                <a:ext uri="{FF2B5EF4-FFF2-40B4-BE49-F238E27FC236}">
                  <a16:creationId xmlns:a16="http://schemas.microsoft.com/office/drawing/2014/main" id="{C877C4C9-CC99-EEC4-B568-17B47AEACC5A}"/>
                </a:ext>
              </a:extLst>
            </p:cNvPr>
            <p:cNvGrpSpPr/>
            <p:nvPr/>
          </p:nvGrpSpPr>
          <p:grpSpPr>
            <a:xfrm>
              <a:off x="4935602" y="1846710"/>
              <a:ext cx="1664208" cy="722866"/>
              <a:chOff x="4935602" y="1846710"/>
              <a:chExt cx="1664208" cy="722866"/>
            </a:xfrm>
          </p:grpSpPr>
          <p:grpSp>
            <p:nvGrpSpPr>
              <p:cNvPr id="236" name="グループ化 235">
                <a:extLst>
                  <a:ext uri="{FF2B5EF4-FFF2-40B4-BE49-F238E27FC236}">
                    <a16:creationId xmlns:a16="http://schemas.microsoft.com/office/drawing/2014/main" id="{E31973DD-B2F1-8DD3-276D-301A69A047FF}"/>
                  </a:ext>
                </a:extLst>
              </p:cNvPr>
              <p:cNvGrpSpPr/>
              <p:nvPr/>
            </p:nvGrpSpPr>
            <p:grpSpPr>
              <a:xfrm>
                <a:off x="4935602" y="1864997"/>
                <a:ext cx="219456" cy="217161"/>
                <a:chOff x="4935602" y="1864997"/>
                <a:chExt cx="219456" cy="217161"/>
              </a:xfrm>
            </p:grpSpPr>
            <p:sp>
              <p:nvSpPr>
                <p:cNvPr id="163" name="Rounded Rectangle 30">
                  <a:extLst>
                    <a:ext uri="{FF2B5EF4-FFF2-40B4-BE49-F238E27FC236}">
                      <a16:creationId xmlns:a16="http://schemas.microsoft.com/office/drawing/2014/main" id="{58F64902-2D00-CECE-4DDF-3C4C77C79FBA}"/>
                    </a:ext>
                  </a:extLst>
                </p:cNvPr>
                <p:cNvSpPr/>
                <p:nvPr/>
              </p:nvSpPr>
              <p:spPr>
                <a:xfrm>
                  <a:off x="4935602" y="1864997"/>
                  <a:ext cx="219456" cy="217161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1B519F"/>
                </a:solidFill>
                <a:ln w="12700">
                  <a:solidFill>
                    <a:srgbClr val="1B519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4" name="TextBox 31">
                  <a:extLst>
                    <a:ext uri="{FF2B5EF4-FFF2-40B4-BE49-F238E27FC236}">
                      <a16:creationId xmlns:a16="http://schemas.microsoft.com/office/drawing/2014/main" id="{CD87B666-A037-B3BC-2F9A-06BE5693C32C}"/>
                    </a:ext>
                  </a:extLst>
                </p:cNvPr>
                <p:cNvSpPr txBox="1"/>
                <p:nvPr/>
              </p:nvSpPr>
              <p:spPr>
                <a:xfrm>
                  <a:off x="4963034" y="1878714"/>
                  <a:ext cx="164592" cy="1280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576" tIns="36576" rIns="36576" bIns="36576" anchor="t">
                  <a:spAutoFit/>
                </a:bodyPr>
                <a:lstStyle/>
                <a:p>
                  <a:pPr algn="ctr"/>
                  <a:r>
                    <a:rPr sz="1000" b="1">
                      <a:solidFill>
                        <a:srgbClr val="FFFFFF"/>
                      </a:solidFill>
                      <a:latin typeface="Noto Sans CJK JP"/>
                    </a:rPr>
                    <a:t>A</a:t>
                  </a:r>
                </a:p>
              </p:txBody>
            </p:sp>
          </p:grpSp>
          <p:sp>
            <p:nvSpPr>
              <p:cNvPr id="165" name="TextBox 32">
                <a:extLst>
                  <a:ext uri="{FF2B5EF4-FFF2-40B4-BE49-F238E27FC236}">
                    <a16:creationId xmlns:a16="http://schemas.microsoft.com/office/drawing/2014/main" id="{9CDCF9F6-410F-1C86-F8ED-5312B147697A}"/>
                  </a:ext>
                </a:extLst>
              </p:cNvPr>
              <p:cNvSpPr txBox="1"/>
              <p:nvPr/>
            </p:nvSpPr>
            <p:spPr>
              <a:xfrm>
                <a:off x="5182490" y="1846710"/>
                <a:ext cx="640080" cy="23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/>
                <a:r>
                  <a:rPr sz="1050" b="1">
                    <a:solidFill>
                      <a:srgbClr val="173F78"/>
                    </a:solidFill>
                    <a:latin typeface="Noto Sans CJK JP"/>
                  </a:rPr>
                  <a:t>商業重視</a:t>
                </a:r>
              </a:p>
            </p:txBody>
          </p:sp>
          <p:pic>
            <p:nvPicPr>
              <p:cNvPr id="166" name="Picture 33" descr="scenario_commercial.png">
                <a:extLst>
                  <a:ext uri="{FF2B5EF4-FFF2-40B4-BE49-F238E27FC236}">
                    <a16:creationId xmlns:a16="http://schemas.microsoft.com/office/drawing/2014/main" id="{2E9D3421-198C-BA24-0119-8BD57DDFC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9382" y="2112376"/>
                <a:ext cx="694944" cy="457200"/>
              </a:xfrm>
              <a:prstGeom prst="rect">
                <a:avLst/>
              </a:prstGeom>
            </p:spPr>
          </p:pic>
          <p:sp>
            <p:nvSpPr>
              <p:cNvPr id="167" name="TextBox 34">
                <a:extLst>
                  <a:ext uri="{FF2B5EF4-FFF2-40B4-BE49-F238E27FC236}">
                    <a16:creationId xmlns:a16="http://schemas.microsoft.com/office/drawing/2014/main" id="{769F88CD-84CE-4578-3DD8-1AECAA5E846B}"/>
                  </a:ext>
                </a:extLst>
              </p:cNvPr>
              <p:cNvSpPr txBox="1"/>
              <p:nvPr/>
            </p:nvSpPr>
            <p:spPr>
              <a:xfrm>
                <a:off x="5676266" y="2128196"/>
                <a:ext cx="923544" cy="3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/>
                <a:r>
                  <a:rPr sz="890" b="0">
                    <a:solidFill>
                      <a:srgbClr val="2D2D2D"/>
                    </a:solidFill>
                    <a:latin typeface="Noto Sans CJK JP"/>
                  </a:rPr>
                  <a:t>・低層商業</a:t>
                </a:r>
                <a:endParaRPr lang="en-US" sz="890" b="0">
                  <a:solidFill>
                    <a:srgbClr val="2D2D2D"/>
                  </a:solidFill>
                  <a:latin typeface="Noto Sans CJK JP"/>
                </a:endParaRPr>
              </a:p>
              <a:p>
                <a:pPr algn="l"/>
                <a:r>
                  <a:rPr sz="890" b="0">
                    <a:solidFill>
                      <a:srgbClr val="2D2D2D"/>
                    </a:solidFill>
                    <a:latin typeface="Noto Sans CJK JP"/>
                  </a:rPr>
                  <a:t>・駅前集客</a:t>
                </a:r>
              </a:p>
            </p:txBody>
          </p:sp>
        </p:grpSp>
      </p:grpSp>
      <p:grpSp>
        <p:nvGrpSpPr>
          <p:cNvPr id="235" name="グループ化 234">
            <a:extLst>
              <a:ext uri="{FF2B5EF4-FFF2-40B4-BE49-F238E27FC236}">
                <a16:creationId xmlns:a16="http://schemas.microsoft.com/office/drawing/2014/main" id="{12ECB599-2A39-7313-F897-86156FBE41FB}"/>
              </a:ext>
            </a:extLst>
          </p:cNvPr>
          <p:cNvGrpSpPr/>
          <p:nvPr/>
        </p:nvGrpSpPr>
        <p:grpSpPr>
          <a:xfrm>
            <a:off x="4871594" y="2838472"/>
            <a:ext cx="1783080" cy="822960"/>
            <a:chOff x="4871594" y="2706246"/>
            <a:chExt cx="1783080" cy="822960"/>
          </a:xfrm>
        </p:grpSpPr>
        <p:sp>
          <p:nvSpPr>
            <p:cNvPr id="168" name="Rounded Rectangle 35">
              <a:extLst>
                <a:ext uri="{FF2B5EF4-FFF2-40B4-BE49-F238E27FC236}">
                  <a16:creationId xmlns:a16="http://schemas.microsoft.com/office/drawing/2014/main" id="{581FAFFB-B02F-9F0E-52BF-90546E4D6371}"/>
                </a:ext>
              </a:extLst>
            </p:cNvPr>
            <p:cNvSpPr/>
            <p:nvPr/>
          </p:nvSpPr>
          <p:spPr>
            <a:xfrm>
              <a:off x="4871594" y="2706246"/>
              <a:ext cx="1783080" cy="822960"/>
            </a:xfrm>
            <a:prstGeom prst="roundRect">
              <a:avLst>
                <a:gd name="adj" fmla="val 9000"/>
              </a:avLst>
            </a:prstGeom>
            <a:solidFill>
              <a:srgbClr val="FAFCFF"/>
            </a:solidFill>
            <a:ln w="12700">
              <a:solidFill>
                <a:srgbClr val="B5C6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34" name="グループ化 233">
              <a:extLst>
                <a:ext uri="{FF2B5EF4-FFF2-40B4-BE49-F238E27FC236}">
                  <a16:creationId xmlns:a16="http://schemas.microsoft.com/office/drawing/2014/main" id="{35ED0B56-D0D4-671D-EFA1-7202830DBEB7}"/>
                </a:ext>
              </a:extLst>
            </p:cNvPr>
            <p:cNvGrpSpPr/>
            <p:nvPr/>
          </p:nvGrpSpPr>
          <p:grpSpPr>
            <a:xfrm>
              <a:off x="4935602" y="2761110"/>
              <a:ext cx="1636776" cy="704512"/>
              <a:chOff x="4935602" y="2761110"/>
              <a:chExt cx="1636776" cy="704512"/>
            </a:xfrm>
          </p:grpSpPr>
          <p:grpSp>
            <p:nvGrpSpPr>
              <p:cNvPr id="233" name="グループ化 232">
                <a:extLst>
                  <a:ext uri="{FF2B5EF4-FFF2-40B4-BE49-F238E27FC236}">
                    <a16:creationId xmlns:a16="http://schemas.microsoft.com/office/drawing/2014/main" id="{2F98BA2E-F7BB-C10D-312D-6AD905964C95}"/>
                  </a:ext>
                </a:extLst>
              </p:cNvPr>
              <p:cNvGrpSpPr/>
              <p:nvPr/>
            </p:nvGrpSpPr>
            <p:grpSpPr>
              <a:xfrm>
                <a:off x="4935602" y="2779397"/>
                <a:ext cx="219456" cy="224387"/>
                <a:chOff x="4935602" y="2779397"/>
                <a:chExt cx="219456" cy="224387"/>
              </a:xfrm>
            </p:grpSpPr>
            <p:sp>
              <p:nvSpPr>
                <p:cNvPr id="169" name="Rounded Rectangle 36">
                  <a:extLst>
                    <a:ext uri="{FF2B5EF4-FFF2-40B4-BE49-F238E27FC236}">
                      <a16:creationId xmlns:a16="http://schemas.microsoft.com/office/drawing/2014/main" id="{4CA7ED70-0CA7-4C3F-C7E1-1DB408EF1999}"/>
                    </a:ext>
                  </a:extLst>
                </p:cNvPr>
                <p:cNvSpPr/>
                <p:nvPr/>
              </p:nvSpPr>
              <p:spPr>
                <a:xfrm>
                  <a:off x="4935602" y="2779397"/>
                  <a:ext cx="219456" cy="224387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1B519F"/>
                </a:solidFill>
                <a:ln w="12700">
                  <a:solidFill>
                    <a:srgbClr val="1B519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0" name="TextBox 37">
                  <a:extLst>
                    <a:ext uri="{FF2B5EF4-FFF2-40B4-BE49-F238E27FC236}">
                      <a16:creationId xmlns:a16="http://schemas.microsoft.com/office/drawing/2014/main" id="{B6CA1D13-5794-EA21-E8C6-0D30C4685483}"/>
                    </a:ext>
                  </a:extLst>
                </p:cNvPr>
                <p:cNvSpPr txBox="1"/>
                <p:nvPr/>
              </p:nvSpPr>
              <p:spPr>
                <a:xfrm>
                  <a:off x="4963034" y="2793114"/>
                  <a:ext cx="164592" cy="1280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576" tIns="36576" rIns="36576" bIns="36576" anchor="t">
                  <a:spAutoFit/>
                </a:bodyPr>
                <a:lstStyle/>
                <a:p>
                  <a:pPr algn="ctr"/>
                  <a:r>
                    <a:rPr sz="1000" b="1">
                      <a:solidFill>
                        <a:srgbClr val="FFFFFF"/>
                      </a:solidFill>
                      <a:latin typeface="Noto Sans CJK JP"/>
                    </a:rPr>
                    <a:t>B</a:t>
                  </a:r>
                </a:p>
              </p:txBody>
            </p:sp>
          </p:grpSp>
          <p:sp>
            <p:nvSpPr>
              <p:cNvPr id="171" name="TextBox 38">
                <a:extLst>
                  <a:ext uri="{FF2B5EF4-FFF2-40B4-BE49-F238E27FC236}">
                    <a16:creationId xmlns:a16="http://schemas.microsoft.com/office/drawing/2014/main" id="{C1FA6C3C-BF2B-0A9E-A25E-AE4FFFD99525}"/>
                  </a:ext>
                </a:extLst>
              </p:cNvPr>
              <p:cNvSpPr txBox="1"/>
              <p:nvPr/>
            </p:nvSpPr>
            <p:spPr>
              <a:xfrm>
                <a:off x="5182490" y="2761110"/>
                <a:ext cx="694944" cy="23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/>
                <a:r>
                  <a:rPr sz="1050" b="1">
                    <a:solidFill>
                      <a:srgbClr val="173F78"/>
                    </a:solidFill>
                    <a:latin typeface="Noto Sans CJK JP"/>
                  </a:rPr>
                  <a:t>回遊重視</a:t>
                </a:r>
              </a:p>
            </p:txBody>
          </p:sp>
          <p:pic>
            <p:nvPicPr>
              <p:cNvPr id="172" name="Picture 39" descr="scenario_circulation.png">
                <a:extLst>
                  <a:ext uri="{FF2B5EF4-FFF2-40B4-BE49-F238E27FC236}">
                    <a16:creationId xmlns:a16="http://schemas.microsoft.com/office/drawing/2014/main" id="{6F6036D9-CDA7-645C-2499-556422FB7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3890" y="3008422"/>
                <a:ext cx="694944" cy="457200"/>
              </a:xfrm>
              <a:prstGeom prst="rect">
                <a:avLst/>
              </a:prstGeom>
            </p:spPr>
          </p:pic>
          <p:sp>
            <p:nvSpPr>
              <p:cNvPr id="173" name="TextBox 40">
                <a:extLst>
                  <a:ext uri="{FF2B5EF4-FFF2-40B4-BE49-F238E27FC236}">
                    <a16:creationId xmlns:a16="http://schemas.microsoft.com/office/drawing/2014/main" id="{BC9F7364-DBEB-092E-A197-3CCA98478E2C}"/>
                  </a:ext>
                </a:extLst>
              </p:cNvPr>
              <p:cNvSpPr txBox="1"/>
              <p:nvPr/>
            </p:nvSpPr>
            <p:spPr>
              <a:xfrm>
                <a:off x="5676266" y="2971422"/>
                <a:ext cx="896112" cy="3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/>
                <a:r>
                  <a:rPr sz="890" b="0">
                    <a:solidFill>
                      <a:srgbClr val="2D2D2D"/>
                    </a:solidFill>
                    <a:latin typeface="Noto Sans CJK JP"/>
                  </a:rPr>
                  <a:t>・広場中心</a:t>
                </a:r>
                <a:endParaRPr lang="en-US" sz="890" b="0">
                  <a:solidFill>
                    <a:srgbClr val="2D2D2D"/>
                  </a:solidFill>
                  <a:latin typeface="Noto Sans CJK JP"/>
                </a:endParaRPr>
              </a:p>
              <a:p>
                <a:pPr algn="l"/>
                <a:r>
                  <a:rPr sz="890" b="0">
                    <a:solidFill>
                      <a:srgbClr val="2D2D2D"/>
                    </a:solidFill>
                    <a:latin typeface="Noto Sans CJK JP"/>
                  </a:rPr>
                  <a:t>・回遊性向上</a:t>
                </a:r>
              </a:p>
            </p:txBody>
          </p:sp>
        </p:grpSp>
      </p:grpSp>
      <p:grpSp>
        <p:nvGrpSpPr>
          <p:cNvPr id="232" name="グループ化 231">
            <a:extLst>
              <a:ext uri="{FF2B5EF4-FFF2-40B4-BE49-F238E27FC236}">
                <a16:creationId xmlns:a16="http://schemas.microsoft.com/office/drawing/2014/main" id="{3722FC05-9594-1E84-44B6-B5C4AFBC1BCC}"/>
              </a:ext>
            </a:extLst>
          </p:cNvPr>
          <p:cNvGrpSpPr/>
          <p:nvPr/>
        </p:nvGrpSpPr>
        <p:grpSpPr>
          <a:xfrm>
            <a:off x="4871594" y="3733284"/>
            <a:ext cx="1783080" cy="822960"/>
            <a:chOff x="4871594" y="3620646"/>
            <a:chExt cx="1783080" cy="822960"/>
          </a:xfrm>
        </p:grpSpPr>
        <p:sp>
          <p:nvSpPr>
            <p:cNvPr id="174" name="Rounded Rectangle 41">
              <a:extLst>
                <a:ext uri="{FF2B5EF4-FFF2-40B4-BE49-F238E27FC236}">
                  <a16:creationId xmlns:a16="http://schemas.microsoft.com/office/drawing/2014/main" id="{A280D7AC-2CDF-AE26-2AFC-F7E103747E39}"/>
                </a:ext>
              </a:extLst>
            </p:cNvPr>
            <p:cNvSpPr/>
            <p:nvPr/>
          </p:nvSpPr>
          <p:spPr>
            <a:xfrm>
              <a:off x="4871594" y="3620646"/>
              <a:ext cx="1783080" cy="822960"/>
            </a:xfrm>
            <a:prstGeom prst="roundRect">
              <a:avLst>
                <a:gd name="adj" fmla="val 9000"/>
              </a:avLst>
            </a:prstGeom>
            <a:solidFill>
              <a:srgbClr val="FAFCFF"/>
            </a:solidFill>
            <a:ln w="12700">
              <a:solidFill>
                <a:srgbClr val="B5C6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31" name="グループ化 230">
              <a:extLst>
                <a:ext uri="{FF2B5EF4-FFF2-40B4-BE49-F238E27FC236}">
                  <a16:creationId xmlns:a16="http://schemas.microsoft.com/office/drawing/2014/main" id="{5A215D0F-E0F2-8B0A-5E9D-79A12ED6CBF3}"/>
                </a:ext>
              </a:extLst>
            </p:cNvPr>
            <p:cNvGrpSpPr/>
            <p:nvPr/>
          </p:nvGrpSpPr>
          <p:grpSpPr>
            <a:xfrm>
              <a:off x="4935602" y="3675509"/>
              <a:ext cx="1719072" cy="739398"/>
              <a:chOff x="4935602" y="3675509"/>
              <a:chExt cx="1719072" cy="739398"/>
            </a:xfrm>
          </p:grpSpPr>
          <p:sp>
            <p:nvSpPr>
              <p:cNvPr id="175" name="Rounded Rectangle 42">
                <a:extLst>
                  <a:ext uri="{FF2B5EF4-FFF2-40B4-BE49-F238E27FC236}">
                    <a16:creationId xmlns:a16="http://schemas.microsoft.com/office/drawing/2014/main" id="{7A94B4C8-8164-36E1-0E33-6BC22E1123C3}"/>
                  </a:ext>
                </a:extLst>
              </p:cNvPr>
              <p:cNvSpPr/>
              <p:nvPr/>
            </p:nvSpPr>
            <p:spPr>
              <a:xfrm>
                <a:off x="4935602" y="3693798"/>
                <a:ext cx="219456" cy="216626"/>
              </a:xfrm>
              <a:prstGeom prst="roundRect">
                <a:avLst>
                  <a:gd name="adj" fmla="val 9000"/>
                </a:avLst>
              </a:prstGeom>
              <a:solidFill>
                <a:srgbClr val="1B519F"/>
              </a:solidFill>
              <a:ln w="12700">
                <a:solidFill>
                  <a:srgbClr val="1B51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TextBox 43">
                <a:extLst>
                  <a:ext uri="{FF2B5EF4-FFF2-40B4-BE49-F238E27FC236}">
                    <a16:creationId xmlns:a16="http://schemas.microsoft.com/office/drawing/2014/main" id="{18E4D141-F300-BE9B-A64E-D0C431990416}"/>
                  </a:ext>
                </a:extLst>
              </p:cNvPr>
              <p:cNvSpPr txBox="1"/>
              <p:nvPr/>
            </p:nvSpPr>
            <p:spPr>
              <a:xfrm>
                <a:off x="4963034" y="3707514"/>
                <a:ext cx="164592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/>
                <a:r>
                  <a:rPr sz="1000" b="1">
                    <a:solidFill>
                      <a:srgbClr val="FFFFFF"/>
                    </a:solidFill>
                    <a:latin typeface="Noto Sans CJK JP"/>
                  </a:rPr>
                  <a:t>C</a:t>
                </a:r>
              </a:p>
            </p:txBody>
          </p:sp>
          <p:sp>
            <p:nvSpPr>
              <p:cNvPr id="177" name="TextBox 44">
                <a:extLst>
                  <a:ext uri="{FF2B5EF4-FFF2-40B4-BE49-F238E27FC236}">
                    <a16:creationId xmlns:a16="http://schemas.microsoft.com/office/drawing/2014/main" id="{A825CF95-5A9D-10EA-0CEF-16D0D58D384A}"/>
                  </a:ext>
                </a:extLst>
              </p:cNvPr>
              <p:cNvSpPr txBox="1"/>
              <p:nvPr/>
            </p:nvSpPr>
            <p:spPr>
              <a:xfrm>
                <a:off x="5182490" y="3675509"/>
                <a:ext cx="913510" cy="23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/>
                <a:r>
                  <a:rPr sz="1050" b="1">
                    <a:solidFill>
                      <a:srgbClr val="173F78"/>
                    </a:solidFill>
                    <a:latin typeface="Noto Sans CJK JP"/>
                  </a:rPr>
                  <a:t>オフィス重視</a:t>
                </a:r>
              </a:p>
            </p:txBody>
          </p:sp>
          <p:pic>
            <p:nvPicPr>
              <p:cNvPr id="178" name="Picture 45" descr="scenario_office.png">
                <a:extLst>
                  <a:ext uri="{FF2B5EF4-FFF2-40B4-BE49-F238E27FC236}">
                    <a16:creationId xmlns:a16="http://schemas.microsoft.com/office/drawing/2014/main" id="{309EFBC9-E1FD-731B-08E7-8D0C33FF6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3034" y="3957707"/>
                <a:ext cx="694944" cy="457200"/>
              </a:xfrm>
              <a:prstGeom prst="rect">
                <a:avLst/>
              </a:prstGeom>
            </p:spPr>
          </p:pic>
          <p:sp>
            <p:nvSpPr>
              <p:cNvPr id="179" name="TextBox 46">
                <a:extLst>
                  <a:ext uri="{FF2B5EF4-FFF2-40B4-BE49-F238E27FC236}">
                    <a16:creationId xmlns:a16="http://schemas.microsoft.com/office/drawing/2014/main" id="{B2AD9C8A-5B97-D21C-6442-EA1B6181C0AF}"/>
                  </a:ext>
                </a:extLst>
              </p:cNvPr>
              <p:cNvSpPr txBox="1"/>
              <p:nvPr/>
            </p:nvSpPr>
            <p:spPr>
              <a:xfrm>
                <a:off x="5676266" y="3885822"/>
                <a:ext cx="978408" cy="3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/>
                <a:r>
                  <a:rPr sz="890" b="0">
                    <a:solidFill>
                      <a:srgbClr val="2D2D2D"/>
                    </a:solidFill>
                    <a:latin typeface="Noto Sans CJK JP"/>
                  </a:rPr>
                  <a:t>・中高層オフィス・生活利便</a:t>
                </a:r>
              </a:p>
            </p:txBody>
          </p:sp>
        </p:grpSp>
      </p:grpSp>
      <p:sp>
        <p:nvSpPr>
          <p:cNvPr id="182" name="TextBox 49">
            <a:extLst>
              <a:ext uri="{FF2B5EF4-FFF2-40B4-BE49-F238E27FC236}">
                <a16:creationId xmlns:a16="http://schemas.microsoft.com/office/drawing/2014/main" id="{91C2B147-B190-8659-43FA-9B83E11C3ECE}"/>
              </a:ext>
            </a:extLst>
          </p:cNvPr>
          <p:cNvSpPr txBox="1"/>
          <p:nvPr/>
        </p:nvSpPr>
        <p:spPr>
          <a:xfrm>
            <a:off x="4862450" y="5261631"/>
            <a:ext cx="1737360" cy="39087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30" b="0">
                <a:solidFill>
                  <a:srgbClr val="1E1E1E"/>
                </a:solidFill>
                <a:latin typeface="Noto Sans CJK JP"/>
              </a:rPr>
              <a:t>やり取りを重ねながら、</a:t>
            </a:r>
            <a:endParaRPr lang="en-US" sz="1030" b="0">
              <a:solidFill>
                <a:srgbClr val="1E1E1E"/>
              </a:solidFill>
              <a:latin typeface="Noto Sans CJK JP"/>
            </a:endParaRPr>
          </a:p>
          <a:p>
            <a:pPr algn="ctr"/>
            <a:r>
              <a:rPr sz="1030" b="0">
                <a:solidFill>
                  <a:srgbClr val="1E1E1E"/>
                </a:solidFill>
                <a:latin typeface="Noto Sans CJK JP"/>
              </a:rPr>
              <a:t>候補案の違いを見極める</a:t>
            </a:r>
          </a:p>
        </p:txBody>
      </p:sp>
      <p:grpSp>
        <p:nvGrpSpPr>
          <p:cNvPr id="230" name="グループ化 229">
            <a:extLst>
              <a:ext uri="{FF2B5EF4-FFF2-40B4-BE49-F238E27FC236}">
                <a16:creationId xmlns:a16="http://schemas.microsoft.com/office/drawing/2014/main" id="{F5E24D49-E616-710B-E750-51EDEFDF3780}"/>
              </a:ext>
            </a:extLst>
          </p:cNvPr>
          <p:cNvGrpSpPr/>
          <p:nvPr/>
        </p:nvGrpSpPr>
        <p:grpSpPr>
          <a:xfrm>
            <a:off x="7157594" y="2086374"/>
            <a:ext cx="1764792" cy="2286000"/>
            <a:chOff x="7166738" y="1773558"/>
            <a:chExt cx="1764792" cy="2286000"/>
          </a:xfrm>
        </p:grpSpPr>
        <p:pic>
          <p:nvPicPr>
            <p:cNvPr id="183" name="Picture 50" descr="plan_diagram.png">
              <a:extLst>
                <a:ext uri="{FF2B5EF4-FFF2-40B4-BE49-F238E27FC236}">
                  <a16:creationId xmlns:a16="http://schemas.microsoft.com/office/drawing/2014/main" id="{5B55010F-1AC0-1408-CE8A-E6576D796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6738" y="1773558"/>
              <a:ext cx="1764792" cy="2286000"/>
            </a:xfrm>
            <a:prstGeom prst="rect">
              <a:avLst/>
            </a:prstGeom>
          </p:spPr>
        </p:pic>
        <p:grpSp>
          <p:nvGrpSpPr>
            <p:cNvPr id="228" name="グループ化 227">
              <a:extLst>
                <a:ext uri="{FF2B5EF4-FFF2-40B4-BE49-F238E27FC236}">
                  <a16:creationId xmlns:a16="http://schemas.microsoft.com/office/drawing/2014/main" id="{9A550594-E90A-C393-DB84-C213FCCB2139}"/>
                </a:ext>
              </a:extLst>
            </p:cNvPr>
            <p:cNvGrpSpPr/>
            <p:nvPr/>
          </p:nvGrpSpPr>
          <p:grpSpPr>
            <a:xfrm>
              <a:off x="7229844" y="3094866"/>
              <a:ext cx="475488" cy="374903"/>
              <a:chOff x="7194170" y="2742821"/>
              <a:chExt cx="475488" cy="374903"/>
            </a:xfrm>
          </p:grpSpPr>
          <p:sp>
            <p:nvSpPr>
              <p:cNvPr id="184" name="Rounded Rectangle 51">
                <a:extLst>
                  <a:ext uri="{FF2B5EF4-FFF2-40B4-BE49-F238E27FC236}">
                    <a16:creationId xmlns:a16="http://schemas.microsoft.com/office/drawing/2014/main" id="{34F063F9-C27A-6365-81D1-FCC9F00267C8}"/>
                  </a:ext>
                </a:extLst>
              </p:cNvPr>
              <p:cNvSpPr/>
              <p:nvPr/>
            </p:nvSpPr>
            <p:spPr>
              <a:xfrm>
                <a:off x="7194170" y="2742821"/>
                <a:ext cx="475488" cy="374903"/>
              </a:xfrm>
              <a:prstGeom prst="roundRect">
                <a:avLst>
                  <a:gd name="adj" fmla="val 9000"/>
                </a:avLst>
              </a:prstGeom>
              <a:solidFill>
                <a:srgbClr val="FFF7F7"/>
              </a:solidFill>
              <a:ln w="12700">
                <a:solidFill>
                  <a:srgbClr val="C560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TextBox 52">
                <a:extLst>
                  <a:ext uri="{FF2B5EF4-FFF2-40B4-BE49-F238E27FC236}">
                    <a16:creationId xmlns:a16="http://schemas.microsoft.com/office/drawing/2014/main" id="{EBE5128C-5AB0-DA84-341B-5633BA786319}"/>
                  </a:ext>
                </a:extLst>
              </p:cNvPr>
              <p:cNvSpPr txBox="1"/>
              <p:nvPr/>
            </p:nvSpPr>
            <p:spPr>
              <a:xfrm>
                <a:off x="7203314" y="2761110"/>
                <a:ext cx="4572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/>
                <a:r>
                  <a:rPr sz="880" b="1">
                    <a:solidFill>
                      <a:srgbClr val="74232D"/>
                    </a:solidFill>
                    <a:latin typeface="Noto Sans CJK JP"/>
                  </a:rPr>
                  <a:t>商業
(低層)</a:t>
                </a:r>
              </a:p>
            </p:txBody>
          </p:sp>
        </p:grpSp>
        <p:grpSp>
          <p:nvGrpSpPr>
            <p:cNvPr id="227" name="グループ化 226">
              <a:extLst>
                <a:ext uri="{FF2B5EF4-FFF2-40B4-BE49-F238E27FC236}">
                  <a16:creationId xmlns:a16="http://schemas.microsoft.com/office/drawing/2014/main" id="{CA3C0D5E-41BF-90A0-D5E6-0768082ABFEB}"/>
                </a:ext>
              </a:extLst>
            </p:cNvPr>
            <p:cNvGrpSpPr/>
            <p:nvPr/>
          </p:nvGrpSpPr>
          <p:grpSpPr>
            <a:xfrm>
              <a:off x="8382890" y="2249046"/>
              <a:ext cx="548640" cy="386873"/>
              <a:chOff x="8172577" y="1736981"/>
              <a:chExt cx="548640" cy="386873"/>
            </a:xfrm>
          </p:grpSpPr>
          <p:sp>
            <p:nvSpPr>
              <p:cNvPr id="186" name="Rounded Rectangle 53">
                <a:extLst>
                  <a:ext uri="{FF2B5EF4-FFF2-40B4-BE49-F238E27FC236}">
                    <a16:creationId xmlns:a16="http://schemas.microsoft.com/office/drawing/2014/main" id="{0B7F7E3D-53F2-7BD1-E510-ED8640366ECF}"/>
                  </a:ext>
                </a:extLst>
              </p:cNvPr>
              <p:cNvSpPr/>
              <p:nvPr/>
            </p:nvSpPr>
            <p:spPr>
              <a:xfrm>
                <a:off x="8172577" y="1736981"/>
                <a:ext cx="548640" cy="386873"/>
              </a:xfrm>
              <a:prstGeom prst="roundRect">
                <a:avLst>
                  <a:gd name="adj" fmla="val 9000"/>
                </a:avLst>
              </a:prstGeom>
              <a:solidFill>
                <a:srgbClr val="F2F7FF"/>
              </a:solidFill>
              <a:ln w="12700">
                <a:solidFill>
                  <a:srgbClr val="5F82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7" name="TextBox 54">
                <a:extLst>
                  <a:ext uri="{FF2B5EF4-FFF2-40B4-BE49-F238E27FC236}">
                    <a16:creationId xmlns:a16="http://schemas.microsoft.com/office/drawing/2014/main" id="{72019555-C754-D635-6BB7-5E5686DBB564}"/>
                  </a:ext>
                </a:extLst>
              </p:cNvPr>
              <p:cNvSpPr txBox="1"/>
              <p:nvPr/>
            </p:nvSpPr>
            <p:spPr>
              <a:xfrm>
                <a:off x="8181721" y="1755270"/>
                <a:ext cx="53035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/>
                <a:r>
                  <a:rPr sz="850" b="1">
                    <a:solidFill>
                      <a:srgbClr val="244980"/>
                    </a:solidFill>
                    <a:latin typeface="Noto Sans CJK JP"/>
                  </a:rPr>
                  <a:t>オフィス
(中高層)</a:t>
                </a:r>
              </a:p>
            </p:txBody>
          </p:sp>
        </p:grpSp>
        <p:grpSp>
          <p:nvGrpSpPr>
            <p:cNvPr id="229" name="グループ化 228">
              <a:extLst>
                <a:ext uri="{FF2B5EF4-FFF2-40B4-BE49-F238E27FC236}">
                  <a16:creationId xmlns:a16="http://schemas.microsoft.com/office/drawing/2014/main" id="{E03D457B-DF29-3FA4-32A0-B2D361938496}"/>
                </a:ext>
              </a:extLst>
            </p:cNvPr>
            <p:cNvGrpSpPr/>
            <p:nvPr/>
          </p:nvGrpSpPr>
          <p:grpSpPr>
            <a:xfrm>
              <a:off x="8251259" y="3394207"/>
              <a:ext cx="603504" cy="365761"/>
              <a:chOff x="8172577" y="3602356"/>
              <a:chExt cx="603504" cy="365761"/>
            </a:xfrm>
          </p:grpSpPr>
          <p:sp>
            <p:nvSpPr>
              <p:cNvPr id="188" name="Rounded Rectangle 55">
                <a:extLst>
                  <a:ext uri="{FF2B5EF4-FFF2-40B4-BE49-F238E27FC236}">
                    <a16:creationId xmlns:a16="http://schemas.microsoft.com/office/drawing/2014/main" id="{0CA853B8-7DE2-3220-CF2F-11EC3C0EE46E}"/>
                  </a:ext>
                </a:extLst>
              </p:cNvPr>
              <p:cNvSpPr/>
              <p:nvPr/>
            </p:nvSpPr>
            <p:spPr>
              <a:xfrm>
                <a:off x="8172577" y="3602356"/>
                <a:ext cx="603504" cy="365761"/>
              </a:xfrm>
              <a:prstGeom prst="roundRect">
                <a:avLst>
                  <a:gd name="adj" fmla="val 9000"/>
                </a:avLst>
              </a:prstGeom>
              <a:solidFill>
                <a:srgbClr val="F5FBF3"/>
              </a:solidFill>
              <a:ln w="12700">
                <a:solidFill>
                  <a:srgbClr val="71A05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TextBox 56">
                <a:extLst>
                  <a:ext uri="{FF2B5EF4-FFF2-40B4-BE49-F238E27FC236}">
                    <a16:creationId xmlns:a16="http://schemas.microsoft.com/office/drawing/2014/main" id="{F6606D61-414C-C68C-7761-33A2D0A1E7B5}"/>
                  </a:ext>
                </a:extLst>
              </p:cNvPr>
              <p:cNvSpPr txBox="1"/>
              <p:nvPr/>
            </p:nvSpPr>
            <p:spPr>
              <a:xfrm>
                <a:off x="8181721" y="3620645"/>
                <a:ext cx="594360" cy="335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/>
                <a:r>
                  <a:rPr sz="850" b="1">
                    <a:solidFill>
                      <a:srgbClr val="386E2C"/>
                    </a:solidFill>
                    <a:latin typeface="Noto Sans CJK JP"/>
                  </a:rPr>
                  <a:t>広場
(公開空地)</a:t>
                </a:r>
              </a:p>
            </p:txBody>
          </p:sp>
        </p:grpSp>
        <p:grpSp>
          <p:nvGrpSpPr>
            <p:cNvPr id="226" name="グループ化 225">
              <a:extLst>
                <a:ext uri="{FF2B5EF4-FFF2-40B4-BE49-F238E27FC236}">
                  <a16:creationId xmlns:a16="http://schemas.microsoft.com/office/drawing/2014/main" id="{CCCF9B87-12D4-A8B5-B87C-0DD9479EA292}"/>
                </a:ext>
              </a:extLst>
            </p:cNvPr>
            <p:cNvGrpSpPr/>
            <p:nvPr/>
          </p:nvGrpSpPr>
          <p:grpSpPr>
            <a:xfrm>
              <a:off x="7322433" y="2313629"/>
              <a:ext cx="731520" cy="218215"/>
              <a:chOff x="7651370" y="4333878"/>
              <a:chExt cx="731520" cy="218215"/>
            </a:xfrm>
          </p:grpSpPr>
          <p:sp>
            <p:nvSpPr>
              <p:cNvPr id="190" name="Rounded Rectangle 57">
                <a:extLst>
                  <a:ext uri="{FF2B5EF4-FFF2-40B4-BE49-F238E27FC236}">
                    <a16:creationId xmlns:a16="http://schemas.microsoft.com/office/drawing/2014/main" id="{FFDBBCAB-1979-BF2A-7CA7-DCBB9A35E73D}"/>
                  </a:ext>
                </a:extLst>
              </p:cNvPr>
              <p:cNvSpPr/>
              <p:nvPr/>
            </p:nvSpPr>
            <p:spPr>
              <a:xfrm>
                <a:off x="7651370" y="4333878"/>
                <a:ext cx="722376" cy="218215"/>
              </a:xfrm>
              <a:prstGeom prst="roundRect">
                <a:avLst>
                  <a:gd name="adj" fmla="val 9000"/>
                </a:avLst>
              </a:prstGeom>
              <a:solidFill>
                <a:srgbClr val="FFF9F1"/>
              </a:solidFill>
              <a:ln w="12700">
                <a:solidFill>
                  <a:srgbClr val="C887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TextBox 58">
                <a:extLst>
                  <a:ext uri="{FF2B5EF4-FFF2-40B4-BE49-F238E27FC236}">
                    <a16:creationId xmlns:a16="http://schemas.microsoft.com/office/drawing/2014/main" id="{34ED29E6-0579-FCB9-0186-602D8EDDCAFC}"/>
                  </a:ext>
                </a:extLst>
              </p:cNvPr>
              <p:cNvSpPr txBox="1"/>
              <p:nvPr/>
            </p:nvSpPr>
            <p:spPr>
              <a:xfrm>
                <a:off x="7660514" y="4352166"/>
                <a:ext cx="722376" cy="19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/>
                <a:r>
                  <a:rPr sz="819" b="1">
                    <a:solidFill>
                      <a:srgbClr val="8F5B17"/>
                    </a:solidFill>
                    <a:latin typeface="Noto Sans CJK JP"/>
                  </a:rPr>
                  <a:t>歩行者デッキ</a:t>
                </a:r>
              </a:p>
            </p:txBody>
          </p:sp>
        </p:grpSp>
      </p:grpSp>
      <p:sp>
        <p:nvSpPr>
          <p:cNvPr id="192" name="TextBox 59">
            <a:extLst>
              <a:ext uri="{FF2B5EF4-FFF2-40B4-BE49-F238E27FC236}">
                <a16:creationId xmlns:a16="http://schemas.microsoft.com/office/drawing/2014/main" id="{6F23D141-13CC-3FE0-B7E7-2596BE9C3337}"/>
              </a:ext>
            </a:extLst>
          </p:cNvPr>
          <p:cNvSpPr txBox="1"/>
          <p:nvPr/>
        </p:nvSpPr>
        <p:spPr>
          <a:xfrm>
            <a:off x="7249034" y="4672206"/>
            <a:ext cx="1673352" cy="572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1E1E1E"/>
                </a:solidFill>
                <a:latin typeface="Noto Sans CJK JP"/>
              </a:rPr>
              <a:t>・駅接続を強化
・低層ににぎわい機能
・広場と回遊空間を整備</a:t>
            </a:r>
          </a:p>
        </p:txBody>
      </p:sp>
      <p:sp>
        <p:nvSpPr>
          <p:cNvPr id="193" name="Rounded Rectangle 60">
            <a:extLst>
              <a:ext uri="{FF2B5EF4-FFF2-40B4-BE49-F238E27FC236}">
                <a16:creationId xmlns:a16="http://schemas.microsoft.com/office/drawing/2014/main" id="{4422AAC1-70B2-B91A-5CC1-1E268D04C019}"/>
              </a:ext>
            </a:extLst>
          </p:cNvPr>
          <p:cNvSpPr/>
          <p:nvPr/>
        </p:nvSpPr>
        <p:spPr>
          <a:xfrm>
            <a:off x="9333866" y="1508382"/>
            <a:ext cx="2596896" cy="4343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61">
            <a:extLst>
              <a:ext uri="{FF2B5EF4-FFF2-40B4-BE49-F238E27FC236}">
                <a16:creationId xmlns:a16="http://schemas.microsoft.com/office/drawing/2014/main" id="{C95B3FDE-A738-EC9C-6B97-A1416397155A}"/>
              </a:ext>
            </a:extLst>
          </p:cNvPr>
          <p:cNvSpPr/>
          <p:nvPr/>
        </p:nvSpPr>
        <p:spPr>
          <a:xfrm>
            <a:off x="9511886" y="1561932"/>
            <a:ext cx="2221992" cy="329184"/>
          </a:xfrm>
          <a:prstGeom prst="roundRect">
            <a:avLst>
              <a:gd name="adj" fmla="val 9000"/>
            </a:avLst>
          </a:prstGeom>
          <a:solidFill>
            <a:srgbClr val="1B519F"/>
          </a:solidFill>
          <a:ln w="12700"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62">
            <a:extLst>
              <a:ext uri="{FF2B5EF4-FFF2-40B4-BE49-F238E27FC236}">
                <a16:creationId xmlns:a16="http://schemas.microsoft.com/office/drawing/2014/main" id="{388200A8-E752-72B6-B773-29E938024F41}"/>
              </a:ext>
            </a:extLst>
          </p:cNvPr>
          <p:cNvSpPr txBox="1"/>
          <p:nvPr/>
        </p:nvSpPr>
        <p:spPr>
          <a:xfrm>
            <a:off x="9553034" y="1588028"/>
            <a:ext cx="2139696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採用する開発計画</a:t>
            </a:r>
          </a:p>
        </p:txBody>
      </p:sp>
      <p:sp>
        <p:nvSpPr>
          <p:cNvPr id="196" name="Oval 63">
            <a:extLst>
              <a:ext uri="{FF2B5EF4-FFF2-40B4-BE49-F238E27FC236}">
                <a16:creationId xmlns:a16="http://schemas.microsoft.com/office/drawing/2014/main" id="{CA5E19C5-521F-A0CF-5764-DAF9ACA9D400}"/>
              </a:ext>
            </a:extLst>
          </p:cNvPr>
          <p:cNvSpPr/>
          <p:nvPr/>
        </p:nvSpPr>
        <p:spPr>
          <a:xfrm>
            <a:off x="9571610" y="1938150"/>
            <a:ext cx="365760" cy="365760"/>
          </a:xfrm>
          <a:prstGeom prst="ellipse">
            <a:avLst/>
          </a:prstGeom>
          <a:solidFill>
            <a:srgbClr val="E36F7A"/>
          </a:solidFill>
          <a:ln>
            <a:solidFill>
              <a:srgbClr val="E3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64">
            <a:extLst>
              <a:ext uri="{FF2B5EF4-FFF2-40B4-BE49-F238E27FC236}">
                <a16:creationId xmlns:a16="http://schemas.microsoft.com/office/drawing/2014/main" id="{B0FAE5C4-081B-28A6-EFC1-EEF16FF5E8E9}"/>
              </a:ext>
            </a:extLst>
          </p:cNvPr>
          <p:cNvSpPr txBox="1"/>
          <p:nvPr/>
        </p:nvSpPr>
        <p:spPr>
          <a:xfrm>
            <a:off x="10001378" y="1938150"/>
            <a:ext cx="159105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>
                <a:solidFill>
                  <a:srgbClr val="1E1E1E"/>
                </a:solidFill>
                <a:latin typeface="Noto Sans CJK JP"/>
              </a:rPr>
              <a:t>低層部：
商業・にぎわい</a:t>
            </a:r>
          </a:p>
        </p:txBody>
      </p:sp>
      <p:cxnSp>
        <p:nvCxnSpPr>
          <p:cNvPr id="198" name="Connector 65">
            <a:extLst>
              <a:ext uri="{FF2B5EF4-FFF2-40B4-BE49-F238E27FC236}">
                <a16:creationId xmlns:a16="http://schemas.microsoft.com/office/drawing/2014/main" id="{29A14179-A75B-140D-86A1-5F4ACF967786}"/>
              </a:ext>
            </a:extLst>
          </p:cNvPr>
          <p:cNvCxnSpPr/>
          <p:nvPr/>
        </p:nvCxnSpPr>
        <p:spPr>
          <a:xfrm>
            <a:off x="9525890" y="2413638"/>
            <a:ext cx="2212848" cy="0"/>
          </a:xfrm>
          <a:prstGeom prst="line">
            <a:avLst/>
          </a:prstGeom>
          <a:ln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Oval 66">
            <a:extLst>
              <a:ext uri="{FF2B5EF4-FFF2-40B4-BE49-F238E27FC236}">
                <a16:creationId xmlns:a16="http://schemas.microsoft.com/office/drawing/2014/main" id="{890B9931-D241-E9EB-D990-613395E03D58}"/>
              </a:ext>
            </a:extLst>
          </p:cNvPr>
          <p:cNvSpPr/>
          <p:nvPr/>
        </p:nvSpPr>
        <p:spPr>
          <a:xfrm>
            <a:off x="9571610" y="2797686"/>
            <a:ext cx="365760" cy="365760"/>
          </a:xfrm>
          <a:prstGeom prst="ellipse">
            <a:avLst/>
          </a:prstGeom>
          <a:solidFill>
            <a:srgbClr val="5A91D2"/>
          </a:solidFill>
          <a:ln>
            <a:solidFill>
              <a:srgbClr val="5A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67">
            <a:extLst>
              <a:ext uri="{FF2B5EF4-FFF2-40B4-BE49-F238E27FC236}">
                <a16:creationId xmlns:a16="http://schemas.microsoft.com/office/drawing/2014/main" id="{E0A393E2-9354-91CE-A435-AB754A08853C}"/>
              </a:ext>
            </a:extLst>
          </p:cNvPr>
          <p:cNvSpPr txBox="1"/>
          <p:nvPr/>
        </p:nvSpPr>
        <p:spPr>
          <a:xfrm>
            <a:off x="10001378" y="2797686"/>
            <a:ext cx="159105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>
                <a:solidFill>
                  <a:srgbClr val="1E1E1E"/>
                </a:solidFill>
                <a:latin typeface="Noto Sans CJK JP"/>
              </a:rPr>
              <a:t>中高層部：
オフィス</a:t>
            </a:r>
          </a:p>
        </p:txBody>
      </p:sp>
      <p:cxnSp>
        <p:nvCxnSpPr>
          <p:cNvPr id="201" name="Connector 68">
            <a:extLst>
              <a:ext uri="{FF2B5EF4-FFF2-40B4-BE49-F238E27FC236}">
                <a16:creationId xmlns:a16="http://schemas.microsoft.com/office/drawing/2014/main" id="{7C07B5BD-C941-F5E4-0CB3-96B10AAFA408}"/>
              </a:ext>
            </a:extLst>
          </p:cNvPr>
          <p:cNvCxnSpPr/>
          <p:nvPr/>
        </p:nvCxnSpPr>
        <p:spPr>
          <a:xfrm>
            <a:off x="9525890" y="3273174"/>
            <a:ext cx="2212848" cy="0"/>
          </a:xfrm>
          <a:prstGeom prst="line">
            <a:avLst/>
          </a:prstGeom>
          <a:ln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69">
            <a:extLst>
              <a:ext uri="{FF2B5EF4-FFF2-40B4-BE49-F238E27FC236}">
                <a16:creationId xmlns:a16="http://schemas.microsoft.com/office/drawing/2014/main" id="{9A8AAF96-E38B-708F-32C1-331962C7C79D}"/>
              </a:ext>
            </a:extLst>
          </p:cNvPr>
          <p:cNvSpPr/>
          <p:nvPr/>
        </p:nvSpPr>
        <p:spPr>
          <a:xfrm>
            <a:off x="9571610" y="3657222"/>
            <a:ext cx="365760" cy="365760"/>
          </a:xfrm>
          <a:prstGeom prst="ellipse">
            <a:avLst/>
          </a:prstGeom>
          <a:solidFill>
            <a:srgbClr val="75B95F"/>
          </a:solidFill>
          <a:ln>
            <a:solidFill>
              <a:srgbClr val="75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70">
            <a:extLst>
              <a:ext uri="{FF2B5EF4-FFF2-40B4-BE49-F238E27FC236}">
                <a16:creationId xmlns:a16="http://schemas.microsoft.com/office/drawing/2014/main" id="{77CEBABC-5E23-2048-5CED-F98C8D19C449}"/>
              </a:ext>
            </a:extLst>
          </p:cNvPr>
          <p:cNvSpPr txBox="1"/>
          <p:nvPr/>
        </p:nvSpPr>
        <p:spPr>
          <a:xfrm>
            <a:off x="10001378" y="3657222"/>
            <a:ext cx="159105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>
                <a:solidFill>
                  <a:srgbClr val="1E1E1E"/>
                </a:solidFill>
                <a:latin typeface="Noto Sans CJK JP"/>
              </a:rPr>
              <a:t>広場・
公開空地</a:t>
            </a:r>
          </a:p>
        </p:txBody>
      </p:sp>
      <p:cxnSp>
        <p:nvCxnSpPr>
          <p:cNvPr id="204" name="Connector 71">
            <a:extLst>
              <a:ext uri="{FF2B5EF4-FFF2-40B4-BE49-F238E27FC236}">
                <a16:creationId xmlns:a16="http://schemas.microsoft.com/office/drawing/2014/main" id="{0A6E626C-3CD9-1742-1E87-F1C7BF157EF3}"/>
              </a:ext>
            </a:extLst>
          </p:cNvPr>
          <p:cNvCxnSpPr/>
          <p:nvPr/>
        </p:nvCxnSpPr>
        <p:spPr>
          <a:xfrm>
            <a:off x="9525890" y="4132710"/>
            <a:ext cx="2212848" cy="0"/>
          </a:xfrm>
          <a:prstGeom prst="line">
            <a:avLst/>
          </a:prstGeom>
          <a:ln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Oval 72">
            <a:extLst>
              <a:ext uri="{FF2B5EF4-FFF2-40B4-BE49-F238E27FC236}">
                <a16:creationId xmlns:a16="http://schemas.microsoft.com/office/drawing/2014/main" id="{99629F72-B6F2-E69F-136F-D8D3701295FA}"/>
              </a:ext>
            </a:extLst>
          </p:cNvPr>
          <p:cNvSpPr/>
          <p:nvPr/>
        </p:nvSpPr>
        <p:spPr>
          <a:xfrm>
            <a:off x="9571610" y="4516758"/>
            <a:ext cx="365760" cy="365760"/>
          </a:xfrm>
          <a:prstGeom prst="ellipse">
            <a:avLst/>
          </a:prstGeom>
          <a:solidFill>
            <a:srgbClr val="EB9B3F"/>
          </a:solidFill>
          <a:ln>
            <a:solidFill>
              <a:srgbClr val="EB9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73">
            <a:extLst>
              <a:ext uri="{FF2B5EF4-FFF2-40B4-BE49-F238E27FC236}">
                <a16:creationId xmlns:a16="http://schemas.microsoft.com/office/drawing/2014/main" id="{9A6D2097-DD89-29E5-54AD-839938A7ED0C}"/>
              </a:ext>
            </a:extLst>
          </p:cNvPr>
          <p:cNvSpPr txBox="1"/>
          <p:nvPr/>
        </p:nvSpPr>
        <p:spPr>
          <a:xfrm>
            <a:off x="10001378" y="4516758"/>
            <a:ext cx="159105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>
                <a:solidFill>
                  <a:srgbClr val="1E1E1E"/>
                </a:solidFill>
                <a:latin typeface="Noto Sans CJK JP"/>
              </a:rPr>
              <a:t>駅接続・
歩行者回遊</a:t>
            </a:r>
          </a:p>
        </p:txBody>
      </p:sp>
      <p:cxnSp>
        <p:nvCxnSpPr>
          <p:cNvPr id="207" name="Connector 74">
            <a:extLst>
              <a:ext uri="{FF2B5EF4-FFF2-40B4-BE49-F238E27FC236}">
                <a16:creationId xmlns:a16="http://schemas.microsoft.com/office/drawing/2014/main" id="{A5EFC955-839B-98AB-7469-2ED939F4AF04}"/>
              </a:ext>
            </a:extLst>
          </p:cNvPr>
          <p:cNvCxnSpPr/>
          <p:nvPr/>
        </p:nvCxnSpPr>
        <p:spPr>
          <a:xfrm>
            <a:off x="9525890" y="4992246"/>
            <a:ext cx="2212848" cy="0"/>
          </a:xfrm>
          <a:prstGeom prst="line">
            <a:avLst/>
          </a:prstGeom>
          <a:ln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0" name="グループ化 239">
            <a:extLst>
              <a:ext uri="{FF2B5EF4-FFF2-40B4-BE49-F238E27FC236}">
                <a16:creationId xmlns:a16="http://schemas.microsoft.com/office/drawing/2014/main" id="{A60513F1-0F6A-B451-4770-CC5E3DEF1C04}"/>
              </a:ext>
            </a:extLst>
          </p:cNvPr>
          <p:cNvGrpSpPr/>
          <p:nvPr/>
        </p:nvGrpSpPr>
        <p:grpSpPr>
          <a:xfrm>
            <a:off x="9511886" y="5156151"/>
            <a:ext cx="2221992" cy="500973"/>
            <a:chOff x="9516746" y="5303141"/>
            <a:chExt cx="2221992" cy="500973"/>
          </a:xfrm>
        </p:grpSpPr>
        <p:sp>
          <p:nvSpPr>
            <p:cNvPr id="208" name="Rounded Rectangle 75">
              <a:extLst>
                <a:ext uri="{FF2B5EF4-FFF2-40B4-BE49-F238E27FC236}">
                  <a16:creationId xmlns:a16="http://schemas.microsoft.com/office/drawing/2014/main" id="{6969CAC1-95DC-4497-E00A-D84CE67E37E2}"/>
                </a:ext>
              </a:extLst>
            </p:cNvPr>
            <p:cNvSpPr/>
            <p:nvPr/>
          </p:nvSpPr>
          <p:spPr>
            <a:xfrm>
              <a:off x="9516746" y="5303141"/>
              <a:ext cx="2221992" cy="500973"/>
            </a:xfrm>
            <a:prstGeom prst="roundRect">
              <a:avLst>
                <a:gd name="adj" fmla="val 9000"/>
              </a:avLst>
            </a:prstGeom>
            <a:solidFill>
              <a:srgbClr val="1B519F"/>
            </a:solidFill>
            <a:ln w="12700">
              <a:solidFill>
                <a:srgbClr val="1B519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9" name="TextBox 76">
              <a:extLst>
                <a:ext uri="{FF2B5EF4-FFF2-40B4-BE49-F238E27FC236}">
                  <a16:creationId xmlns:a16="http://schemas.microsoft.com/office/drawing/2014/main" id="{F522A728-BC1F-4B31-E9D2-9A3D30FA624A}"/>
                </a:ext>
              </a:extLst>
            </p:cNvPr>
            <p:cNvSpPr txBox="1"/>
            <p:nvPr/>
          </p:nvSpPr>
          <p:spPr>
            <a:xfrm>
              <a:off x="9635618" y="5358006"/>
              <a:ext cx="1956816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CJK JP"/>
                </a:rPr>
                <a:t>対話を重ねることで、</a:t>
              </a:r>
              <a:endParaRPr lang="en-US" sz="1150" b="1">
                <a:solidFill>
                  <a:srgbClr val="FFFFFF"/>
                </a:solidFill>
                <a:latin typeface="Noto Sans CJK JP"/>
              </a:endParaRPr>
            </a:p>
            <a:p>
              <a:r>
                <a:rPr sz="1150" b="1">
                  <a:solidFill>
                    <a:srgbClr val="FFFFFF"/>
                  </a:solidFill>
                  <a:latin typeface="Noto Sans CJK JP"/>
                </a:rPr>
                <a:t>計画案</a:t>
              </a:r>
              <a:r>
                <a:rPr lang="ja-JP" altLang="en-US" sz="1150" b="1">
                  <a:solidFill>
                    <a:srgbClr val="FFFFFF"/>
                  </a:solidFill>
                  <a:latin typeface="Noto Sans CJK JP"/>
                </a:rPr>
                <a:t>を具体化していく</a:t>
              </a:r>
              <a:endParaRPr sz="1150" b="1">
                <a:solidFill>
                  <a:srgbClr val="FFFFFF"/>
                </a:solidFill>
                <a:latin typeface="Noto Sans CJK JP"/>
              </a:endParaRPr>
            </a:p>
          </p:txBody>
        </p:sp>
      </p:grpSp>
      <p:sp>
        <p:nvSpPr>
          <p:cNvPr id="210" name="Rounded Rectangle 77">
            <a:extLst>
              <a:ext uri="{FF2B5EF4-FFF2-40B4-BE49-F238E27FC236}">
                <a16:creationId xmlns:a16="http://schemas.microsoft.com/office/drawing/2014/main" id="{661507B8-9F0E-C979-5AE9-A2AB78924206}"/>
              </a:ext>
            </a:extLst>
          </p:cNvPr>
          <p:cNvSpPr/>
          <p:nvPr/>
        </p:nvSpPr>
        <p:spPr>
          <a:xfrm>
            <a:off x="530421" y="5815205"/>
            <a:ext cx="11064240" cy="530352"/>
          </a:xfrm>
          <a:prstGeom prst="roundRect">
            <a:avLst>
              <a:gd name="adj" fmla="val 9000"/>
            </a:avLst>
          </a:prstGeom>
          <a:solidFill>
            <a:srgbClr val="FCFDFF"/>
          </a:solidFill>
          <a:ln w="13970">
            <a:solidFill>
              <a:srgbClr val="E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79">
            <a:extLst>
              <a:ext uri="{FF2B5EF4-FFF2-40B4-BE49-F238E27FC236}">
                <a16:creationId xmlns:a16="http://schemas.microsoft.com/office/drawing/2014/main" id="{2BF4C849-7300-1C77-5812-C2EE96465AEA}"/>
              </a:ext>
            </a:extLst>
          </p:cNvPr>
          <p:cNvSpPr txBox="1"/>
          <p:nvPr/>
        </p:nvSpPr>
        <p:spPr>
          <a:xfrm>
            <a:off x="995875" y="5961509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40" b="1">
                <a:solidFill>
                  <a:srgbClr val="0B2B5B"/>
                </a:solidFill>
                <a:latin typeface="Noto Sans CJK JP"/>
              </a:rPr>
              <a:t>ユーザーとLLMが対話を重ね、前提条件・比較・選定を繰り返すことで、開発計画のイメージが徐々に具体化さ</a:t>
            </a:r>
            <a:r>
              <a:rPr lang="ja-JP" altLang="en-US" sz="1340" b="1">
                <a:solidFill>
                  <a:srgbClr val="0B2B5B"/>
                </a:solidFill>
                <a:latin typeface="Noto Sans CJK JP"/>
              </a:rPr>
              <a:t>れる。</a:t>
            </a:r>
          </a:p>
        </p:txBody>
      </p:sp>
      <p:grpSp>
        <p:nvGrpSpPr>
          <p:cNvPr id="217" name="グループ化 216">
            <a:extLst>
              <a:ext uri="{FF2B5EF4-FFF2-40B4-BE49-F238E27FC236}">
                <a16:creationId xmlns:a16="http://schemas.microsoft.com/office/drawing/2014/main" id="{4F569DF0-B8DE-0D0C-F8BB-B93784001359}"/>
              </a:ext>
            </a:extLst>
          </p:cNvPr>
          <p:cNvGrpSpPr/>
          <p:nvPr/>
        </p:nvGrpSpPr>
        <p:grpSpPr>
          <a:xfrm>
            <a:off x="2691200" y="4641254"/>
            <a:ext cx="1572768" cy="471922"/>
            <a:chOff x="409322" y="4480182"/>
            <a:chExt cx="1572768" cy="471922"/>
          </a:xfrm>
        </p:grpSpPr>
        <p:sp>
          <p:nvSpPr>
            <p:cNvPr id="218" name="Rounded Rectangle 22">
              <a:extLst>
                <a:ext uri="{FF2B5EF4-FFF2-40B4-BE49-F238E27FC236}">
                  <a16:creationId xmlns:a16="http://schemas.microsoft.com/office/drawing/2014/main" id="{DB2F6DEE-5787-E9B4-07B9-4FA8BDC1A342}"/>
                </a:ext>
              </a:extLst>
            </p:cNvPr>
            <p:cNvSpPr/>
            <p:nvPr/>
          </p:nvSpPr>
          <p:spPr>
            <a:xfrm>
              <a:off x="409322" y="4480182"/>
              <a:ext cx="1572768" cy="471922"/>
            </a:xfrm>
            <a:prstGeom prst="roundRect">
              <a:avLst>
                <a:gd name="adj" fmla="val 9000"/>
              </a:avLst>
            </a:prstGeom>
            <a:solidFill>
              <a:srgbClr val="EBF4FC"/>
            </a:solidFill>
            <a:ln w="12700">
              <a:solidFill>
                <a:srgbClr val="D2E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TextBox 23">
              <a:extLst>
                <a:ext uri="{FF2B5EF4-FFF2-40B4-BE49-F238E27FC236}">
                  <a16:creationId xmlns:a16="http://schemas.microsoft.com/office/drawing/2014/main" id="{388F141C-EE49-B76C-7BE8-C83F3E2208D3}"/>
                </a:ext>
              </a:extLst>
            </p:cNvPr>
            <p:cNvSpPr txBox="1"/>
            <p:nvPr/>
          </p:nvSpPr>
          <p:spPr>
            <a:xfrm>
              <a:off x="455222" y="4535046"/>
              <a:ext cx="1483455" cy="4124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ja-JP" altLang="en-US" sz="1100" b="1">
                  <a:solidFill>
                    <a:schemeClr val="tx2"/>
                  </a:solidFill>
                  <a:latin typeface="Noto Sans CJK JP"/>
                </a:rPr>
                <a:t>条件を整理し、
重要な論点を絞り込む</a:t>
              </a:r>
            </a:p>
          </p:txBody>
        </p:sp>
      </p:grpSp>
      <p:grpSp>
        <p:nvGrpSpPr>
          <p:cNvPr id="223" name="グループ化 222">
            <a:extLst>
              <a:ext uri="{FF2B5EF4-FFF2-40B4-BE49-F238E27FC236}">
                <a16:creationId xmlns:a16="http://schemas.microsoft.com/office/drawing/2014/main" id="{15D9CC4A-70B1-E1DD-9645-A173CF09572C}"/>
              </a:ext>
            </a:extLst>
          </p:cNvPr>
          <p:cNvGrpSpPr/>
          <p:nvPr/>
        </p:nvGrpSpPr>
        <p:grpSpPr>
          <a:xfrm>
            <a:off x="4977406" y="4648339"/>
            <a:ext cx="1572768" cy="471922"/>
            <a:chOff x="409322" y="4480182"/>
            <a:chExt cx="1572768" cy="471922"/>
          </a:xfrm>
        </p:grpSpPr>
        <p:sp>
          <p:nvSpPr>
            <p:cNvPr id="224" name="Rounded Rectangle 22">
              <a:extLst>
                <a:ext uri="{FF2B5EF4-FFF2-40B4-BE49-F238E27FC236}">
                  <a16:creationId xmlns:a16="http://schemas.microsoft.com/office/drawing/2014/main" id="{514ADB7B-233F-EFDF-E99B-ADF65827E09B}"/>
                </a:ext>
              </a:extLst>
            </p:cNvPr>
            <p:cNvSpPr/>
            <p:nvPr/>
          </p:nvSpPr>
          <p:spPr>
            <a:xfrm>
              <a:off x="409322" y="4480182"/>
              <a:ext cx="1572768" cy="471922"/>
            </a:xfrm>
            <a:prstGeom prst="roundRect">
              <a:avLst>
                <a:gd name="adj" fmla="val 9000"/>
              </a:avLst>
            </a:prstGeom>
            <a:solidFill>
              <a:srgbClr val="EBF4FC"/>
            </a:solidFill>
            <a:ln w="12700">
              <a:solidFill>
                <a:srgbClr val="D2E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TextBox 23">
              <a:extLst>
                <a:ext uri="{FF2B5EF4-FFF2-40B4-BE49-F238E27FC236}">
                  <a16:creationId xmlns:a16="http://schemas.microsoft.com/office/drawing/2014/main" id="{EBADCE55-4806-6B53-A551-2C1A04E59B29}"/>
                </a:ext>
              </a:extLst>
            </p:cNvPr>
            <p:cNvSpPr txBox="1"/>
            <p:nvPr/>
          </p:nvSpPr>
          <p:spPr>
            <a:xfrm>
              <a:off x="455222" y="4535046"/>
              <a:ext cx="1483455" cy="4124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ja-JP" altLang="en-US" sz="1100" b="1">
                  <a:solidFill>
                    <a:schemeClr val="tx2"/>
                  </a:solidFill>
                  <a:latin typeface="Noto Sans CJK JP"/>
                </a:rPr>
                <a:t>複数案を比較し、</a:t>
              </a:r>
              <a:endParaRPr lang="en-US" altLang="ja-JP" sz="1100" b="1">
                <a:solidFill>
                  <a:schemeClr val="tx2"/>
                </a:solidFill>
                <a:latin typeface="Noto Sans CJK JP"/>
              </a:endParaRPr>
            </a:p>
            <a:p>
              <a:r>
                <a:rPr lang="ja-JP" altLang="en-US" sz="1100" b="1">
                  <a:solidFill>
                    <a:schemeClr val="tx2"/>
                  </a:solidFill>
                  <a:latin typeface="Noto Sans CJK JP"/>
                </a:rPr>
                <a:t>方向性を検討する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95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83A1-85EF-2CC3-C4A9-97F17128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6E1118-DEF8-1B2A-FF8E-B50BCF51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/>
              <a:t>最初の</a:t>
            </a:r>
            <a:r>
              <a:rPr lang="en-US" altLang="ja-JP"/>
              <a:t>3</a:t>
            </a:r>
            <a:r>
              <a:rPr lang="ja-JP" altLang="ja-JP"/>
              <a:t>か月（2Q：7-9月）の取組イメージ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E3D4D3-094B-A309-611D-629C8755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39EEDE-FA19-1A8F-9157-46614151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92EB1A-C97C-3808-6E64-65BBB0C0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rPr lang="en-US" altLang="ja-JP"/>
              <a:t>3</a:t>
            </a:fld>
            <a:endParaRPr kumimoji="1" lang="ja-JP" altLang="en-US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BBE54782-B56D-4A96-E065-86282EE3B67F}"/>
              </a:ext>
            </a:extLst>
          </p:cNvPr>
          <p:cNvSpPr/>
          <p:nvPr/>
        </p:nvSpPr>
        <p:spPr>
          <a:xfrm>
            <a:off x="164592" y="1618488"/>
            <a:ext cx="1993392" cy="4325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64E14A98-0F4D-3295-AC35-45EF9D6913E0}"/>
              </a:ext>
            </a:extLst>
          </p:cNvPr>
          <p:cNvSpPr/>
          <p:nvPr/>
        </p:nvSpPr>
        <p:spPr>
          <a:xfrm>
            <a:off x="274937" y="1715117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D75E8A5-CCCE-970D-1B31-073DE8550CD4}"/>
              </a:ext>
            </a:extLst>
          </p:cNvPr>
          <p:cNvSpPr txBox="1"/>
          <p:nvPr/>
        </p:nvSpPr>
        <p:spPr>
          <a:xfrm>
            <a:off x="604121" y="17334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B2B5B"/>
                </a:solidFill>
                <a:latin typeface="Noto Sans CJK JP"/>
              </a:rPr>
              <a:t>採用案の入力</a:t>
            </a:r>
          </a:p>
        </p:txBody>
      </p:sp>
      <p:pic>
        <p:nvPicPr>
          <p:cNvPr id="10" name="Picture 8" descr="plan_diagram.png">
            <a:extLst>
              <a:ext uri="{FF2B5EF4-FFF2-40B4-BE49-F238E27FC236}">
                <a16:creationId xmlns:a16="http://schemas.microsoft.com/office/drawing/2014/main" id="{6F2795D0-0581-0A0B-BBB8-2BEF3651A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2051720"/>
            <a:ext cx="1737360" cy="1874520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5E53FD0E-5CA3-4A4B-BE99-12E00009D28C}"/>
              </a:ext>
            </a:extLst>
          </p:cNvPr>
          <p:cNvSpPr txBox="1"/>
          <p:nvPr/>
        </p:nvSpPr>
        <p:spPr>
          <a:xfrm>
            <a:off x="356616" y="3931920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10" b="0">
                <a:solidFill>
                  <a:srgbClr val="1E1E1E"/>
                </a:solidFill>
                <a:latin typeface="Noto Sans CJK JP"/>
              </a:rPr>
              <a:t>・駅接続を重視
・低層に商業・にぎわい
・広場・公開空地を確保
・中高層にオフィス機能</a:t>
            </a:r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47CB676C-D50D-1AA3-6566-537EAAD1F598}"/>
              </a:ext>
            </a:extLst>
          </p:cNvPr>
          <p:cNvGrpSpPr/>
          <p:nvPr/>
        </p:nvGrpSpPr>
        <p:grpSpPr>
          <a:xfrm>
            <a:off x="329184" y="5056632"/>
            <a:ext cx="1737360" cy="521208"/>
            <a:chOff x="310896" y="5138928"/>
            <a:chExt cx="1737360" cy="521208"/>
          </a:xfrm>
        </p:grpSpPr>
        <p:sp>
          <p:nvSpPr>
            <p:cNvPr id="12" name="Rounded Rectangle 10">
              <a:extLst>
                <a:ext uri="{FF2B5EF4-FFF2-40B4-BE49-F238E27FC236}">
                  <a16:creationId xmlns:a16="http://schemas.microsoft.com/office/drawing/2014/main" id="{062C3ED3-667F-4BAD-97C6-A783EB4E31AB}"/>
                </a:ext>
              </a:extLst>
            </p:cNvPr>
            <p:cNvSpPr/>
            <p:nvPr/>
          </p:nvSpPr>
          <p:spPr>
            <a:xfrm>
              <a:off x="310896" y="5138928"/>
              <a:ext cx="1737360" cy="521208"/>
            </a:xfrm>
            <a:prstGeom prst="roundRect">
              <a:avLst>
                <a:gd name="adj" fmla="val 9000"/>
              </a:avLst>
            </a:prstGeom>
            <a:solidFill>
              <a:srgbClr val="EBF4FC"/>
            </a:solidFill>
            <a:ln w="12700">
              <a:solidFill>
                <a:srgbClr val="D2E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FCEBCB73-3A4F-9F2C-6C6C-83A0A416FC4D}"/>
                </a:ext>
              </a:extLst>
            </p:cNvPr>
            <p:cNvSpPr txBox="1"/>
            <p:nvPr/>
          </p:nvSpPr>
          <p:spPr>
            <a:xfrm>
              <a:off x="402336" y="5202936"/>
              <a:ext cx="155448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140" b="1">
                  <a:solidFill>
                    <a:srgbClr val="173F78"/>
                  </a:solidFill>
                  <a:latin typeface="Noto Sans CJK JP"/>
                </a:rPr>
                <a:t>この計画で人流はどう変わる？</a:t>
              </a:r>
            </a:p>
          </p:txBody>
        </p:sp>
      </p:grpSp>
      <p:sp>
        <p:nvSpPr>
          <p:cNvPr id="14" name="Right Arrow 12">
            <a:extLst>
              <a:ext uri="{FF2B5EF4-FFF2-40B4-BE49-F238E27FC236}">
                <a16:creationId xmlns:a16="http://schemas.microsoft.com/office/drawing/2014/main" id="{F2839042-E91C-ADCC-C39C-096D6E026F2E}"/>
              </a:ext>
            </a:extLst>
          </p:cNvPr>
          <p:cNvSpPr/>
          <p:nvPr/>
        </p:nvSpPr>
        <p:spPr>
          <a:xfrm>
            <a:off x="2194560" y="3127248"/>
            <a:ext cx="210311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57CD9CF8-E892-968A-B8FD-4E0134F70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0" y="1618488"/>
            <a:ext cx="4187952" cy="4325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C42E13F6-C8AE-A5D4-404A-FCF5E88D10CE}"/>
              </a:ext>
            </a:extLst>
          </p:cNvPr>
          <p:cNvSpPr/>
          <p:nvPr/>
        </p:nvSpPr>
        <p:spPr>
          <a:xfrm>
            <a:off x="2459736" y="1709928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206BE4BF-00B2-8CE1-E1C4-3C0007339F74}"/>
              </a:ext>
            </a:extLst>
          </p:cNvPr>
          <p:cNvSpPr txBox="1"/>
          <p:nvPr/>
        </p:nvSpPr>
        <p:spPr>
          <a:xfrm>
            <a:off x="2788920" y="172821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B2B5B"/>
                </a:solidFill>
                <a:latin typeface="Noto Sans CJK JP"/>
              </a:rPr>
              <a:t>人流予測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B6C74E6D-DE85-DE9A-9A81-5C3594DF2447}"/>
              </a:ext>
            </a:extLst>
          </p:cNvPr>
          <p:cNvGrpSpPr/>
          <p:nvPr/>
        </p:nvGrpSpPr>
        <p:grpSpPr>
          <a:xfrm>
            <a:off x="2757055" y="2026920"/>
            <a:ext cx="1298448" cy="262128"/>
            <a:chOff x="2843784" y="2029968"/>
            <a:chExt cx="1298448" cy="262128"/>
          </a:xfrm>
        </p:grpSpPr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60DCF5F5-68E7-DE6A-6003-2D5D1B8B6872}"/>
                </a:ext>
              </a:extLst>
            </p:cNvPr>
            <p:cNvSpPr/>
            <p:nvPr/>
          </p:nvSpPr>
          <p:spPr>
            <a:xfrm>
              <a:off x="2843784" y="2036064"/>
              <a:ext cx="1298448" cy="256032"/>
            </a:xfrm>
            <a:prstGeom prst="roundRect">
              <a:avLst>
                <a:gd name="adj" fmla="val 9000"/>
              </a:avLst>
            </a:prstGeom>
            <a:solidFill>
              <a:srgbClr val="1B519F"/>
            </a:solidFill>
            <a:ln w="12700">
              <a:solidFill>
                <a:srgbClr val="1B519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16E548F5-E807-FE9D-C572-5AA97F10FA18}"/>
                </a:ext>
              </a:extLst>
            </p:cNvPr>
            <p:cNvSpPr txBox="1"/>
            <p:nvPr/>
          </p:nvSpPr>
          <p:spPr>
            <a:xfrm>
              <a:off x="3163824" y="2029968"/>
              <a:ext cx="6766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Noto Sans CJK JP"/>
                </a:rPr>
                <a:t>Before</a:t>
              </a:r>
            </a:p>
          </p:txBody>
        </p: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62382023-5072-E87B-4970-48CD07A3E6F4}"/>
              </a:ext>
            </a:extLst>
          </p:cNvPr>
          <p:cNvGrpSpPr/>
          <p:nvPr/>
        </p:nvGrpSpPr>
        <p:grpSpPr>
          <a:xfrm>
            <a:off x="4618769" y="2029967"/>
            <a:ext cx="1298448" cy="265176"/>
            <a:chOff x="4681728" y="2029968"/>
            <a:chExt cx="1298448" cy="265176"/>
          </a:xfrm>
        </p:grpSpPr>
        <p:sp>
          <p:nvSpPr>
            <p:cNvPr id="20" name="Rounded Rectangle 18">
              <a:extLst>
                <a:ext uri="{FF2B5EF4-FFF2-40B4-BE49-F238E27FC236}">
                  <a16:creationId xmlns:a16="http://schemas.microsoft.com/office/drawing/2014/main" id="{39065249-8358-85C6-03E8-FA412261A018}"/>
                </a:ext>
              </a:extLst>
            </p:cNvPr>
            <p:cNvSpPr/>
            <p:nvPr/>
          </p:nvSpPr>
          <p:spPr>
            <a:xfrm>
              <a:off x="4681728" y="2039112"/>
              <a:ext cx="1298448" cy="256032"/>
            </a:xfrm>
            <a:prstGeom prst="roundRect">
              <a:avLst>
                <a:gd name="adj" fmla="val 9000"/>
              </a:avLst>
            </a:prstGeom>
            <a:solidFill>
              <a:srgbClr val="D94C3D"/>
            </a:solidFill>
            <a:ln w="12700">
              <a:solidFill>
                <a:srgbClr val="D94C3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B4367F52-AF23-AA1E-DEF1-F7B3B925BC2B}"/>
                </a:ext>
              </a:extLst>
            </p:cNvPr>
            <p:cNvSpPr txBox="1"/>
            <p:nvPr/>
          </p:nvSpPr>
          <p:spPr>
            <a:xfrm>
              <a:off x="5029200" y="2029968"/>
              <a:ext cx="64008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Noto Sans CJK JP"/>
                </a:rPr>
                <a:t>After</a:t>
              </a:r>
            </a:p>
          </p:txBody>
        </p:sp>
      </p:grpSp>
      <p:pic>
        <p:nvPicPr>
          <p:cNvPr id="22" name="Picture 20" descr="flow_before.png">
            <a:extLst>
              <a:ext uri="{FF2B5EF4-FFF2-40B4-BE49-F238E27FC236}">
                <a16:creationId xmlns:a16="http://schemas.microsoft.com/office/drawing/2014/main" id="{D02B983A-C1BE-2E70-23EF-E5D696D90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881" y="2409444"/>
            <a:ext cx="1627632" cy="2313432"/>
          </a:xfrm>
          <a:prstGeom prst="rect">
            <a:avLst/>
          </a:prstGeom>
        </p:spPr>
      </p:pic>
      <p:pic>
        <p:nvPicPr>
          <p:cNvPr id="23" name="Picture 21" descr="flow_after.png">
            <a:extLst>
              <a:ext uri="{FF2B5EF4-FFF2-40B4-BE49-F238E27FC236}">
                <a16:creationId xmlns:a16="http://schemas.microsoft.com/office/drawing/2014/main" id="{CB4D498F-8014-C88F-7A84-9DF357B44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368" y="2395727"/>
            <a:ext cx="1627632" cy="2313432"/>
          </a:xfrm>
          <a:prstGeom prst="rect">
            <a:avLst/>
          </a:prstGeom>
        </p:spPr>
      </p:pic>
      <p:sp>
        <p:nvSpPr>
          <p:cNvPr id="24" name="Chevron 22">
            <a:extLst>
              <a:ext uri="{FF2B5EF4-FFF2-40B4-BE49-F238E27FC236}">
                <a16:creationId xmlns:a16="http://schemas.microsoft.com/office/drawing/2014/main" id="{F0D45841-6398-40EE-9922-34C97901E500}"/>
              </a:ext>
            </a:extLst>
          </p:cNvPr>
          <p:cNvSpPr/>
          <p:nvPr/>
        </p:nvSpPr>
        <p:spPr>
          <a:xfrm>
            <a:off x="4242816" y="3273552"/>
            <a:ext cx="164592" cy="292608"/>
          </a:xfrm>
          <a:prstGeom prst="chevron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4C8B5B92-4908-6F6A-1D94-DAA34D35E985}"/>
              </a:ext>
            </a:extLst>
          </p:cNvPr>
          <p:cNvSpPr/>
          <p:nvPr/>
        </p:nvSpPr>
        <p:spPr>
          <a:xfrm>
            <a:off x="2761488" y="4910328"/>
            <a:ext cx="3401568" cy="310896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016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160B2C68-97D9-BAF8-5AA5-D3BB3258997F}"/>
              </a:ext>
            </a:extLst>
          </p:cNvPr>
          <p:cNvSpPr txBox="1"/>
          <p:nvPr/>
        </p:nvSpPr>
        <p:spPr>
          <a:xfrm>
            <a:off x="2871216" y="4974336"/>
            <a:ext cx="3182112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19" b="0">
                <a:solidFill>
                  <a:srgbClr val="3C3C3C"/>
                </a:solidFill>
                <a:latin typeface="Noto Sans CJK JP"/>
              </a:rPr>
              <a:t>青＝開発前    赤＝開発後    →＝移動方向</a:t>
            </a: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CB3F7B8F-4AD1-3460-F3B5-575AC1BBB67C}"/>
              </a:ext>
            </a:extLst>
          </p:cNvPr>
          <p:cNvSpPr/>
          <p:nvPr/>
        </p:nvSpPr>
        <p:spPr>
          <a:xfrm>
            <a:off x="2798064" y="5340096"/>
            <a:ext cx="3310128" cy="384048"/>
          </a:xfrm>
          <a:prstGeom prst="roundRect">
            <a:avLst>
              <a:gd name="adj" fmla="val 9000"/>
            </a:avLst>
          </a:prstGeom>
          <a:solidFill>
            <a:srgbClr val="EBF4FC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3E22F70D-5B70-67FC-37FC-DEDFFE395C37}"/>
              </a:ext>
            </a:extLst>
          </p:cNvPr>
          <p:cNvSpPr txBox="1"/>
          <p:nvPr/>
        </p:nvSpPr>
        <p:spPr>
          <a:xfrm>
            <a:off x="2926080" y="5394960"/>
            <a:ext cx="3054096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70" b="1">
                <a:solidFill>
                  <a:srgbClr val="173F78"/>
                </a:solidFill>
                <a:latin typeface="Noto Sans CJK JP"/>
              </a:rPr>
              <a:t>駅・商業・広場への流れを比較</a:t>
            </a:r>
          </a:p>
        </p:txBody>
      </p:sp>
      <p:sp>
        <p:nvSpPr>
          <p:cNvPr id="29" name="Right Arrow 27">
            <a:extLst>
              <a:ext uri="{FF2B5EF4-FFF2-40B4-BE49-F238E27FC236}">
                <a16:creationId xmlns:a16="http://schemas.microsoft.com/office/drawing/2014/main" id="{96A2525F-0FB1-475E-F4E1-1AF2B8ADAE99}"/>
              </a:ext>
            </a:extLst>
          </p:cNvPr>
          <p:cNvSpPr/>
          <p:nvPr/>
        </p:nvSpPr>
        <p:spPr>
          <a:xfrm>
            <a:off x="6510528" y="3127248"/>
            <a:ext cx="210311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95E0F0C9-C0A5-DFE4-6A51-EDD59C6662E0}"/>
              </a:ext>
            </a:extLst>
          </p:cNvPr>
          <p:cNvSpPr/>
          <p:nvPr/>
        </p:nvSpPr>
        <p:spPr>
          <a:xfrm>
            <a:off x="6601968" y="1618488"/>
            <a:ext cx="1700784" cy="4325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29">
            <a:extLst>
              <a:ext uri="{FF2B5EF4-FFF2-40B4-BE49-F238E27FC236}">
                <a16:creationId xmlns:a16="http://schemas.microsoft.com/office/drawing/2014/main" id="{A151DAE5-7A92-682A-AE31-EC47AEB6D7D0}"/>
              </a:ext>
            </a:extLst>
          </p:cNvPr>
          <p:cNvSpPr/>
          <p:nvPr/>
        </p:nvSpPr>
        <p:spPr>
          <a:xfrm>
            <a:off x="6725412" y="1694738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3E37DE21-ACEF-7D4B-7F04-25EEA9F52C24}"/>
              </a:ext>
            </a:extLst>
          </p:cNvPr>
          <p:cNvSpPr txBox="1"/>
          <p:nvPr/>
        </p:nvSpPr>
        <p:spPr>
          <a:xfrm>
            <a:off x="7054596" y="1713025"/>
            <a:ext cx="1207008" cy="30469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B2B5B"/>
                </a:solidFill>
                <a:latin typeface="Noto Sans CJK JP"/>
              </a:rPr>
              <a:t>効果・課題</a:t>
            </a:r>
          </a:p>
        </p:txBody>
      </p:sp>
      <p:sp>
        <p:nvSpPr>
          <p:cNvPr id="33" name="Rounded Rectangle 31">
            <a:extLst>
              <a:ext uri="{FF2B5EF4-FFF2-40B4-BE49-F238E27FC236}">
                <a16:creationId xmlns:a16="http://schemas.microsoft.com/office/drawing/2014/main" id="{B416EA44-5FB3-6F8E-D1B7-2C735418980C}"/>
              </a:ext>
            </a:extLst>
          </p:cNvPr>
          <p:cNvSpPr/>
          <p:nvPr/>
        </p:nvSpPr>
        <p:spPr>
          <a:xfrm>
            <a:off x="6748272" y="2066543"/>
            <a:ext cx="1408176" cy="475488"/>
          </a:xfrm>
          <a:prstGeom prst="roundRect">
            <a:avLst>
              <a:gd name="adj" fmla="val 9000"/>
            </a:avLst>
          </a:prstGeom>
          <a:solidFill>
            <a:srgbClr val="FAFCFF"/>
          </a:solidFill>
          <a:ln w="12700">
            <a:solidFill>
              <a:srgbClr val="D0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2A468B43-9A04-B432-6A93-E85D360BB563}"/>
              </a:ext>
            </a:extLst>
          </p:cNvPr>
          <p:cNvSpPr/>
          <p:nvPr/>
        </p:nvSpPr>
        <p:spPr>
          <a:xfrm>
            <a:off x="6839712" y="2139696"/>
            <a:ext cx="182880" cy="182880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5BC4343C-5DB9-7E0D-CF4D-01B6C567977D}"/>
              </a:ext>
            </a:extLst>
          </p:cNvPr>
          <p:cNvSpPr txBox="1"/>
          <p:nvPr/>
        </p:nvSpPr>
        <p:spPr>
          <a:xfrm>
            <a:off x="7068312" y="2139695"/>
            <a:ext cx="932688" cy="22929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0" b="1">
                <a:solidFill>
                  <a:srgbClr val="1E1E1E"/>
                </a:solidFill>
                <a:latin typeface="Noto Sans CJK JP"/>
              </a:rPr>
              <a:t>駅前歩行者量</a:t>
            </a:r>
          </a:p>
        </p:txBody>
      </p:sp>
      <p:sp>
        <p:nvSpPr>
          <p:cNvPr id="36" name="TextBox 34">
            <a:extLst>
              <a:ext uri="{FF2B5EF4-FFF2-40B4-BE49-F238E27FC236}">
                <a16:creationId xmlns:a16="http://schemas.microsoft.com/office/drawing/2014/main" id="{5E937DF8-1049-9B4E-E7DC-5CBBCC5D6C07}"/>
              </a:ext>
            </a:extLst>
          </p:cNvPr>
          <p:cNvSpPr txBox="1"/>
          <p:nvPr/>
        </p:nvSpPr>
        <p:spPr>
          <a:xfrm>
            <a:off x="7498080" y="2296197"/>
            <a:ext cx="649224" cy="2970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50" b="1">
                <a:solidFill>
                  <a:srgbClr val="1B519F"/>
                </a:solidFill>
                <a:latin typeface="Noto Sans CJK JP"/>
              </a:rPr>
              <a:t>+18%</a:t>
            </a:r>
          </a:p>
        </p:txBody>
      </p:sp>
      <p:sp>
        <p:nvSpPr>
          <p:cNvPr id="37" name="Rounded Rectangle 35">
            <a:extLst>
              <a:ext uri="{FF2B5EF4-FFF2-40B4-BE49-F238E27FC236}">
                <a16:creationId xmlns:a16="http://schemas.microsoft.com/office/drawing/2014/main" id="{A43FCB5D-4E25-C691-AA43-7616D7EEBE4D}"/>
              </a:ext>
            </a:extLst>
          </p:cNvPr>
          <p:cNvSpPr/>
          <p:nvPr/>
        </p:nvSpPr>
        <p:spPr>
          <a:xfrm>
            <a:off x="6748272" y="2715768"/>
            <a:ext cx="1408176" cy="475488"/>
          </a:xfrm>
          <a:prstGeom prst="roundRect">
            <a:avLst>
              <a:gd name="adj" fmla="val 9000"/>
            </a:avLst>
          </a:prstGeom>
          <a:solidFill>
            <a:srgbClr val="FAFCFF"/>
          </a:solidFill>
          <a:ln w="12700">
            <a:solidFill>
              <a:srgbClr val="D0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6">
            <a:extLst>
              <a:ext uri="{FF2B5EF4-FFF2-40B4-BE49-F238E27FC236}">
                <a16:creationId xmlns:a16="http://schemas.microsoft.com/office/drawing/2014/main" id="{2A0DF57A-2BD9-E83A-7B36-B9570E57D2C0}"/>
              </a:ext>
            </a:extLst>
          </p:cNvPr>
          <p:cNvSpPr/>
          <p:nvPr/>
        </p:nvSpPr>
        <p:spPr>
          <a:xfrm>
            <a:off x="6839712" y="2788920"/>
            <a:ext cx="182880" cy="182880"/>
          </a:xfrm>
          <a:prstGeom prst="ellipse">
            <a:avLst/>
          </a:prstGeom>
          <a:solidFill>
            <a:srgbClr val="E36F7A"/>
          </a:solidFill>
          <a:ln>
            <a:solidFill>
              <a:srgbClr val="E3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7">
            <a:extLst>
              <a:ext uri="{FF2B5EF4-FFF2-40B4-BE49-F238E27FC236}">
                <a16:creationId xmlns:a16="http://schemas.microsoft.com/office/drawing/2014/main" id="{2F45A013-91D4-044A-61CA-0F5D6C674D1E}"/>
              </a:ext>
            </a:extLst>
          </p:cNvPr>
          <p:cNvSpPr txBox="1"/>
          <p:nvPr/>
        </p:nvSpPr>
        <p:spPr>
          <a:xfrm>
            <a:off x="7068312" y="2788920"/>
            <a:ext cx="932688" cy="22929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0" b="1">
                <a:solidFill>
                  <a:srgbClr val="1E1E1E"/>
                </a:solidFill>
                <a:latin typeface="Noto Sans CJK JP"/>
              </a:rPr>
              <a:t>商業施設来訪</a:t>
            </a:r>
          </a:p>
        </p:txBody>
      </p:sp>
      <p:sp>
        <p:nvSpPr>
          <p:cNvPr id="40" name="TextBox 38">
            <a:extLst>
              <a:ext uri="{FF2B5EF4-FFF2-40B4-BE49-F238E27FC236}">
                <a16:creationId xmlns:a16="http://schemas.microsoft.com/office/drawing/2014/main" id="{E2ED2DBF-3C1B-3164-861F-89D5088CE8A4}"/>
              </a:ext>
            </a:extLst>
          </p:cNvPr>
          <p:cNvSpPr txBox="1"/>
          <p:nvPr/>
        </p:nvSpPr>
        <p:spPr>
          <a:xfrm>
            <a:off x="7534656" y="2942864"/>
            <a:ext cx="630936" cy="2970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50" b="1">
                <a:solidFill>
                  <a:srgbClr val="E36F7A"/>
                </a:solidFill>
                <a:latin typeface="Noto Sans CJK JP"/>
              </a:rPr>
              <a:t>+22%</a:t>
            </a:r>
          </a:p>
        </p:txBody>
      </p:sp>
      <p:sp>
        <p:nvSpPr>
          <p:cNvPr id="41" name="Rounded Rectangle 39">
            <a:extLst>
              <a:ext uri="{FF2B5EF4-FFF2-40B4-BE49-F238E27FC236}">
                <a16:creationId xmlns:a16="http://schemas.microsoft.com/office/drawing/2014/main" id="{BDB018B4-F2A0-168D-0C2E-41C9E64DB759}"/>
              </a:ext>
            </a:extLst>
          </p:cNvPr>
          <p:cNvSpPr/>
          <p:nvPr/>
        </p:nvSpPr>
        <p:spPr>
          <a:xfrm>
            <a:off x="6748272" y="3364991"/>
            <a:ext cx="1408176" cy="475488"/>
          </a:xfrm>
          <a:prstGeom prst="roundRect">
            <a:avLst>
              <a:gd name="adj" fmla="val 9000"/>
            </a:avLst>
          </a:prstGeom>
          <a:solidFill>
            <a:srgbClr val="FAFCFF"/>
          </a:solidFill>
          <a:ln w="12700">
            <a:solidFill>
              <a:srgbClr val="D0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5F3F1932-F222-2238-3100-74C19A62D8C2}"/>
              </a:ext>
            </a:extLst>
          </p:cNvPr>
          <p:cNvSpPr/>
          <p:nvPr/>
        </p:nvSpPr>
        <p:spPr>
          <a:xfrm>
            <a:off x="6839712" y="3438144"/>
            <a:ext cx="182880" cy="182880"/>
          </a:xfrm>
          <a:prstGeom prst="ellipse">
            <a:avLst/>
          </a:prstGeom>
          <a:solidFill>
            <a:srgbClr val="6DA658"/>
          </a:solidFill>
          <a:ln>
            <a:solidFill>
              <a:srgbClr val="6DA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1">
            <a:extLst>
              <a:ext uri="{FF2B5EF4-FFF2-40B4-BE49-F238E27FC236}">
                <a16:creationId xmlns:a16="http://schemas.microsoft.com/office/drawing/2014/main" id="{F05FB347-3537-3D4D-EB52-8EC9C79A14D8}"/>
              </a:ext>
            </a:extLst>
          </p:cNvPr>
          <p:cNvSpPr txBox="1"/>
          <p:nvPr/>
        </p:nvSpPr>
        <p:spPr>
          <a:xfrm>
            <a:off x="7068312" y="3438144"/>
            <a:ext cx="932686" cy="22929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0" b="1">
                <a:solidFill>
                  <a:srgbClr val="1E1E1E"/>
                </a:solidFill>
                <a:latin typeface="Noto Sans CJK JP"/>
              </a:rPr>
              <a:t>広場周辺滞在</a:t>
            </a:r>
          </a:p>
        </p:txBody>
      </p:sp>
      <p:sp>
        <p:nvSpPr>
          <p:cNvPr id="44" name="TextBox 42">
            <a:extLst>
              <a:ext uri="{FF2B5EF4-FFF2-40B4-BE49-F238E27FC236}">
                <a16:creationId xmlns:a16="http://schemas.microsoft.com/office/drawing/2014/main" id="{15F8560C-936F-D937-5210-32CE25352708}"/>
              </a:ext>
            </a:extLst>
          </p:cNvPr>
          <p:cNvSpPr txBox="1"/>
          <p:nvPr/>
        </p:nvSpPr>
        <p:spPr>
          <a:xfrm>
            <a:off x="7494593" y="3601465"/>
            <a:ext cx="685800" cy="2970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50" b="1">
                <a:solidFill>
                  <a:srgbClr val="6DA658"/>
                </a:solidFill>
                <a:latin typeface="Noto Sans CJK JP"/>
              </a:rPr>
              <a:t>+15%</a:t>
            </a:r>
          </a:p>
        </p:txBody>
      </p:sp>
      <p:sp>
        <p:nvSpPr>
          <p:cNvPr id="45" name="Rounded Rectangle 43">
            <a:extLst>
              <a:ext uri="{FF2B5EF4-FFF2-40B4-BE49-F238E27FC236}">
                <a16:creationId xmlns:a16="http://schemas.microsoft.com/office/drawing/2014/main" id="{65EFB4C2-7141-F64D-2F48-6AA8683DC0DD}"/>
              </a:ext>
            </a:extLst>
          </p:cNvPr>
          <p:cNvSpPr/>
          <p:nvPr/>
        </p:nvSpPr>
        <p:spPr>
          <a:xfrm>
            <a:off x="6748272" y="4014215"/>
            <a:ext cx="1408176" cy="475488"/>
          </a:xfrm>
          <a:prstGeom prst="roundRect">
            <a:avLst>
              <a:gd name="adj" fmla="val 9000"/>
            </a:avLst>
          </a:prstGeom>
          <a:solidFill>
            <a:srgbClr val="FAFCFF"/>
          </a:solidFill>
          <a:ln w="12700">
            <a:solidFill>
              <a:srgbClr val="D0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4">
            <a:extLst>
              <a:ext uri="{FF2B5EF4-FFF2-40B4-BE49-F238E27FC236}">
                <a16:creationId xmlns:a16="http://schemas.microsoft.com/office/drawing/2014/main" id="{65FD69BC-BEDC-781C-8296-EC2E839A62C5}"/>
              </a:ext>
            </a:extLst>
          </p:cNvPr>
          <p:cNvSpPr/>
          <p:nvPr/>
        </p:nvSpPr>
        <p:spPr>
          <a:xfrm>
            <a:off x="6839712" y="4087368"/>
            <a:ext cx="182880" cy="182880"/>
          </a:xfrm>
          <a:prstGeom prst="ellipse">
            <a:avLst/>
          </a:prstGeom>
          <a:solidFill>
            <a:srgbClr val="F2A246"/>
          </a:solidFill>
          <a:ln>
            <a:solidFill>
              <a:srgbClr val="F2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5">
            <a:extLst>
              <a:ext uri="{FF2B5EF4-FFF2-40B4-BE49-F238E27FC236}">
                <a16:creationId xmlns:a16="http://schemas.microsoft.com/office/drawing/2014/main" id="{C4952355-6D1F-1FB4-2424-08E186A90A55}"/>
              </a:ext>
            </a:extLst>
          </p:cNvPr>
          <p:cNvSpPr txBox="1"/>
          <p:nvPr/>
        </p:nvSpPr>
        <p:spPr>
          <a:xfrm>
            <a:off x="7068312" y="4087367"/>
            <a:ext cx="1024128" cy="22929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0" b="1">
                <a:solidFill>
                  <a:srgbClr val="1E1E1E"/>
                </a:solidFill>
                <a:latin typeface="Noto Sans CJK JP"/>
              </a:rPr>
              <a:t>一部動線の混雑</a:t>
            </a:r>
          </a:p>
        </p:txBody>
      </p:sp>
      <p:sp>
        <p:nvSpPr>
          <p:cNvPr id="48" name="TextBox 46">
            <a:extLst>
              <a:ext uri="{FF2B5EF4-FFF2-40B4-BE49-F238E27FC236}">
                <a16:creationId xmlns:a16="http://schemas.microsoft.com/office/drawing/2014/main" id="{E224446F-97DD-FC9D-D198-FF0E1A24DE8A}"/>
              </a:ext>
            </a:extLst>
          </p:cNvPr>
          <p:cNvSpPr txBox="1"/>
          <p:nvPr/>
        </p:nvSpPr>
        <p:spPr>
          <a:xfrm>
            <a:off x="7360920" y="4241311"/>
            <a:ext cx="768096" cy="2970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50" b="1">
                <a:solidFill>
                  <a:srgbClr val="F2A246"/>
                </a:solidFill>
                <a:latin typeface="Noto Sans CJK JP"/>
              </a:rPr>
              <a:t>要対応</a:t>
            </a:r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710E717B-392F-710A-FD7B-FDC1BDAE831F}"/>
              </a:ext>
            </a:extLst>
          </p:cNvPr>
          <p:cNvSpPr txBox="1"/>
          <p:nvPr/>
        </p:nvSpPr>
        <p:spPr>
          <a:xfrm>
            <a:off x="6698489" y="4588631"/>
            <a:ext cx="1576832" cy="62786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Noto Sans CJK JP"/>
              </a:rPr>
              <a:t>・駅から商業・広場への流れが強化
・新たな滞在スポットが形成
・一部接続部で混雑が発生</a:t>
            </a:r>
          </a:p>
        </p:txBody>
      </p: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DEE15C45-DE22-F6A0-CB8D-1A3BF66DCC85}"/>
              </a:ext>
            </a:extLst>
          </p:cNvPr>
          <p:cNvGrpSpPr/>
          <p:nvPr/>
        </p:nvGrpSpPr>
        <p:grpSpPr>
          <a:xfrm>
            <a:off x="6793992" y="5325600"/>
            <a:ext cx="1298448" cy="413657"/>
            <a:chOff x="6784848" y="5413247"/>
            <a:chExt cx="1298448" cy="413657"/>
          </a:xfrm>
        </p:grpSpPr>
        <p:sp>
          <p:nvSpPr>
            <p:cNvPr id="50" name="Rounded Rectangle 48">
              <a:extLst>
                <a:ext uri="{FF2B5EF4-FFF2-40B4-BE49-F238E27FC236}">
                  <a16:creationId xmlns:a16="http://schemas.microsoft.com/office/drawing/2014/main" id="{2AEC4A14-7339-859B-E1E8-FFB244FF0F4D}"/>
                </a:ext>
              </a:extLst>
            </p:cNvPr>
            <p:cNvSpPr/>
            <p:nvPr/>
          </p:nvSpPr>
          <p:spPr>
            <a:xfrm>
              <a:off x="6784848" y="5413247"/>
              <a:ext cx="1298448" cy="413657"/>
            </a:xfrm>
            <a:prstGeom prst="roundRect">
              <a:avLst>
                <a:gd name="adj" fmla="val 9000"/>
              </a:avLst>
            </a:prstGeom>
            <a:solidFill>
              <a:srgbClr val="EBF4FC"/>
            </a:solidFill>
            <a:ln w="12700">
              <a:solidFill>
                <a:srgbClr val="D2E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49">
              <a:extLst>
                <a:ext uri="{FF2B5EF4-FFF2-40B4-BE49-F238E27FC236}">
                  <a16:creationId xmlns:a16="http://schemas.microsoft.com/office/drawing/2014/main" id="{0E21D9C5-3854-DA91-2E01-2328311DBBB6}"/>
                </a:ext>
              </a:extLst>
            </p:cNvPr>
            <p:cNvSpPr txBox="1"/>
            <p:nvPr/>
          </p:nvSpPr>
          <p:spPr>
            <a:xfrm>
              <a:off x="6863848" y="5429571"/>
              <a:ext cx="1143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030" b="1">
                  <a:solidFill>
                    <a:srgbClr val="173F78"/>
                  </a:solidFill>
                  <a:latin typeface="Noto Sans CJK JP"/>
                </a:rPr>
                <a:t>どこを直せば、より良い案になる？</a:t>
              </a:r>
            </a:p>
          </p:txBody>
        </p:sp>
      </p:grpSp>
      <p:sp>
        <p:nvSpPr>
          <p:cNvPr id="52" name="Right Arrow 50">
            <a:extLst>
              <a:ext uri="{FF2B5EF4-FFF2-40B4-BE49-F238E27FC236}">
                <a16:creationId xmlns:a16="http://schemas.microsoft.com/office/drawing/2014/main" id="{08441BF4-C23C-2475-8468-BD6AF43608CC}"/>
              </a:ext>
            </a:extLst>
          </p:cNvPr>
          <p:cNvSpPr/>
          <p:nvPr/>
        </p:nvSpPr>
        <p:spPr>
          <a:xfrm>
            <a:off x="8339327" y="3127248"/>
            <a:ext cx="210312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1">
            <a:extLst>
              <a:ext uri="{FF2B5EF4-FFF2-40B4-BE49-F238E27FC236}">
                <a16:creationId xmlns:a16="http://schemas.microsoft.com/office/drawing/2014/main" id="{255B6E24-3BF2-4BE5-A611-EE9BDD00F975}"/>
              </a:ext>
            </a:extLst>
          </p:cNvPr>
          <p:cNvSpPr/>
          <p:nvPr/>
        </p:nvSpPr>
        <p:spPr>
          <a:xfrm>
            <a:off x="8430768" y="1618488"/>
            <a:ext cx="1883664" cy="4325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2">
            <a:extLst>
              <a:ext uri="{FF2B5EF4-FFF2-40B4-BE49-F238E27FC236}">
                <a16:creationId xmlns:a16="http://schemas.microsoft.com/office/drawing/2014/main" id="{F4728096-2BBD-D52E-9FE5-45FCE0331681}"/>
              </a:ext>
            </a:extLst>
          </p:cNvPr>
          <p:cNvSpPr/>
          <p:nvPr/>
        </p:nvSpPr>
        <p:spPr>
          <a:xfrm>
            <a:off x="8549640" y="1694737"/>
            <a:ext cx="329184" cy="329184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55" name="TextBox 53">
            <a:extLst>
              <a:ext uri="{FF2B5EF4-FFF2-40B4-BE49-F238E27FC236}">
                <a16:creationId xmlns:a16="http://schemas.microsoft.com/office/drawing/2014/main" id="{EB52A65C-61DE-04A7-F5D7-668A7F9F1605}"/>
              </a:ext>
            </a:extLst>
          </p:cNvPr>
          <p:cNvSpPr txBox="1"/>
          <p:nvPr/>
        </p:nvSpPr>
        <p:spPr>
          <a:xfrm>
            <a:off x="8878824" y="1713025"/>
            <a:ext cx="1472184" cy="30469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B2B5B"/>
                </a:solidFill>
                <a:latin typeface="Noto Sans CJK JP"/>
              </a:rPr>
              <a:t>計画内容の調整</a:t>
            </a:r>
          </a:p>
        </p:txBody>
      </p:sp>
      <p:pic>
        <p:nvPicPr>
          <p:cNvPr id="56" name="Picture 54" descr="adjusted_plan.png">
            <a:extLst>
              <a:ext uri="{FF2B5EF4-FFF2-40B4-BE49-F238E27FC236}">
                <a16:creationId xmlns:a16="http://schemas.microsoft.com/office/drawing/2014/main" id="{E349B47A-CBAF-1C0B-543C-9BB1927C5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2167127"/>
            <a:ext cx="1572768" cy="1920240"/>
          </a:xfrm>
          <a:prstGeom prst="rect">
            <a:avLst/>
          </a:prstGeom>
        </p:spPr>
      </p:pic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29FC8F9C-3410-9CD4-0176-C60FB8A4FD7B}"/>
              </a:ext>
            </a:extLst>
          </p:cNvPr>
          <p:cNvGrpSpPr/>
          <p:nvPr/>
        </p:nvGrpSpPr>
        <p:grpSpPr>
          <a:xfrm>
            <a:off x="8627364" y="2352547"/>
            <a:ext cx="539496" cy="215265"/>
            <a:chOff x="8577072" y="2121408"/>
            <a:chExt cx="539496" cy="215265"/>
          </a:xfrm>
        </p:grpSpPr>
        <p:sp>
          <p:nvSpPr>
            <p:cNvPr id="57" name="Rounded Rectangle 55">
              <a:extLst>
                <a:ext uri="{FF2B5EF4-FFF2-40B4-BE49-F238E27FC236}">
                  <a16:creationId xmlns:a16="http://schemas.microsoft.com/office/drawing/2014/main" id="{CA220FE4-C3E4-8409-9EFC-50278584339D}"/>
                </a:ext>
              </a:extLst>
            </p:cNvPr>
            <p:cNvSpPr/>
            <p:nvPr/>
          </p:nvSpPr>
          <p:spPr>
            <a:xfrm>
              <a:off x="8577072" y="2121408"/>
              <a:ext cx="530352" cy="201168"/>
            </a:xfrm>
            <a:prstGeom prst="roundRect">
              <a:avLst>
                <a:gd name="adj" fmla="val 9000"/>
              </a:avLst>
            </a:prstGeom>
            <a:solidFill>
              <a:srgbClr val="F5FBF3"/>
            </a:solidFill>
            <a:ln w="12700">
              <a:solidFill>
                <a:srgbClr val="6DA6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6">
              <a:extLst>
                <a:ext uri="{FF2B5EF4-FFF2-40B4-BE49-F238E27FC236}">
                  <a16:creationId xmlns:a16="http://schemas.microsoft.com/office/drawing/2014/main" id="{0576DDA5-681A-890C-9A78-A9FCAAAF8A94}"/>
                </a:ext>
              </a:extLst>
            </p:cNvPr>
            <p:cNvSpPr txBox="1"/>
            <p:nvPr/>
          </p:nvSpPr>
          <p:spPr>
            <a:xfrm>
              <a:off x="8586216" y="2139696"/>
              <a:ext cx="530352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800" b="1">
                  <a:solidFill>
                    <a:srgbClr val="376E2C"/>
                  </a:solidFill>
                  <a:latin typeface="Noto Sans CJK JP"/>
                </a:rPr>
                <a:t>動線分散</a:t>
              </a:r>
            </a:p>
          </p:txBody>
        </p:sp>
      </p:grp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C8612DBB-6F51-DA3B-A082-DF102D522AD9}"/>
              </a:ext>
            </a:extLst>
          </p:cNvPr>
          <p:cNvGrpSpPr/>
          <p:nvPr/>
        </p:nvGrpSpPr>
        <p:grpSpPr>
          <a:xfrm>
            <a:off x="9550908" y="2346682"/>
            <a:ext cx="521208" cy="338376"/>
            <a:chOff x="9665208" y="2103120"/>
            <a:chExt cx="521208" cy="338376"/>
          </a:xfrm>
        </p:grpSpPr>
        <p:sp>
          <p:nvSpPr>
            <p:cNvPr id="59" name="Rounded Rectangle 57">
              <a:extLst>
                <a:ext uri="{FF2B5EF4-FFF2-40B4-BE49-F238E27FC236}">
                  <a16:creationId xmlns:a16="http://schemas.microsoft.com/office/drawing/2014/main" id="{BC16BC71-C384-37D5-385E-CAE237056921}"/>
                </a:ext>
              </a:extLst>
            </p:cNvPr>
            <p:cNvSpPr/>
            <p:nvPr/>
          </p:nvSpPr>
          <p:spPr>
            <a:xfrm>
              <a:off x="9665208" y="2103120"/>
              <a:ext cx="512064" cy="301752"/>
            </a:xfrm>
            <a:prstGeom prst="roundRect">
              <a:avLst>
                <a:gd name="adj" fmla="val 9000"/>
              </a:avLst>
            </a:prstGeom>
            <a:solidFill>
              <a:srgbClr val="F5FBF3"/>
            </a:solidFill>
            <a:ln w="12700">
              <a:solidFill>
                <a:srgbClr val="6DA6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8">
              <a:extLst>
                <a:ext uri="{FF2B5EF4-FFF2-40B4-BE49-F238E27FC236}">
                  <a16:creationId xmlns:a16="http://schemas.microsoft.com/office/drawing/2014/main" id="{2AB8883B-3B43-8875-438E-238941EEFB05}"/>
                </a:ext>
              </a:extLst>
            </p:cNvPr>
            <p:cNvSpPr txBox="1"/>
            <p:nvPr/>
          </p:nvSpPr>
          <p:spPr>
            <a:xfrm>
              <a:off x="9674352" y="2121408"/>
              <a:ext cx="512064" cy="3200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800" b="1">
                  <a:solidFill>
                    <a:srgbClr val="376E2C"/>
                  </a:solidFill>
                  <a:latin typeface="Noto Sans CJK JP"/>
                </a:rPr>
                <a:t>広場機能
強化</a:t>
              </a:r>
            </a:p>
          </p:txBody>
        </p:sp>
      </p:grp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CA27B0E2-3ADB-6F39-75ED-CBAC700E7885}"/>
              </a:ext>
            </a:extLst>
          </p:cNvPr>
          <p:cNvGrpSpPr/>
          <p:nvPr/>
        </p:nvGrpSpPr>
        <p:grpSpPr>
          <a:xfrm>
            <a:off x="9541764" y="3616695"/>
            <a:ext cx="475488" cy="367604"/>
            <a:chOff x="9555480" y="4096511"/>
            <a:chExt cx="475488" cy="367604"/>
          </a:xfrm>
        </p:grpSpPr>
        <p:sp>
          <p:nvSpPr>
            <p:cNvPr id="61" name="Rounded Rectangle 59">
              <a:extLst>
                <a:ext uri="{FF2B5EF4-FFF2-40B4-BE49-F238E27FC236}">
                  <a16:creationId xmlns:a16="http://schemas.microsoft.com/office/drawing/2014/main" id="{2F62D78B-D301-29D8-3671-60AE0301F5BD}"/>
                </a:ext>
              </a:extLst>
            </p:cNvPr>
            <p:cNvSpPr/>
            <p:nvPr/>
          </p:nvSpPr>
          <p:spPr>
            <a:xfrm>
              <a:off x="9555480" y="4096511"/>
              <a:ext cx="475488" cy="367604"/>
            </a:xfrm>
            <a:prstGeom prst="roundRect">
              <a:avLst>
                <a:gd name="adj" fmla="val 9000"/>
              </a:avLst>
            </a:prstGeom>
            <a:solidFill>
              <a:srgbClr val="FFF9F1"/>
            </a:solidFill>
            <a:ln w="12700">
              <a:solidFill>
                <a:srgbClr val="F2A2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0">
              <a:extLst>
                <a:ext uri="{FF2B5EF4-FFF2-40B4-BE49-F238E27FC236}">
                  <a16:creationId xmlns:a16="http://schemas.microsoft.com/office/drawing/2014/main" id="{EC5EB864-5142-3DA7-B2E1-72A29EFC3E5E}"/>
                </a:ext>
              </a:extLst>
            </p:cNvPr>
            <p:cNvSpPr txBox="1"/>
            <p:nvPr/>
          </p:nvSpPr>
          <p:spPr>
            <a:xfrm>
              <a:off x="9564624" y="4114800"/>
              <a:ext cx="4572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780" b="1">
                  <a:solidFill>
                    <a:srgbClr val="8F5B17"/>
                  </a:solidFill>
                  <a:latin typeface="Noto Sans CJK JP"/>
                </a:rPr>
                <a:t>駅接続
強化</a:t>
              </a: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2C27208D-533D-5794-AE5A-260448EA25EB}"/>
              </a:ext>
            </a:extLst>
          </p:cNvPr>
          <p:cNvGrpSpPr/>
          <p:nvPr/>
        </p:nvGrpSpPr>
        <p:grpSpPr>
          <a:xfrm>
            <a:off x="8674169" y="3614934"/>
            <a:ext cx="521208" cy="332220"/>
            <a:chOff x="8686800" y="4142232"/>
            <a:chExt cx="521208" cy="332220"/>
          </a:xfrm>
        </p:grpSpPr>
        <p:sp>
          <p:nvSpPr>
            <p:cNvPr id="63" name="Rounded Rectangle 61">
              <a:extLst>
                <a:ext uri="{FF2B5EF4-FFF2-40B4-BE49-F238E27FC236}">
                  <a16:creationId xmlns:a16="http://schemas.microsoft.com/office/drawing/2014/main" id="{976A6208-D2A5-BD8D-F675-A5C2E5C498D0}"/>
                </a:ext>
              </a:extLst>
            </p:cNvPr>
            <p:cNvSpPr/>
            <p:nvPr/>
          </p:nvSpPr>
          <p:spPr>
            <a:xfrm>
              <a:off x="8686800" y="4142232"/>
              <a:ext cx="512064" cy="313932"/>
            </a:xfrm>
            <a:prstGeom prst="roundRect">
              <a:avLst>
                <a:gd name="adj" fmla="val 9000"/>
              </a:avLst>
            </a:prstGeom>
            <a:solidFill>
              <a:srgbClr val="FFF7F7"/>
            </a:solidFill>
            <a:ln w="12700">
              <a:solidFill>
                <a:srgbClr val="D94C3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2">
              <a:extLst>
                <a:ext uri="{FF2B5EF4-FFF2-40B4-BE49-F238E27FC236}">
                  <a16:creationId xmlns:a16="http://schemas.microsoft.com/office/drawing/2014/main" id="{5B01F6F7-6B05-17ED-DD66-38A32CA3B9C4}"/>
                </a:ext>
              </a:extLst>
            </p:cNvPr>
            <p:cNvSpPr txBox="1"/>
            <p:nvPr/>
          </p:nvSpPr>
          <p:spPr>
            <a:xfrm>
              <a:off x="8695944" y="4160520"/>
              <a:ext cx="512064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780" b="1">
                  <a:solidFill>
                    <a:srgbClr val="74232D"/>
                  </a:solidFill>
                  <a:latin typeface="Noto Sans CJK JP"/>
                </a:rPr>
                <a:t>商業配置
再調整</a:t>
              </a:r>
            </a:p>
          </p:txBody>
        </p:sp>
      </p:grp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B9844A8F-D94F-4C56-10C8-C2BFEAF9F9DF}"/>
              </a:ext>
            </a:extLst>
          </p:cNvPr>
          <p:cNvGrpSpPr/>
          <p:nvPr/>
        </p:nvGrpSpPr>
        <p:grpSpPr>
          <a:xfrm>
            <a:off x="8610600" y="5303520"/>
            <a:ext cx="1481328" cy="457200"/>
            <a:chOff x="8613648" y="5230368"/>
            <a:chExt cx="1481328" cy="457200"/>
          </a:xfrm>
        </p:grpSpPr>
        <p:sp>
          <p:nvSpPr>
            <p:cNvPr id="65" name="Rounded Rectangle 63">
              <a:extLst>
                <a:ext uri="{FF2B5EF4-FFF2-40B4-BE49-F238E27FC236}">
                  <a16:creationId xmlns:a16="http://schemas.microsoft.com/office/drawing/2014/main" id="{B50A8CF9-1B1D-B88F-1975-849D29E09DEF}"/>
                </a:ext>
              </a:extLst>
            </p:cNvPr>
            <p:cNvSpPr/>
            <p:nvPr/>
          </p:nvSpPr>
          <p:spPr>
            <a:xfrm>
              <a:off x="8613648" y="5230368"/>
              <a:ext cx="1481328" cy="457200"/>
            </a:xfrm>
            <a:prstGeom prst="roundRect">
              <a:avLst>
                <a:gd name="adj" fmla="val 9000"/>
              </a:avLst>
            </a:prstGeom>
            <a:solidFill>
              <a:srgbClr val="EBF4FC"/>
            </a:solidFill>
            <a:ln w="12700">
              <a:solidFill>
                <a:srgbClr val="D2E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4">
              <a:extLst>
                <a:ext uri="{FF2B5EF4-FFF2-40B4-BE49-F238E27FC236}">
                  <a16:creationId xmlns:a16="http://schemas.microsoft.com/office/drawing/2014/main" id="{648663A2-2978-6D05-9293-31BD4AE5BCDD}"/>
                </a:ext>
              </a:extLst>
            </p:cNvPr>
            <p:cNvSpPr txBox="1"/>
            <p:nvPr/>
          </p:nvSpPr>
          <p:spPr>
            <a:xfrm>
              <a:off x="8686800" y="5294376"/>
              <a:ext cx="1335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060" b="1">
                  <a:solidFill>
                    <a:srgbClr val="173F78"/>
                  </a:solidFill>
                  <a:latin typeface="Noto Sans CJK JP"/>
                </a:rPr>
                <a:t>評価結果を踏まえて次の案へ反映</a:t>
              </a:r>
            </a:p>
          </p:txBody>
        </p:sp>
      </p:grpSp>
      <p:sp>
        <p:nvSpPr>
          <p:cNvPr id="67" name="Right Arrow 65">
            <a:extLst>
              <a:ext uri="{FF2B5EF4-FFF2-40B4-BE49-F238E27FC236}">
                <a16:creationId xmlns:a16="http://schemas.microsoft.com/office/drawing/2014/main" id="{C86E05DC-A2E1-FA5F-708B-84DD3C9D8EE3}"/>
              </a:ext>
            </a:extLst>
          </p:cNvPr>
          <p:cNvSpPr/>
          <p:nvPr/>
        </p:nvSpPr>
        <p:spPr>
          <a:xfrm>
            <a:off x="10405872" y="3127248"/>
            <a:ext cx="182879" cy="320040"/>
          </a:xfrm>
          <a:prstGeom prst="rightArrow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6">
            <a:extLst>
              <a:ext uri="{FF2B5EF4-FFF2-40B4-BE49-F238E27FC236}">
                <a16:creationId xmlns:a16="http://schemas.microsoft.com/office/drawing/2014/main" id="{293DF94F-DE9E-9B75-ED3C-64DA51D09516}"/>
              </a:ext>
            </a:extLst>
          </p:cNvPr>
          <p:cNvSpPr/>
          <p:nvPr/>
        </p:nvSpPr>
        <p:spPr>
          <a:xfrm>
            <a:off x="10469880" y="1618488"/>
            <a:ext cx="1517904" cy="4325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36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7">
            <a:extLst>
              <a:ext uri="{FF2B5EF4-FFF2-40B4-BE49-F238E27FC236}">
                <a16:creationId xmlns:a16="http://schemas.microsoft.com/office/drawing/2014/main" id="{FC06F6E1-ED6B-9FDC-361B-B3FF86996CCB}"/>
              </a:ext>
            </a:extLst>
          </p:cNvPr>
          <p:cNvSpPr/>
          <p:nvPr/>
        </p:nvSpPr>
        <p:spPr>
          <a:xfrm>
            <a:off x="10570464" y="1627632"/>
            <a:ext cx="1298448" cy="329184"/>
          </a:xfrm>
          <a:prstGeom prst="roundRect">
            <a:avLst>
              <a:gd name="adj" fmla="val 9000"/>
            </a:avLst>
          </a:prstGeom>
          <a:solidFill>
            <a:srgbClr val="1B519F"/>
          </a:solidFill>
          <a:ln w="12700"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8">
            <a:extLst>
              <a:ext uri="{FF2B5EF4-FFF2-40B4-BE49-F238E27FC236}">
                <a16:creationId xmlns:a16="http://schemas.microsoft.com/office/drawing/2014/main" id="{B7DC7EA9-9BD6-ED4E-EB97-3E7258BED102}"/>
              </a:ext>
            </a:extLst>
          </p:cNvPr>
          <p:cNvSpPr txBox="1"/>
          <p:nvPr/>
        </p:nvSpPr>
        <p:spPr>
          <a:xfrm>
            <a:off x="10634472" y="1673352"/>
            <a:ext cx="1234440" cy="269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70" b="1">
                <a:solidFill>
                  <a:srgbClr val="FFFFFF"/>
                </a:solidFill>
                <a:latin typeface="Noto Sans CJK JP"/>
              </a:rPr>
              <a:t>調整後の方向性</a:t>
            </a:r>
          </a:p>
        </p:txBody>
      </p:sp>
      <p:sp>
        <p:nvSpPr>
          <p:cNvPr id="71" name="Oval 69">
            <a:extLst>
              <a:ext uri="{FF2B5EF4-FFF2-40B4-BE49-F238E27FC236}">
                <a16:creationId xmlns:a16="http://schemas.microsoft.com/office/drawing/2014/main" id="{EC756AEC-EF12-4FAB-A840-EE43FE27593F}"/>
              </a:ext>
            </a:extLst>
          </p:cNvPr>
          <p:cNvSpPr/>
          <p:nvPr/>
        </p:nvSpPr>
        <p:spPr>
          <a:xfrm>
            <a:off x="10625328" y="2084831"/>
            <a:ext cx="219456" cy="219456"/>
          </a:xfrm>
          <a:prstGeom prst="ellipse">
            <a:avLst/>
          </a:prstGeom>
          <a:solidFill>
            <a:srgbClr val="1B519F"/>
          </a:solidFill>
          <a:ln>
            <a:solidFill>
              <a:srgbClr val="1B51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0">
            <a:extLst>
              <a:ext uri="{FF2B5EF4-FFF2-40B4-BE49-F238E27FC236}">
                <a16:creationId xmlns:a16="http://schemas.microsoft.com/office/drawing/2014/main" id="{0D9AE5B8-4A8A-C894-679A-8944A0A99B93}"/>
              </a:ext>
            </a:extLst>
          </p:cNvPr>
          <p:cNvSpPr txBox="1"/>
          <p:nvPr/>
        </p:nvSpPr>
        <p:spPr>
          <a:xfrm>
            <a:off x="10927080" y="2075688"/>
            <a:ext cx="896112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>
                <a:solidFill>
                  <a:srgbClr val="1E1E1E"/>
                </a:solidFill>
                <a:latin typeface="Noto Sans CJK JP"/>
              </a:rPr>
              <a:t>歩行者ネットワーク
の再設計</a:t>
            </a:r>
          </a:p>
        </p:txBody>
      </p:sp>
      <p:cxnSp>
        <p:nvCxnSpPr>
          <p:cNvPr id="73" name="Connector 71">
            <a:extLst>
              <a:ext uri="{FF2B5EF4-FFF2-40B4-BE49-F238E27FC236}">
                <a16:creationId xmlns:a16="http://schemas.microsoft.com/office/drawing/2014/main" id="{407BDADC-3176-4AB7-84D3-0F9B77A2CFD1}"/>
              </a:ext>
            </a:extLst>
          </p:cNvPr>
          <p:cNvCxnSpPr/>
          <p:nvPr/>
        </p:nvCxnSpPr>
        <p:spPr>
          <a:xfrm>
            <a:off x="10588751" y="2483895"/>
            <a:ext cx="1280160" cy="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2">
            <a:extLst>
              <a:ext uri="{FF2B5EF4-FFF2-40B4-BE49-F238E27FC236}">
                <a16:creationId xmlns:a16="http://schemas.microsoft.com/office/drawing/2014/main" id="{D2B1DECD-D310-2C08-6F9E-8B7F5EB2B5C2}"/>
              </a:ext>
            </a:extLst>
          </p:cNvPr>
          <p:cNvSpPr/>
          <p:nvPr/>
        </p:nvSpPr>
        <p:spPr>
          <a:xfrm>
            <a:off x="10625328" y="2889503"/>
            <a:ext cx="219456" cy="219456"/>
          </a:xfrm>
          <a:prstGeom prst="ellipse">
            <a:avLst/>
          </a:prstGeom>
          <a:solidFill>
            <a:srgbClr val="6DA658"/>
          </a:solidFill>
          <a:ln>
            <a:solidFill>
              <a:srgbClr val="6DA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3">
            <a:extLst>
              <a:ext uri="{FF2B5EF4-FFF2-40B4-BE49-F238E27FC236}">
                <a16:creationId xmlns:a16="http://schemas.microsoft.com/office/drawing/2014/main" id="{DE85DB56-F631-46E1-1AE4-914CF0774437}"/>
              </a:ext>
            </a:extLst>
          </p:cNvPr>
          <p:cNvSpPr txBox="1"/>
          <p:nvPr/>
        </p:nvSpPr>
        <p:spPr>
          <a:xfrm>
            <a:off x="10927079" y="2861825"/>
            <a:ext cx="941831" cy="3662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>
                <a:solidFill>
                  <a:srgbClr val="1E1E1E"/>
                </a:solidFill>
                <a:latin typeface="Noto Sans CJK JP"/>
              </a:rPr>
              <a:t>広場・滞在機能の強化</a:t>
            </a:r>
          </a:p>
        </p:txBody>
      </p:sp>
      <p:cxnSp>
        <p:nvCxnSpPr>
          <p:cNvPr id="76" name="Connector 74">
            <a:extLst>
              <a:ext uri="{FF2B5EF4-FFF2-40B4-BE49-F238E27FC236}">
                <a16:creationId xmlns:a16="http://schemas.microsoft.com/office/drawing/2014/main" id="{52B7FA2C-571D-6BFC-8A11-07DC3622B3E7}"/>
              </a:ext>
            </a:extLst>
          </p:cNvPr>
          <p:cNvCxnSpPr/>
          <p:nvPr/>
        </p:nvCxnSpPr>
        <p:spPr>
          <a:xfrm>
            <a:off x="10588751" y="3282070"/>
            <a:ext cx="1280160" cy="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5">
            <a:extLst>
              <a:ext uri="{FF2B5EF4-FFF2-40B4-BE49-F238E27FC236}">
                <a16:creationId xmlns:a16="http://schemas.microsoft.com/office/drawing/2014/main" id="{07775921-9DB3-A36B-77E5-366E56876FC0}"/>
              </a:ext>
            </a:extLst>
          </p:cNvPr>
          <p:cNvSpPr/>
          <p:nvPr/>
        </p:nvSpPr>
        <p:spPr>
          <a:xfrm>
            <a:off x="10625328" y="3694176"/>
            <a:ext cx="219456" cy="219456"/>
          </a:xfrm>
          <a:prstGeom prst="ellipse">
            <a:avLst/>
          </a:prstGeom>
          <a:solidFill>
            <a:srgbClr val="E36F7A"/>
          </a:solidFill>
          <a:ln>
            <a:solidFill>
              <a:srgbClr val="E3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6">
            <a:extLst>
              <a:ext uri="{FF2B5EF4-FFF2-40B4-BE49-F238E27FC236}">
                <a16:creationId xmlns:a16="http://schemas.microsoft.com/office/drawing/2014/main" id="{AFBB5323-69FD-C780-58B6-C81F36050000}"/>
              </a:ext>
            </a:extLst>
          </p:cNvPr>
          <p:cNvSpPr txBox="1"/>
          <p:nvPr/>
        </p:nvSpPr>
        <p:spPr>
          <a:xfrm>
            <a:off x="10927080" y="3685032"/>
            <a:ext cx="896112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>
                <a:solidFill>
                  <a:srgbClr val="1E1E1E"/>
                </a:solidFill>
                <a:latin typeface="Noto Sans CJK JP"/>
              </a:rPr>
              <a:t>商業配置の最適化</a:t>
            </a:r>
          </a:p>
        </p:txBody>
      </p:sp>
      <p:cxnSp>
        <p:nvCxnSpPr>
          <p:cNvPr id="79" name="Connector 77">
            <a:extLst>
              <a:ext uri="{FF2B5EF4-FFF2-40B4-BE49-F238E27FC236}">
                <a16:creationId xmlns:a16="http://schemas.microsoft.com/office/drawing/2014/main" id="{EB12832C-D949-8FF7-6250-C7319C230592}"/>
              </a:ext>
            </a:extLst>
          </p:cNvPr>
          <p:cNvCxnSpPr/>
          <p:nvPr/>
        </p:nvCxnSpPr>
        <p:spPr>
          <a:xfrm>
            <a:off x="10588752" y="4005072"/>
            <a:ext cx="1280160" cy="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8">
            <a:extLst>
              <a:ext uri="{FF2B5EF4-FFF2-40B4-BE49-F238E27FC236}">
                <a16:creationId xmlns:a16="http://schemas.microsoft.com/office/drawing/2014/main" id="{1814FBC2-884B-F836-D478-EC221DE4096A}"/>
              </a:ext>
            </a:extLst>
          </p:cNvPr>
          <p:cNvSpPr/>
          <p:nvPr/>
        </p:nvSpPr>
        <p:spPr>
          <a:xfrm>
            <a:off x="10625328" y="4498848"/>
            <a:ext cx="219456" cy="219456"/>
          </a:xfrm>
          <a:prstGeom prst="ellipse">
            <a:avLst/>
          </a:prstGeom>
          <a:solidFill>
            <a:srgbClr val="F2A246"/>
          </a:solidFill>
          <a:ln>
            <a:solidFill>
              <a:srgbClr val="F2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79">
            <a:extLst>
              <a:ext uri="{FF2B5EF4-FFF2-40B4-BE49-F238E27FC236}">
                <a16:creationId xmlns:a16="http://schemas.microsoft.com/office/drawing/2014/main" id="{82FE3087-86C3-FFA5-4B1E-EC3869DA9BE5}"/>
              </a:ext>
            </a:extLst>
          </p:cNvPr>
          <p:cNvSpPr txBox="1"/>
          <p:nvPr/>
        </p:nvSpPr>
        <p:spPr>
          <a:xfrm>
            <a:off x="10927080" y="4489704"/>
            <a:ext cx="896112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>
                <a:solidFill>
                  <a:srgbClr val="1E1E1E"/>
                </a:solidFill>
                <a:latin typeface="Noto Sans CJK JP"/>
              </a:rPr>
              <a:t>再予測による
継続的な改善</a:t>
            </a:r>
          </a:p>
        </p:txBody>
      </p:sp>
      <p:cxnSp>
        <p:nvCxnSpPr>
          <p:cNvPr id="82" name="Connector 80">
            <a:extLst>
              <a:ext uri="{FF2B5EF4-FFF2-40B4-BE49-F238E27FC236}">
                <a16:creationId xmlns:a16="http://schemas.microsoft.com/office/drawing/2014/main" id="{0DCCE48C-1AF7-4F12-C643-2926416430ED}"/>
              </a:ext>
            </a:extLst>
          </p:cNvPr>
          <p:cNvCxnSpPr/>
          <p:nvPr/>
        </p:nvCxnSpPr>
        <p:spPr>
          <a:xfrm>
            <a:off x="10588752" y="4809744"/>
            <a:ext cx="1280160" cy="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5217BC18-860D-27EC-9D07-8353FDB384D5}"/>
              </a:ext>
            </a:extLst>
          </p:cNvPr>
          <p:cNvGrpSpPr/>
          <p:nvPr/>
        </p:nvGrpSpPr>
        <p:grpSpPr>
          <a:xfrm>
            <a:off x="10588752" y="5084064"/>
            <a:ext cx="1261872" cy="694944"/>
            <a:chOff x="10588752" y="5084064"/>
            <a:chExt cx="1261872" cy="694944"/>
          </a:xfrm>
        </p:grpSpPr>
        <p:sp>
          <p:nvSpPr>
            <p:cNvPr id="83" name="Rounded Rectangle 81">
              <a:extLst>
                <a:ext uri="{FF2B5EF4-FFF2-40B4-BE49-F238E27FC236}">
                  <a16:creationId xmlns:a16="http://schemas.microsoft.com/office/drawing/2014/main" id="{B5E02885-95B4-520D-35DD-517842876714}"/>
                </a:ext>
              </a:extLst>
            </p:cNvPr>
            <p:cNvSpPr/>
            <p:nvPr/>
          </p:nvSpPr>
          <p:spPr>
            <a:xfrm>
              <a:off x="10588752" y="5084064"/>
              <a:ext cx="1261872" cy="694944"/>
            </a:xfrm>
            <a:prstGeom prst="roundRect">
              <a:avLst>
                <a:gd name="adj" fmla="val 9000"/>
              </a:avLst>
            </a:prstGeom>
            <a:solidFill>
              <a:srgbClr val="1B519F"/>
            </a:solidFill>
            <a:ln w="12700">
              <a:solidFill>
                <a:srgbClr val="1B519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TextBox 82">
              <a:extLst>
                <a:ext uri="{FF2B5EF4-FFF2-40B4-BE49-F238E27FC236}">
                  <a16:creationId xmlns:a16="http://schemas.microsoft.com/office/drawing/2014/main" id="{03403664-E37F-7477-0C73-0111E390B2C0}"/>
                </a:ext>
              </a:extLst>
            </p:cNvPr>
            <p:cNvSpPr txBox="1"/>
            <p:nvPr/>
          </p:nvSpPr>
          <p:spPr>
            <a:xfrm>
              <a:off x="10616184" y="5120641"/>
              <a:ext cx="1234440" cy="62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CJK JP"/>
                </a:rPr>
                <a:t>人流予測→評価→修正
を繰り返し、計画案</a:t>
              </a:r>
              <a:r>
                <a:rPr lang="ja-JP" altLang="en-US" sz="900" b="1">
                  <a:solidFill>
                    <a:srgbClr val="FFFFFF"/>
                  </a:solidFill>
                  <a:latin typeface="Noto Sans CJK JP"/>
                </a:rPr>
                <a:t>を</a:t>
              </a:r>
              <a:r>
                <a:rPr sz="900" b="1">
                  <a:solidFill>
                    <a:srgbClr val="FFFFFF"/>
                  </a:solidFill>
                  <a:latin typeface="Noto Sans CJK JP"/>
                </a:rPr>
                <a:t>より妥当で説得力のあるものへ磨いていく</a:t>
              </a:r>
            </a:p>
          </p:txBody>
        </p: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2C398244-B768-2AA5-C400-A24D1D418D49}"/>
              </a:ext>
            </a:extLst>
          </p:cNvPr>
          <p:cNvGrpSpPr/>
          <p:nvPr/>
        </p:nvGrpSpPr>
        <p:grpSpPr>
          <a:xfrm>
            <a:off x="563880" y="5820156"/>
            <a:ext cx="11064240" cy="530352"/>
            <a:chOff x="566928" y="5742432"/>
            <a:chExt cx="11064240" cy="530352"/>
          </a:xfrm>
        </p:grpSpPr>
        <p:sp>
          <p:nvSpPr>
            <p:cNvPr id="85" name="Rounded Rectangle 83">
              <a:extLst>
                <a:ext uri="{FF2B5EF4-FFF2-40B4-BE49-F238E27FC236}">
                  <a16:creationId xmlns:a16="http://schemas.microsoft.com/office/drawing/2014/main" id="{0C9DC30E-4D9C-00D4-CBB3-E99C47B0ED65}"/>
                </a:ext>
              </a:extLst>
            </p:cNvPr>
            <p:cNvSpPr/>
            <p:nvPr/>
          </p:nvSpPr>
          <p:spPr>
            <a:xfrm>
              <a:off x="566928" y="5742432"/>
              <a:ext cx="11064240" cy="530352"/>
            </a:xfrm>
            <a:prstGeom prst="roundRect">
              <a:avLst>
                <a:gd name="adj" fmla="val 9000"/>
              </a:avLst>
            </a:prstGeom>
            <a:solidFill>
              <a:srgbClr val="FCFDFF"/>
            </a:solidFill>
            <a:ln w="13970">
              <a:solidFill>
                <a:srgbClr val="E6A6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TextBox 85">
              <a:extLst>
                <a:ext uri="{FF2B5EF4-FFF2-40B4-BE49-F238E27FC236}">
                  <a16:creationId xmlns:a16="http://schemas.microsoft.com/office/drawing/2014/main" id="{82D6D283-92B9-711C-7D6A-BBA40E6622B3}"/>
                </a:ext>
              </a:extLst>
            </p:cNvPr>
            <p:cNvSpPr txBox="1"/>
            <p:nvPr/>
          </p:nvSpPr>
          <p:spPr>
            <a:xfrm>
              <a:off x="1194381" y="5897880"/>
              <a:ext cx="101498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anchor="t">
              <a:spAutoFit/>
            </a:bodyPr>
            <a:lstStyle/>
            <a:p>
              <a:pPr algn="l"/>
              <a:r>
                <a:rPr sz="1310" b="1">
                  <a:solidFill>
                    <a:srgbClr val="0B2B5B"/>
                  </a:solidFill>
                  <a:latin typeface="Noto Sans CJK JP"/>
                </a:rPr>
                <a:t>人流予測を用いて計画の効果と課題を可視化し、対話的に修正を重ねることで、開発計画の粒度と妥当性が高まる。</a:t>
              </a:r>
            </a:p>
          </p:txBody>
        </p:sp>
      </p:grpSp>
      <p:sp>
        <p:nvSpPr>
          <p:cNvPr id="100" name="コンテンツ プレースホルダー 2">
            <a:extLst>
              <a:ext uri="{FF2B5EF4-FFF2-40B4-BE49-F238E27FC236}">
                <a16:creationId xmlns:a16="http://schemas.microsoft.com/office/drawing/2014/main" id="{060FC22C-6A6F-4A47-AF40-085183484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866" y="1018333"/>
            <a:ext cx="8363145" cy="404645"/>
          </a:xfrm>
        </p:spPr>
        <p:txBody>
          <a:bodyPr/>
          <a:lstStyle/>
          <a:p>
            <a:pPr marL="0" indent="0">
              <a:buNone/>
            </a:pPr>
            <a:r>
              <a:rPr lang="en-US" altLang="ja-JP" b="1"/>
              <a:t>2. </a:t>
            </a:r>
            <a:r>
              <a:rPr lang="ja-JP" altLang="en-US" b="1"/>
              <a:t>人流予測を用いながら効果・課題を検討し、計画内容を調整する</a:t>
            </a:r>
            <a:endParaRPr lang="ja-JP" altLang="ja-JP" b="1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58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14C9EC-A949-A21D-5264-8BBCE73F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>
                <a:latin typeface="HGMinchoE" panose="02020909000000000000" pitchFamily="49" charset="-128"/>
                <a:ea typeface="HGMinchoE" panose="02020909000000000000" pitchFamily="49" charset="-128"/>
              </a:rPr>
              <a:t>手法</a:t>
            </a:r>
            <a:r>
              <a:rPr lang="ja-JP" altLang="en-US">
                <a:latin typeface="HGMinchoE" panose="02020909000000000000" pitchFamily="49" charset="-128"/>
                <a:ea typeface="HGMinchoE" panose="02020909000000000000" pitchFamily="49" charset="-128"/>
              </a:rPr>
              <a:t>：</a:t>
            </a:r>
            <a:r>
              <a:rPr lang="ja-JP" altLang="ja-JP">
                <a:latin typeface="HGMinchoE" panose="02020909000000000000" pitchFamily="49" charset="-128"/>
                <a:ea typeface="HGMinchoE" panose="02020909000000000000" pitchFamily="49" charset="-128"/>
              </a:rPr>
              <a:t>LLMを</a:t>
            </a:r>
            <a:r>
              <a:rPr lang="ja-JP" altLang="en-US">
                <a:latin typeface="HGMinchoE" panose="02020909000000000000" pitchFamily="49" charset="-128"/>
                <a:ea typeface="HGMinchoE" panose="02020909000000000000" pitchFamily="49" charset="-128"/>
              </a:rPr>
              <a:t>ベース</a:t>
            </a:r>
            <a:r>
              <a:rPr lang="ja-JP" altLang="ja-JP">
                <a:latin typeface="HGMinchoE" panose="02020909000000000000" pitchFamily="49" charset="-128"/>
                <a:ea typeface="HGMinchoE" panose="02020909000000000000" pitchFamily="49" charset="-128"/>
              </a:rPr>
              <a:t>に複数の都市分析処理を統合</a:t>
            </a:r>
            <a:endParaRPr kumimoji="1" lang="ja-JP" altLang="en-US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6A88CE-A049-CBB7-B651-2CFE6A52D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742" y="1227532"/>
            <a:ext cx="10515600" cy="1513365"/>
          </a:xfrm>
        </p:spPr>
        <p:txBody>
          <a:bodyPr/>
          <a:lstStyle/>
          <a:p>
            <a:r>
              <a:rPr lang="ja-JP" altLang="ja-JP"/>
              <a:t>LLMを、開発シナリオを一度で予測するモデルとしてではなく、計画条件を対話的に整理・補完するためのインターフェースとして用いる。</a:t>
            </a:r>
            <a:br>
              <a:rPr lang="ja-JP" altLang="ja-JP"/>
            </a:br>
            <a:r>
              <a:rPr lang="ja-JP" altLang="ja-JP"/>
              <a:t>ユーザーとの対話を通じて、建物用途、配置、規模、想定利用者、時間帯、対象範囲などの入力情報を段階的に抽出し、それらを人流予測や評価モデルに接続可能な形式へ変換する。</a:t>
            </a:r>
          </a:p>
          <a:p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45422586-5391-43DE-AFC4-DF3D2DC0A2F5}"/>
              </a:ext>
            </a:extLst>
          </p:cNvPr>
          <p:cNvGrpSpPr/>
          <p:nvPr/>
        </p:nvGrpSpPr>
        <p:grpSpPr>
          <a:xfrm>
            <a:off x="1138992" y="3916391"/>
            <a:ext cx="992220" cy="1547942"/>
            <a:chOff x="1145450" y="4514484"/>
            <a:chExt cx="992220" cy="1547942"/>
          </a:xfrm>
        </p:grpSpPr>
        <p:grpSp>
          <p:nvGrpSpPr>
            <p:cNvPr id="4" name="グラフィックス 5" descr="ユーザー 単色塗りつぶし">
              <a:extLst>
                <a:ext uri="{FF2B5EF4-FFF2-40B4-BE49-F238E27FC236}">
                  <a16:creationId xmlns:a16="http://schemas.microsoft.com/office/drawing/2014/main" id="{C27BCAEE-AF4A-2DF0-24E9-92DA268E1C39}"/>
                </a:ext>
              </a:extLst>
            </p:cNvPr>
            <p:cNvGrpSpPr/>
            <p:nvPr/>
          </p:nvGrpSpPr>
          <p:grpSpPr>
            <a:xfrm>
              <a:off x="1145450" y="4514484"/>
              <a:ext cx="992220" cy="1054234"/>
              <a:chOff x="774295" y="5401243"/>
              <a:chExt cx="992220" cy="1054234"/>
            </a:xfrm>
            <a:solidFill>
              <a:srgbClr val="000000"/>
            </a:solidFill>
          </p:grpSpPr>
          <p:sp>
            <p:nvSpPr>
              <p:cNvPr id="5" name="円/楕円 4">
                <a:extLst>
                  <a:ext uri="{FF2B5EF4-FFF2-40B4-BE49-F238E27FC236}">
                    <a16:creationId xmlns:a16="http://schemas.microsoft.com/office/drawing/2014/main" id="{221FEDC8-510A-A8BA-6FA4-78BC123FB449}"/>
                  </a:ext>
                </a:extLst>
              </p:cNvPr>
              <p:cNvSpPr/>
              <p:nvPr/>
            </p:nvSpPr>
            <p:spPr>
              <a:xfrm>
                <a:off x="1022350" y="5401243"/>
                <a:ext cx="496110" cy="496110"/>
              </a:xfrm>
              <a:prstGeom prst="ellipse">
                <a:avLst/>
              </a:prstGeom>
              <a:solidFill>
                <a:srgbClr val="000000"/>
              </a:solidFill>
              <a:ln w="1547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フリーフォーム 5">
                <a:extLst>
                  <a:ext uri="{FF2B5EF4-FFF2-40B4-BE49-F238E27FC236}">
                    <a16:creationId xmlns:a16="http://schemas.microsoft.com/office/drawing/2014/main" id="{A821903A-A900-5E4D-DAC7-140C934603F1}"/>
                  </a:ext>
                </a:extLst>
              </p:cNvPr>
              <p:cNvSpPr/>
              <p:nvPr/>
            </p:nvSpPr>
            <p:spPr>
              <a:xfrm>
                <a:off x="774295" y="5959367"/>
                <a:ext cx="992220" cy="496110"/>
              </a:xfrm>
              <a:custGeom>
                <a:avLst/>
                <a:gdLst>
                  <a:gd name="csX0" fmla="*/ 992221 w 992220"/>
                  <a:gd name="csY0" fmla="*/ 496110 h 496110"/>
                  <a:gd name="csX1" fmla="*/ 992221 w 992220"/>
                  <a:gd name="csY1" fmla="*/ 248055 h 496110"/>
                  <a:gd name="csX2" fmla="*/ 942610 w 992220"/>
                  <a:gd name="csY2" fmla="*/ 148833 h 496110"/>
                  <a:gd name="csX3" fmla="*/ 700756 w 992220"/>
                  <a:gd name="csY3" fmla="*/ 31007 h 496110"/>
                  <a:gd name="csX4" fmla="*/ 496110 w 992220"/>
                  <a:gd name="csY4" fmla="*/ 0 h 496110"/>
                  <a:gd name="csX5" fmla="*/ 291465 w 992220"/>
                  <a:gd name="csY5" fmla="*/ 31007 h 496110"/>
                  <a:gd name="csX6" fmla="*/ 49611 w 992220"/>
                  <a:gd name="csY6" fmla="*/ 148833 h 496110"/>
                  <a:gd name="csX7" fmla="*/ 0 w 992220"/>
                  <a:gd name="csY7" fmla="*/ 248055 h 496110"/>
                  <a:gd name="csX8" fmla="*/ 0 w 992220"/>
                  <a:gd name="csY8" fmla="*/ 496110 h 496110"/>
                  <a:gd name="csX9" fmla="*/ 992221 w 992220"/>
                  <a:gd name="csY9" fmla="*/ 496110 h 4961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992220" h="496110">
                    <a:moveTo>
                      <a:pt x="992221" y="496110"/>
                    </a:moveTo>
                    <a:lnTo>
                      <a:pt x="992221" y="248055"/>
                    </a:lnTo>
                    <a:cubicBezTo>
                      <a:pt x="992221" y="210847"/>
                      <a:pt x="973617" y="173639"/>
                      <a:pt x="942610" y="148833"/>
                    </a:cubicBezTo>
                    <a:cubicBezTo>
                      <a:pt x="874395" y="93021"/>
                      <a:pt x="787575" y="55812"/>
                      <a:pt x="700756" y="31007"/>
                    </a:cubicBezTo>
                    <a:cubicBezTo>
                      <a:pt x="638742" y="12403"/>
                      <a:pt x="570527" y="0"/>
                      <a:pt x="496110" y="0"/>
                    </a:cubicBezTo>
                    <a:cubicBezTo>
                      <a:pt x="427895" y="0"/>
                      <a:pt x="359680" y="12403"/>
                      <a:pt x="291465" y="31007"/>
                    </a:cubicBezTo>
                    <a:cubicBezTo>
                      <a:pt x="204646" y="55812"/>
                      <a:pt x="117826" y="99222"/>
                      <a:pt x="49611" y="148833"/>
                    </a:cubicBezTo>
                    <a:cubicBezTo>
                      <a:pt x="18604" y="173639"/>
                      <a:pt x="0" y="210847"/>
                      <a:pt x="0" y="248055"/>
                    </a:cubicBezTo>
                    <a:lnTo>
                      <a:pt x="0" y="496110"/>
                    </a:lnTo>
                    <a:lnTo>
                      <a:pt x="992221" y="496110"/>
                    </a:lnTo>
                    <a:close/>
                  </a:path>
                </a:pathLst>
              </a:custGeom>
              <a:solidFill>
                <a:srgbClr val="000000"/>
              </a:solidFill>
              <a:ln w="1547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5DB965F-87D7-BEAE-DEE2-8A62B04ECFCD}"/>
                </a:ext>
              </a:extLst>
            </p:cNvPr>
            <p:cNvSpPr txBox="1"/>
            <p:nvPr/>
          </p:nvSpPr>
          <p:spPr>
            <a:xfrm>
              <a:off x="1206265" y="569309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</a:t>
              </a: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03C835C8-8B63-351B-DA85-7302DC610E19}"/>
              </a:ext>
            </a:extLst>
          </p:cNvPr>
          <p:cNvGrpSpPr/>
          <p:nvPr/>
        </p:nvGrpSpPr>
        <p:grpSpPr>
          <a:xfrm>
            <a:off x="5234714" y="3849775"/>
            <a:ext cx="956495" cy="1614558"/>
            <a:chOff x="3890755" y="4447868"/>
            <a:chExt cx="956495" cy="1614558"/>
          </a:xfrm>
        </p:grpSpPr>
        <p:sp>
          <p:nvSpPr>
            <p:cNvPr id="7" name="グラフィックス 9" descr="人工知能 単色塗りつぶし">
              <a:extLst>
                <a:ext uri="{FF2B5EF4-FFF2-40B4-BE49-F238E27FC236}">
                  <a16:creationId xmlns:a16="http://schemas.microsoft.com/office/drawing/2014/main" id="{D2620189-AAC1-3232-F18C-8401FF827B4F}"/>
                </a:ext>
              </a:extLst>
            </p:cNvPr>
            <p:cNvSpPr/>
            <p:nvPr/>
          </p:nvSpPr>
          <p:spPr>
            <a:xfrm flipH="1">
              <a:off x="3890755" y="4447868"/>
              <a:ext cx="956495" cy="1133846"/>
            </a:xfrm>
            <a:custGeom>
              <a:avLst/>
              <a:gdLst>
                <a:gd name="csX0" fmla="*/ 942292 w 956495"/>
                <a:gd name="csY0" fmla="*/ 613476 h 1133846"/>
                <a:gd name="csX1" fmla="*/ 845250 w 956495"/>
                <a:gd name="csY1" fmla="*/ 444707 h 1133846"/>
                <a:gd name="csX2" fmla="*/ 845250 w 956495"/>
                <a:gd name="csY2" fmla="*/ 437675 h 1133846"/>
                <a:gd name="csX3" fmla="*/ 437392 w 956495"/>
                <a:gd name="csY3" fmla="*/ 283 h 1133846"/>
                <a:gd name="csX4" fmla="*/ 0 w 956495"/>
                <a:gd name="csY4" fmla="*/ 406734 h 1133846"/>
                <a:gd name="csX5" fmla="*/ 0 w 956495"/>
                <a:gd name="csY5" fmla="*/ 437675 h 1133846"/>
                <a:gd name="csX6" fmla="*/ 165956 w 956495"/>
                <a:gd name="csY6" fmla="*/ 778026 h 1133846"/>
                <a:gd name="csX7" fmla="*/ 165956 w 956495"/>
                <a:gd name="csY7" fmla="*/ 1133846 h 1133846"/>
                <a:gd name="csX8" fmla="*/ 610380 w 956495"/>
                <a:gd name="csY8" fmla="*/ 1133846 h 1133846"/>
                <a:gd name="csX9" fmla="*/ 610380 w 956495"/>
                <a:gd name="csY9" fmla="*/ 965078 h 1133846"/>
                <a:gd name="csX10" fmla="*/ 679294 w 956495"/>
                <a:gd name="csY10" fmla="*/ 965078 h 1133846"/>
                <a:gd name="csX11" fmla="*/ 845250 w 956495"/>
                <a:gd name="csY11" fmla="*/ 799122 h 1133846"/>
                <a:gd name="csX12" fmla="*/ 845250 w 956495"/>
                <a:gd name="csY12" fmla="*/ 796309 h 1133846"/>
                <a:gd name="csX13" fmla="*/ 845250 w 956495"/>
                <a:gd name="csY13" fmla="*/ 711924 h 1133846"/>
                <a:gd name="csX14" fmla="*/ 907132 w 956495"/>
                <a:gd name="csY14" fmla="*/ 711924 h 1133846"/>
                <a:gd name="csX15" fmla="*/ 942292 w 956495"/>
                <a:gd name="csY15" fmla="*/ 613476 h 1133846"/>
                <a:gd name="csX16" fmla="*/ 63288 w 956495"/>
                <a:gd name="csY16" fmla="*/ 297035 h 1133846"/>
                <a:gd name="csX17" fmla="*/ 140641 w 956495"/>
                <a:gd name="csY17" fmla="*/ 297035 h 1133846"/>
                <a:gd name="csX18" fmla="*/ 140641 w 956495"/>
                <a:gd name="csY18" fmla="*/ 240778 h 1133846"/>
                <a:gd name="csX19" fmla="*/ 133609 w 956495"/>
                <a:gd name="csY19" fmla="*/ 191554 h 1133846"/>
                <a:gd name="csX20" fmla="*/ 182833 w 956495"/>
                <a:gd name="csY20" fmla="*/ 184522 h 1133846"/>
                <a:gd name="csX21" fmla="*/ 189865 w 956495"/>
                <a:gd name="csY21" fmla="*/ 233746 h 1133846"/>
                <a:gd name="csX22" fmla="*/ 182833 w 956495"/>
                <a:gd name="csY22" fmla="*/ 240778 h 1133846"/>
                <a:gd name="csX23" fmla="*/ 182833 w 956495"/>
                <a:gd name="csY23" fmla="*/ 297035 h 1133846"/>
                <a:gd name="csX24" fmla="*/ 239089 w 956495"/>
                <a:gd name="csY24" fmla="*/ 297035 h 1133846"/>
                <a:gd name="csX25" fmla="*/ 239089 w 956495"/>
                <a:gd name="csY25" fmla="*/ 395483 h 1133846"/>
                <a:gd name="csX26" fmla="*/ 246121 w 956495"/>
                <a:gd name="csY26" fmla="*/ 444707 h 1133846"/>
                <a:gd name="csX27" fmla="*/ 196897 w 956495"/>
                <a:gd name="csY27" fmla="*/ 451739 h 1133846"/>
                <a:gd name="csX28" fmla="*/ 189865 w 956495"/>
                <a:gd name="csY28" fmla="*/ 402515 h 1133846"/>
                <a:gd name="csX29" fmla="*/ 196897 w 956495"/>
                <a:gd name="csY29" fmla="*/ 395483 h 1133846"/>
                <a:gd name="csX30" fmla="*/ 196897 w 956495"/>
                <a:gd name="csY30" fmla="*/ 339227 h 1133846"/>
                <a:gd name="csX31" fmla="*/ 50631 w 956495"/>
                <a:gd name="csY31" fmla="*/ 339227 h 1133846"/>
                <a:gd name="csX32" fmla="*/ 63288 w 956495"/>
                <a:gd name="csY32" fmla="*/ 297035 h 1133846"/>
                <a:gd name="csX33" fmla="*/ 454269 w 956495"/>
                <a:gd name="csY33" fmla="*/ 534717 h 1133846"/>
                <a:gd name="csX34" fmla="*/ 419109 w 956495"/>
                <a:gd name="csY34" fmla="*/ 499557 h 1133846"/>
                <a:gd name="csX35" fmla="*/ 419109 w 956495"/>
                <a:gd name="csY35" fmla="*/ 493931 h 1133846"/>
                <a:gd name="csX36" fmla="*/ 382543 w 956495"/>
                <a:gd name="csY36" fmla="*/ 457365 h 1133846"/>
                <a:gd name="csX37" fmla="*/ 323473 w 956495"/>
                <a:gd name="csY37" fmla="*/ 516434 h 1133846"/>
                <a:gd name="csX38" fmla="*/ 323473 w 956495"/>
                <a:gd name="csY38" fmla="*/ 620508 h 1133846"/>
                <a:gd name="csX39" fmla="*/ 330505 w 956495"/>
                <a:gd name="csY39" fmla="*/ 669732 h 1133846"/>
                <a:gd name="csX40" fmla="*/ 281281 w 956495"/>
                <a:gd name="csY40" fmla="*/ 676764 h 1133846"/>
                <a:gd name="csX41" fmla="*/ 274249 w 956495"/>
                <a:gd name="csY41" fmla="*/ 627540 h 1133846"/>
                <a:gd name="csX42" fmla="*/ 281281 w 956495"/>
                <a:gd name="csY42" fmla="*/ 620508 h 1133846"/>
                <a:gd name="csX43" fmla="*/ 281281 w 956495"/>
                <a:gd name="csY43" fmla="*/ 606444 h 1133846"/>
                <a:gd name="csX44" fmla="*/ 187052 w 956495"/>
                <a:gd name="csY44" fmla="*/ 606444 h 1133846"/>
                <a:gd name="csX45" fmla="*/ 120951 w 956495"/>
                <a:gd name="csY45" fmla="*/ 529092 h 1133846"/>
                <a:gd name="csX46" fmla="*/ 82978 w 956495"/>
                <a:gd name="csY46" fmla="*/ 496744 h 1133846"/>
                <a:gd name="csX47" fmla="*/ 115325 w 956495"/>
                <a:gd name="csY47" fmla="*/ 458771 h 1133846"/>
                <a:gd name="csX48" fmla="*/ 153298 w 956495"/>
                <a:gd name="csY48" fmla="*/ 491119 h 1133846"/>
                <a:gd name="csX49" fmla="*/ 153298 w 956495"/>
                <a:gd name="csY49" fmla="*/ 500963 h 1133846"/>
                <a:gd name="csX50" fmla="*/ 206742 w 956495"/>
                <a:gd name="csY50" fmla="*/ 564252 h 1133846"/>
                <a:gd name="csX51" fmla="*/ 281281 w 956495"/>
                <a:gd name="csY51" fmla="*/ 564252 h 1133846"/>
                <a:gd name="csX52" fmla="*/ 281281 w 956495"/>
                <a:gd name="csY52" fmla="*/ 499557 h 1133846"/>
                <a:gd name="csX53" fmla="*/ 353008 w 956495"/>
                <a:gd name="csY53" fmla="*/ 427830 h 1133846"/>
                <a:gd name="csX54" fmla="*/ 309409 w 956495"/>
                <a:gd name="csY54" fmla="*/ 382825 h 1133846"/>
                <a:gd name="csX55" fmla="*/ 309409 w 956495"/>
                <a:gd name="csY55" fmla="*/ 128266 h 1133846"/>
                <a:gd name="csX56" fmla="*/ 302377 w 956495"/>
                <a:gd name="csY56" fmla="*/ 79042 h 1133846"/>
                <a:gd name="csX57" fmla="*/ 351602 w 956495"/>
                <a:gd name="csY57" fmla="*/ 72010 h 1133846"/>
                <a:gd name="csX58" fmla="*/ 358634 w 956495"/>
                <a:gd name="csY58" fmla="*/ 121234 h 1133846"/>
                <a:gd name="csX59" fmla="*/ 351602 w 956495"/>
                <a:gd name="csY59" fmla="*/ 128266 h 1133846"/>
                <a:gd name="csX60" fmla="*/ 351602 w 956495"/>
                <a:gd name="csY60" fmla="*/ 170458 h 1133846"/>
                <a:gd name="csX61" fmla="*/ 464114 w 956495"/>
                <a:gd name="csY61" fmla="*/ 170458 h 1133846"/>
                <a:gd name="csX62" fmla="*/ 464114 w 956495"/>
                <a:gd name="csY62" fmla="*/ 268906 h 1133846"/>
                <a:gd name="csX63" fmla="*/ 471146 w 956495"/>
                <a:gd name="csY63" fmla="*/ 318131 h 1133846"/>
                <a:gd name="csX64" fmla="*/ 421922 w 956495"/>
                <a:gd name="csY64" fmla="*/ 325163 h 1133846"/>
                <a:gd name="csX65" fmla="*/ 414890 w 956495"/>
                <a:gd name="csY65" fmla="*/ 275938 h 1133846"/>
                <a:gd name="csX66" fmla="*/ 421922 w 956495"/>
                <a:gd name="csY66" fmla="*/ 268906 h 1133846"/>
                <a:gd name="csX67" fmla="*/ 421922 w 956495"/>
                <a:gd name="csY67" fmla="*/ 212650 h 1133846"/>
                <a:gd name="csX68" fmla="*/ 351602 w 956495"/>
                <a:gd name="csY68" fmla="*/ 212650 h 1133846"/>
                <a:gd name="csX69" fmla="*/ 351602 w 956495"/>
                <a:gd name="csY69" fmla="*/ 365948 h 1133846"/>
                <a:gd name="csX70" fmla="*/ 450050 w 956495"/>
                <a:gd name="csY70" fmla="*/ 464397 h 1133846"/>
                <a:gd name="csX71" fmla="*/ 454269 w 956495"/>
                <a:gd name="csY71" fmla="*/ 464397 h 1133846"/>
                <a:gd name="csX72" fmla="*/ 489429 w 956495"/>
                <a:gd name="csY72" fmla="*/ 499557 h 1133846"/>
                <a:gd name="csX73" fmla="*/ 454269 w 956495"/>
                <a:gd name="csY73" fmla="*/ 534717 h 1133846"/>
                <a:gd name="csX74" fmla="*/ 454269 w 956495"/>
                <a:gd name="csY74" fmla="*/ 534717 h 1133846"/>
                <a:gd name="csX75" fmla="*/ 625851 w 956495"/>
                <a:gd name="csY75" fmla="*/ 250623 h 1133846"/>
                <a:gd name="csX76" fmla="*/ 590691 w 956495"/>
                <a:gd name="csY76" fmla="*/ 215463 h 1133846"/>
                <a:gd name="csX77" fmla="*/ 590691 w 956495"/>
                <a:gd name="csY77" fmla="*/ 212650 h 1133846"/>
                <a:gd name="csX78" fmla="*/ 534434 w 956495"/>
                <a:gd name="csY78" fmla="*/ 162020 h 1133846"/>
                <a:gd name="csX79" fmla="*/ 534434 w 956495"/>
                <a:gd name="csY79" fmla="*/ 59352 h 1133846"/>
                <a:gd name="csX80" fmla="*/ 576627 w 956495"/>
                <a:gd name="csY80" fmla="*/ 74822 h 1133846"/>
                <a:gd name="csX81" fmla="*/ 576627 w 956495"/>
                <a:gd name="csY81" fmla="*/ 143736 h 1133846"/>
                <a:gd name="csX82" fmla="*/ 618819 w 956495"/>
                <a:gd name="csY82" fmla="*/ 181709 h 1133846"/>
                <a:gd name="csX83" fmla="*/ 625851 w 956495"/>
                <a:gd name="csY83" fmla="*/ 181709 h 1133846"/>
                <a:gd name="csX84" fmla="*/ 661011 w 956495"/>
                <a:gd name="csY84" fmla="*/ 216869 h 1133846"/>
                <a:gd name="csX85" fmla="*/ 625851 w 956495"/>
                <a:gd name="csY85" fmla="*/ 250623 h 1133846"/>
                <a:gd name="csX86" fmla="*/ 625851 w 956495"/>
                <a:gd name="csY86" fmla="*/ 250623 h 1133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956495" h="1133846">
                  <a:moveTo>
                    <a:pt x="942292" y="613476"/>
                  </a:moveTo>
                  <a:lnTo>
                    <a:pt x="845250" y="444707"/>
                  </a:lnTo>
                  <a:lnTo>
                    <a:pt x="845250" y="437675"/>
                  </a:lnTo>
                  <a:cubicBezTo>
                    <a:pt x="853689" y="204212"/>
                    <a:pt x="670856" y="8721"/>
                    <a:pt x="437392" y="283"/>
                  </a:cubicBezTo>
                  <a:cubicBezTo>
                    <a:pt x="203929" y="-8156"/>
                    <a:pt x="8438" y="173271"/>
                    <a:pt x="0" y="406734"/>
                  </a:cubicBezTo>
                  <a:cubicBezTo>
                    <a:pt x="0" y="416579"/>
                    <a:pt x="0" y="427830"/>
                    <a:pt x="0" y="437675"/>
                  </a:cubicBezTo>
                  <a:cubicBezTo>
                    <a:pt x="0" y="571284"/>
                    <a:pt x="60475" y="696454"/>
                    <a:pt x="165956" y="778026"/>
                  </a:cubicBezTo>
                  <a:lnTo>
                    <a:pt x="165956" y="1133846"/>
                  </a:lnTo>
                  <a:lnTo>
                    <a:pt x="610380" y="1133846"/>
                  </a:lnTo>
                  <a:lnTo>
                    <a:pt x="610380" y="965078"/>
                  </a:lnTo>
                  <a:lnTo>
                    <a:pt x="679294" y="965078"/>
                  </a:lnTo>
                  <a:cubicBezTo>
                    <a:pt x="770711" y="965078"/>
                    <a:pt x="845250" y="890538"/>
                    <a:pt x="845250" y="799122"/>
                  </a:cubicBezTo>
                  <a:cubicBezTo>
                    <a:pt x="845250" y="797715"/>
                    <a:pt x="845250" y="797715"/>
                    <a:pt x="845250" y="796309"/>
                  </a:cubicBezTo>
                  <a:lnTo>
                    <a:pt x="845250" y="711924"/>
                  </a:lnTo>
                  <a:lnTo>
                    <a:pt x="907132" y="711924"/>
                  </a:lnTo>
                  <a:cubicBezTo>
                    <a:pt x="943699" y="707705"/>
                    <a:pt x="976046" y="665513"/>
                    <a:pt x="942292" y="613476"/>
                  </a:cubicBezTo>
                  <a:close/>
                  <a:moveTo>
                    <a:pt x="63288" y="297035"/>
                  </a:moveTo>
                  <a:lnTo>
                    <a:pt x="140641" y="297035"/>
                  </a:lnTo>
                  <a:lnTo>
                    <a:pt x="140641" y="240778"/>
                  </a:lnTo>
                  <a:cubicBezTo>
                    <a:pt x="125170" y="229527"/>
                    <a:pt x="122357" y="207025"/>
                    <a:pt x="133609" y="191554"/>
                  </a:cubicBezTo>
                  <a:cubicBezTo>
                    <a:pt x="144860" y="176084"/>
                    <a:pt x="167362" y="173271"/>
                    <a:pt x="182833" y="184522"/>
                  </a:cubicBezTo>
                  <a:cubicBezTo>
                    <a:pt x="198303" y="195773"/>
                    <a:pt x="201116" y="218276"/>
                    <a:pt x="189865" y="233746"/>
                  </a:cubicBezTo>
                  <a:cubicBezTo>
                    <a:pt x="188458" y="236559"/>
                    <a:pt x="185646" y="239372"/>
                    <a:pt x="182833" y="240778"/>
                  </a:cubicBezTo>
                  <a:lnTo>
                    <a:pt x="182833" y="297035"/>
                  </a:lnTo>
                  <a:lnTo>
                    <a:pt x="239089" y="297035"/>
                  </a:lnTo>
                  <a:lnTo>
                    <a:pt x="239089" y="395483"/>
                  </a:lnTo>
                  <a:cubicBezTo>
                    <a:pt x="254560" y="406734"/>
                    <a:pt x="257372" y="429237"/>
                    <a:pt x="246121" y="444707"/>
                  </a:cubicBezTo>
                  <a:cubicBezTo>
                    <a:pt x="234870" y="460178"/>
                    <a:pt x="212367" y="462990"/>
                    <a:pt x="196897" y="451739"/>
                  </a:cubicBezTo>
                  <a:cubicBezTo>
                    <a:pt x="181426" y="440488"/>
                    <a:pt x="178614" y="417985"/>
                    <a:pt x="189865" y="402515"/>
                  </a:cubicBezTo>
                  <a:cubicBezTo>
                    <a:pt x="191271" y="399702"/>
                    <a:pt x="194084" y="396889"/>
                    <a:pt x="196897" y="395483"/>
                  </a:cubicBezTo>
                  <a:lnTo>
                    <a:pt x="196897" y="339227"/>
                  </a:lnTo>
                  <a:lnTo>
                    <a:pt x="50631" y="339227"/>
                  </a:lnTo>
                  <a:cubicBezTo>
                    <a:pt x="54850" y="325163"/>
                    <a:pt x="57663" y="311099"/>
                    <a:pt x="63288" y="297035"/>
                  </a:cubicBezTo>
                  <a:close/>
                  <a:moveTo>
                    <a:pt x="454269" y="534717"/>
                  </a:moveTo>
                  <a:cubicBezTo>
                    <a:pt x="434580" y="534717"/>
                    <a:pt x="419109" y="519247"/>
                    <a:pt x="419109" y="499557"/>
                  </a:cubicBezTo>
                  <a:cubicBezTo>
                    <a:pt x="419109" y="498151"/>
                    <a:pt x="419109" y="495338"/>
                    <a:pt x="419109" y="493931"/>
                  </a:cubicBezTo>
                  <a:lnTo>
                    <a:pt x="382543" y="457365"/>
                  </a:lnTo>
                  <a:lnTo>
                    <a:pt x="323473" y="516434"/>
                  </a:lnTo>
                  <a:lnTo>
                    <a:pt x="323473" y="620508"/>
                  </a:lnTo>
                  <a:cubicBezTo>
                    <a:pt x="338944" y="631759"/>
                    <a:pt x="341757" y="654262"/>
                    <a:pt x="330505" y="669732"/>
                  </a:cubicBezTo>
                  <a:cubicBezTo>
                    <a:pt x="319254" y="685203"/>
                    <a:pt x="296752" y="688015"/>
                    <a:pt x="281281" y="676764"/>
                  </a:cubicBezTo>
                  <a:cubicBezTo>
                    <a:pt x="265811" y="665513"/>
                    <a:pt x="262998" y="643010"/>
                    <a:pt x="274249" y="627540"/>
                  </a:cubicBezTo>
                  <a:cubicBezTo>
                    <a:pt x="275656" y="624727"/>
                    <a:pt x="278468" y="621914"/>
                    <a:pt x="281281" y="620508"/>
                  </a:cubicBezTo>
                  <a:lnTo>
                    <a:pt x="281281" y="606444"/>
                  </a:lnTo>
                  <a:lnTo>
                    <a:pt x="187052" y="606444"/>
                  </a:lnTo>
                  <a:lnTo>
                    <a:pt x="120951" y="529092"/>
                  </a:lnTo>
                  <a:cubicBezTo>
                    <a:pt x="101261" y="530498"/>
                    <a:pt x="84384" y="516434"/>
                    <a:pt x="82978" y="496744"/>
                  </a:cubicBezTo>
                  <a:cubicBezTo>
                    <a:pt x="81572" y="477055"/>
                    <a:pt x="95636" y="460178"/>
                    <a:pt x="115325" y="458771"/>
                  </a:cubicBezTo>
                  <a:cubicBezTo>
                    <a:pt x="135015" y="457365"/>
                    <a:pt x="151892" y="471429"/>
                    <a:pt x="153298" y="491119"/>
                  </a:cubicBezTo>
                  <a:cubicBezTo>
                    <a:pt x="153298" y="493931"/>
                    <a:pt x="153298" y="498151"/>
                    <a:pt x="153298" y="500963"/>
                  </a:cubicBezTo>
                  <a:lnTo>
                    <a:pt x="206742" y="564252"/>
                  </a:lnTo>
                  <a:lnTo>
                    <a:pt x="281281" y="564252"/>
                  </a:lnTo>
                  <a:lnTo>
                    <a:pt x="281281" y="499557"/>
                  </a:lnTo>
                  <a:lnTo>
                    <a:pt x="353008" y="427830"/>
                  </a:lnTo>
                  <a:lnTo>
                    <a:pt x="309409" y="382825"/>
                  </a:lnTo>
                  <a:lnTo>
                    <a:pt x="309409" y="128266"/>
                  </a:lnTo>
                  <a:cubicBezTo>
                    <a:pt x="293939" y="117015"/>
                    <a:pt x="291126" y="94512"/>
                    <a:pt x="302377" y="79042"/>
                  </a:cubicBezTo>
                  <a:cubicBezTo>
                    <a:pt x="313629" y="63571"/>
                    <a:pt x="336131" y="60758"/>
                    <a:pt x="351602" y="72010"/>
                  </a:cubicBezTo>
                  <a:cubicBezTo>
                    <a:pt x="367072" y="83261"/>
                    <a:pt x="369885" y="105763"/>
                    <a:pt x="358634" y="121234"/>
                  </a:cubicBezTo>
                  <a:cubicBezTo>
                    <a:pt x="357227" y="124047"/>
                    <a:pt x="354414" y="126859"/>
                    <a:pt x="351602" y="128266"/>
                  </a:cubicBezTo>
                  <a:lnTo>
                    <a:pt x="351602" y="170458"/>
                  </a:lnTo>
                  <a:lnTo>
                    <a:pt x="464114" y="170458"/>
                  </a:lnTo>
                  <a:lnTo>
                    <a:pt x="464114" y="268906"/>
                  </a:lnTo>
                  <a:cubicBezTo>
                    <a:pt x="479585" y="280158"/>
                    <a:pt x="482397" y="302660"/>
                    <a:pt x="471146" y="318131"/>
                  </a:cubicBezTo>
                  <a:cubicBezTo>
                    <a:pt x="459895" y="333601"/>
                    <a:pt x="437392" y="336414"/>
                    <a:pt x="421922" y="325163"/>
                  </a:cubicBezTo>
                  <a:cubicBezTo>
                    <a:pt x="406451" y="313911"/>
                    <a:pt x="403639" y="291409"/>
                    <a:pt x="414890" y="275938"/>
                  </a:cubicBezTo>
                  <a:cubicBezTo>
                    <a:pt x="416296" y="273126"/>
                    <a:pt x="419109" y="270313"/>
                    <a:pt x="421922" y="268906"/>
                  </a:cubicBezTo>
                  <a:lnTo>
                    <a:pt x="421922" y="212650"/>
                  </a:lnTo>
                  <a:lnTo>
                    <a:pt x="351602" y="212650"/>
                  </a:lnTo>
                  <a:lnTo>
                    <a:pt x="351602" y="365948"/>
                  </a:lnTo>
                  <a:lnTo>
                    <a:pt x="450050" y="464397"/>
                  </a:lnTo>
                  <a:cubicBezTo>
                    <a:pt x="451456" y="464397"/>
                    <a:pt x="452863" y="464397"/>
                    <a:pt x="454269" y="464397"/>
                  </a:cubicBezTo>
                  <a:cubicBezTo>
                    <a:pt x="473959" y="464397"/>
                    <a:pt x="489429" y="479867"/>
                    <a:pt x="489429" y="499557"/>
                  </a:cubicBezTo>
                  <a:cubicBezTo>
                    <a:pt x="489429" y="519247"/>
                    <a:pt x="473959" y="534717"/>
                    <a:pt x="454269" y="534717"/>
                  </a:cubicBezTo>
                  <a:lnTo>
                    <a:pt x="454269" y="534717"/>
                  </a:lnTo>
                  <a:close/>
                  <a:moveTo>
                    <a:pt x="625851" y="250623"/>
                  </a:moveTo>
                  <a:cubicBezTo>
                    <a:pt x="606161" y="250623"/>
                    <a:pt x="590691" y="235153"/>
                    <a:pt x="590691" y="215463"/>
                  </a:cubicBezTo>
                  <a:cubicBezTo>
                    <a:pt x="590691" y="214057"/>
                    <a:pt x="590691" y="214057"/>
                    <a:pt x="590691" y="212650"/>
                  </a:cubicBezTo>
                  <a:lnTo>
                    <a:pt x="534434" y="162020"/>
                  </a:lnTo>
                  <a:lnTo>
                    <a:pt x="534434" y="59352"/>
                  </a:lnTo>
                  <a:cubicBezTo>
                    <a:pt x="548498" y="63571"/>
                    <a:pt x="562563" y="69197"/>
                    <a:pt x="576627" y="74822"/>
                  </a:cubicBezTo>
                  <a:lnTo>
                    <a:pt x="576627" y="143736"/>
                  </a:lnTo>
                  <a:lnTo>
                    <a:pt x="618819" y="181709"/>
                  </a:lnTo>
                  <a:cubicBezTo>
                    <a:pt x="621632" y="181709"/>
                    <a:pt x="623038" y="181709"/>
                    <a:pt x="625851" y="181709"/>
                  </a:cubicBezTo>
                  <a:cubicBezTo>
                    <a:pt x="645541" y="181709"/>
                    <a:pt x="661011" y="197180"/>
                    <a:pt x="661011" y="216869"/>
                  </a:cubicBezTo>
                  <a:cubicBezTo>
                    <a:pt x="661011" y="236559"/>
                    <a:pt x="645541" y="250623"/>
                    <a:pt x="625851" y="250623"/>
                  </a:cubicBezTo>
                  <a:lnTo>
                    <a:pt x="625851" y="250623"/>
                  </a:lnTo>
                  <a:close/>
                </a:path>
              </a:pathLst>
            </a:custGeom>
            <a:solidFill>
              <a:srgbClr val="000000"/>
            </a:solidFill>
            <a:ln w="13990" cap="flat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C63EA92-B9D3-EAEA-E305-922A36303BC5}"/>
                </a:ext>
              </a:extLst>
            </p:cNvPr>
            <p:cNvSpPr txBox="1"/>
            <p:nvPr/>
          </p:nvSpPr>
          <p:spPr>
            <a:xfrm>
              <a:off x="4080301" y="5693094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LLM</a:t>
              </a:r>
              <a:endParaRPr kumimoji="1" lang="ja-JP" altLang="en-US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F0BC834B-0009-C619-58EF-6385CEC7CD5E}"/>
              </a:ext>
            </a:extLst>
          </p:cNvPr>
          <p:cNvGrpSpPr/>
          <p:nvPr/>
        </p:nvGrpSpPr>
        <p:grpSpPr>
          <a:xfrm>
            <a:off x="2906890" y="4333279"/>
            <a:ext cx="1800200" cy="527775"/>
            <a:chOff x="2913348" y="4931372"/>
            <a:chExt cx="1800200" cy="527775"/>
          </a:xfrm>
        </p:grpSpPr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E297313A-648C-C519-0080-19FDBA328C89}"/>
                </a:ext>
              </a:extLst>
            </p:cNvPr>
            <p:cNvSpPr/>
            <p:nvPr/>
          </p:nvSpPr>
          <p:spPr>
            <a:xfrm>
              <a:off x="2913348" y="4931372"/>
              <a:ext cx="1800200" cy="158443"/>
            </a:xfrm>
            <a:prstGeom prst="righ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F41AA26-ADAD-974B-E64A-2DD1D30385F8}"/>
                </a:ext>
              </a:extLst>
            </p:cNvPr>
            <p:cNvSpPr txBox="1"/>
            <p:nvPr/>
          </p:nvSpPr>
          <p:spPr>
            <a:xfrm>
              <a:off x="3259450" y="508981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自然言語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A94AA67-8D0C-CE22-6B22-EBCD14DDD93D}"/>
              </a:ext>
            </a:extLst>
          </p:cNvPr>
          <p:cNvGrpSpPr/>
          <p:nvPr/>
        </p:nvGrpSpPr>
        <p:grpSpPr>
          <a:xfrm rot="20186603">
            <a:off x="6564390" y="3652503"/>
            <a:ext cx="1800200" cy="527775"/>
            <a:chOff x="2913348" y="4931372"/>
            <a:chExt cx="1800200" cy="527775"/>
          </a:xfrm>
        </p:grpSpPr>
        <p:sp>
          <p:nvSpPr>
            <p:cNvPr id="22" name="右矢印 21">
              <a:extLst>
                <a:ext uri="{FF2B5EF4-FFF2-40B4-BE49-F238E27FC236}">
                  <a16:creationId xmlns:a16="http://schemas.microsoft.com/office/drawing/2014/main" id="{395A95FA-24A2-1F08-AD7C-F0CA9B586BAB}"/>
                </a:ext>
              </a:extLst>
            </p:cNvPr>
            <p:cNvSpPr/>
            <p:nvPr/>
          </p:nvSpPr>
          <p:spPr>
            <a:xfrm>
              <a:off x="2913348" y="4931372"/>
              <a:ext cx="1800200" cy="158443"/>
            </a:xfrm>
            <a:prstGeom prst="righ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BC584020-4FED-5B0C-A6A8-236C70954AA4}"/>
                </a:ext>
              </a:extLst>
            </p:cNvPr>
            <p:cNvSpPr txBox="1"/>
            <p:nvPr/>
          </p:nvSpPr>
          <p:spPr>
            <a:xfrm>
              <a:off x="3144035" y="508981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用途、配置</a:t>
              </a:r>
            </a:p>
          </p:txBody>
        </p:sp>
      </p:grp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24F6E018-E900-E48F-2937-B125A25EB49E}"/>
              </a:ext>
            </a:extLst>
          </p:cNvPr>
          <p:cNvSpPr/>
          <p:nvPr/>
        </p:nvSpPr>
        <p:spPr>
          <a:xfrm>
            <a:off x="8744837" y="3052684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BIM</a:t>
            </a:r>
            <a:endParaRPr kumimoji="1" lang="ja-JP" altLang="en-US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C4148532-A43C-5942-A356-09A39C96DB66}"/>
              </a:ext>
            </a:extLst>
          </p:cNvPr>
          <p:cNvSpPr/>
          <p:nvPr/>
        </p:nvSpPr>
        <p:spPr>
          <a:xfrm>
            <a:off x="8752839" y="4075217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人流予測モデル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692226AC-9C46-0A87-5FE1-9E8A357F84F4}"/>
              </a:ext>
            </a:extLst>
          </p:cNvPr>
          <p:cNvSpPr/>
          <p:nvPr/>
        </p:nvSpPr>
        <p:spPr>
          <a:xfrm>
            <a:off x="8739887" y="5454621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変化評価モデル</a:t>
            </a: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B5F338DA-9B19-96F3-B2DC-2A50BB425460}"/>
              </a:ext>
            </a:extLst>
          </p:cNvPr>
          <p:cNvGrpSpPr/>
          <p:nvPr/>
        </p:nvGrpSpPr>
        <p:grpSpPr>
          <a:xfrm>
            <a:off x="6533935" y="4364549"/>
            <a:ext cx="1800200" cy="527775"/>
            <a:chOff x="2913348" y="4931372"/>
            <a:chExt cx="1800200" cy="527775"/>
          </a:xfrm>
        </p:grpSpPr>
        <p:sp>
          <p:nvSpPr>
            <p:cNvPr id="32" name="右矢印 31">
              <a:extLst>
                <a:ext uri="{FF2B5EF4-FFF2-40B4-BE49-F238E27FC236}">
                  <a16:creationId xmlns:a16="http://schemas.microsoft.com/office/drawing/2014/main" id="{7EB6309A-3F55-9294-836B-A31510F0084B}"/>
                </a:ext>
              </a:extLst>
            </p:cNvPr>
            <p:cNvSpPr/>
            <p:nvPr/>
          </p:nvSpPr>
          <p:spPr>
            <a:xfrm>
              <a:off x="2913348" y="4931372"/>
              <a:ext cx="1800200" cy="158443"/>
            </a:xfrm>
            <a:prstGeom prst="righ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EF16D4DA-67A7-4590-FAD2-6694E92FCD5B}"/>
                </a:ext>
              </a:extLst>
            </p:cNvPr>
            <p:cNvSpPr txBox="1"/>
            <p:nvPr/>
          </p:nvSpPr>
          <p:spPr>
            <a:xfrm>
              <a:off x="3259450" y="508981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想定利用者</a:t>
              </a: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D04E2711-9495-6E00-92F4-8E0D89CE9A91}"/>
              </a:ext>
            </a:extLst>
          </p:cNvPr>
          <p:cNvGrpSpPr/>
          <p:nvPr/>
        </p:nvGrpSpPr>
        <p:grpSpPr>
          <a:xfrm rot="5400000">
            <a:off x="9371501" y="4800957"/>
            <a:ext cx="482675" cy="527775"/>
            <a:chOff x="2913348" y="4931372"/>
            <a:chExt cx="1800200" cy="527775"/>
          </a:xfrm>
        </p:grpSpPr>
        <p:sp>
          <p:nvSpPr>
            <p:cNvPr id="35" name="右矢印 34">
              <a:extLst>
                <a:ext uri="{FF2B5EF4-FFF2-40B4-BE49-F238E27FC236}">
                  <a16:creationId xmlns:a16="http://schemas.microsoft.com/office/drawing/2014/main" id="{D7CA86A8-0E1D-B681-36FB-DA15799E9384}"/>
                </a:ext>
              </a:extLst>
            </p:cNvPr>
            <p:cNvSpPr/>
            <p:nvPr/>
          </p:nvSpPr>
          <p:spPr>
            <a:xfrm>
              <a:off x="2913348" y="4931372"/>
              <a:ext cx="1800200" cy="158443"/>
            </a:xfrm>
            <a:prstGeom prst="righ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FE34AB9-3906-2F2C-6B51-3B86BF3B9724}"/>
                </a:ext>
              </a:extLst>
            </p:cNvPr>
            <p:cNvSpPr txBox="1"/>
            <p:nvPr/>
          </p:nvSpPr>
          <p:spPr>
            <a:xfrm>
              <a:off x="3259450" y="508981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/>
            </a:p>
          </p:txBody>
        </p:sp>
      </p:grp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C828BDDF-CA75-EA5E-DBA3-6DEDA53A6DCE}"/>
              </a:ext>
            </a:extLst>
          </p:cNvPr>
          <p:cNvSpPr/>
          <p:nvPr/>
        </p:nvSpPr>
        <p:spPr>
          <a:xfrm>
            <a:off x="8573356" y="2845567"/>
            <a:ext cx="2466735" cy="21250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日付プレースホルダー 13">
            <a:extLst>
              <a:ext uri="{FF2B5EF4-FFF2-40B4-BE49-F238E27FC236}">
                <a16:creationId xmlns:a16="http://schemas.microsoft.com/office/drawing/2014/main" id="{9C0E51F0-BAF7-5F51-3BA1-8BC8DA23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15" name="フッター プレースホルダー 14">
            <a:extLst>
              <a:ext uri="{FF2B5EF4-FFF2-40B4-BE49-F238E27FC236}">
                <a16:creationId xmlns:a16="http://schemas.microsoft.com/office/drawing/2014/main" id="{91D160A5-321B-AC2D-CE39-3C84A851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C525549C-D901-44D5-CDF0-94AE7E25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3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576B1-22A1-0D05-6DB9-A4AD50C6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スライドテンプレート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387B3-A02B-3389-7A72-675A0DF4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5A0854-A25E-86D0-D931-BC6F83E9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DE9FBD-C16D-C3C4-2F2E-38E16C00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92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4C036-3F18-6E1D-162E-A82FAD22A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>
                <a:latin typeface="HGMinchoE" panose="02020909000000000000" pitchFamily="49" charset="-128"/>
                <a:ea typeface="HGMinchoE" panose="02020909000000000000" pitchFamily="49" charset="-128"/>
              </a:rPr>
              <a:t>その後の年度内（3-4Q）の取組イメージ</a:t>
            </a:r>
            <a:endParaRPr kumimoji="1" lang="ja-JP" altLang="en-US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5656DF-06A6-1FA3-10F9-6A80DA79A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85" y="1313765"/>
            <a:ext cx="10515600" cy="748280"/>
          </a:xfrm>
        </p:spPr>
        <p:txBody>
          <a:bodyPr/>
          <a:lstStyle/>
          <a:p>
            <a:r>
              <a:rPr lang="ja-JP" altLang="ja-JP"/>
              <a:t>典型的な5シナリオとそれぞれのバリエーションを抑え、開発計画のパターンをある程度抑える</a:t>
            </a:r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8E6A70B-FDA1-49C9-7BD2-29669A2B5FA2}"/>
              </a:ext>
            </a:extLst>
          </p:cNvPr>
          <p:cNvGrpSpPr/>
          <p:nvPr/>
        </p:nvGrpSpPr>
        <p:grpSpPr>
          <a:xfrm>
            <a:off x="4597356" y="4078450"/>
            <a:ext cx="956495" cy="1614558"/>
            <a:chOff x="3890755" y="4447868"/>
            <a:chExt cx="956495" cy="1614558"/>
          </a:xfrm>
        </p:grpSpPr>
        <p:sp>
          <p:nvSpPr>
            <p:cNvPr id="6" name="グラフィックス 9" descr="人工知能 単色塗りつぶし">
              <a:extLst>
                <a:ext uri="{FF2B5EF4-FFF2-40B4-BE49-F238E27FC236}">
                  <a16:creationId xmlns:a16="http://schemas.microsoft.com/office/drawing/2014/main" id="{DD8A83EF-5B3E-42F3-21FB-9115068D24CB}"/>
                </a:ext>
              </a:extLst>
            </p:cNvPr>
            <p:cNvSpPr/>
            <p:nvPr/>
          </p:nvSpPr>
          <p:spPr>
            <a:xfrm flipH="1">
              <a:off x="3890755" y="4447868"/>
              <a:ext cx="956495" cy="1133846"/>
            </a:xfrm>
            <a:custGeom>
              <a:avLst/>
              <a:gdLst>
                <a:gd name="csX0" fmla="*/ 942292 w 956495"/>
                <a:gd name="csY0" fmla="*/ 613476 h 1133846"/>
                <a:gd name="csX1" fmla="*/ 845250 w 956495"/>
                <a:gd name="csY1" fmla="*/ 444707 h 1133846"/>
                <a:gd name="csX2" fmla="*/ 845250 w 956495"/>
                <a:gd name="csY2" fmla="*/ 437675 h 1133846"/>
                <a:gd name="csX3" fmla="*/ 437392 w 956495"/>
                <a:gd name="csY3" fmla="*/ 283 h 1133846"/>
                <a:gd name="csX4" fmla="*/ 0 w 956495"/>
                <a:gd name="csY4" fmla="*/ 406734 h 1133846"/>
                <a:gd name="csX5" fmla="*/ 0 w 956495"/>
                <a:gd name="csY5" fmla="*/ 437675 h 1133846"/>
                <a:gd name="csX6" fmla="*/ 165956 w 956495"/>
                <a:gd name="csY6" fmla="*/ 778026 h 1133846"/>
                <a:gd name="csX7" fmla="*/ 165956 w 956495"/>
                <a:gd name="csY7" fmla="*/ 1133846 h 1133846"/>
                <a:gd name="csX8" fmla="*/ 610380 w 956495"/>
                <a:gd name="csY8" fmla="*/ 1133846 h 1133846"/>
                <a:gd name="csX9" fmla="*/ 610380 w 956495"/>
                <a:gd name="csY9" fmla="*/ 965078 h 1133846"/>
                <a:gd name="csX10" fmla="*/ 679294 w 956495"/>
                <a:gd name="csY10" fmla="*/ 965078 h 1133846"/>
                <a:gd name="csX11" fmla="*/ 845250 w 956495"/>
                <a:gd name="csY11" fmla="*/ 799122 h 1133846"/>
                <a:gd name="csX12" fmla="*/ 845250 w 956495"/>
                <a:gd name="csY12" fmla="*/ 796309 h 1133846"/>
                <a:gd name="csX13" fmla="*/ 845250 w 956495"/>
                <a:gd name="csY13" fmla="*/ 711924 h 1133846"/>
                <a:gd name="csX14" fmla="*/ 907132 w 956495"/>
                <a:gd name="csY14" fmla="*/ 711924 h 1133846"/>
                <a:gd name="csX15" fmla="*/ 942292 w 956495"/>
                <a:gd name="csY15" fmla="*/ 613476 h 1133846"/>
                <a:gd name="csX16" fmla="*/ 63288 w 956495"/>
                <a:gd name="csY16" fmla="*/ 297035 h 1133846"/>
                <a:gd name="csX17" fmla="*/ 140641 w 956495"/>
                <a:gd name="csY17" fmla="*/ 297035 h 1133846"/>
                <a:gd name="csX18" fmla="*/ 140641 w 956495"/>
                <a:gd name="csY18" fmla="*/ 240778 h 1133846"/>
                <a:gd name="csX19" fmla="*/ 133609 w 956495"/>
                <a:gd name="csY19" fmla="*/ 191554 h 1133846"/>
                <a:gd name="csX20" fmla="*/ 182833 w 956495"/>
                <a:gd name="csY20" fmla="*/ 184522 h 1133846"/>
                <a:gd name="csX21" fmla="*/ 189865 w 956495"/>
                <a:gd name="csY21" fmla="*/ 233746 h 1133846"/>
                <a:gd name="csX22" fmla="*/ 182833 w 956495"/>
                <a:gd name="csY22" fmla="*/ 240778 h 1133846"/>
                <a:gd name="csX23" fmla="*/ 182833 w 956495"/>
                <a:gd name="csY23" fmla="*/ 297035 h 1133846"/>
                <a:gd name="csX24" fmla="*/ 239089 w 956495"/>
                <a:gd name="csY24" fmla="*/ 297035 h 1133846"/>
                <a:gd name="csX25" fmla="*/ 239089 w 956495"/>
                <a:gd name="csY25" fmla="*/ 395483 h 1133846"/>
                <a:gd name="csX26" fmla="*/ 246121 w 956495"/>
                <a:gd name="csY26" fmla="*/ 444707 h 1133846"/>
                <a:gd name="csX27" fmla="*/ 196897 w 956495"/>
                <a:gd name="csY27" fmla="*/ 451739 h 1133846"/>
                <a:gd name="csX28" fmla="*/ 189865 w 956495"/>
                <a:gd name="csY28" fmla="*/ 402515 h 1133846"/>
                <a:gd name="csX29" fmla="*/ 196897 w 956495"/>
                <a:gd name="csY29" fmla="*/ 395483 h 1133846"/>
                <a:gd name="csX30" fmla="*/ 196897 w 956495"/>
                <a:gd name="csY30" fmla="*/ 339227 h 1133846"/>
                <a:gd name="csX31" fmla="*/ 50631 w 956495"/>
                <a:gd name="csY31" fmla="*/ 339227 h 1133846"/>
                <a:gd name="csX32" fmla="*/ 63288 w 956495"/>
                <a:gd name="csY32" fmla="*/ 297035 h 1133846"/>
                <a:gd name="csX33" fmla="*/ 454269 w 956495"/>
                <a:gd name="csY33" fmla="*/ 534717 h 1133846"/>
                <a:gd name="csX34" fmla="*/ 419109 w 956495"/>
                <a:gd name="csY34" fmla="*/ 499557 h 1133846"/>
                <a:gd name="csX35" fmla="*/ 419109 w 956495"/>
                <a:gd name="csY35" fmla="*/ 493931 h 1133846"/>
                <a:gd name="csX36" fmla="*/ 382543 w 956495"/>
                <a:gd name="csY36" fmla="*/ 457365 h 1133846"/>
                <a:gd name="csX37" fmla="*/ 323473 w 956495"/>
                <a:gd name="csY37" fmla="*/ 516434 h 1133846"/>
                <a:gd name="csX38" fmla="*/ 323473 w 956495"/>
                <a:gd name="csY38" fmla="*/ 620508 h 1133846"/>
                <a:gd name="csX39" fmla="*/ 330505 w 956495"/>
                <a:gd name="csY39" fmla="*/ 669732 h 1133846"/>
                <a:gd name="csX40" fmla="*/ 281281 w 956495"/>
                <a:gd name="csY40" fmla="*/ 676764 h 1133846"/>
                <a:gd name="csX41" fmla="*/ 274249 w 956495"/>
                <a:gd name="csY41" fmla="*/ 627540 h 1133846"/>
                <a:gd name="csX42" fmla="*/ 281281 w 956495"/>
                <a:gd name="csY42" fmla="*/ 620508 h 1133846"/>
                <a:gd name="csX43" fmla="*/ 281281 w 956495"/>
                <a:gd name="csY43" fmla="*/ 606444 h 1133846"/>
                <a:gd name="csX44" fmla="*/ 187052 w 956495"/>
                <a:gd name="csY44" fmla="*/ 606444 h 1133846"/>
                <a:gd name="csX45" fmla="*/ 120951 w 956495"/>
                <a:gd name="csY45" fmla="*/ 529092 h 1133846"/>
                <a:gd name="csX46" fmla="*/ 82978 w 956495"/>
                <a:gd name="csY46" fmla="*/ 496744 h 1133846"/>
                <a:gd name="csX47" fmla="*/ 115325 w 956495"/>
                <a:gd name="csY47" fmla="*/ 458771 h 1133846"/>
                <a:gd name="csX48" fmla="*/ 153298 w 956495"/>
                <a:gd name="csY48" fmla="*/ 491119 h 1133846"/>
                <a:gd name="csX49" fmla="*/ 153298 w 956495"/>
                <a:gd name="csY49" fmla="*/ 500963 h 1133846"/>
                <a:gd name="csX50" fmla="*/ 206742 w 956495"/>
                <a:gd name="csY50" fmla="*/ 564252 h 1133846"/>
                <a:gd name="csX51" fmla="*/ 281281 w 956495"/>
                <a:gd name="csY51" fmla="*/ 564252 h 1133846"/>
                <a:gd name="csX52" fmla="*/ 281281 w 956495"/>
                <a:gd name="csY52" fmla="*/ 499557 h 1133846"/>
                <a:gd name="csX53" fmla="*/ 353008 w 956495"/>
                <a:gd name="csY53" fmla="*/ 427830 h 1133846"/>
                <a:gd name="csX54" fmla="*/ 309409 w 956495"/>
                <a:gd name="csY54" fmla="*/ 382825 h 1133846"/>
                <a:gd name="csX55" fmla="*/ 309409 w 956495"/>
                <a:gd name="csY55" fmla="*/ 128266 h 1133846"/>
                <a:gd name="csX56" fmla="*/ 302377 w 956495"/>
                <a:gd name="csY56" fmla="*/ 79042 h 1133846"/>
                <a:gd name="csX57" fmla="*/ 351602 w 956495"/>
                <a:gd name="csY57" fmla="*/ 72010 h 1133846"/>
                <a:gd name="csX58" fmla="*/ 358634 w 956495"/>
                <a:gd name="csY58" fmla="*/ 121234 h 1133846"/>
                <a:gd name="csX59" fmla="*/ 351602 w 956495"/>
                <a:gd name="csY59" fmla="*/ 128266 h 1133846"/>
                <a:gd name="csX60" fmla="*/ 351602 w 956495"/>
                <a:gd name="csY60" fmla="*/ 170458 h 1133846"/>
                <a:gd name="csX61" fmla="*/ 464114 w 956495"/>
                <a:gd name="csY61" fmla="*/ 170458 h 1133846"/>
                <a:gd name="csX62" fmla="*/ 464114 w 956495"/>
                <a:gd name="csY62" fmla="*/ 268906 h 1133846"/>
                <a:gd name="csX63" fmla="*/ 471146 w 956495"/>
                <a:gd name="csY63" fmla="*/ 318131 h 1133846"/>
                <a:gd name="csX64" fmla="*/ 421922 w 956495"/>
                <a:gd name="csY64" fmla="*/ 325163 h 1133846"/>
                <a:gd name="csX65" fmla="*/ 414890 w 956495"/>
                <a:gd name="csY65" fmla="*/ 275938 h 1133846"/>
                <a:gd name="csX66" fmla="*/ 421922 w 956495"/>
                <a:gd name="csY66" fmla="*/ 268906 h 1133846"/>
                <a:gd name="csX67" fmla="*/ 421922 w 956495"/>
                <a:gd name="csY67" fmla="*/ 212650 h 1133846"/>
                <a:gd name="csX68" fmla="*/ 351602 w 956495"/>
                <a:gd name="csY68" fmla="*/ 212650 h 1133846"/>
                <a:gd name="csX69" fmla="*/ 351602 w 956495"/>
                <a:gd name="csY69" fmla="*/ 365948 h 1133846"/>
                <a:gd name="csX70" fmla="*/ 450050 w 956495"/>
                <a:gd name="csY70" fmla="*/ 464397 h 1133846"/>
                <a:gd name="csX71" fmla="*/ 454269 w 956495"/>
                <a:gd name="csY71" fmla="*/ 464397 h 1133846"/>
                <a:gd name="csX72" fmla="*/ 489429 w 956495"/>
                <a:gd name="csY72" fmla="*/ 499557 h 1133846"/>
                <a:gd name="csX73" fmla="*/ 454269 w 956495"/>
                <a:gd name="csY73" fmla="*/ 534717 h 1133846"/>
                <a:gd name="csX74" fmla="*/ 454269 w 956495"/>
                <a:gd name="csY74" fmla="*/ 534717 h 1133846"/>
                <a:gd name="csX75" fmla="*/ 625851 w 956495"/>
                <a:gd name="csY75" fmla="*/ 250623 h 1133846"/>
                <a:gd name="csX76" fmla="*/ 590691 w 956495"/>
                <a:gd name="csY76" fmla="*/ 215463 h 1133846"/>
                <a:gd name="csX77" fmla="*/ 590691 w 956495"/>
                <a:gd name="csY77" fmla="*/ 212650 h 1133846"/>
                <a:gd name="csX78" fmla="*/ 534434 w 956495"/>
                <a:gd name="csY78" fmla="*/ 162020 h 1133846"/>
                <a:gd name="csX79" fmla="*/ 534434 w 956495"/>
                <a:gd name="csY79" fmla="*/ 59352 h 1133846"/>
                <a:gd name="csX80" fmla="*/ 576627 w 956495"/>
                <a:gd name="csY80" fmla="*/ 74822 h 1133846"/>
                <a:gd name="csX81" fmla="*/ 576627 w 956495"/>
                <a:gd name="csY81" fmla="*/ 143736 h 1133846"/>
                <a:gd name="csX82" fmla="*/ 618819 w 956495"/>
                <a:gd name="csY82" fmla="*/ 181709 h 1133846"/>
                <a:gd name="csX83" fmla="*/ 625851 w 956495"/>
                <a:gd name="csY83" fmla="*/ 181709 h 1133846"/>
                <a:gd name="csX84" fmla="*/ 661011 w 956495"/>
                <a:gd name="csY84" fmla="*/ 216869 h 1133846"/>
                <a:gd name="csX85" fmla="*/ 625851 w 956495"/>
                <a:gd name="csY85" fmla="*/ 250623 h 1133846"/>
                <a:gd name="csX86" fmla="*/ 625851 w 956495"/>
                <a:gd name="csY86" fmla="*/ 250623 h 1133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956495" h="1133846">
                  <a:moveTo>
                    <a:pt x="942292" y="613476"/>
                  </a:moveTo>
                  <a:lnTo>
                    <a:pt x="845250" y="444707"/>
                  </a:lnTo>
                  <a:lnTo>
                    <a:pt x="845250" y="437675"/>
                  </a:lnTo>
                  <a:cubicBezTo>
                    <a:pt x="853689" y="204212"/>
                    <a:pt x="670856" y="8721"/>
                    <a:pt x="437392" y="283"/>
                  </a:cubicBezTo>
                  <a:cubicBezTo>
                    <a:pt x="203929" y="-8156"/>
                    <a:pt x="8438" y="173271"/>
                    <a:pt x="0" y="406734"/>
                  </a:cubicBezTo>
                  <a:cubicBezTo>
                    <a:pt x="0" y="416579"/>
                    <a:pt x="0" y="427830"/>
                    <a:pt x="0" y="437675"/>
                  </a:cubicBezTo>
                  <a:cubicBezTo>
                    <a:pt x="0" y="571284"/>
                    <a:pt x="60475" y="696454"/>
                    <a:pt x="165956" y="778026"/>
                  </a:cubicBezTo>
                  <a:lnTo>
                    <a:pt x="165956" y="1133846"/>
                  </a:lnTo>
                  <a:lnTo>
                    <a:pt x="610380" y="1133846"/>
                  </a:lnTo>
                  <a:lnTo>
                    <a:pt x="610380" y="965078"/>
                  </a:lnTo>
                  <a:lnTo>
                    <a:pt x="679294" y="965078"/>
                  </a:lnTo>
                  <a:cubicBezTo>
                    <a:pt x="770711" y="965078"/>
                    <a:pt x="845250" y="890538"/>
                    <a:pt x="845250" y="799122"/>
                  </a:cubicBezTo>
                  <a:cubicBezTo>
                    <a:pt x="845250" y="797715"/>
                    <a:pt x="845250" y="797715"/>
                    <a:pt x="845250" y="796309"/>
                  </a:cubicBezTo>
                  <a:lnTo>
                    <a:pt x="845250" y="711924"/>
                  </a:lnTo>
                  <a:lnTo>
                    <a:pt x="907132" y="711924"/>
                  </a:lnTo>
                  <a:cubicBezTo>
                    <a:pt x="943699" y="707705"/>
                    <a:pt x="976046" y="665513"/>
                    <a:pt x="942292" y="613476"/>
                  </a:cubicBezTo>
                  <a:close/>
                  <a:moveTo>
                    <a:pt x="63288" y="297035"/>
                  </a:moveTo>
                  <a:lnTo>
                    <a:pt x="140641" y="297035"/>
                  </a:lnTo>
                  <a:lnTo>
                    <a:pt x="140641" y="240778"/>
                  </a:lnTo>
                  <a:cubicBezTo>
                    <a:pt x="125170" y="229527"/>
                    <a:pt x="122357" y="207025"/>
                    <a:pt x="133609" y="191554"/>
                  </a:cubicBezTo>
                  <a:cubicBezTo>
                    <a:pt x="144860" y="176084"/>
                    <a:pt x="167362" y="173271"/>
                    <a:pt x="182833" y="184522"/>
                  </a:cubicBezTo>
                  <a:cubicBezTo>
                    <a:pt x="198303" y="195773"/>
                    <a:pt x="201116" y="218276"/>
                    <a:pt x="189865" y="233746"/>
                  </a:cubicBezTo>
                  <a:cubicBezTo>
                    <a:pt x="188458" y="236559"/>
                    <a:pt x="185646" y="239372"/>
                    <a:pt x="182833" y="240778"/>
                  </a:cubicBezTo>
                  <a:lnTo>
                    <a:pt x="182833" y="297035"/>
                  </a:lnTo>
                  <a:lnTo>
                    <a:pt x="239089" y="297035"/>
                  </a:lnTo>
                  <a:lnTo>
                    <a:pt x="239089" y="395483"/>
                  </a:lnTo>
                  <a:cubicBezTo>
                    <a:pt x="254560" y="406734"/>
                    <a:pt x="257372" y="429237"/>
                    <a:pt x="246121" y="444707"/>
                  </a:cubicBezTo>
                  <a:cubicBezTo>
                    <a:pt x="234870" y="460178"/>
                    <a:pt x="212367" y="462990"/>
                    <a:pt x="196897" y="451739"/>
                  </a:cubicBezTo>
                  <a:cubicBezTo>
                    <a:pt x="181426" y="440488"/>
                    <a:pt x="178614" y="417985"/>
                    <a:pt x="189865" y="402515"/>
                  </a:cubicBezTo>
                  <a:cubicBezTo>
                    <a:pt x="191271" y="399702"/>
                    <a:pt x="194084" y="396889"/>
                    <a:pt x="196897" y="395483"/>
                  </a:cubicBezTo>
                  <a:lnTo>
                    <a:pt x="196897" y="339227"/>
                  </a:lnTo>
                  <a:lnTo>
                    <a:pt x="50631" y="339227"/>
                  </a:lnTo>
                  <a:cubicBezTo>
                    <a:pt x="54850" y="325163"/>
                    <a:pt x="57663" y="311099"/>
                    <a:pt x="63288" y="297035"/>
                  </a:cubicBezTo>
                  <a:close/>
                  <a:moveTo>
                    <a:pt x="454269" y="534717"/>
                  </a:moveTo>
                  <a:cubicBezTo>
                    <a:pt x="434580" y="534717"/>
                    <a:pt x="419109" y="519247"/>
                    <a:pt x="419109" y="499557"/>
                  </a:cubicBezTo>
                  <a:cubicBezTo>
                    <a:pt x="419109" y="498151"/>
                    <a:pt x="419109" y="495338"/>
                    <a:pt x="419109" y="493931"/>
                  </a:cubicBezTo>
                  <a:lnTo>
                    <a:pt x="382543" y="457365"/>
                  </a:lnTo>
                  <a:lnTo>
                    <a:pt x="323473" y="516434"/>
                  </a:lnTo>
                  <a:lnTo>
                    <a:pt x="323473" y="620508"/>
                  </a:lnTo>
                  <a:cubicBezTo>
                    <a:pt x="338944" y="631759"/>
                    <a:pt x="341757" y="654262"/>
                    <a:pt x="330505" y="669732"/>
                  </a:cubicBezTo>
                  <a:cubicBezTo>
                    <a:pt x="319254" y="685203"/>
                    <a:pt x="296752" y="688015"/>
                    <a:pt x="281281" y="676764"/>
                  </a:cubicBezTo>
                  <a:cubicBezTo>
                    <a:pt x="265811" y="665513"/>
                    <a:pt x="262998" y="643010"/>
                    <a:pt x="274249" y="627540"/>
                  </a:cubicBezTo>
                  <a:cubicBezTo>
                    <a:pt x="275656" y="624727"/>
                    <a:pt x="278468" y="621914"/>
                    <a:pt x="281281" y="620508"/>
                  </a:cubicBezTo>
                  <a:lnTo>
                    <a:pt x="281281" y="606444"/>
                  </a:lnTo>
                  <a:lnTo>
                    <a:pt x="187052" y="606444"/>
                  </a:lnTo>
                  <a:lnTo>
                    <a:pt x="120951" y="529092"/>
                  </a:lnTo>
                  <a:cubicBezTo>
                    <a:pt x="101261" y="530498"/>
                    <a:pt x="84384" y="516434"/>
                    <a:pt x="82978" y="496744"/>
                  </a:cubicBezTo>
                  <a:cubicBezTo>
                    <a:pt x="81572" y="477055"/>
                    <a:pt x="95636" y="460178"/>
                    <a:pt x="115325" y="458771"/>
                  </a:cubicBezTo>
                  <a:cubicBezTo>
                    <a:pt x="135015" y="457365"/>
                    <a:pt x="151892" y="471429"/>
                    <a:pt x="153298" y="491119"/>
                  </a:cubicBezTo>
                  <a:cubicBezTo>
                    <a:pt x="153298" y="493931"/>
                    <a:pt x="153298" y="498151"/>
                    <a:pt x="153298" y="500963"/>
                  </a:cubicBezTo>
                  <a:lnTo>
                    <a:pt x="206742" y="564252"/>
                  </a:lnTo>
                  <a:lnTo>
                    <a:pt x="281281" y="564252"/>
                  </a:lnTo>
                  <a:lnTo>
                    <a:pt x="281281" y="499557"/>
                  </a:lnTo>
                  <a:lnTo>
                    <a:pt x="353008" y="427830"/>
                  </a:lnTo>
                  <a:lnTo>
                    <a:pt x="309409" y="382825"/>
                  </a:lnTo>
                  <a:lnTo>
                    <a:pt x="309409" y="128266"/>
                  </a:lnTo>
                  <a:cubicBezTo>
                    <a:pt x="293939" y="117015"/>
                    <a:pt x="291126" y="94512"/>
                    <a:pt x="302377" y="79042"/>
                  </a:cubicBezTo>
                  <a:cubicBezTo>
                    <a:pt x="313629" y="63571"/>
                    <a:pt x="336131" y="60758"/>
                    <a:pt x="351602" y="72010"/>
                  </a:cubicBezTo>
                  <a:cubicBezTo>
                    <a:pt x="367072" y="83261"/>
                    <a:pt x="369885" y="105763"/>
                    <a:pt x="358634" y="121234"/>
                  </a:cubicBezTo>
                  <a:cubicBezTo>
                    <a:pt x="357227" y="124047"/>
                    <a:pt x="354414" y="126859"/>
                    <a:pt x="351602" y="128266"/>
                  </a:cubicBezTo>
                  <a:lnTo>
                    <a:pt x="351602" y="170458"/>
                  </a:lnTo>
                  <a:lnTo>
                    <a:pt x="464114" y="170458"/>
                  </a:lnTo>
                  <a:lnTo>
                    <a:pt x="464114" y="268906"/>
                  </a:lnTo>
                  <a:cubicBezTo>
                    <a:pt x="479585" y="280158"/>
                    <a:pt x="482397" y="302660"/>
                    <a:pt x="471146" y="318131"/>
                  </a:cubicBezTo>
                  <a:cubicBezTo>
                    <a:pt x="459895" y="333601"/>
                    <a:pt x="437392" y="336414"/>
                    <a:pt x="421922" y="325163"/>
                  </a:cubicBezTo>
                  <a:cubicBezTo>
                    <a:pt x="406451" y="313911"/>
                    <a:pt x="403639" y="291409"/>
                    <a:pt x="414890" y="275938"/>
                  </a:cubicBezTo>
                  <a:cubicBezTo>
                    <a:pt x="416296" y="273126"/>
                    <a:pt x="419109" y="270313"/>
                    <a:pt x="421922" y="268906"/>
                  </a:cubicBezTo>
                  <a:lnTo>
                    <a:pt x="421922" y="212650"/>
                  </a:lnTo>
                  <a:lnTo>
                    <a:pt x="351602" y="212650"/>
                  </a:lnTo>
                  <a:lnTo>
                    <a:pt x="351602" y="365948"/>
                  </a:lnTo>
                  <a:lnTo>
                    <a:pt x="450050" y="464397"/>
                  </a:lnTo>
                  <a:cubicBezTo>
                    <a:pt x="451456" y="464397"/>
                    <a:pt x="452863" y="464397"/>
                    <a:pt x="454269" y="464397"/>
                  </a:cubicBezTo>
                  <a:cubicBezTo>
                    <a:pt x="473959" y="464397"/>
                    <a:pt x="489429" y="479867"/>
                    <a:pt x="489429" y="499557"/>
                  </a:cubicBezTo>
                  <a:cubicBezTo>
                    <a:pt x="489429" y="519247"/>
                    <a:pt x="473959" y="534717"/>
                    <a:pt x="454269" y="534717"/>
                  </a:cubicBezTo>
                  <a:lnTo>
                    <a:pt x="454269" y="534717"/>
                  </a:lnTo>
                  <a:close/>
                  <a:moveTo>
                    <a:pt x="625851" y="250623"/>
                  </a:moveTo>
                  <a:cubicBezTo>
                    <a:pt x="606161" y="250623"/>
                    <a:pt x="590691" y="235153"/>
                    <a:pt x="590691" y="215463"/>
                  </a:cubicBezTo>
                  <a:cubicBezTo>
                    <a:pt x="590691" y="214057"/>
                    <a:pt x="590691" y="214057"/>
                    <a:pt x="590691" y="212650"/>
                  </a:cubicBezTo>
                  <a:lnTo>
                    <a:pt x="534434" y="162020"/>
                  </a:lnTo>
                  <a:lnTo>
                    <a:pt x="534434" y="59352"/>
                  </a:lnTo>
                  <a:cubicBezTo>
                    <a:pt x="548498" y="63571"/>
                    <a:pt x="562563" y="69197"/>
                    <a:pt x="576627" y="74822"/>
                  </a:cubicBezTo>
                  <a:lnTo>
                    <a:pt x="576627" y="143736"/>
                  </a:lnTo>
                  <a:lnTo>
                    <a:pt x="618819" y="181709"/>
                  </a:lnTo>
                  <a:cubicBezTo>
                    <a:pt x="621632" y="181709"/>
                    <a:pt x="623038" y="181709"/>
                    <a:pt x="625851" y="181709"/>
                  </a:cubicBezTo>
                  <a:cubicBezTo>
                    <a:pt x="645541" y="181709"/>
                    <a:pt x="661011" y="197180"/>
                    <a:pt x="661011" y="216869"/>
                  </a:cubicBezTo>
                  <a:cubicBezTo>
                    <a:pt x="661011" y="236559"/>
                    <a:pt x="645541" y="250623"/>
                    <a:pt x="625851" y="250623"/>
                  </a:cubicBezTo>
                  <a:lnTo>
                    <a:pt x="625851" y="250623"/>
                  </a:lnTo>
                  <a:close/>
                </a:path>
              </a:pathLst>
            </a:custGeom>
            <a:solidFill>
              <a:srgbClr val="000000"/>
            </a:solidFill>
            <a:ln w="13990" cap="flat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4F60BB00-1260-1659-6FFF-895B716C493A}"/>
                </a:ext>
              </a:extLst>
            </p:cNvPr>
            <p:cNvSpPr txBox="1"/>
            <p:nvPr/>
          </p:nvSpPr>
          <p:spPr>
            <a:xfrm>
              <a:off x="4080301" y="5693094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LLM</a:t>
              </a:r>
              <a:endParaRPr kumimoji="1" lang="ja-JP" altLang="en-US"/>
            </a:p>
          </p:txBody>
        </p:sp>
      </p:grp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BCADBB69-2B50-721B-85D1-5390126AA61A}"/>
              </a:ext>
            </a:extLst>
          </p:cNvPr>
          <p:cNvSpPr/>
          <p:nvPr/>
        </p:nvSpPr>
        <p:spPr>
          <a:xfrm>
            <a:off x="1987066" y="5123808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オフィス計画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1B32C65D-4D40-3A5C-F2F1-9B80D33A7F66}"/>
              </a:ext>
            </a:extLst>
          </p:cNvPr>
          <p:cNvSpPr/>
          <p:nvPr/>
        </p:nvSpPr>
        <p:spPr>
          <a:xfrm>
            <a:off x="1492011" y="3597611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ショッピングモール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679ECF83-59FF-5F75-3FE3-8C4FB878E916}"/>
              </a:ext>
            </a:extLst>
          </p:cNvPr>
          <p:cNvSpPr/>
          <p:nvPr/>
        </p:nvSpPr>
        <p:spPr>
          <a:xfrm>
            <a:off x="4017985" y="2467090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ホテル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B66388C6-C82A-CA45-FE4C-AAD1EB54A2E7}"/>
              </a:ext>
            </a:extLst>
          </p:cNvPr>
          <p:cNvSpPr/>
          <p:nvPr/>
        </p:nvSpPr>
        <p:spPr>
          <a:xfrm>
            <a:off x="6566042" y="3597610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スーパーマーケット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59F5B67D-000C-C1AA-BCB5-5939759BB6DE}"/>
              </a:ext>
            </a:extLst>
          </p:cNvPr>
          <p:cNvSpPr/>
          <p:nvPr/>
        </p:nvSpPr>
        <p:spPr>
          <a:xfrm>
            <a:off x="6048905" y="5123807"/>
            <a:ext cx="2115235" cy="60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広場計画</a:t>
            </a: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628F768D-6213-2675-5887-318C83DA0FBD}"/>
              </a:ext>
            </a:extLst>
          </p:cNvPr>
          <p:cNvSpPr/>
          <p:nvPr/>
        </p:nvSpPr>
        <p:spPr>
          <a:xfrm rot="5400000">
            <a:off x="4829348" y="3472979"/>
            <a:ext cx="482675" cy="158443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90528A9F-6A4B-AD9C-531D-9A357089C21E}"/>
              </a:ext>
            </a:extLst>
          </p:cNvPr>
          <p:cNvSpPr/>
          <p:nvPr/>
        </p:nvSpPr>
        <p:spPr>
          <a:xfrm rot="9318119">
            <a:off x="5807568" y="4189734"/>
            <a:ext cx="482675" cy="158443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0694DE07-A7F2-E38B-42C8-0B761011224D}"/>
              </a:ext>
            </a:extLst>
          </p:cNvPr>
          <p:cNvSpPr/>
          <p:nvPr/>
        </p:nvSpPr>
        <p:spPr>
          <a:xfrm rot="12677014">
            <a:off x="5482322" y="5224963"/>
            <a:ext cx="482675" cy="158443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1F6F48F9-706A-ACE7-941E-1CA748508FED}"/>
              </a:ext>
            </a:extLst>
          </p:cNvPr>
          <p:cNvSpPr/>
          <p:nvPr/>
        </p:nvSpPr>
        <p:spPr>
          <a:xfrm rot="12281881" flipH="1">
            <a:off x="3873375" y="4141765"/>
            <a:ext cx="482675" cy="158443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1E5F8E3D-B71A-89DB-8587-6C17D07F941A}"/>
              </a:ext>
            </a:extLst>
          </p:cNvPr>
          <p:cNvSpPr/>
          <p:nvPr/>
        </p:nvSpPr>
        <p:spPr>
          <a:xfrm rot="8922986" flipH="1">
            <a:off x="4186210" y="5237609"/>
            <a:ext cx="482675" cy="158443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33639B2E-5AC1-F596-8BAD-7CAD50E9CA5A}"/>
              </a:ext>
            </a:extLst>
          </p:cNvPr>
          <p:cNvSpPr/>
          <p:nvPr/>
        </p:nvSpPr>
        <p:spPr>
          <a:xfrm>
            <a:off x="9053126" y="4626193"/>
            <a:ext cx="2115235" cy="106681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全てのシナリオに</a:t>
            </a:r>
            <a:endParaRPr kumimoji="1" lang="en-US" altLang="ja-JP" sz="16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対応可能に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FBD14-DE56-0D3B-4F8B-C604B107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2026/6</a:t>
            </a:r>
            <a:endParaRPr kumimoji="1" lang="ja-JP" altLang="en-US"/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1A8E4A53-370A-7A19-FA44-D6158DDE1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関本・中居研究室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93A80ED0-0708-2A89-E5DF-4884CAD7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9E37A-E522-3D47-AAB7-DDF67C94A05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047914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スライド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</TotalTime>
  <Words>530</Words>
  <Application>Microsoft Macintosh PowerPoint</Application>
  <PresentationFormat>ワイド画面</PresentationFormat>
  <Paragraphs>130</Paragraphs>
  <Slides>6</Slides>
  <Notes>3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HGMinchoE</vt:lpstr>
      <vt:lpstr>Noto Sans CJK JP</vt:lpstr>
      <vt:lpstr>游ゴシック</vt:lpstr>
      <vt:lpstr>Arial</vt:lpstr>
      <vt:lpstr>Calibri</vt:lpstr>
      <vt:lpstr>標準スライド</vt:lpstr>
      <vt:lpstr>開発計画の粒度に応じた 様々なパターン生成とその評価 ～芝田一丁目の開発計画を題材に</vt:lpstr>
      <vt:lpstr>2Q: Overview of Initiatives for July–September</vt:lpstr>
      <vt:lpstr>最初の3か月（2Q：7-9月）の取組イメージ</vt:lpstr>
      <vt:lpstr>手法：LLMをベースに複数の都市分析処理を統合</vt:lpstr>
      <vt:lpstr>スライドテンプレート</vt:lpstr>
      <vt:lpstr>その後の年度内（3-4Q）の取組イメージ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　悠生</dc:creator>
  <cp:lastModifiedBy>渡辺　悠生</cp:lastModifiedBy>
  <cp:revision>3</cp:revision>
  <dcterms:created xsi:type="dcterms:W3CDTF">2026-06-12T05:31:59Z</dcterms:created>
  <dcterms:modified xsi:type="dcterms:W3CDTF">2026-06-17T08:07:16Z</dcterms:modified>
</cp:coreProperties>
</file>