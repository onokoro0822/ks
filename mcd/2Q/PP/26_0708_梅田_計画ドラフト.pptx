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
  </p:notesMasterIdLst>
  <p:sldIdLst>
    <p:sldId id="256" r:id="rId2"/>
    <p:sldId id="262" r:id="rId3"/>
    <p:sldId id="263" r:id="rId4"/>
    <p:sldId id="260" r:id="rId5"/>
    <p:sldId id="259" r:id="rId6"/>
    <p:sldId id="264" r:id="rId7"/>
    <p:sldId id="265"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D6C5EB5-B125-E782-B8C1-726CF45149BC}" name="関本　義秀" initials="義関" userId="S::4300617000@utac.u-tokyo.ac.jp::58197656-eaaa-4c42-a35f-aab39240ca32" providerId="AD"/>
  <p188:author id="{5AA7D6E4-D81E-CF32-42CA-661684C67DD7}" name="渡辺　悠生" initials="悠渡" userId="S::5317704775@utac.u-tokyo.ac.jp::6bac083b-911a-4d96-88e0-5ba3986ff10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2741"/>
    <a:srgbClr val="0432FF"/>
    <a:srgbClr val="BACCEC"/>
    <a:srgbClr val="BAEAC4"/>
    <a:srgbClr val="CCFFD9"/>
    <a:srgbClr val="E4ECF8"/>
    <a:srgbClr val="F2B3ED"/>
    <a:srgbClr val="E5E97E"/>
    <a:srgbClr val="000000"/>
    <a:srgbClr val="EDD0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03447BB-5D67-496B-8E87-E561075AD55C}" styleName="濃色スタイル 1 - アクセント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96"/>
    <p:restoredTop sz="96137"/>
  </p:normalViewPr>
  <p:slideViewPr>
    <p:cSldViewPr>
      <p:cViewPr>
        <p:scale>
          <a:sx n="124" d="100"/>
          <a:sy n="124" d="100"/>
        </p:scale>
        <p:origin x="152" y="152"/>
      </p:cViewPr>
      <p:guideLst>
        <p:guide orient="horz" pos="2160"/>
        <p:guide pos="3840"/>
      </p:guideLst>
    </p:cSldViewPr>
  </p:slideViewPr>
  <p:notesTextViewPr>
    <p:cViewPr>
      <p:scale>
        <a:sx n="1" d="1"/>
        <a:sy n="1" d="1"/>
      </p:scale>
      <p:origin x="0" y="0"/>
    </p:cViewPr>
  </p:notesText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DB4693-6362-5249-BACC-AA4F518A400C}" type="datetimeFigureOut">
              <a:t>2026/7/15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1E38E2-DE2E-7340-982E-9A5D15609A22}" type="slidenum">
              <a:t>‹#›</a:t>
            </a:fld>
            <a:endParaRPr kumimoji="1" lang="ja-JP" altLang="en-US"/>
          </a:p>
        </p:txBody>
      </p:sp>
    </p:spTree>
    <p:extLst>
      <p:ext uri="{BB962C8B-B14F-4D97-AF65-F5344CB8AC3E}">
        <p14:creationId xmlns:p14="http://schemas.microsoft.com/office/powerpoint/2010/main" val="2911633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F4B3A-7A44-5EE5-F1DE-9FBD4BC8C1C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CA3E473-643A-345B-0086-1959B5311A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939F9DD-160F-E4EF-5736-A76DD4E154DB}"/>
              </a:ext>
            </a:extLst>
          </p:cNvPr>
          <p:cNvSpPr>
            <a:spLocks noGrp="1"/>
          </p:cNvSpPr>
          <p:nvPr>
            <p:ph type="body" idx="1"/>
          </p:nvPr>
        </p:nvSpPr>
        <p:spPr/>
        <p:txBody>
          <a:bodyPr/>
          <a:lstStyle/>
          <a:p>
            <a:r>
              <a:rPr lang="ja-JP" altLang="ja-JP"/>
              <a:t>This slide shows how we develop a planning proposal through dialogue with an LLM.</a:t>
            </a:r>
          </a:p>
          <a:p>
            <a:r>
              <a:rPr lang="ja-JP" altLang="ja-JP"/>
              <a:t>First, we identify the target area, Shibata 1-chome, and confirm its surrounding stations and pedestrian networks. Then, we organize basic planning conditions, such as land use, scale, pedestrian flow, functions, and constraints.</a:t>
            </a:r>
          </a:p>
          <a:p>
            <a:r>
              <a:rPr lang="ja-JP" altLang="ja-JP"/>
              <a:t>Next, we compare several planning directions, such as commercial-focused, circulation-focused, and office-focused plans. Through this process, the user and the LLM gradually narrow down the proposal.</a:t>
            </a:r>
          </a:p>
          <a:p>
            <a:r>
              <a:rPr lang="ja-JP" altLang="ja-JP"/>
              <a:t>Finally, the selected direction is translated into a concrete development plan, including commercial functions, offices, public open space, and improved pedestrian connections.</a:t>
            </a:r>
          </a:p>
        </p:txBody>
      </p:sp>
      <p:sp>
        <p:nvSpPr>
          <p:cNvPr id="4" name="スライド番号プレースホルダー 3">
            <a:extLst>
              <a:ext uri="{FF2B5EF4-FFF2-40B4-BE49-F238E27FC236}">
                <a16:creationId xmlns:a16="http://schemas.microsoft.com/office/drawing/2014/main" id="{C31D2105-506E-9F25-931E-66A5466B0815}"/>
              </a:ext>
            </a:extLst>
          </p:cNvPr>
          <p:cNvSpPr>
            <a:spLocks noGrp="1"/>
          </p:cNvSpPr>
          <p:nvPr>
            <p:ph type="sldNum" sz="quarter" idx="5"/>
          </p:nvPr>
        </p:nvSpPr>
        <p:spPr/>
        <p:txBody>
          <a:bodyPr/>
          <a:lstStyle/>
          <a:p>
            <a:fld id="{0B1E38E2-DE2E-7340-982E-9A5D15609A22}" type="slidenum">
              <a:t>2</a:t>
            </a:fld>
            <a:endParaRPr kumimoji="1" lang="ja-JP" altLang="en-US"/>
          </a:p>
        </p:txBody>
      </p:sp>
    </p:spTree>
    <p:extLst>
      <p:ext uri="{BB962C8B-B14F-4D97-AF65-F5344CB8AC3E}">
        <p14:creationId xmlns:p14="http://schemas.microsoft.com/office/powerpoint/2010/main" val="374024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07403-4577-0CA9-496B-F6E27FF523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B0894-A332-5D43-B0F4-4F38FB2AC94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432591A-9D08-B579-1A78-7C707136809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756AD0E-8B4E-90A7-B5CD-5CF599871460}"/>
              </a:ext>
            </a:extLst>
          </p:cNvPr>
          <p:cNvSpPr>
            <a:spLocks noGrp="1"/>
          </p:cNvSpPr>
          <p:nvPr>
            <p:ph type="sldNum" sz="quarter" idx="5"/>
          </p:nvPr>
        </p:nvSpPr>
        <p:spPr/>
        <p:txBody>
          <a:bodyPr/>
          <a:lstStyle/>
          <a:p>
            <a:fld id="{0B1E38E2-DE2E-7340-982E-9A5D15609A22}" type="slidenum">
              <a:rPr lang="en-US" altLang="ja-JP"/>
              <a:t>3</a:t>
            </a:fld>
            <a:endParaRPr kumimoji="1" lang="ja-JP" altLang="en-US"/>
          </a:p>
        </p:txBody>
      </p:sp>
    </p:spTree>
    <p:extLst>
      <p:ext uri="{BB962C8B-B14F-4D97-AF65-F5344CB8AC3E}">
        <p14:creationId xmlns:p14="http://schemas.microsoft.com/office/powerpoint/2010/main" val="3113801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C55205D-1BEA-5E5D-5B92-8C3331D1DC79}"/>
              </a:ext>
            </a:extLst>
          </p:cNvPr>
          <p:cNvSpPr>
            <a:spLocks noGrp="1" noRot="1" noMove="1" noResize="1" noEditPoints="1" noAdjustHandles="1" noChangeArrowheads="1" noChangeShapeType="1"/>
          </p:cNvSpPr>
          <p:nvPr userDrawn="1"/>
        </p:nvSpPr>
        <p:spPr>
          <a:xfrm>
            <a:off x="0" y="1"/>
            <a:ext cx="12192000" cy="685799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011358BB-C83D-DC73-90A9-FD099D231007}"/>
              </a:ext>
            </a:extLst>
          </p:cNvPr>
          <p:cNvSpPr>
            <a:spLocks/>
          </p:cNvSpPr>
          <p:nvPr userDrawn="1"/>
        </p:nvSpPr>
        <p:spPr>
          <a:xfrm>
            <a:off x="627893" y="1718810"/>
            <a:ext cx="10936214" cy="36454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 name="Title 1"/>
          <p:cNvSpPr>
            <a:spLocks noGrp="1"/>
          </p:cNvSpPr>
          <p:nvPr>
            <p:ph type="ctrTitle"/>
          </p:nvPr>
        </p:nvSpPr>
        <p:spPr>
          <a:xfrm>
            <a:off x="815698" y="1822519"/>
            <a:ext cx="8981594" cy="1800200"/>
          </a:xfrm>
        </p:spPr>
        <p:txBody>
          <a:bodyPr anchor="b"/>
          <a:lstStyle>
            <a:lvl1pPr algn="ctr">
              <a:defRPr sz="6000">
                <a:latin typeface="HGMinchoE" panose="02020909000000000000" pitchFamily="49" charset="-128"/>
                <a:ea typeface="HGMinchoE" panose="02020909000000000000" pitchFamily="49" charset="-128"/>
              </a:defRPr>
            </a:lvl1pPr>
          </a:lstStyle>
          <a:p>
            <a:r>
              <a:rPr lang="ja-JP" altLang="en-US" dirty="0"/>
              <a:t>マスター タイトルの書式設定</a:t>
            </a:r>
            <a:endParaRPr lang="en-US" dirty="0"/>
          </a:p>
        </p:txBody>
      </p:sp>
      <p:sp>
        <p:nvSpPr>
          <p:cNvPr id="4" name="Date Placeholder 3"/>
          <p:cNvSpPr>
            <a:spLocks noGrp="1"/>
          </p:cNvSpPr>
          <p:nvPr>
            <p:ph type="dt" sz="half" idx="10"/>
          </p:nvPr>
        </p:nvSpPr>
        <p:spPr/>
        <p:txBody>
          <a:bodyPr/>
          <a:lstStyle/>
          <a:p>
            <a:r>
              <a:rPr lang="en-US" altLang="ja-JP"/>
              <a:t>2026/6</a:t>
            </a:r>
            <a:endParaRPr kumimoji="1" lang="ja-JP" altLang="en-US"/>
          </a:p>
        </p:txBody>
      </p:sp>
      <p:sp>
        <p:nvSpPr>
          <p:cNvPr id="5" name="Footer Placeholder 4"/>
          <p:cNvSpPr>
            <a:spLocks noGrp="1"/>
          </p:cNvSpPr>
          <p:nvPr>
            <p:ph type="ftr" sz="quarter" idx="11"/>
          </p:nvPr>
        </p:nvSpPr>
        <p:spPr/>
        <p:txBody>
          <a:bodyPr/>
          <a:lstStyle/>
          <a:p>
            <a:r>
              <a:rPr kumimoji="1" lang="ja-JP" altLang="en-US"/>
              <a:t>関本・中居研究室</a:t>
            </a:r>
          </a:p>
        </p:txBody>
      </p:sp>
      <p:sp>
        <p:nvSpPr>
          <p:cNvPr id="6" name="Slide Number Placeholder 5"/>
          <p:cNvSpPr>
            <a:spLocks noGrp="1"/>
          </p:cNvSpPr>
          <p:nvPr>
            <p:ph type="sldNum" sz="quarter" idx="12"/>
          </p:nvPr>
        </p:nvSpPr>
        <p:spPr/>
        <p:txBody>
          <a:bodyPr/>
          <a:lstStyle/>
          <a:p>
            <a:fld id="{6539E37A-E522-3D47-AAB7-DDF67C94A05D}" type="slidenum">
              <a:t>‹#›</a:t>
            </a:fld>
            <a:endParaRPr kumimoji="1" lang="ja-JP" altLang="en-US"/>
          </a:p>
        </p:txBody>
      </p:sp>
      <p:sp>
        <p:nvSpPr>
          <p:cNvPr id="10" name="正方形/長方形 9">
            <a:extLst>
              <a:ext uri="{FF2B5EF4-FFF2-40B4-BE49-F238E27FC236}">
                <a16:creationId xmlns:a16="http://schemas.microsoft.com/office/drawing/2014/main" id="{4CD3B0C5-05CC-6CD8-19D9-83A04040DEB5}"/>
              </a:ext>
            </a:extLst>
          </p:cNvPr>
          <p:cNvSpPr/>
          <p:nvPr userDrawn="1"/>
        </p:nvSpPr>
        <p:spPr>
          <a:xfrm>
            <a:off x="815696" y="3900233"/>
            <a:ext cx="3915435" cy="45719"/>
          </a:xfrm>
          <a:prstGeom prst="rect">
            <a:avLst/>
          </a:prstGeom>
          <a:solidFill>
            <a:schemeClr val="tx2">
              <a:lumMod val="75000"/>
              <a:lumOff val="2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Subtitle 2">
            <a:extLst>
              <a:ext uri="{FF2B5EF4-FFF2-40B4-BE49-F238E27FC236}">
                <a16:creationId xmlns:a16="http://schemas.microsoft.com/office/drawing/2014/main" id="{1EA00032-B280-9C70-9D60-577AEB1A3456}"/>
              </a:ext>
            </a:extLst>
          </p:cNvPr>
          <p:cNvSpPr txBox="1">
            <a:spLocks/>
          </p:cNvSpPr>
          <p:nvPr userDrawn="1"/>
        </p:nvSpPr>
        <p:spPr>
          <a:xfrm>
            <a:off x="815695" y="4494532"/>
            <a:ext cx="5032775" cy="3986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altLang="ja-JP" sz="1800" dirty="0">
                <a:solidFill>
                  <a:schemeClr val="bg2">
                    <a:lumMod val="50000"/>
                  </a:schemeClr>
                </a:solidFill>
              </a:rPr>
              <a:t>2026</a:t>
            </a:r>
            <a:r>
              <a:rPr lang="ja-JP" altLang="en-US" sz="1800" dirty="0">
                <a:solidFill>
                  <a:schemeClr val="bg2">
                    <a:lumMod val="50000"/>
                  </a:schemeClr>
                </a:solidFill>
              </a:rPr>
              <a:t>年</a:t>
            </a:r>
            <a:r>
              <a:rPr lang="en-US" altLang="ja-JP" sz="1800" dirty="0">
                <a:solidFill>
                  <a:schemeClr val="bg2">
                    <a:lumMod val="50000"/>
                  </a:schemeClr>
                </a:solidFill>
              </a:rPr>
              <a:t>6</a:t>
            </a:r>
            <a:r>
              <a:rPr lang="ja-JP" altLang="en-US" sz="1800" dirty="0">
                <a:solidFill>
                  <a:schemeClr val="bg2">
                    <a:lumMod val="50000"/>
                  </a:schemeClr>
                </a:solidFill>
              </a:rPr>
              <a:t>月　関本・中居研究室</a:t>
            </a:r>
            <a:endParaRPr lang="en-US" sz="1800" dirty="0">
              <a:solidFill>
                <a:schemeClr val="bg2">
                  <a:lumMod val="50000"/>
                </a:schemeClr>
              </a:solidFill>
            </a:endParaRPr>
          </a:p>
        </p:txBody>
      </p:sp>
      <p:sp>
        <p:nvSpPr>
          <p:cNvPr id="12" name="Subtitle 2">
            <a:extLst>
              <a:ext uri="{FF2B5EF4-FFF2-40B4-BE49-F238E27FC236}">
                <a16:creationId xmlns:a16="http://schemas.microsoft.com/office/drawing/2014/main" id="{8C5479DB-FB15-2DE2-02DC-3F41B6BAA47D}"/>
              </a:ext>
            </a:extLst>
          </p:cNvPr>
          <p:cNvSpPr txBox="1">
            <a:spLocks/>
          </p:cNvSpPr>
          <p:nvPr userDrawn="1"/>
        </p:nvSpPr>
        <p:spPr>
          <a:xfrm>
            <a:off x="815696" y="4636415"/>
            <a:ext cx="5032775" cy="3986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endParaRPr lang="en-US" sz="1400" dirty="0">
              <a:solidFill>
                <a:schemeClr val="bg2">
                  <a:lumMod val="50000"/>
                </a:schemeClr>
              </a:solidFill>
            </a:endParaRPr>
          </a:p>
        </p:txBody>
      </p:sp>
      <p:sp>
        <p:nvSpPr>
          <p:cNvPr id="13" name="Subtitle 2">
            <a:extLst>
              <a:ext uri="{FF2B5EF4-FFF2-40B4-BE49-F238E27FC236}">
                <a16:creationId xmlns:a16="http://schemas.microsoft.com/office/drawing/2014/main" id="{265B0414-1E04-19AB-89FC-B267F02CDFAF}"/>
              </a:ext>
            </a:extLst>
          </p:cNvPr>
          <p:cNvSpPr txBox="1">
            <a:spLocks/>
          </p:cNvSpPr>
          <p:nvPr userDrawn="1"/>
        </p:nvSpPr>
        <p:spPr>
          <a:xfrm>
            <a:off x="834852" y="4095900"/>
            <a:ext cx="5032775" cy="3986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ja-JP" altLang="en-US" sz="1800" dirty="0">
                <a:solidFill>
                  <a:schemeClr val="bg2">
                    <a:lumMod val="50000"/>
                  </a:schemeClr>
                </a:solidFill>
              </a:rPr>
              <a:t>芝田一丁目　取組計画</a:t>
            </a:r>
            <a:endParaRPr lang="en-US" sz="1800" dirty="0">
              <a:solidFill>
                <a:schemeClr val="bg2">
                  <a:lumMod val="50000"/>
                </a:schemeClr>
              </a:solidFill>
            </a:endParaRPr>
          </a:p>
        </p:txBody>
      </p:sp>
    </p:spTree>
    <p:extLst>
      <p:ext uri="{BB962C8B-B14F-4D97-AF65-F5344CB8AC3E}">
        <p14:creationId xmlns:p14="http://schemas.microsoft.com/office/powerpoint/2010/main" val="1756810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844EDEF3-5F82-A47A-BCEE-E6EA44217C62}"/>
              </a:ext>
            </a:extLst>
          </p:cNvPr>
          <p:cNvSpPr>
            <a:spLocks noGrp="1" noRot="1" noMove="1" noResize="1" noEditPoints="1" noAdjustHandles="1" noChangeArrowheads="1" noChangeShapeType="1"/>
          </p:cNvSpPr>
          <p:nvPr userDrawn="1"/>
        </p:nvSpPr>
        <p:spPr>
          <a:xfrm>
            <a:off x="0" y="1"/>
            <a:ext cx="12192000" cy="90871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title"/>
          </p:nvPr>
        </p:nvSpPr>
        <p:spPr>
          <a:xfrm>
            <a:off x="200345" y="1"/>
            <a:ext cx="10326470" cy="908719"/>
          </a:xfrm>
        </p:spPr>
        <p:txBody>
          <a:bodyPr/>
          <a:lstStyle>
            <a:lvl1pPr>
              <a:defRPr sz="2400">
                <a:solidFill>
                  <a:schemeClr val="bg1"/>
                </a:solidFill>
                <a:latin typeface="HGMinchoE" panose="02020909000000000000" pitchFamily="49" charset="-128"/>
                <a:ea typeface="HGMinchoE" panose="02020909000000000000" pitchFamily="49" charset="-128"/>
              </a:defRPr>
            </a:lvl1pPr>
          </a:lstStyle>
          <a:p>
            <a:r>
              <a:rPr lang="ja-JP" altLang="en-US" dirty="0"/>
              <a:t>マスター タイトルの書式設定</a:t>
            </a:r>
            <a:endParaRPr lang="en-US" dirty="0"/>
          </a:p>
        </p:txBody>
      </p:sp>
      <p:sp>
        <p:nvSpPr>
          <p:cNvPr id="3" name="Content Placeholder 2"/>
          <p:cNvSpPr>
            <a:spLocks noGrp="1"/>
          </p:cNvSpPr>
          <p:nvPr>
            <p:ph idx="1"/>
          </p:nvPr>
        </p:nvSpPr>
        <p:spPr>
          <a:xfrm>
            <a:off x="838200" y="1253331"/>
            <a:ext cx="10515600" cy="435133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r>
              <a:rPr lang="en-US" altLang="ja-JP"/>
              <a:t>2026/6</a:t>
            </a:r>
            <a:endParaRPr kumimoji="1" lang="ja-JP" altLang="en-US"/>
          </a:p>
        </p:txBody>
      </p:sp>
      <p:sp>
        <p:nvSpPr>
          <p:cNvPr id="5" name="Footer Placeholder 4"/>
          <p:cNvSpPr>
            <a:spLocks noGrp="1"/>
          </p:cNvSpPr>
          <p:nvPr>
            <p:ph type="ftr" sz="quarter" idx="11"/>
          </p:nvPr>
        </p:nvSpPr>
        <p:spPr/>
        <p:txBody>
          <a:bodyPr/>
          <a:lstStyle/>
          <a:p>
            <a:r>
              <a:rPr kumimoji="1" lang="ja-JP" altLang="en-US"/>
              <a:t>関本・中居研究室</a:t>
            </a:r>
          </a:p>
        </p:txBody>
      </p:sp>
      <p:sp>
        <p:nvSpPr>
          <p:cNvPr id="6" name="Slide Number Placeholder 5"/>
          <p:cNvSpPr>
            <a:spLocks noGrp="1"/>
          </p:cNvSpPr>
          <p:nvPr>
            <p:ph type="sldNum" sz="quarter" idx="12"/>
          </p:nvPr>
        </p:nvSpPr>
        <p:spPr/>
        <p:txBody>
          <a:bodyPr/>
          <a:lstStyle/>
          <a:p>
            <a:fld id="{6539E37A-E522-3D47-AAB7-DDF67C94A05D}" type="slidenum">
              <a:rPr/>
              <a:t>‹#›</a:t>
            </a:fld>
            <a:endParaRPr kumimoji="1" lang="ja-JP" altLang="en-US"/>
          </a:p>
        </p:txBody>
      </p:sp>
    </p:spTree>
    <p:extLst>
      <p:ext uri="{BB962C8B-B14F-4D97-AF65-F5344CB8AC3E}">
        <p14:creationId xmlns:p14="http://schemas.microsoft.com/office/powerpoint/2010/main" val="1383340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dirty="0"/>
              <a:t>マスター テキストの書式設定</a:t>
            </a:r>
          </a:p>
        </p:txBody>
      </p:sp>
      <p:sp>
        <p:nvSpPr>
          <p:cNvPr id="4" name="Date Placeholder 3"/>
          <p:cNvSpPr>
            <a:spLocks noGrp="1"/>
          </p:cNvSpPr>
          <p:nvPr>
            <p:ph type="dt" sz="half" idx="10"/>
          </p:nvPr>
        </p:nvSpPr>
        <p:spPr/>
        <p:txBody>
          <a:bodyPr/>
          <a:lstStyle/>
          <a:p>
            <a:r>
              <a:rPr lang="en-US" altLang="ja-JP"/>
              <a:t>2026/6</a:t>
            </a:r>
            <a:endParaRPr kumimoji="1" lang="ja-JP" altLang="en-US"/>
          </a:p>
        </p:txBody>
      </p:sp>
      <p:sp>
        <p:nvSpPr>
          <p:cNvPr id="5" name="Footer Placeholder 4"/>
          <p:cNvSpPr>
            <a:spLocks noGrp="1"/>
          </p:cNvSpPr>
          <p:nvPr>
            <p:ph type="ftr" sz="quarter" idx="11"/>
          </p:nvPr>
        </p:nvSpPr>
        <p:spPr/>
        <p:txBody>
          <a:bodyPr/>
          <a:lstStyle/>
          <a:p>
            <a:r>
              <a:rPr kumimoji="1" lang="ja-JP" altLang="en-US"/>
              <a:t>関本・中居研究室</a:t>
            </a:r>
          </a:p>
        </p:txBody>
      </p:sp>
      <p:sp>
        <p:nvSpPr>
          <p:cNvPr id="6" name="Slide Number Placeholder 5"/>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3826114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Date Placeholder 4"/>
          <p:cNvSpPr>
            <a:spLocks noGrp="1"/>
          </p:cNvSpPr>
          <p:nvPr>
            <p:ph type="dt" sz="half" idx="10"/>
          </p:nvPr>
        </p:nvSpPr>
        <p:spPr/>
        <p:txBody>
          <a:bodyPr/>
          <a:lstStyle/>
          <a:p>
            <a:r>
              <a:rPr lang="en-US" altLang="ja-JP"/>
              <a:t>2026/6</a:t>
            </a:r>
            <a:endParaRPr kumimoji="1" lang="ja-JP" altLang="en-US"/>
          </a:p>
        </p:txBody>
      </p:sp>
      <p:sp>
        <p:nvSpPr>
          <p:cNvPr id="6" name="Footer Placeholder 5"/>
          <p:cNvSpPr>
            <a:spLocks noGrp="1"/>
          </p:cNvSpPr>
          <p:nvPr>
            <p:ph type="ftr" sz="quarter" idx="11"/>
          </p:nvPr>
        </p:nvSpPr>
        <p:spPr/>
        <p:txBody>
          <a:bodyPr/>
          <a:lstStyle/>
          <a:p>
            <a:r>
              <a:rPr kumimoji="1" lang="ja-JP" altLang="en-US"/>
              <a:t>関本・中居研究室</a:t>
            </a:r>
          </a:p>
        </p:txBody>
      </p:sp>
      <p:sp>
        <p:nvSpPr>
          <p:cNvPr id="7" name="Slide Number Placeholder 6"/>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3375050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7" name="Date Placeholder 6"/>
          <p:cNvSpPr>
            <a:spLocks noGrp="1"/>
          </p:cNvSpPr>
          <p:nvPr>
            <p:ph type="dt" sz="half" idx="10"/>
          </p:nvPr>
        </p:nvSpPr>
        <p:spPr/>
        <p:txBody>
          <a:bodyPr/>
          <a:lstStyle/>
          <a:p>
            <a:r>
              <a:rPr lang="en-US" altLang="ja-JP"/>
              <a:t>2026/6</a:t>
            </a:r>
            <a:endParaRPr kumimoji="1" lang="ja-JP" altLang="en-US"/>
          </a:p>
        </p:txBody>
      </p:sp>
      <p:sp>
        <p:nvSpPr>
          <p:cNvPr id="8" name="Footer Placeholder 7"/>
          <p:cNvSpPr>
            <a:spLocks noGrp="1"/>
          </p:cNvSpPr>
          <p:nvPr>
            <p:ph type="ftr" sz="quarter" idx="11"/>
          </p:nvPr>
        </p:nvSpPr>
        <p:spPr/>
        <p:txBody>
          <a:bodyPr/>
          <a:lstStyle/>
          <a:p>
            <a:r>
              <a:rPr kumimoji="1" lang="ja-JP" altLang="en-US"/>
              <a:t>関本・中居研究室</a:t>
            </a:r>
          </a:p>
        </p:txBody>
      </p:sp>
      <p:sp>
        <p:nvSpPr>
          <p:cNvPr id="9" name="Slide Number Placeholder 8"/>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3831475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Date Placeholder 2"/>
          <p:cNvSpPr>
            <a:spLocks noGrp="1"/>
          </p:cNvSpPr>
          <p:nvPr>
            <p:ph type="dt" sz="half" idx="10"/>
          </p:nvPr>
        </p:nvSpPr>
        <p:spPr/>
        <p:txBody>
          <a:bodyPr/>
          <a:lstStyle/>
          <a:p>
            <a:r>
              <a:rPr lang="en-US" altLang="ja-JP"/>
              <a:t>2026/6</a:t>
            </a:r>
            <a:endParaRPr kumimoji="1" lang="ja-JP" altLang="en-US"/>
          </a:p>
        </p:txBody>
      </p:sp>
      <p:sp>
        <p:nvSpPr>
          <p:cNvPr id="4" name="Footer Placeholder 3"/>
          <p:cNvSpPr>
            <a:spLocks noGrp="1"/>
          </p:cNvSpPr>
          <p:nvPr>
            <p:ph type="ftr" sz="quarter" idx="11"/>
          </p:nvPr>
        </p:nvSpPr>
        <p:spPr/>
        <p:txBody>
          <a:bodyPr/>
          <a:lstStyle/>
          <a:p>
            <a:r>
              <a:rPr kumimoji="1" lang="ja-JP" altLang="en-US"/>
              <a:t>関本・中居研究室</a:t>
            </a:r>
          </a:p>
        </p:txBody>
      </p:sp>
      <p:sp>
        <p:nvSpPr>
          <p:cNvPr id="5" name="Slide Number Placeholder 4"/>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924625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ltLang="ja-JP"/>
              <a:t>2026/6</a:t>
            </a:r>
            <a:endParaRPr kumimoji="1" lang="ja-JP" altLang="en-US"/>
          </a:p>
        </p:txBody>
      </p:sp>
      <p:sp>
        <p:nvSpPr>
          <p:cNvPr id="3" name="Footer Placeholder 2"/>
          <p:cNvSpPr>
            <a:spLocks noGrp="1"/>
          </p:cNvSpPr>
          <p:nvPr>
            <p:ph type="ftr" sz="quarter" idx="11"/>
          </p:nvPr>
        </p:nvSpPr>
        <p:spPr/>
        <p:txBody>
          <a:bodyPr/>
          <a:lstStyle/>
          <a:p>
            <a:r>
              <a:rPr kumimoji="1" lang="ja-JP" altLang="en-US"/>
              <a:t>関本・中居研究室</a:t>
            </a:r>
          </a:p>
        </p:txBody>
      </p:sp>
      <p:sp>
        <p:nvSpPr>
          <p:cNvPr id="4" name="Slide Number Placeholder 3"/>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338419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dirty="0"/>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5" name="Date Placeholder 4"/>
          <p:cNvSpPr>
            <a:spLocks noGrp="1"/>
          </p:cNvSpPr>
          <p:nvPr>
            <p:ph type="dt" sz="half" idx="10"/>
          </p:nvPr>
        </p:nvSpPr>
        <p:spPr/>
        <p:txBody>
          <a:bodyPr/>
          <a:lstStyle/>
          <a:p>
            <a:r>
              <a:rPr lang="en-US" altLang="ja-JP"/>
              <a:t>2026/6</a:t>
            </a:r>
            <a:endParaRPr kumimoji="1" lang="ja-JP" altLang="en-US"/>
          </a:p>
        </p:txBody>
      </p:sp>
      <p:sp>
        <p:nvSpPr>
          <p:cNvPr id="6" name="Footer Placeholder 5"/>
          <p:cNvSpPr>
            <a:spLocks noGrp="1"/>
          </p:cNvSpPr>
          <p:nvPr>
            <p:ph type="ftr" sz="quarter" idx="11"/>
          </p:nvPr>
        </p:nvSpPr>
        <p:spPr/>
        <p:txBody>
          <a:bodyPr/>
          <a:lstStyle/>
          <a:p>
            <a:r>
              <a:rPr kumimoji="1" lang="ja-JP" altLang="en-US"/>
              <a:t>関本・中居研究室</a:t>
            </a:r>
          </a:p>
        </p:txBody>
      </p:sp>
      <p:sp>
        <p:nvSpPr>
          <p:cNvPr id="7" name="Slide Number Placeholder 6"/>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2960222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dirty="0"/>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dirty="0"/>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5" name="Date Placeholder 4"/>
          <p:cNvSpPr>
            <a:spLocks noGrp="1"/>
          </p:cNvSpPr>
          <p:nvPr>
            <p:ph type="dt" sz="half" idx="10"/>
          </p:nvPr>
        </p:nvSpPr>
        <p:spPr/>
        <p:txBody>
          <a:bodyPr/>
          <a:lstStyle/>
          <a:p>
            <a:r>
              <a:rPr lang="en-US" altLang="ja-JP"/>
              <a:t>2026/6</a:t>
            </a:r>
            <a:endParaRPr kumimoji="1" lang="ja-JP" altLang="en-US"/>
          </a:p>
        </p:txBody>
      </p:sp>
      <p:sp>
        <p:nvSpPr>
          <p:cNvPr id="6" name="Footer Placeholder 5"/>
          <p:cNvSpPr>
            <a:spLocks noGrp="1"/>
          </p:cNvSpPr>
          <p:nvPr>
            <p:ph type="ftr" sz="quarter" idx="11"/>
          </p:nvPr>
        </p:nvSpPr>
        <p:spPr/>
        <p:txBody>
          <a:bodyPr/>
          <a:lstStyle/>
          <a:p>
            <a:r>
              <a:rPr kumimoji="1" lang="ja-JP" altLang="en-US"/>
              <a:t>関本・中居研究室</a:t>
            </a:r>
          </a:p>
        </p:txBody>
      </p:sp>
      <p:sp>
        <p:nvSpPr>
          <p:cNvPr id="7" name="Slide Number Placeholder 6"/>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1562891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r>
              <a:rPr lang="en-US" altLang="ja-JP"/>
              <a:t>2026/6</a:t>
            </a:r>
            <a:endParaRPr kumimoji="1" lang="ja-JP" altLang="en-US"/>
          </a:p>
        </p:txBody>
      </p:sp>
      <p:sp>
        <p:nvSpPr>
          <p:cNvPr id="5" name="Footer Placeholder 4"/>
          <p:cNvSpPr>
            <a:spLocks noGrp="1"/>
          </p:cNvSpPr>
          <p:nvPr>
            <p:ph type="ftr" sz="quarter" idx="11"/>
          </p:nvPr>
        </p:nvSpPr>
        <p:spPr/>
        <p:txBody>
          <a:bodyPr/>
          <a:lstStyle/>
          <a:p>
            <a:r>
              <a:rPr kumimoji="1" lang="ja-JP" altLang="en-US"/>
              <a:t>関本・中居研究室</a:t>
            </a:r>
          </a:p>
        </p:txBody>
      </p:sp>
      <p:sp>
        <p:nvSpPr>
          <p:cNvPr id="6" name="Slide Number Placeholder 5"/>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592028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dirty="0"/>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r>
              <a:rPr lang="en-US" altLang="ja-JP"/>
              <a:t>2026/6</a:t>
            </a:r>
            <a:endParaRPr kumimoji="1" lang="ja-JP" altLang="en-US"/>
          </a:p>
        </p:txBody>
      </p:sp>
      <p:sp>
        <p:nvSpPr>
          <p:cNvPr id="5" name="Footer Placeholder 4"/>
          <p:cNvSpPr>
            <a:spLocks noGrp="1"/>
          </p:cNvSpPr>
          <p:nvPr>
            <p:ph type="ftr" sz="quarter" idx="11"/>
          </p:nvPr>
        </p:nvSpPr>
        <p:spPr/>
        <p:txBody>
          <a:bodyPr/>
          <a:lstStyle/>
          <a:p>
            <a:r>
              <a:rPr kumimoji="1" lang="ja-JP" altLang="en-US"/>
              <a:t>関本・中居研究室</a:t>
            </a:r>
          </a:p>
        </p:txBody>
      </p:sp>
      <p:sp>
        <p:nvSpPr>
          <p:cNvPr id="6" name="Slide Number Placeholder 5"/>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2585553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ltLang="ja-JP"/>
              <a:t>2026/6</a:t>
            </a:r>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kumimoji="1" lang="ja-JP" altLang="en-US"/>
              <a:t>関本・中居研究室</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a:solidFill>
                  <a:schemeClr val="tx1">
                    <a:tint val="82000"/>
                  </a:schemeClr>
                </a:solidFill>
              </a:defRPr>
            </a:lvl1pPr>
          </a:lstStyle>
          <a:p>
            <a:fld id="{6539E37A-E522-3D47-AAB7-DDF67C94A05D}" type="slidenum">
              <a:rPr kumimoji="1" lang="ja-JP" altLang="en-US"/>
              <a:pPr/>
              <a:t>‹#›</a:t>
            </a:fld>
            <a:endParaRPr kumimoji="1" lang="ja-JP" altLang="en-US" b="1"/>
          </a:p>
        </p:txBody>
      </p:sp>
    </p:spTree>
    <p:extLst>
      <p:ext uri="{BB962C8B-B14F-4D97-AF65-F5344CB8AC3E}">
        <p14:creationId xmlns:p14="http://schemas.microsoft.com/office/powerpoint/2010/main" val="29235446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kumimoji="1"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9B55DF-5A51-4866-F273-38E181C764D2}"/>
              </a:ext>
            </a:extLst>
          </p:cNvPr>
          <p:cNvSpPr>
            <a:spLocks noGrp="1"/>
          </p:cNvSpPr>
          <p:nvPr>
            <p:ph type="ctrTitle"/>
          </p:nvPr>
        </p:nvSpPr>
        <p:spPr>
          <a:xfrm>
            <a:off x="830415" y="1943835"/>
            <a:ext cx="8910990" cy="1665185"/>
          </a:xfrm>
        </p:spPr>
        <p:txBody>
          <a:bodyPr anchor="t">
            <a:normAutofit/>
          </a:bodyPr>
          <a:lstStyle/>
          <a:p>
            <a:pPr algn="l"/>
            <a:r>
              <a:rPr lang="ja-JP" altLang="ja-JP" sz="3600"/>
              <a:t>開発計画の粒度に応じた</a:t>
            </a:r>
            <a:br>
              <a:rPr lang="en-US" altLang="ja-JP" sz="3600"/>
            </a:br>
            <a:r>
              <a:rPr lang="ja-JP" altLang="ja-JP" sz="3600"/>
              <a:t>様々なパターン生成とその評価</a:t>
            </a:r>
            <a:br>
              <a:rPr lang="en-US" altLang="ja-JP" sz="3600"/>
            </a:br>
            <a:r>
              <a:rPr lang="ja-JP" altLang="ja-JP" sz="3600"/>
              <a:t>～芝田一丁目の開発計画を題材に</a:t>
            </a:r>
            <a:endParaRPr kumimoji="1" lang="ja-JP" altLang="en-US" sz="3600"/>
          </a:p>
        </p:txBody>
      </p:sp>
    </p:spTree>
    <p:extLst>
      <p:ext uri="{BB962C8B-B14F-4D97-AF65-F5344CB8AC3E}">
        <p14:creationId xmlns:p14="http://schemas.microsoft.com/office/powerpoint/2010/main" val="3625556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AAB8C-7B96-8798-4D85-2D27073D1464}"/>
            </a:ext>
          </a:extLst>
        </p:cNvPr>
        <p:cNvGrpSpPr/>
        <p:nvPr/>
      </p:nvGrpSpPr>
      <p:grpSpPr>
        <a:xfrm>
          <a:off x="0" y="0"/>
          <a:ext cx="0" cy="0"/>
          <a:chOff x="0" y="0"/>
          <a:chExt cx="0" cy="0"/>
        </a:xfrm>
      </p:grpSpPr>
      <p:sp>
        <p:nvSpPr>
          <p:cNvPr id="12" name="Rounded Rectangle 5">
            <a:extLst>
              <a:ext uri="{FF2B5EF4-FFF2-40B4-BE49-F238E27FC236}">
                <a16:creationId xmlns:a16="http://schemas.microsoft.com/office/drawing/2014/main" id="{AD297800-830A-8224-51EB-6C7132C8F991}"/>
              </a:ext>
            </a:extLst>
          </p:cNvPr>
          <p:cNvSpPr>
            <a:spLocks noGrp="1" noRot="1" noMove="1" noResize="1" noEditPoints="1" noAdjustHandles="1" noChangeArrowheads="1" noChangeShapeType="1"/>
          </p:cNvSpPr>
          <p:nvPr/>
        </p:nvSpPr>
        <p:spPr>
          <a:xfrm>
            <a:off x="3959915" y="1368624"/>
            <a:ext cx="3351220" cy="2553406"/>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 name="グループ化 6">
            <a:extLst>
              <a:ext uri="{FF2B5EF4-FFF2-40B4-BE49-F238E27FC236}">
                <a16:creationId xmlns:a16="http://schemas.microsoft.com/office/drawing/2014/main" id="{3FE538E4-2223-6431-F1CF-855E00BDA069}"/>
              </a:ext>
            </a:extLst>
          </p:cNvPr>
          <p:cNvGrpSpPr/>
          <p:nvPr/>
        </p:nvGrpSpPr>
        <p:grpSpPr>
          <a:xfrm>
            <a:off x="649685" y="2224035"/>
            <a:ext cx="2966492" cy="4136912"/>
            <a:chOff x="649685" y="1422978"/>
            <a:chExt cx="3383674" cy="4804980"/>
          </a:xfrm>
        </p:grpSpPr>
        <p:pic>
          <p:nvPicPr>
            <p:cNvPr id="8" name="図 7">
              <a:extLst>
                <a:ext uri="{FF2B5EF4-FFF2-40B4-BE49-F238E27FC236}">
                  <a16:creationId xmlns:a16="http://schemas.microsoft.com/office/drawing/2014/main" id="{A462132F-E7F7-CF45-A873-2D1FA19B92C9}"/>
                </a:ext>
              </a:extLst>
            </p:cNvPr>
            <p:cNvPicPr>
              <a:picLocks noChangeAspect="1"/>
            </p:cNvPicPr>
            <p:nvPr/>
          </p:nvPicPr>
          <p:blipFill>
            <a:blip r:embed="rId3"/>
            <a:srcRect/>
            <a:stretch/>
          </p:blipFill>
          <p:spPr>
            <a:xfrm>
              <a:off x="649685" y="1422978"/>
              <a:ext cx="3383674" cy="4804980"/>
            </a:xfrm>
            <a:prstGeom prst="rect">
              <a:avLst/>
            </a:prstGeom>
          </p:spPr>
        </p:pic>
        <p:sp>
          <p:nvSpPr>
            <p:cNvPr id="28" name="Oval 6">
              <a:extLst>
                <a:ext uri="{FF2B5EF4-FFF2-40B4-BE49-F238E27FC236}">
                  <a16:creationId xmlns:a16="http://schemas.microsoft.com/office/drawing/2014/main" id="{7C3E15D9-68B2-E19C-E7C8-D7CD4B650E0C}"/>
                </a:ext>
              </a:extLst>
            </p:cNvPr>
            <p:cNvSpPr/>
            <p:nvPr/>
          </p:nvSpPr>
          <p:spPr>
            <a:xfrm>
              <a:off x="1269322" y="3690529"/>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1</a:t>
              </a:r>
              <a:endParaRPr sz="1500" b="1">
                <a:solidFill>
                  <a:srgbClr val="FFFFFF"/>
                </a:solidFill>
                <a:latin typeface="Noto Sans CJK JP"/>
              </a:endParaRPr>
            </a:p>
          </p:txBody>
        </p:sp>
        <p:sp>
          <p:nvSpPr>
            <p:cNvPr id="43" name="テキスト ボックス 42">
              <a:extLst>
                <a:ext uri="{FF2B5EF4-FFF2-40B4-BE49-F238E27FC236}">
                  <a16:creationId xmlns:a16="http://schemas.microsoft.com/office/drawing/2014/main" id="{83221305-79EF-2CB5-EDF6-B149F6477A1F}"/>
                </a:ext>
              </a:extLst>
            </p:cNvPr>
            <p:cNvSpPr txBox="1"/>
            <p:nvPr/>
          </p:nvSpPr>
          <p:spPr>
            <a:xfrm>
              <a:off x="1235459" y="3899991"/>
              <a:ext cx="744131" cy="294921"/>
            </a:xfrm>
            <a:prstGeom prst="rect">
              <a:avLst/>
            </a:prstGeom>
            <a:noFill/>
          </p:spPr>
          <p:txBody>
            <a:bodyPr wrap="square" rtlCol="0">
              <a:spAutoFit/>
            </a:bodyPr>
            <a:lstStyle/>
            <a:p>
              <a:r>
                <a:rPr kumimoji="1" lang="en-US" altLang="ja-JP" sz="1050"/>
                <a:t>1,98</a:t>
              </a:r>
              <a:r>
                <a:rPr lang="ja-JP" altLang="ja-JP" sz="1050"/>
                <a:t>0㎡</a:t>
              </a:r>
              <a:endParaRPr kumimoji="1" lang="en-US" altLang="ja-JP" sz="1050"/>
            </a:p>
          </p:txBody>
        </p:sp>
        <p:sp>
          <p:nvSpPr>
            <p:cNvPr id="216" name="Oval 6">
              <a:extLst>
                <a:ext uri="{FF2B5EF4-FFF2-40B4-BE49-F238E27FC236}">
                  <a16:creationId xmlns:a16="http://schemas.microsoft.com/office/drawing/2014/main" id="{03DDD7FC-AFC7-1CC9-F6DD-13B41AD7539E}"/>
                </a:ext>
              </a:extLst>
            </p:cNvPr>
            <p:cNvSpPr/>
            <p:nvPr/>
          </p:nvSpPr>
          <p:spPr>
            <a:xfrm>
              <a:off x="841365" y="4591304"/>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3</a:t>
              </a:r>
              <a:endParaRPr sz="1500" b="1">
                <a:solidFill>
                  <a:srgbClr val="FFFFFF"/>
                </a:solidFill>
                <a:latin typeface="Noto Sans CJK JP"/>
              </a:endParaRPr>
            </a:p>
          </p:txBody>
        </p:sp>
        <p:sp>
          <p:nvSpPr>
            <p:cNvPr id="246" name="正方形/長方形 245">
              <a:extLst>
                <a:ext uri="{FF2B5EF4-FFF2-40B4-BE49-F238E27FC236}">
                  <a16:creationId xmlns:a16="http://schemas.microsoft.com/office/drawing/2014/main" id="{590121A2-65D4-44D1-656B-2A5D0D638487}"/>
                </a:ext>
              </a:extLst>
            </p:cNvPr>
            <p:cNvSpPr/>
            <p:nvPr/>
          </p:nvSpPr>
          <p:spPr>
            <a:xfrm rot="21007099">
              <a:off x="1478102" y="2877394"/>
              <a:ext cx="421475" cy="600768"/>
            </a:xfrm>
            <a:prstGeom prst="rect">
              <a:avLst/>
            </a:pr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7" name="正方形/長方形 246">
              <a:extLst>
                <a:ext uri="{FF2B5EF4-FFF2-40B4-BE49-F238E27FC236}">
                  <a16:creationId xmlns:a16="http://schemas.microsoft.com/office/drawing/2014/main" id="{3BB79DDD-3E38-028E-D169-DA1A3620D0DA}"/>
                </a:ext>
              </a:extLst>
            </p:cNvPr>
            <p:cNvSpPr/>
            <p:nvPr/>
          </p:nvSpPr>
          <p:spPr>
            <a:xfrm rot="21007099">
              <a:off x="1286658" y="2931056"/>
              <a:ext cx="272063" cy="1397919"/>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0 w 421475"/>
                <a:gd name="csY0" fmla="*/ 0 h 1397919"/>
                <a:gd name="csX1" fmla="*/ 421475 w 421475"/>
                <a:gd name="csY1" fmla="*/ 0 h 1397919"/>
                <a:gd name="csX2" fmla="*/ 421475 w 421475"/>
                <a:gd name="csY2" fmla="*/ 600768 h 1397919"/>
                <a:gd name="csX3" fmla="*/ 154414 w 421475"/>
                <a:gd name="csY3" fmla="*/ 1397919 h 1397919"/>
                <a:gd name="csX4" fmla="*/ 0 w 421475"/>
                <a:gd name="csY4" fmla="*/ 0 h 1397919"/>
                <a:gd name="csX0" fmla="*/ 5165 w 267061"/>
                <a:gd name="csY0" fmla="*/ 804496 h 1397919"/>
                <a:gd name="csX1" fmla="*/ 267061 w 267061"/>
                <a:gd name="csY1" fmla="*/ 0 h 1397919"/>
                <a:gd name="csX2" fmla="*/ 267061 w 267061"/>
                <a:gd name="csY2" fmla="*/ 600768 h 1397919"/>
                <a:gd name="csX3" fmla="*/ 0 w 267061"/>
                <a:gd name="csY3" fmla="*/ 1397919 h 1397919"/>
                <a:gd name="csX4" fmla="*/ 5165 w 267061"/>
                <a:gd name="csY4" fmla="*/ 804496 h 1397919"/>
                <a:gd name="csX0" fmla="*/ 238 w 272063"/>
                <a:gd name="csY0" fmla="*/ 805988 h 1397919"/>
                <a:gd name="csX1" fmla="*/ 272063 w 272063"/>
                <a:gd name="csY1" fmla="*/ 0 h 1397919"/>
                <a:gd name="csX2" fmla="*/ 272063 w 272063"/>
                <a:gd name="csY2" fmla="*/ 600768 h 1397919"/>
                <a:gd name="csX3" fmla="*/ 5002 w 272063"/>
                <a:gd name="csY3" fmla="*/ 1397919 h 1397919"/>
                <a:gd name="csX4" fmla="*/ 238 w 272063"/>
                <a:gd name="csY4" fmla="*/ 805988 h 1397919"/>
              </a:gdLst>
              <a:ahLst/>
              <a:cxnLst>
                <a:cxn ang="0">
                  <a:pos x="csX0" y="csY0"/>
                </a:cxn>
                <a:cxn ang="0">
                  <a:pos x="csX1" y="csY1"/>
                </a:cxn>
                <a:cxn ang="0">
                  <a:pos x="csX2" y="csY2"/>
                </a:cxn>
                <a:cxn ang="0">
                  <a:pos x="csX3" y="csY3"/>
                </a:cxn>
                <a:cxn ang="0">
                  <a:pos x="csX4" y="csY4"/>
                </a:cxn>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8" name="正方形/長方形 246">
              <a:extLst>
                <a:ext uri="{FF2B5EF4-FFF2-40B4-BE49-F238E27FC236}">
                  <a16:creationId xmlns:a16="http://schemas.microsoft.com/office/drawing/2014/main" id="{44C8F8CA-9CF7-FCD1-5225-5D9032EA4C77}"/>
                </a:ext>
              </a:extLst>
            </p:cNvPr>
            <p:cNvSpPr/>
            <p:nvPr/>
          </p:nvSpPr>
          <p:spPr>
            <a:xfrm rot="21007099">
              <a:off x="1700558" y="2853614"/>
              <a:ext cx="272063" cy="1397919"/>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0 w 421475"/>
                <a:gd name="csY0" fmla="*/ 0 h 1397919"/>
                <a:gd name="csX1" fmla="*/ 421475 w 421475"/>
                <a:gd name="csY1" fmla="*/ 0 h 1397919"/>
                <a:gd name="csX2" fmla="*/ 421475 w 421475"/>
                <a:gd name="csY2" fmla="*/ 600768 h 1397919"/>
                <a:gd name="csX3" fmla="*/ 154414 w 421475"/>
                <a:gd name="csY3" fmla="*/ 1397919 h 1397919"/>
                <a:gd name="csX4" fmla="*/ 0 w 421475"/>
                <a:gd name="csY4" fmla="*/ 0 h 1397919"/>
                <a:gd name="csX0" fmla="*/ 5165 w 267061"/>
                <a:gd name="csY0" fmla="*/ 804496 h 1397919"/>
                <a:gd name="csX1" fmla="*/ 267061 w 267061"/>
                <a:gd name="csY1" fmla="*/ 0 h 1397919"/>
                <a:gd name="csX2" fmla="*/ 267061 w 267061"/>
                <a:gd name="csY2" fmla="*/ 600768 h 1397919"/>
                <a:gd name="csX3" fmla="*/ 0 w 267061"/>
                <a:gd name="csY3" fmla="*/ 1397919 h 1397919"/>
                <a:gd name="csX4" fmla="*/ 5165 w 267061"/>
                <a:gd name="csY4" fmla="*/ 804496 h 1397919"/>
                <a:gd name="csX0" fmla="*/ 238 w 272063"/>
                <a:gd name="csY0" fmla="*/ 805988 h 1397919"/>
                <a:gd name="csX1" fmla="*/ 272063 w 272063"/>
                <a:gd name="csY1" fmla="*/ 0 h 1397919"/>
                <a:gd name="csX2" fmla="*/ 272063 w 272063"/>
                <a:gd name="csY2" fmla="*/ 600768 h 1397919"/>
                <a:gd name="csX3" fmla="*/ 5002 w 272063"/>
                <a:gd name="csY3" fmla="*/ 1397919 h 1397919"/>
                <a:gd name="csX4" fmla="*/ 238 w 272063"/>
                <a:gd name="csY4" fmla="*/ 805988 h 1397919"/>
              </a:gdLst>
              <a:ahLst/>
              <a:cxnLst>
                <a:cxn ang="0">
                  <a:pos x="csX0" y="csY0"/>
                </a:cxn>
                <a:cxn ang="0">
                  <a:pos x="csX1" y="csY1"/>
                </a:cxn>
                <a:cxn ang="0">
                  <a:pos x="csX2" y="csY2"/>
                </a:cxn>
                <a:cxn ang="0">
                  <a:pos x="csX3" y="csY3"/>
                </a:cxn>
                <a:cxn ang="0">
                  <a:pos x="csX4" y="csY4"/>
                </a:cxn>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3" name="正方形/長方形 252">
              <a:extLst>
                <a:ext uri="{FF2B5EF4-FFF2-40B4-BE49-F238E27FC236}">
                  <a16:creationId xmlns:a16="http://schemas.microsoft.com/office/drawing/2014/main" id="{E2F33600-DD06-438F-8FBD-AF8766AD0814}"/>
                </a:ext>
              </a:extLst>
            </p:cNvPr>
            <p:cNvSpPr/>
            <p:nvPr/>
          </p:nvSpPr>
          <p:spPr>
            <a:xfrm rot="21007099">
              <a:off x="1342753" y="3495540"/>
              <a:ext cx="684421" cy="808641"/>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262946 w 684421"/>
                <a:gd name="csY0" fmla="*/ 0 h 796674"/>
                <a:gd name="csX1" fmla="*/ 684421 w 684421"/>
                <a:gd name="csY1" fmla="*/ 0 h 796674"/>
                <a:gd name="csX2" fmla="*/ 684421 w 684421"/>
                <a:gd name="csY2" fmla="*/ 600768 h 796674"/>
                <a:gd name="csX3" fmla="*/ 0 w 684421"/>
                <a:gd name="csY3" fmla="*/ 796674 h 796674"/>
                <a:gd name="csX4" fmla="*/ 262946 w 684421"/>
                <a:gd name="csY4" fmla="*/ 0 h 796674"/>
                <a:gd name="csX0" fmla="*/ 262946 w 684421"/>
                <a:gd name="csY0" fmla="*/ 0 h 808641"/>
                <a:gd name="csX1" fmla="*/ 684421 w 684421"/>
                <a:gd name="csY1" fmla="*/ 0 h 808641"/>
                <a:gd name="csX2" fmla="*/ 416167 w 684421"/>
                <a:gd name="csY2" fmla="*/ 808641 h 808641"/>
                <a:gd name="csX3" fmla="*/ 0 w 684421"/>
                <a:gd name="csY3" fmla="*/ 796674 h 808641"/>
                <a:gd name="csX4" fmla="*/ 262946 w 684421"/>
                <a:gd name="csY4" fmla="*/ 0 h 808641"/>
              </a:gdLst>
              <a:ahLst/>
              <a:cxnLst>
                <a:cxn ang="0">
                  <a:pos x="csX0" y="csY0"/>
                </a:cxn>
                <a:cxn ang="0">
                  <a:pos x="csX1" y="csY1"/>
                </a:cxn>
                <a:cxn ang="0">
                  <a:pos x="csX2" y="csY2"/>
                </a:cxn>
                <a:cxn ang="0">
                  <a:pos x="csX3" y="csY3"/>
                </a:cxn>
                <a:cxn ang="0">
                  <a:pos x="csX4" y="csY4"/>
                </a:cxn>
              </a:cxnLst>
              <a:rect l="l" t="t" r="r" b="b"/>
              <a:pathLst>
                <a:path w="684421" h="808641">
                  <a:moveTo>
                    <a:pt x="262946" y="0"/>
                  </a:moveTo>
                  <a:lnTo>
                    <a:pt x="684421" y="0"/>
                  </a:lnTo>
                  <a:lnTo>
                    <a:pt x="416167" y="808641"/>
                  </a:lnTo>
                  <a:lnTo>
                    <a:pt x="0" y="796674"/>
                  </a:lnTo>
                  <a:lnTo>
                    <a:pt x="262946" y="0"/>
                  </a:ln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4" name="テキスト ボックス 253">
              <a:extLst>
                <a:ext uri="{FF2B5EF4-FFF2-40B4-BE49-F238E27FC236}">
                  <a16:creationId xmlns:a16="http://schemas.microsoft.com/office/drawing/2014/main" id="{8DC170C1-D01B-2C8A-7D9A-74C5DB4C4EDF}"/>
                </a:ext>
              </a:extLst>
            </p:cNvPr>
            <p:cNvSpPr txBox="1"/>
            <p:nvPr/>
          </p:nvSpPr>
          <p:spPr>
            <a:xfrm>
              <a:off x="1449200" y="3044190"/>
              <a:ext cx="565353" cy="321731"/>
            </a:xfrm>
            <a:prstGeom prst="rect">
              <a:avLst/>
            </a:prstGeom>
            <a:noFill/>
          </p:spPr>
          <p:txBody>
            <a:bodyPr wrap="none" rtlCol="0">
              <a:spAutoFit/>
            </a:bodyPr>
            <a:lstStyle/>
            <a:p>
              <a:r>
                <a:rPr kumimoji="1" lang="en-US" altLang="ja-JP" sz="1200"/>
                <a:t>25</a:t>
              </a:r>
              <a:r>
                <a:rPr kumimoji="1" lang="ja-JP" altLang="en-US" sz="1200"/>
                <a:t>階</a:t>
              </a:r>
            </a:p>
          </p:txBody>
        </p:sp>
        <p:sp>
          <p:nvSpPr>
            <p:cNvPr id="243" name="Oval 6">
              <a:extLst>
                <a:ext uri="{FF2B5EF4-FFF2-40B4-BE49-F238E27FC236}">
                  <a16:creationId xmlns:a16="http://schemas.microsoft.com/office/drawing/2014/main" id="{B97AF7DC-AAF8-7323-CDCC-FDAD3BA8C4F9}"/>
                </a:ext>
              </a:extLst>
            </p:cNvPr>
            <p:cNvSpPr/>
            <p:nvPr/>
          </p:nvSpPr>
          <p:spPr>
            <a:xfrm>
              <a:off x="1449200" y="2821894"/>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2</a:t>
              </a:r>
              <a:endParaRPr sz="1500" b="1">
                <a:solidFill>
                  <a:srgbClr val="FFFFFF"/>
                </a:solidFill>
                <a:latin typeface="Noto Sans CJK JP"/>
              </a:endParaRPr>
            </a:p>
          </p:txBody>
        </p:sp>
        <p:sp>
          <p:nvSpPr>
            <p:cNvPr id="129" name="フリーフォーム 128">
              <a:extLst>
                <a:ext uri="{FF2B5EF4-FFF2-40B4-BE49-F238E27FC236}">
                  <a16:creationId xmlns:a16="http://schemas.microsoft.com/office/drawing/2014/main" id="{CD92FC51-FADD-C671-F95E-729259A81831}"/>
                </a:ext>
              </a:extLst>
            </p:cNvPr>
            <p:cNvSpPr/>
            <p:nvPr/>
          </p:nvSpPr>
          <p:spPr>
            <a:xfrm>
              <a:off x="1614076" y="3425050"/>
              <a:ext cx="647927" cy="904330"/>
            </a:xfrm>
            <a:custGeom>
              <a:avLst/>
              <a:gdLst>
                <a:gd name="csX0" fmla="*/ 654689 w 654689"/>
                <a:gd name="csY0" fmla="*/ 0 h 302996"/>
                <a:gd name="csX1" fmla="*/ 0 w 654689"/>
                <a:gd name="csY1" fmla="*/ 124445 h 302996"/>
                <a:gd name="csX2" fmla="*/ 21643 w 654689"/>
                <a:gd name="csY2" fmla="*/ 302996 h 302996"/>
                <a:gd name="csX0" fmla="*/ 654689 w 654689"/>
                <a:gd name="csY0" fmla="*/ 0 h 389741"/>
                <a:gd name="csX1" fmla="*/ 0 w 654689"/>
                <a:gd name="csY1" fmla="*/ 124445 h 389741"/>
                <a:gd name="csX2" fmla="*/ 40986 w 654689"/>
                <a:gd name="csY2" fmla="*/ 389741 h 389741"/>
                <a:gd name="csX0" fmla="*/ 657913 w 657913"/>
                <a:gd name="csY0" fmla="*/ 0 h 389741"/>
                <a:gd name="csX1" fmla="*/ 0 w 657913"/>
                <a:gd name="csY1" fmla="*/ 127781 h 389741"/>
                <a:gd name="csX2" fmla="*/ 44210 w 657913"/>
                <a:gd name="csY2" fmla="*/ 389741 h 389741"/>
                <a:gd name="csX0" fmla="*/ 657913 w 657913"/>
                <a:gd name="csY0" fmla="*/ 0 h 950284"/>
                <a:gd name="csX1" fmla="*/ 0 w 657913"/>
                <a:gd name="csY1" fmla="*/ 127781 h 950284"/>
                <a:gd name="csX2" fmla="*/ 135262 w 657913"/>
                <a:gd name="csY2" fmla="*/ 950284 h 950284"/>
              </a:gdLst>
              <a:ahLst/>
              <a:cxnLst>
                <a:cxn ang="0">
                  <a:pos x="csX0" y="csY0"/>
                </a:cxn>
                <a:cxn ang="0">
                  <a:pos x="csX1" y="csY1"/>
                </a:cxn>
                <a:cxn ang="0">
                  <a:pos x="csX2" y="csY2"/>
                </a:cxn>
              </a:cxnLst>
              <a:rect l="l" t="t" r="r" b="b"/>
              <a:pathLst>
                <a:path w="657913" h="950284">
                  <a:moveTo>
                    <a:pt x="657913" y="0"/>
                  </a:moveTo>
                  <a:lnTo>
                    <a:pt x="0" y="127781"/>
                  </a:lnTo>
                  <a:cubicBezTo>
                    <a:pt x="7214" y="187298"/>
                    <a:pt x="128048" y="890767"/>
                    <a:pt x="135262" y="950284"/>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1" name="フリーフォーム 130">
              <a:extLst>
                <a:ext uri="{FF2B5EF4-FFF2-40B4-BE49-F238E27FC236}">
                  <a16:creationId xmlns:a16="http://schemas.microsoft.com/office/drawing/2014/main" id="{C09B888A-813C-B25A-348E-FE2CB16ADE60}"/>
                </a:ext>
              </a:extLst>
            </p:cNvPr>
            <p:cNvSpPr/>
            <p:nvPr/>
          </p:nvSpPr>
          <p:spPr>
            <a:xfrm>
              <a:off x="1716137" y="3610497"/>
              <a:ext cx="887248" cy="842965"/>
            </a:xfrm>
            <a:custGeom>
              <a:avLst/>
              <a:gdLst>
                <a:gd name="csX0" fmla="*/ 773723 w 773723"/>
                <a:gd name="csY0" fmla="*/ 56271 h 196948"/>
                <a:gd name="csX1" fmla="*/ 28135 w 773723"/>
                <a:gd name="csY1" fmla="*/ 196948 h 196948"/>
                <a:gd name="csX2" fmla="*/ 0 w 773723"/>
                <a:gd name="csY2" fmla="*/ 0 h 196948"/>
                <a:gd name="csX0" fmla="*/ 802298 w 802298"/>
                <a:gd name="csY0" fmla="*/ 183271 h 323948"/>
                <a:gd name="csX1" fmla="*/ 56710 w 802298"/>
                <a:gd name="csY1" fmla="*/ 323948 h 323948"/>
                <a:gd name="csX2" fmla="*/ 0 w 802298"/>
                <a:gd name="csY2" fmla="*/ 0 h 323948"/>
                <a:gd name="csX0" fmla="*/ 896686 w 896686"/>
                <a:gd name="csY0" fmla="*/ 750347 h 891024"/>
                <a:gd name="csX1" fmla="*/ 151098 w 896686"/>
                <a:gd name="csY1" fmla="*/ 891024 h 891024"/>
                <a:gd name="csX2" fmla="*/ 0 w 896686"/>
                <a:gd name="csY2" fmla="*/ 0 h 891024"/>
                <a:gd name="csX0" fmla="*/ 887247 w 887247"/>
                <a:gd name="csY0" fmla="*/ 702289 h 842966"/>
                <a:gd name="csX1" fmla="*/ 141659 w 887247"/>
                <a:gd name="csY1" fmla="*/ 842966 h 842966"/>
                <a:gd name="csX2" fmla="*/ 0 w 887247"/>
                <a:gd name="csY2" fmla="*/ 0 h 842966"/>
              </a:gdLst>
              <a:ahLst/>
              <a:cxnLst>
                <a:cxn ang="0">
                  <a:pos x="csX0" y="csY0"/>
                </a:cxn>
                <a:cxn ang="0">
                  <a:pos x="csX1" y="csY1"/>
                </a:cxn>
                <a:cxn ang="0">
                  <a:pos x="csX2" y="csY2"/>
                </a:cxn>
              </a:cxnLst>
              <a:rect l="l" t="t" r="r" b="b"/>
              <a:pathLst>
                <a:path w="887247" h="842966">
                  <a:moveTo>
                    <a:pt x="887247" y="702289"/>
                  </a:moveTo>
                  <a:lnTo>
                    <a:pt x="141659" y="842966"/>
                  </a:lnTo>
                  <a:cubicBezTo>
                    <a:pt x="132281" y="777317"/>
                    <a:pt x="9378" y="65649"/>
                    <a:pt x="0" y="0"/>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1" name="フリーフォーム 180">
              <a:extLst>
                <a:ext uri="{FF2B5EF4-FFF2-40B4-BE49-F238E27FC236}">
                  <a16:creationId xmlns:a16="http://schemas.microsoft.com/office/drawing/2014/main" id="{99BC6C34-D071-985E-57C9-1F483F78C3DC}"/>
                </a:ext>
              </a:extLst>
            </p:cNvPr>
            <p:cNvSpPr/>
            <p:nvPr/>
          </p:nvSpPr>
          <p:spPr>
            <a:xfrm>
              <a:off x="756168" y="3546416"/>
              <a:ext cx="838200" cy="311150"/>
            </a:xfrm>
            <a:custGeom>
              <a:avLst/>
              <a:gdLst>
                <a:gd name="csX0" fmla="*/ 838200 w 838200"/>
                <a:gd name="csY0" fmla="*/ 0 h 311150"/>
                <a:gd name="csX1" fmla="*/ 415925 w 838200"/>
                <a:gd name="csY1" fmla="*/ 82550 h 311150"/>
                <a:gd name="csX2" fmla="*/ 0 w 838200"/>
                <a:gd name="csY2" fmla="*/ 311150 h 311150"/>
              </a:gdLst>
              <a:ahLst/>
              <a:cxnLst>
                <a:cxn ang="0">
                  <a:pos x="csX0" y="csY0"/>
                </a:cxn>
                <a:cxn ang="0">
                  <a:pos x="csX1" y="csY1"/>
                </a:cxn>
                <a:cxn ang="0">
                  <a:pos x="csX2" y="csY2"/>
                </a:cxn>
              </a:cxnLst>
              <a:rect l="l" t="t" r="r" b="b"/>
              <a:pathLst>
                <a:path w="838200" h="311150">
                  <a:moveTo>
                    <a:pt x="838200" y="0"/>
                  </a:moveTo>
                  <a:lnTo>
                    <a:pt x="415925" y="82550"/>
                  </a:lnTo>
                  <a:lnTo>
                    <a:pt x="0" y="311150"/>
                  </a:lnTo>
                </a:path>
              </a:pathLst>
            </a:custGeom>
            <a:noFill/>
            <a:ln w="38100">
              <a:solidFill>
                <a:srgbClr val="F2B3E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4" name="Oval 6">
              <a:extLst>
                <a:ext uri="{FF2B5EF4-FFF2-40B4-BE49-F238E27FC236}">
                  <a16:creationId xmlns:a16="http://schemas.microsoft.com/office/drawing/2014/main" id="{A911328C-EC46-2092-B036-735EBD8B6AF9}"/>
                </a:ext>
              </a:extLst>
            </p:cNvPr>
            <p:cNvSpPr/>
            <p:nvPr/>
          </p:nvSpPr>
          <p:spPr>
            <a:xfrm>
              <a:off x="2368253" y="4266909"/>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rgbClr val="FFFFFF"/>
                  </a:solidFill>
                  <a:latin typeface="Noto Sans CJK JP"/>
                </a:rPr>
                <a:t>4</a:t>
              </a:r>
              <a:endParaRPr sz="1500" b="1">
                <a:solidFill>
                  <a:srgbClr val="FFFFFF"/>
                </a:solidFill>
                <a:latin typeface="Noto Sans CJK JP"/>
              </a:endParaRPr>
            </a:p>
          </p:txBody>
        </p:sp>
      </p:grpSp>
      <p:sp>
        <p:nvSpPr>
          <p:cNvPr id="2" name="タイトル 1">
            <a:extLst>
              <a:ext uri="{FF2B5EF4-FFF2-40B4-BE49-F238E27FC236}">
                <a16:creationId xmlns:a16="http://schemas.microsoft.com/office/drawing/2014/main" id="{3DB7D953-961A-0C86-23D5-190D3A58FD1A}"/>
              </a:ext>
            </a:extLst>
          </p:cNvPr>
          <p:cNvSpPr>
            <a:spLocks noGrp="1"/>
          </p:cNvSpPr>
          <p:nvPr>
            <p:ph type="title"/>
          </p:nvPr>
        </p:nvSpPr>
        <p:spPr>
          <a:xfrm>
            <a:off x="189866" y="0"/>
            <a:ext cx="12002134" cy="908720"/>
          </a:xfrm>
        </p:spPr>
        <p:txBody>
          <a:bodyPr anchor="ctr"/>
          <a:lstStyle/>
          <a:p>
            <a:r>
              <a:rPr lang="ja-JP" altLang="ja-JP" dirty="0">
                <a:latin typeface="HGMinchoE" panose="02020909000000000000" pitchFamily="49" charset="-128"/>
                <a:ea typeface="HGMinchoE" panose="02020909000000000000" pitchFamily="49" charset="-128"/>
              </a:rPr>
              <a:t>最初の</a:t>
            </a:r>
            <a:r>
              <a:rPr lang="en-US" altLang="ja-JP" dirty="0">
                <a:latin typeface="HGMinchoE" panose="02020909000000000000" pitchFamily="49" charset="-128"/>
                <a:ea typeface="HGMinchoE" panose="02020909000000000000" pitchFamily="49" charset="-128"/>
              </a:rPr>
              <a:t>3</a:t>
            </a:r>
            <a:r>
              <a:rPr lang="ja-JP" altLang="ja-JP" dirty="0">
                <a:latin typeface="HGMinchoE" panose="02020909000000000000" pitchFamily="49" charset="-128"/>
                <a:ea typeface="HGMinchoE" panose="02020909000000000000" pitchFamily="49" charset="-128"/>
              </a:rPr>
              <a:t>か月（2Q：7-9月）の取組イメージ</a:t>
            </a:r>
            <a:r>
              <a:rPr lang="ja-JP" altLang="en-US" dirty="0">
                <a:latin typeface="HGMinchoE" panose="02020909000000000000" pitchFamily="49" charset="-128"/>
                <a:ea typeface="HGMinchoE" panose="02020909000000000000" pitchFamily="49" charset="-128"/>
              </a:rPr>
              <a:t>：計画エージェントとの対話の中で詳細化</a:t>
            </a:r>
            <a:endParaRPr kumimoji="1" lang="ja-JP" altLang="en-US" dirty="0">
              <a:latin typeface="HGMinchoE" panose="02020909000000000000" pitchFamily="49" charset="-128"/>
              <a:ea typeface="HGMinchoE" panose="02020909000000000000" pitchFamily="49" charset="-128"/>
            </a:endParaRPr>
          </a:p>
        </p:txBody>
      </p:sp>
      <p:sp>
        <p:nvSpPr>
          <p:cNvPr id="3" name="コンテンツ プレースホルダー 2">
            <a:extLst>
              <a:ext uri="{FF2B5EF4-FFF2-40B4-BE49-F238E27FC236}">
                <a16:creationId xmlns:a16="http://schemas.microsoft.com/office/drawing/2014/main" id="{A421FFD3-CB16-2746-79BA-7F60972841E4}"/>
              </a:ext>
            </a:extLst>
          </p:cNvPr>
          <p:cNvSpPr>
            <a:spLocks noGrp="1"/>
          </p:cNvSpPr>
          <p:nvPr>
            <p:ph idx="1"/>
          </p:nvPr>
        </p:nvSpPr>
        <p:spPr>
          <a:xfrm>
            <a:off x="259551" y="998730"/>
            <a:ext cx="12002134" cy="423820"/>
          </a:xfrm>
        </p:spPr>
        <p:txBody>
          <a:bodyPr>
            <a:normAutofit/>
          </a:bodyPr>
          <a:lstStyle/>
          <a:p>
            <a:pPr marL="0" indent="0">
              <a:buNone/>
            </a:pPr>
            <a:r>
              <a:rPr lang="ja-JP" altLang="en-US" sz="1800" b="1" dirty="0">
                <a:solidFill>
                  <a:schemeClr val="bg2">
                    <a:lumMod val="10000"/>
                  </a:schemeClr>
                </a:solidFill>
                <a:latin typeface="Noto Sans CJK JP"/>
              </a:rPr>
              <a:t>エージェント（</a:t>
            </a:r>
            <a:r>
              <a:rPr lang="en" altLang="ja-JP" sz="1800" b="1" dirty="0">
                <a:solidFill>
                  <a:schemeClr val="bg2">
                    <a:lumMod val="10000"/>
                  </a:schemeClr>
                </a:solidFill>
                <a:latin typeface="Noto Sans CJK JP"/>
              </a:rPr>
              <a:t>LLM</a:t>
            </a:r>
            <a:r>
              <a:rPr lang="ja-JP" altLang="en-US" sz="1800" b="1" dirty="0">
                <a:solidFill>
                  <a:schemeClr val="bg2">
                    <a:lumMod val="10000"/>
                  </a:schemeClr>
                </a:solidFill>
                <a:latin typeface="Noto Sans CJK JP"/>
              </a:rPr>
              <a:t>）</a:t>
            </a:r>
            <a:r>
              <a:rPr lang="en" altLang="ja-JP" sz="1800" b="1" dirty="0">
                <a:solidFill>
                  <a:schemeClr val="bg2">
                    <a:lumMod val="10000"/>
                  </a:schemeClr>
                </a:solidFill>
                <a:latin typeface="Noto Sans CJK JP"/>
              </a:rPr>
              <a:t>と</a:t>
            </a:r>
            <a:r>
              <a:rPr lang="ja-JP" altLang="en-US" sz="1800" b="1" dirty="0">
                <a:solidFill>
                  <a:schemeClr val="bg2">
                    <a:lumMod val="10000"/>
                  </a:schemeClr>
                </a:solidFill>
                <a:latin typeface="Noto Sans CJK JP"/>
              </a:rPr>
              <a:t>の対話を通じて、開発構想を人流予測に必要な空間設計等のパラメータへ段階的に詳細化。</a:t>
            </a:r>
            <a:endParaRPr lang="ja-JP" altLang="ja-JP" sz="1800" b="1" dirty="0"/>
          </a:p>
        </p:txBody>
      </p:sp>
      <p:sp>
        <p:nvSpPr>
          <p:cNvPr id="4" name="日付プレースホルダー 3">
            <a:extLst>
              <a:ext uri="{FF2B5EF4-FFF2-40B4-BE49-F238E27FC236}">
                <a16:creationId xmlns:a16="http://schemas.microsoft.com/office/drawing/2014/main" id="{1E37C397-1E3C-9C60-59D6-15235091DE13}"/>
              </a:ext>
            </a:extLst>
          </p:cNvPr>
          <p:cNvSpPr>
            <a:spLocks noGrp="1"/>
          </p:cNvSpPr>
          <p:nvPr>
            <p:ph type="dt" sz="half" idx="10"/>
          </p:nvPr>
        </p:nvSpPr>
        <p:spPr>
          <a:xfrm>
            <a:off x="838200" y="6534345"/>
            <a:ext cx="2743200" cy="365125"/>
          </a:xfrm>
        </p:spPr>
        <p:txBody>
          <a:bodyPr/>
          <a:lstStyle/>
          <a:p>
            <a:r>
              <a:rPr lang="en-US" altLang="ja-JP"/>
              <a:t>2026/6</a:t>
            </a:r>
            <a:endParaRPr kumimoji="1" lang="ja-JP" altLang="en-US"/>
          </a:p>
        </p:txBody>
      </p:sp>
      <p:sp>
        <p:nvSpPr>
          <p:cNvPr id="5" name="フッター プレースホルダー 4">
            <a:extLst>
              <a:ext uri="{FF2B5EF4-FFF2-40B4-BE49-F238E27FC236}">
                <a16:creationId xmlns:a16="http://schemas.microsoft.com/office/drawing/2014/main" id="{DB185221-EB95-DE46-5DC4-E5E697994A18}"/>
              </a:ext>
            </a:extLst>
          </p:cNvPr>
          <p:cNvSpPr>
            <a:spLocks noGrp="1"/>
          </p:cNvSpPr>
          <p:nvPr>
            <p:ph type="ftr" sz="quarter" idx="11"/>
          </p:nvPr>
        </p:nvSpPr>
        <p:spPr>
          <a:xfrm>
            <a:off x="4038600" y="6534345"/>
            <a:ext cx="4114800" cy="365125"/>
          </a:xfrm>
        </p:spPr>
        <p:txBody>
          <a:bodyPr/>
          <a:lstStyle/>
          <a:p>
            <a:r>
              <a:rPr kumimoji="1" lang="ja-JP" altLang="en-US"/>
              <a:t>関本・中居研究室</a:t>
            </a:r>
          </a:p>
        </p:txBody>
      </p:sp>
      <p:sp>
        <p:nvSpPr>
          <p:cNvPr id="6" name="スライド番号プレースホルダー 5">
            <a:extLst>
              <a:ext uri="{FF2B5EF4-FFF2-40B4-BE49-F238E27FC236}">
                <a16:creationId xmlns:a16="http://schemas.microsoft.com/office/drawing/2014/main" id="{B3B91617-188B-FF7B-A976-7F171DEB4A95}"/>
              </a:ext>
            </a:extLst>
          </p:cNvPr>
          <p:cNvSpPr>
            <a:spLocks noGrp="1"/>
          </p:cNvSpPr>
          <p:nvPr>
            <p:ph type="sldNum" sz="quarter" idx="12"/>
          </p:nvPr>
        </p:nvSpPr>
        <p:spPr>
          <a:xfrm>
            <a:off x="8610600" y="6534345"/>
            <a:ext cx="2743200" cy="365125"/>
          </a:xfrm>
        </p:spPr>
        <p:txBody>
          <a:bodyPr/>
          <a:lstStyle/>
          <a:p>
            <a:fld id="{6539E37A-E522-3D47-AAB7-DDF67C94A05D}" type="slidenum">
              <a:rPr lang="en-US" altLang="ja-JP"/>
              <a:t>2</a:t>
            </a:fld>
            <a:endParaRPr kumimoji="1" lang="ja-JP" altLang="en-US"/>
          </a:p>
        </p:txBody>
      </p:sp>
      <p:sp>
        <p:nvSpPr>
          <p:cNvPr id="13" name="Oval 6">
            <a:extLst>
              <a:ext uri="{FF2B5EF4-FFF2-40B4-BE49-F238E27FC236}">
                <a16:creationId xmlns:a16="http://schemas.microsoft.com/office/drawing/2014/main" id="{A94F91C9-6AAF-3928-51C1-B3F22EB6C263}"/>
              </a:ext>
            </a:extLst>
          </p:cNvPr>
          <p:cNvSpPr/>
          <p:nvPr/>
        </p:nvSpPr>
        <p:spPr>
          <a:xfrm>
            <a:off x="4171902" y="1403775"/>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1</a:t>
            </a:r>
            <a:endParaRPr sz="1500" b="1">
              <a:solidFill>
                <a:srgbClr val="FFFFFF"/>
              </a:solidFill>
              <a:latin typeface="Noto Sans CJK JP"/>
            </a:endParaRPr>
          </a:p>
        </p:txBody>
      </p:sp>
      <p:sp>
        <p:nvSpPr>
          <p:cNvPr id="14" name="TextBox 7">
            <a:extLst>
              <a:ext uri="{FF2B5EF4-FFF2-40B4-BE49-F238E27FC236}">
                <a16:creationId xmlns:a16="http://schemas.microsoft.com/office/drawing/2014/main" id="{56A6C7B2-6281-21A7-E8F4-53405DA8428F}"/>
              </a:ext>
            </a:extLst>
          </p:cNvPr>
          <p:cNvSpPr txBox="1"/>
          <p:nvPr/>
        </p:nvSpPr>
        <p:spPr>
          <a:xfrm>
            <a:off x="4527641" y="1448780"/>
            <a:ext cx="1667169" cy="337114"/>
          </a:xfrm>
          <a:prstGeom prst="roundRect">
            <a:avLst/>
          </a:prstGeom>
          <a:noFill/>
          <a:ln>
            <a:noFill/>
          </a:ln>
        </p:spPr>
        <p:txBody>
          <a:bodyPr wrap="square" lIns="36576" tIns="36576" rIns="36576" bIns="36576" anchor="t">
            <a:spAutoFit/>
          </a:bodyPr>
          <a:lstStyle/>
          <a:p>
            <a:pPr algn="l"/>
            <a:r>
              <a:rPr sz="1500" b="1" dirty="0" err="1">
                <a:solidFill>
                  <a:srgbClr val="0B2B5B"/>
                </a:solidFill>
                <a:latin typeface="Noto Sans CJK JP"/>
              </a:rPr>
              <a:t>対象エ</a:t>
            </a:r>
            <a:r>
              <a:rPr lang="ja-JP" altLang="en-US" sz="1500" b="1" dirty="0">
                <a:solidFill>
                  <a:srgbClr val="0B2B5B"/>
                </a:solidFill>
                <a:latin typeface="Noto Sans CJK JP"/>
              </a:rPr>
              <a:t>リ</a:t>
            </a:r>
            <a:r>
              <a:rPr sz="1500" b="1" dirty="0">
                <a:solidFill>
                  <a:srgbClr val="0B2B5B"/>
                </a:solidFill>
                <a:latin typeface="Noto Sans CJK JP"/>
              </a:rPr>
              <a:t>ア</a:t>
            </a:r>
            <a:r>
              <a:rPr lang="ja-JP" altLang="en-US" sz="1500" b="1" dirty="0">
                <a:solidFill>
                  <a:srgbClr val="0B2B5B"/>
                </a:solidFill>
                <a:latin typeface="Noto Sans CJK JP"/>
              </a:rPr>
              <a:t>の整理</a:t>
            </a:r>
            <a:endParaRPr sz="1500" b="1" dirty="0">
              <a:solidFill>
                <a:srgbClr val="0B2B5B"/>
              </a:solidFill>
              <a:latin typeface="Noto Sans CJK JP"/>
            </a:endParaRPr>
          </a:p>
        </p:txBody>
      </p:sp>
      <p:grpSp>
        <p:nvGrpSpPr>
          <p:cNvPr id="46" name="グループ化 45">
            <a:extLst>
              <a:ext uri="{FF2B5EF4-FFF2-40B4-BE49-F238E27FC236}">
                <a16:creationId xmlns:a16="http://schemas.microsoft.com/office/drawing/2014/main" id="{F73FAA5E-B6EF-8059-ED04-C07754BF4CA3}"/>
              </a:ext>
            </a:extLst>
          </p:cNvPr>
          <p:cNvGrpSpPr/>
          <p:nvPr/>
        </p:nvGrpSpPr>
        <p:grpSpPr>
          <a:xfrm>
            <a:off x="3935760" y="3916676"/>
            <a:ext cx="3351220" cy="2572664"/>
            <a:chOff x="7185801" y="1620805"/>
            <a:chExt cx="3034007" cy="2572664"/>
          </a:xfrm>
        </p:grpSpPr>
        <p:sp>
          <p:nvSpPr>
            <p:cNvPr id="15" name="Rounded Rectangle 5">
              <a:extLst>
                <a:ext uri="{FF2B5EF4-FFF2-40B4-BE49-F238E27FC236}">
                  <a16:creationId xmlns:a16="http://schemas.microsoft.com/office/drawing/2014/main" id="{33F500D9-CF9C-5B34-C4C6-099286B7D9CE}"/>
                </a:ext>
              </a:extLst>
            </p:cNvPr>
            <p:cNvSpPr/>
            <p:nvPr/>
          </p:nvSpPr>
          <p:spPr>
            <a:xfrm>
              <a:off x="7185801" y="1620805"/>
              <a:ext cx="3034007" cy="2572664"/>
            </a:xfrm>
            <a:prstGeom prst="roundRect">
              <a:avLst>
                <a:gd name="adj" fmla="val 9000"/>
              </a:avLst>
            </a:prstGeom>
            <a:solidFill>
              <a:srgbClr val="BAEAC4">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6">
              <a:extLst>
                <a:ext uri="{FF2B5EF4-FFF2-40B4-BE49-F238E27FC236}">
                  <a16:creationId xmlns:a16="http://schemas.microsoft.com/office/drawing/2014/main" id="{CB0FD11A-87D3-A96A-2088-A465B47E0A29}"/>
                </a:ext>
              </a:extLst>
            </p:cNvPr>
            <p:cNvSpPr/>
            <p:nvPr/>
          </p:nvSpPr>
          <p:spPr>
            <a:xfrm>
              <a:off x="7261640" y="1671422"/>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rgbClr val="FFFFFF"/>
                  </a:solidFill>
                  <a:latin typeface="Noto Sans CJK JP"/>
                </a:rPr>
                <a:t>2</a:t>
              </a:r>
              <a:endParaRPr sz="1500" b="1">
                <a:solidFill>
                  <a:srgbClr val="FFFFFF"/>
                </a:solidFill>
                <a:latin typeface="Noto Sans CJK JP"/>
              </a:endParaRPr>
            </a:p>
          </p:txBody>
        </p:sp>
        <p:sp>
          <p:nvSpPr>
            <p:cNvPr id="17" name="TextBox 7">
              <a:extLst>
                <a:ext uri="{FF2B5EF4-FFF2-40B4-BE49-F238E27FC236}">
                  <a16:creationId xmlns:a16="http://schemas.microsoft.com/office/drawing/2014/main" id="{ABAB1503-61F5-57E2-398A-87E8B5145005}"/>
                </a:ext>
              </a:extLst>
            </p:cNvPr>
            <p:cNvSpPr txBox="1"/>
            <p:nvPr/>
          </p:nvSpPr>
          <p:spPr>
            <a:xfrm>
              <a:off x="7610348" y="1691253"/>
              <a:ext cx="1678227" cy="304699"/>
            </a:xfrm>
            <a:prstGeom prst="rect">
              <a:avLst/>
            </a:prstGeom>
            <a:noFill/>
            <a:ln>
              <a:noFill/>
            </a:ln>
          </p:spPr>
          <p:txBody>
            <a:bodyPr wrap="square" lIns="36576" tIns="36576" rIns="36576" bIns="36576" anchor="t">
              <a:spAutoFit/>
            </a:bodyPr>
            <a:lstStyle/>
            <a:p>
              <a:pPr algn="l"/>
              <a:r>
                <a:rPr lang="ja-JP" altLang="en-US" sz="1500" b="1">
                  <a:solidFill>
                    <a:srgbClr val="0B2B5B"/>
                  </a:solidFill>
                  <a:latin typeface="Noto Sans CJK JP"/>
                </a:rPr>
                <a:t>用途・規模の整理</a:t>
              </a:r>
              <a:endParaRPr sz="1500" b="1">
                <a:solidFill>
                  <a:srgbClr val="0B2B5B"/>
                </a:solidFill>
                <a:latin typeface="Noto Sans CJK JP"/>
              </a:endParaRPr>
            </a:p>
          </p:txBody>
        </p:sp>
      </p:grpSp>
      <p:sp>
        <p:nvSpPr>
          <p:cNvPr id="18" name="Rounded Rectangle 5">
            <a:extLst>
              <a:ext uri="{FF2B5EF4-FFF2-40B4-BE49-F238E27FC236}">
                <a16:creationId xmlns:a16="http://schemas.microsoft.com/office/drawing/2014/main" id="{C6D69BE9-D12E-262B-B9C9-6ABA9913A1A3}"/>
              </a:ext>
            </a:extLst>
          </p:cNvPr>
          <p:cNvSpPr>
            <a:spLocks noGrp="1" noRot="1" noMove="1" noResize="1" noEditPoints="1" noAdjustHandles="1" noChangeArrowheads="1" noChangeShapeType="1"/>
          </p:cNvSpPr>
          <p:nvPr/>
        </p:nvSpPr>
        <p:spPr>
          <a:xfrm>
            <a:off x="8587310" y="1368624"/>
            <a:ext cx="3345140" cy="2701854"/>
          </a:xfrm>
          <a:prstGeom prst="roundRect">
            <a:avLst>
              <a:gd name="adj" fmla="val 9000"/>
            </a:avLst>
          </a:prstGeom>
          <a:solidFill>
            <a:srgbClr val="BACCEC">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6">
            <a:extLst>
              <a:ext uri="{FF2B5EF4-FFF2-40B4-BE49-F238E27FC236}">
                <a16:creationId xmlns:a16="http://schemas.microsoft.com/office/drawing/2014/main" id="{009B14BC-2912-59AC-EB9D-6E7A53F5900F}"/>
              </a:ext>
            </a:extLst>
          </p:cNvPr>
          <p:cNvSpPr/>
          <p:nvPr/>
        </p:nvSpPr>
        <p:spPr>
          <a:xfrm>
            <a:off x="8651038" y="1403775"/>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rgbClr val="FFFFFF"/>
                </a:solidFill>
                <a:latin typeface="Noto Sans CJK JP"/>
              </a:rPr>
              <a:t>3</a:t>
            </a:r>
            <a:endParaRPr sz="1500" b="1">
              <a:solidFill>
                <a:srgbClr val="FFFFFF"/>
              </a:solidFill>
              <a:latin typeface="Noto Sans CJK JP"/>
            </a:endParaRPr>
          </a:p>
        </p:txBody>
      </p:sp>
      <p:sp>
        <p:nvSpPr>
          <p:cNvPr id="20" name="TextBox 7">
            <a:extLst>
              <a:ext uri="{FF2B5EF4-FFF2-40B4-BE49-F238E27FC236}">
                <a16:creationId xmlns:a16="http://schemas.microsoft.com/office/drawing/2014/main" id="{6816F2C6-7793-6653-D498-0B1EBA2BB962}"/>
              </a:ext>
            </a:extLst>
          </p:cNvPr>
          <p:cNvSpPr txBox="1"/>
          <p:nvPr/>
        </p:nvSpPr>
        <p:spPr>
          <a:xfrm>
            <a:off x="8999706" y="1423204"/>
            <a:ext cx="1564435" cy="304699"/>
          </a:xfrm>
          <a:prstGeom prst="rect">
            <a:avLst/>
          </a:prstGeom>
          <a:noFill/>
          <a:ln>
            <a:noFill/>
          </a:ln>
        </p:spPr>
        <p:txBody>
          <a:bodyPr wrap="square" lIns="36576" tIns="36576" rIns="36576" bIns="36576" anchor="t">
            <a:spAutoFit/>
          </a:bodyPr>
          <a:lstStyle/>
          <a:p>
            <a:pPr algn="l"/>
            <a:r>
              <a:rPr lang="ja-JP" altLang="en-US" sz="1500" b="1" dirty="0">
                <a:solidFill>
                  <a:srgbClr val="0B2B5B"/>
                </a:solidFill>
                <a:latin typeface="Noto Sans CJK JP"/>
              </a:rPr>
              <a:t>建物属性</a:t>
            </a:r>
            <a:endParaRPr sz="1500" b="1" dirty="0">
              <a:solidFill>
                <a:srgbClr val="0B2B5B"/>
              </a:solidFill>
              <a:latin typeface="Noto Sans CJK JP"/>
            </a:endParaRPr>
          </a:p>
        </p:txBody>
      </p:sp>
      <p:sp>
        <p:nvSpPr>
          <p:cNvPr id="21" name="Rounded Rectangle 5">
            <a:extLst>
              <a:ext uri="{FF2B5EF4-FFF2-40B4-BE49-F238E27FC236}">
                <a16:creationId xmlns:a16="http://schemas.microsoft.com/office/drawing/2014/main" id="{63521FC1-95D6-B0F7-C2F0-0B4700C56632}"/>
              </a:ext>
            </a:extLst>
          </p:cNvPr>
          <p:cNvSpPr/>
          <p:nvPr/>
        </p:nvSpPr>
        <p:spPr>
          <a:xfrm>
            <a:off x="8597608" y="4120732"/>
            <a:ext cx="3381857" cy="2368608"/>
          </a:xfrm>
          <a:prstGeom prst="roundRect">
            <a:avLst>
              <a:gd name="adj" fmla="val 9000"/>
            </a:avLst>
          </a:prstGeom>
          <a:solidFill>
            <a:srgbClr val="F2B3ED">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6">
            <a:extLst>
              <a:ext uri="{FF2B5EF4-FFF2-40B4-BE49-F238E27FC236}">
                <a16:creationId xmlns:a16="http://schemas.microsoft.com/office/drawing/2014/main" id="{6D00757E-6F02-4FE5-27BA-49BC15C21C04}"/>
              </a:ext>
            </a:extLst>
          </p:cNvPr>
          <p:cNvSpPr/>
          <p:nvPr/>
        </p:nvSpPr>
        <p:spPr>
          <a:xfrm>
            <a:off x="8650287" y="4181281"/>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rgbClr val="FFFFFF"/>
                </a:solidFill>
                <a:latin typeface="Noto Sans CJK JP"/>
              </a:rPr>
              <a:t>4</a:t>
            </a:r>
            <a:endParaRPr sz="1500" b="1">
              <a:solidFill>
                <a:srgbClr val="FFFFFF"/>
              </a:solidFill>
              <a:latin typeface="Noto Sans CJK JP"/>
            </a:endParaRPr>
          </a:p>
        </p:txBody>
      </p:sp>
      <p:sp>
        <p:nvSpPr>
          <p:cNvPr id="23" name="TextBox 7">
            <a:extLst>
              <a:ext uri="{FF2B5EF4-FFF2-40B4-BE49-F238E27FC236}">
                <a16:creationId xmlns:a16="http://schemas.microsoft.com/office/drawing/2014/main" id="{05917BDB-ED8A-EA90-FC3D-2989200E4B48}"/>
              </a:ext>
            </a:extLst>
          </p:cNvPr>
          <p:cNvSpPr txBox="1"/>
          <p:nvPr/>
        </p:nvSpPr>
        <p:spPr>
          <a:xfrm>
            <a:off x="8999706" y="4193523"/>
            <a:ext cx="2149004" cy="304699"/>
          </a:xfrm>
          <a:prstGeom prst="rect">
            <a:avLst/>
          </a:prstGeom>
          <a:noFill/>
          <a:ln>
            <a:noFill/>
          </a:ln>
        </p:spPr>
        <p:txBody>
          <a:bodyPr wrap="square" lIns="36576" tIns="36576" rIns="36576" bIns="36576" anchor="t">
            <a:spAutoFit/>
          </a:bodyPr>
          <a:lstStyle/>
          <a:p>
            <a:pPr algn="l"/>
            <a:r>
              <a:rPr lang="ja-JP" altLang="en-US" sz="1500" b="1">
                <a:solidFill>
                  <a:srgbClr val="0B2B5B"/>
                </a:solidFill>
                <a:latin typeface="Noto Sans CJK JP"/>
              </a:rPr>
              <a:t>配置・接続条件</a:t>
            </a:r>
            <a:endParaRPr sz="1500" b="1">
              <a:solidFill>
                <a:srgbClr val="0B2B5B"/>
              </a:solidFill>
              <a:latin typeface="Noto Sans CJK JP"/>
            </a:endParaRPr>
          </a:p>
        </p:txBody>
      </p:sp>
      <p:grpSp>
        <p:nvGrpSpPr>
          <p:cNvPr id="31" name="グラフィックス 5" descr="ユーザー 単色塗りつぶし">
            <a:extLst>
              <a:ext uri="{FF2B5EF4-FFF2-40B4-BE49-F238E27FC236}">
                <a16:creationId xmlns:a16="http://schemas.microsoft.com/office/drawing/2014/main" id="{2F4D0496-47A8-3378-51F4-BC3A78F3A366}"/>
              </a:ext>
            </a:extLst>
          </p:cNvPr>
          <p:cNvGrpSpPr/>
          <p:nvPr/>
        </p:nvGrpSpPr>
        <p:grpSpPr>
          <a:xfrm>
            <a:off x="6636060" y="1757761"/>
            <a:ext cx="385910" cy="384262"/>
            <a:chOff x="774295" y="5401243"/>
            <a:chExt cx="992220" cy="1054234"/>
          </a:xfrm>
          <a:solidFill>
            <a:srgbClr val="000000"/>
          </a:solidFill>
        </p:grpSpPr>
        <p:sp>
          <p:nvSpPr>
            <p:cNvPr id="33" name="円/楕円 32">
              <a:extLst>
                <a:ext uri="{FF2B5EF4-FFF2-40B4-BE49-F238E27FC236}">
                  <a16:creationId xmlns:a16="http://schemas.microsoft.com/office/drawing/2014/main" id="{863664CA-A4DD-74DC-D0CD-B3F8C7A609FB}"/>
                </a:ext>
              </a:extLst>
            </p:cNvPr>
            <p:cNvSpPr/>
            <p:nvPr/>
          </p:nvSpPr>
          <p:spPr>
            <a:xfrm>
              <a:off x="1022350" y="5401243"/>
              <a:ext cx="496110" cy="496110"/>
            </a:xfrm>
            <a:prstGeom prst="ellipse">
              <a:avLst/>
            </a:prstGeom>
            <a:solidFill>
              <a:srgbClr val="000000"/>
            </a:solidFill>
            <a:ln w="15478" cap="flat">
              <a:noFill/>
              <a:prstDash val="solid"/>
              <a:miter/>
            </a:ln>
          </p:spPr>
          <p:txBody>
            <a:bodyPr/>
            <a:lstStyle/>
            <a:p>
              <a:endParaRPr lang="ja-JP" altLang="en-US"/>
            </a:p>
          </p:txBody>
        </p:sp>
        <p:sp>
          <p:nvSpPr>
            <p:cNvPr id="34" name="フリーフォーム 33">
              <a:extLst>
                <a:ext uri="{FF2B5EF4-FFF2-40B4-BE49-F238E27FC236}">
                  <a16:creationId xmlns:a16="http://schemas.microsoft.com/office/drawing/2014/main" id="{1ADA9A37-D641-9731-E000-62D56064CC34}"/>
                </a:ext>
              </a:extLst>
            </p:cNvPr>
            <p:cNvSpPr/>
            <p:nvPr/>
          </p:nvSpPr>
          <p:spPr>
            <a:xfrm>
              <a:off x="774295" y="5959367"/>
              <a:ext cx="992220" cy="496110"/>
            </a:xfrm>
            <a:custGeom>
              <a:avLst/>
              <a:gdLst>
                <a:gd name="csX0" fmla="*/ 992221 w 992220"/>
                <a:gd name="csY0" fmla="*/ 496110 h 496110"/>
                <a:gd name="csX1" fmla="*/ 992221 w 992220"/>
                <a:gd name="csY1" fmla="*/ 248055 h 496110"/>
                <a:gd name="csX2" fmla="*/ 942610 w 992220"/>
                <a:gd name="csY2" fmla="*/ 148833 h 496110"/>
                <a:gd name="csX3" fmla="*/ 700756 w 992220"/>
                <a:gd name="csY3" fmla="*/ 31007 h 496110"/>
                <a:gd name="csX4" fmla="*/ 496110 w 992220"/>
                <a:gd name="csY4" fmla="*/ 0 h 496110"/>
                <a:gd name="csX5" fmla="*/ 291465 w 992220"/>
                <a:gd name="csY5" fmla="*/ 31007 h 496110"/>
                <a:gd name="csX6" fmla="*/ 49611 w 992220"/>
                <a:gd name="csY6" fmla="*/ 148833 h 496110"/>
                <a:gd name="csX7" fmla="*/ 0 w 992220"/>
                <a:gd name="csY7" fmla="*/ 248055 h 496110"/>
                <a:gd name="csX8" fmla="*/ 0 w 992220"/>
                <a:gd name="csY8" fmla="*/ 496110 h 496110"/>
                <a:gd name="csX9" fmla="*/ 992221 w 992220"/>
                <a:gd name="csY9" fmla="*/ 496110 h 496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92220" h="496110">
                  <a:moveTo>
                    <a:pt x="992221" y="496110"/>
                  </a:moveTo>
                  <a:lnTo>
                    <a:pt x="992221" y="248055"/>
                  </a:lnTo>
                  <a:cubicBezTo>
                    <a:pt x="992221" y="210847"/>
                    <a:pt x="973617" y="173639"/>
                    <a:pt x="942610" y="148833"/>
                  </a:cubicBezTo>
                  <a:cubicBezTo>
                    <a:pt x="874395" y="93021"/>
                    <a:pt x="787575" y="55812"/>
                    <a:pt x="700756" y="31007"/>
                  </a:cubicBezTo>
                  <a:cubicBezTo>
                    <a:pt x="638742" y="12403"/>
                    <a:pt x="570527" y="0"/>
                    <a:pt x="496110" y="0"/>
                  </a:cubicBezTo>
                  <a:cubicBezTo>
                    <a:pt x="427895" y="0"/>
                    <a:pt x="359680" y="12403"/>
                    <a:pt x="291465" y="31007"/>
                  </a:cubicBezTo>
                  <a:cubicBezTo>
                    <a:pt x="204646" y="55812"/>
                    <a:pt x="117826" y="99222"/>
                    <a:pt x="49611" y="148833"/>
                  </a:cubicBezTo>
                  <a:cubicBezTo>
                    <a:pt x="18604" y="173639"/>
                    <a:pt x="0" y="210847"/>
                    <a:pt x="0" y="248055"/>
                  </a:cubicBezTo>
                  <a:lnTo>
                    <a:pt x="0" y="496110"/>
                  </a:lnTo>
                  <a:lnTo>
                    <a:pt x="992221" y="496110"/>
                  </a:lnTo>
                  <a:close/>
                </a:path>
              </a:pathLst>
            </a:custGeom>
            <a:solidFill>
              <a:srgbClr val="000000"/>
            </a:solidFill>
            <a:ln w="15478" cap="flat">
              <a:noFill/>
              <a:prstDash val="solid"/>
              <a:miter/>
            </a:ln>
          </p:spPr>
          <p:txBody>
            <a:bodyPr/>
            <a:lstStyle/>
            <a:p>
              <a:endParaRPr lang="ja-JP" altLang="en-US"/>
            </a:p>
          </p:txBody>
        </p:sp>
      </p:grpSp>
      <p:sp>
        <p:nvSpPr>
          <p:cNvPr id="32" name="テキスト ボックス 31">
            <a:extLst>
              <a:ext uri="{FF2B5EF4-FFF2-40B4-BE49-F238E27FC236}">
                <a16:creationId xmlns:a16="http://schemas.microsoft.com/office/drawing/2014/main" id="{E8F0E08D-C14E-188E-7CED-FC0857581B86}"/>
              </a:ext>
            </a:extLst>
          </p:cNvPr>
          <p:cNvSpPr txBox="1"/>
          <p:nvPr/>
        </p:nvSpPr>
        <p:spPr>
          <a:xfrm>
            <a:off x="6442308" y="2157275"/>
            <a:ext cx="777643" cy="307777"/>
          </a:xfrm>
          <a:prstGeom prst="rect">
            <a:avLst/>
          </a:prstGeom>
          <a:noFill/>
        </p:spPr>
        <p:txBody>
          <a:bodyPr wrap="square" rtlCol="0">
            <a:spAutoFit/>
          </a:bodyPr>
          <a:lstStyle/>
          <a:p>
            <a:pPr algn="ctr"/>
            <a:r>
              <a:rPr kumimoji="1" lang="ja-JP" altLang="en-US" sz="1400" dirty="0"/>
              <a:t>計画者</a:t>
            </a:r>
          </a:p>
        </p:txBody>
      </p:sp>
      <p:sp>
        <p:nvSpPr>
          <p:cNvPr id="29" name="グラフィックス 9" descr="人工知能 単色塗りつぶし">
            <a:extLst>
              <a:ext uri="{FF2B5EF4-FFF2-40B4-BE49-F238E27FC236}">
                <a16:creationId xmlns:a16="http://schemas.microsoft.com/office/drawing/2014/main" id="{EA818BFD-F3CC-D9DC-F17B-E2FD004076FE}"/>
              </a:ext>
            </a:extLst>
          </p:cNvPr>
          <p:cNvSpPr/>
          <p:nvPr/>
        </p:nvSpPr>
        <p:spPr>
          <a:xfrm flipH="1">
            <a:off x="4317140" y="1756805"/>
            <a:ext cx="385910" cy="388964"/>
          </a:xfrm>
          <a:custGeom>
            <a:avLst/>
            <a:gdLst>
              <a:gd name="csX0" fmla="*/ 942292 w 956495"/>
              <a:gd name="csY0" fmla="*/ 613476 h 1133846"/>
              <a:gd name="csX1" fmla="*/ 845250 w 956495"/>
              <a:gd name="csY1" fmla="*/ 444707 h 1133846"/>
              <a:gd name="csX2" fmla="*/ 845250 w 956495"/>
              <a:gd name="csY2" fmla="*/ 437675 h 1133846"/>
              <a:gd name="csX3" fmla="*/ 437392 w 956495"/>
              <a:gd name="csY3" fmla="*/ 283 h 1133846"/>
              <a:gd name="csX4" fmla="*/ 0 w 956495"/>
              <a:gd name="csY4" fmla="*/ 406734 h 1133846"/>
              <a:gd name="csX5" fmla="*/ 0 w 956495"/>
              <a:gd name="csY5" fmla="*/ 437675 h 1133846"/>
              <a:gd name="csX6" fmla="*/ 165956 w 956495"/>
              <a:gd name="csY6" fmla="*/ 778026 h 1133846"/>
              <a:gd name="csX7" fmla="*/ 165956 w 956495"/>
              <a:gd name="csY7" fmla="*/ 1133846 h 1133846"/>
              <a:gd name="csX8" fmla="*/ 610380 w 956495"/>
              <a:gd name="csY8" fmla="*/ 1133846 h 1133846"/>
              <a:gd name="csX9" fmla="*/ 610380 w 956495"/>
              <a:gd name="csY9" fmla="*/ 965078 h 1133846"/>
              <a:gd name="csX10" fmla="*/ 679294 w 956495"/>
              <a:gd name="csY10" fmla="*/ 965078 h 1133846"/>
              <a:gd name="csX11" fmla="*/ 845250 w 956495"/>
              <a:gd name="csY11" fmla="*/ 799122 h 1133846"/>
              <a:gd name="csX12" fmla="*/ 845250 w 956495"/>
              <a:gd name="csY12" fmla="*/ 796309 h 1133846"/>
              <a:gd name="csX13" fmla="*/ 845250 w 956495"/>
              <a:gd name="csY13" fmla="*/ 711924 h 1133846"/>
              <a:gd name="csX14" fmla="*/ 907132 w 956495"/>
              <a:gd name="csY14" fmla="*/ 711924 h 1133846"/>
              <a:gd name="csX15" fmla="*/ 942292 w 956495"/>
              <a:gd name="csY15" fmla="*/ 613476 h 1133846"/>
              <a:gd name="csX16" fmla="*/ 63288 w 956495"/>
              <a:gd name="csY16" fmla="*/ 297035 h 1133846"/>
              <a:gd name="csX17" fmla="*/ 140641 w 956495"/>
              <a:gd name="csY17" fmla="*/ 297035 h 1133846"/>
              <a:gd name="csX18" fmla="*/ 140641 w 956495"/>
              <a:gd name="csY18" fmla="*/ 240778 h 1133846"/>
              <a:gd name="csX19" fmla="*/ 133609 w 956495"/>
              <a:gd name="csY19" fmla="*/ 191554 h 1133846"/>
              <a:gd name="csX20" fmla="*/ 182833 w 956495"/>
              <a:gd name="csY20" fmla="*/ 184522 h 1133846"/>
              <a:gd name="csX21" fmla="*/ 189865 w 956495"/>
              <a:gd name="csY21" fmla="*/ 233746 h 1133846"/>
              <a:gd name="csX22" fmla="*/ 182833 w 956495"/>
              <a:gd name="csY22" fmla="*/ 240778 h 1133846"/>
              <a:gd name="csX23" fmla="*/ 182833 w 956495"/>
              <a:gd name="csY23" fmla="*/ 297035 h 1133846"/>
              <a:gd name="csX24" fmla="*/ 239089 w 956495"/>
              <a:gd name="csY24" fmla="*/ 297035 h 1133846"/>
              <a:gd name="csX25" fmla="*/ 239089 w 956495"/>
              <a:gd name="csY25" fmla="*/ 395483 h 1133846"/>
              <a:gd name="csX26" fmla="*/ 246121 w 956495"/>
              <a:gd name="csY26" fmla="*/ 444707 h 1133846"/>
              <a:gd name="csX27" fmla="*/ 196897 w 956495"/>
              <a:gd name="csY27" fmla="*/ 451739 h 1133846"/>
              <a:gd name="csX28" fmla="*/ 189865 w 956495"/>
              <a:gd name="csY28" fmla="*/ 402515 h 1133846"/>
              <a:gd name="csX29" fmla="*/ 196897 w 956495"/>
              <a:gd name="csY29" fmla="*/ 395483 h 1133846"/>
              <a:gd name="csX30" fmla="*/ 196897 w 956495"/>
              <a:gd name="csY30" fmla="*/ 339227 h 1133846"/>
              <a:gd name="csX31" fmla="*/ 50631 w 956495"/>
              <a:gd name="csY31" fmla="*/ 339227 h 1133846"/>
              <a:gd name="csX32" fmla="*/ 63288 w 956495"/>
              <a:gd name="csY32" fmla="*/ 297035 h 1133846"/>
              <a:gd name="csX33" fmla="*/ 454269 w 956495"/>
              <a:gd name="csY33" fmla="*/ 534717 h 1133846"/>
              <a:gd name="csX34" fmla="*/ 419109 w 956495"/>
              <a:gd name="csY34" fmla="*/ 499557 h 1133846"/>
              <a:gd name="csX35" fmla="*/ 419109 w 956495"/>
              <a:gd name="csY35" fmla="*/ 493931 h 1133846"/>
              <a:gd name="csX36" fmla="*/ 382543 w 956495"/>
              <a:gd name="csY36" fmla="*/ 457365 h 1133846"/>
              <a:gd name="csX37" fmla="*/ 323473 w 956495"/>
              <a:gd name="csY37" fmla="*/ 516434 h 1133846"/>
              <a:gd name="csX38" fmla="*/ 323473 w 956495"/>
              <a:gd name="csY38" fmla="*/ 620508 h 1133846"/>
              <a:gd name="csX39" fmla="*/ 330505 w 956495"/>
              <a:gd name="csY39" fmla="*/ 669732 h 1133846"/>
              <a:gd name="csX40" fmla="*/ 281281 w 956495"/>
              <a:gd name="csY40" fmla="*/ 676764 h 1133846"/>
              <a:gd name="csX41" fmla="*/ 274249 w 956495"/>
              <a:gd name="csY41" fmla="*/ 627540 h 1133846"/>
              <a:gd name="csX42" fmla="*/ 281281 w 956495"/>
              <a:gd name="csY42" fmla="*/ 620508 h 1133846"/>
              <a:gd name="csX43" fmla="*/ 281281 w 956495"/>
              <a:gd name="csY43" fmla="*/ 606444 h 1133846"/>
              <a:gd name="csX44" fmla="*/ 187052 w 956495"/>
              <a:gd name="csY44" fmla="*/ 606444 h 1133846"/>
              <a:gd name="csX45" fmla="*/ 120951 w 956495"/>
              <a:gd name="csY45" fmla="*/ 529092 h 1133846"/>
              <a:gd name="csX46" fmla="*/ 82978 w 956495"/>
              <a:gd name="csY46" fmla="*/ 496744 h 1133846"/>
              <a:gd name="csX47" fmla="*/ 115325 w 956495"/>
              <a:gd name="csY47" fmla="*/ 458771 h 1133846"/>
              <a:gd name="csX48" fmla="*/ 153298 w 956495"/>
              <a:gd name="csY48" fmla="*/ 491119 h 1133846"/>
              <a:gd name="csX49" fmla="*/ 153298 w 956495"/>
              <a:gd name="csY49" fmla="*/ 500963 h 1133846"/>
              <a:gd name="csX50" fmla="*/ 206742 w 956495"/>
              <a:gd name="csY50" fmla="*/ 564252 h 1133846"/>
              <a:gd name="csX51" fmla="*/ 281281 w 956495"/>
              <a:gd name="csY51" fmla="*/ 564252 h 1133846"/>
              <a:gd name="csX52" fmla="*/ 281281 w 956495"/>
              <a:gd name="csY52" fmla="*/ 499557 h 1133846"/>
              <a:gd name="csX53" fmla="*/ 353008 w 956495"/>
              <a:gd name="csY53" fmla="*/ 427830 h 1133846"/>
              <a:gd name="csX54" fmla="*/ 309409 w 956495"/>
              <a:gd name="csY54" fmla="*/ 382825 h 1133846"/>
              <a:gd name="csX55" fmla="*/ 309409 w 956495"/>
              <a:gd name="csY55" fmla="*/ 128266 h 1133846"/>
              <a:gd name="csX56" fmla="*/ 302377 w 956495"/>
              <a:gd name="csY56" fmla="*/ 79042 h 1133846"/>
              <a:gd name="csX57" fmla="*/ 351602 w 956495"/>
              <a:gd name="csY57" fmla="*/ 72010 h 1133846"/>
              <a:gd name="csX58" fmla="*/ 358634 w 956495"/>
              <a:gd name="csY58" fmla="*/ 121234 h 1133846"/>
              <a:gd name="csX59" fmla="*/ 351602 w 956495"/>
              <a:gd name="csY59" fmla="*/ 128266 h 1133846"/>
              <a:gd name="csX60" fmla="*/ 351602 w 956495"/>
              <a:gd name="csY60" fmla="*/ 170458 h 1133846"/>
              <a:gd name="csX61" fmla="*/ 464114 w 956495"/>
              <a:gd name="csY61" fmla="*/ 170458 h 1133846"/>
              <a:gd name="csX62" fmla="*/ 464114 w 956495"/>
              <a:gd name="csY62" fmla="*/ 268906 h 1133846"/>
              <a:gd name="csX63" fmla="*/ 471146 w 956495"/>
              <a:gd name="csY63" fmla="*/ 318131 h 1133846"/>
              <a:gd name="csX64" fmla="*/ 421922 w 956495"/>
              <a:gd name="csY64" fmla="*/ 325163 h 1133846"/>
              <a:gd name="csX65" fmla="*/ 414890 w 956495"/>
              <a:gd name="csY65" fmla="*/ 275938 h 1133846"/>
              <a:gd name="csX66" fmla="*/ 421922 w 956495"/>
              <a:gd name="csY66" fmla="*/ 268906 h 1133846"/>
              <a:gd name="csX67" fmla="*/ 421922 w 956495"/>
              <a:gd name="csY67" fmla="*/ 212650 h 1133846"/>
              <a:gd name="csX68" fmla="*/ 351602 w 956495"/>
              <a:gd name="csY68" fmla="*/ 212650 h 1133846"/>
              <a:gd name="csX69" fmla="*/ 351602 w 956495"/>
              <a:gd name="csY69" fmla="*/ 365948 h 1133846"/>
              <a:gd name="csX70" fmla="*/ 450050 w 956495"/>
              <a:gd name="csY70" fmla="*/ 464397 h 1133846"/>
              <a:gd name="csX71" fmla="*/ 454269 w 956495"/>
              <a:gd name="csY71" fmla="*/ 464397 h 1133846"/>
              <a:gd name="csX72" fmla="*/ 489429 w 956495"/>
              <a:gd name="csY72" fmla="*/ 499557 h 1133846"/>
              <a:gd name="csX73" fmla="*/ 454269 w 956495"/>
              <a:gd name="csY73" fmla="*/ 534717 h 1133846"/>
              <a:gd name="csX74" fmla="*/ 454269 w 956495"/>
              <a:gd name="csY74" fmla="*/ 534717 h 1133846"/>
              <a:gd name="csX75" fmla="*/ 625851 w 956495"/>
              <a:gd name="csY75" fmla="*/ 250623 h 1133846"/>
              <a:gd name="csX76" fmla="*/ 590691 w 956495"/>
              <a:gd name="csY76" fmla="*/ 215463 h 1133846"/>
              <a:gd name="csX77" fmla="*/ 590691 w 956495"/>
              <a:gd name="csY77" fmla="*/ 212650 h 1133846"/>
              <a:gd name="csX78" fmla="*/ 534434 w 956495"/>
              <a:gd name="csY78" fmla="*/ 162020 h 1133846"/>
              <a:gd name="csX79" fmla="*/ 534434 w 956495"/>
              <a:gd name="csY79" fmla="*/ 59352 h 1133846"/>
              <a:gd name="csX80" fmla="*/ 576627 w 956495"/>
              <a:gd name="csY80" fmla="*/ 74822 h 1133846"/>
              <a:gd name="csX81" fmla="*/ 576627 w 956495"/>
              <a:gd name="csY81" fmla="*/ 143736 h 1133846"/>
              <a:gd name="csX82" fmla="*/ 618819 w 956495"/>
              <a:gd name="csY82" fmla="*/ 181709 h 1133846"/>
              <a:gd name="csX83" fmla="*/ 625851 w 956495"/>
              <a:gd name="csY83" fmla="*/ 181709 h 1133846"/>
              <a:gd name="csX84" fmla="*/ 661011 w 956495"/>
              <a:gd name="csY84" fmla="*/ 216869 h 1133846"/>
              <a:gd name="csX85" fmla="*/ 625851 w 956495"/>
              <a:gd name="csY85" fmla="*/ 250623 h 1133846"/>
              <a:gd name="csX86" fmla="*/ 625851 w 956495"/>
              <a:gd name="csY86" fmla="*/ 250623 h 11338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956495" h="1133846">
                <a:moveTo>
                  <a:pt x="942292" y="613476"/>
                </a:moveTo>
                <a:lnTo>
                  <a:pt x="845250" y="444707"/>
                </a:lnTo>
                <a:lnTo>
                  <a:pt x="845250" y="437675"/>
                </a:lnTo>
                <a:cubicBezTo>
                  <a:pt x="853689" y="204212"/>
                  <a:pt x="670856" y="8721"/>
                  <a:pt x="437392" y="283"/>
                </a:cubicBezTo>
                <a:cubicBezTo>
                  <a:pt x="203929" y="-8156"/>
                  <a:pt x="8438" y="173271"/>
                  <a:pt x="0" y="406734"/>
                </a:cubicBezTo>
                <a:cubicBezTo>
                  <a:pt x="0" y="416579"/>
                  <a:pt x="0" y="427830"/>
                  <a:pt x="0" y="437675"/>
                </a:cubicBezTo>
                <a:cubicBezTo>
                  <a:pt x="0" y="571284"/>
                  <a:pt x="60475" y="696454"/>
                  <a:pt x="165956" y="778026"/>
                </a:cubicBezTo>
                <a:lnTo>
                  <a:pt x="165956" y="1133846"/>
                </a:lnTo>
                <a:lnTo>
                  <a:pt x="610380" y="1133846"/>
                </a:lnTo>
                <a:lnTo>
                  <a:pt x="610380" y="965078"/>
                </a:lnTo>
                <a:lnTo>
                  <a:pt x="679294" y="965078"/>
                </a:lnTo>
                <a:cubicBezTo>
                  <a:pt x="770711" y="965078"/>
                  <a:pt x="845250" y="890538"/>
                  <a:pt x="845250" y="799122"/>
                </a:cubicBezTo>
                <a:cubicBezTo>
                  <a:pt x="845250" y="797715"/>
                  <a:pt x="845250" y="797715"/>
                  <a:pt x="845250" y="796309"/>
                </a:cubicBezTo>
                <a:lnTo>
                  <a:pt x="845250" y="711924"/>
                </a:lnTo>
                <a:lnTo>
                  <a:pt x="907132" y="711924"/>
                </a:lnTo>
                <a:cubicBezTo>
                  <a:pt x="943699" y="707705"/>
                  <a:pt x="976046" y="665513"/>
                  <a:pt x="942292" y="613476"/>
                </a:cubicBezTo>
                <a:close/>
                <a:moveTo>
                  <a:pt x="63288" y="297035"/>
                </a:moveTo>
                <a:lnTo>
                  <a:pt x="140641" y="297035"/>
                </a:lnTo>
                <a:lnTo>
                  <a:pt x="140641" y="240778"/>
                </a:lnTo>
                <a:cubicBezTo>
                  <a:pt x="125170" y="229527"/>
                  <a:pt x="122357" y="207025"/>
                  <a:pt x="133609" y="191554"/>
                </a:cubicBezTo>
                <a:cubicBezTo>
                  <a:pt x="144860" y="176084"/>
                  <a:pt x="167362" y="173271"/>
                  <a:pt x="182833" y="184522"/>
                </a:cubicBezTo>
                <a:cubicBezTo>
                  <a:pt x="198303" y="195773"/>
                  <a:pt x="201116" y="218276"/>
                  <a:pt x="189865" y="233746"/>
                </a:cubicBezTo>
                <a:cubicBezTo>
                  <a:pt x="188458" y="236559"/>
                  <a:pt x="185646" y="239372"/>
                  <a:pt x="182833" y="240778"/>
                </a:cubicBezTo>
                <a:lnTo>
                  <a:pt x="182833" y="297035"/>
                </a:lnTo>
                <a:lnTo>
                  <a:pt x="239089" y="297035"/>
                </a:lnTo>
                <a:lnTo>
                  <a:pt x="239089" y="395483"/>
                </a:lnTo>
                <a:cubicBezTo>
                  <a:pt x="254560" y="406734"/>
                  <a:pt x="257372" y="429237"/>
                  <a:pt x="246121" y="444707"/>
                </a:cubicBezTo>
                <a:cubicBezTo>
                  <a:pt x="234870" y="460178"/>
                  <a:pt x="212367" y="462990"/>
                  <a:pt x="196897" y="451739"/>
                </a:cubicBezTo>
                <a:cubicBezTo>
                  <a:pt x="181426" y="440488"/>
                  <a:pt x="178614" y="417985"/>
                  <a:pt x="189865" y="402515"/>
                </a:cubicBezTo>
                <a:cubicBezTo>
                  <a:pt x="191271" y="399702"/>
                  <a:pt x="194084" y="396889"/>
                  <a:pt x="196897" y="395483"/>
                </a:cubicBezTo>
                <a:lnTo>
                  <a:pt x="196897" y="339227"/>
                </a:lnTo>
                <a:lnTo>
                  <a:pt x="50631" y="339227"/>
                </a:lnTo>
                <a:cubicBezTo>
                  <a:pt x="54850" y="325163"/>
                  <a:pt x="57663" y="311099"/>
                  <a:pt x="63288" y="297035"/>
                </a:cubicBezTo>
                <a:close/>
                <a:moveTo>
                  <a:pt x="454269" y="534717"/>
                </a:moveTo>
                <a:cubicBezTo>
                  <a:pt x="434580" y="534717"/>
                  <a:pt x="419109" y="519247"/>
                  <a:pt x="419109" y="499557"/>
                </a:cubicBezTo>
                <a:cubicBezTo>
                  <a:pt x="419109" y="498151"/>
                  <a:pt x="419109" y="495338"/>
                  <a:pt x="419109" y="493931"/>
                </a:cubicBezTo>
                <a:lnTo>
                  <a:pt x="382543" y="457365"/>
                </a:lnTo>
                <a:lnTo>
                  <a:pt x="323473" y="516434"/>
                </a:lnTo>
                <a:lnTo>
                  <a:pt x="323473" y="620508"/>
                </a:lnTo>
                <a:cubicBezTo>
                  <a:pt x="338944" y="631759"/>
                  <a:pt x="341757" y="654262"/>
                  <a:pt x="330505" y="669732"/>
                </a:cubicBezTo>
                <a:cubicBezTo>
                  <a:pt x="319254" y="685203"/>
                  <a:pt x="296752" y="688015"/>
                  <a:pt x="281281" y="676764"/>
                </a:cubicBezTo>
                <a:cubicBezTo>
                  <a:pt x="265811" y="665513"/>
                  <a:pt x="262998" y="643010"/>
                  <a:pt x="274249" y="627540"/>
                </a:cubicBezTo>
                <a:cubicBezTo>
                  <a:pt x="275656" y="624727"/>
                  <a:pt x="278468" y="621914"/>
                  <a:pt x="281281" y="620508"/>
                </a:cubicBezTo>
                <a:lnTo>
                  <a:pt x="281281" y="606444"/>
                </a:lnTo>
                <a:lnTo>
                  <a:pt x="187052" y="606444"/>
                </a:lnTo>
                <a:lnTo>
                  <a:pt x="120951" y="529092"/>
                </a:lnTo>
                <a:cubicBezTo>
                  <a:pt x="101261" y="530498"/>
                  <a:pt x="84384" y="516434"/>
                  <a:pt x="82978" y="496744"/>
                </a:cubicBezTo>
                <a:cubicBezTo>
                  <a:pt x="81572" y="477055"/>
                  <a:pt x="95636" y="460178"/>
                  <a:pt x="115325" y="458771"/>
                </a:cubicBezTo>
                <a:cubicBezTo>
                  <a:pt x="135015" y="457365"/>
                  <a:pt x="151892" y="471429"/>
                  <a:pt x="153298" y="491119"/>
                </a:cubicBezTo>
                <a:cubicBezTo>
                  <a:pt x="153298" y="493931"/>
                  <a:pt x="153298" y="498151"/>
                  <a:pt x="153298" y="500963"/>
                </a:cubicBezTo>
                <a:lnTo>
                  <a:pt x="206742" y="564252"/>
                </a:lnTo>
                <a:lnTo>
                  <a:pt x="281281" y="564252"/>
                </a:lnTo>
                <a:lnTo>
                  <a:pt x="281281" y="499557"/>
                </a:lnTo>
                <a:lnTo>
                  <a:pt x="353008" y="427830"/>
                </a:lnTo>
                <a:lnTo>
                  <a:pt x="309409" y="382825"/>
                </a:lnTo>
                <a:lnTo>
                  <a:pt x="309409" y="128266"/>
                </a:lnTo>
                <a:cubicBezTo>
                  <a:pt x="293939" y="117015"/>
                  <a:pt x="291126" y="94512"/>
                  <a:pt x="302377" y="79042"/>
                </a:cubicBezTo>
                <a:cubicBezTo>
                  <a:pt x="313629" y="63571"/>
                  <a:pt x="336131" y="60758"/>
                  <a:pt x="351602" y="72010"/>
                </a:cubicBezTo>
                <a:cubicBezTo>
                  <a:pt x="367072" y="83261"/>
                  <a:pt x="369885" y="105763"/>
                  <a:pt x="358634" y="121234"/>
                </a:cubicBezTo>
                <a:cubicBezTo>
                  <a:pt x="357227" y="124047"/>
                  <a:pt x="354414" y="126859"/>
                  <a:pt x="351602" y="128266"/>
                </a:cubicBezTo>
                <a:lnTo>
                  <a:pt x="351602" y="170458"/>
                </a:lnTo>
                <a:lnTo>
                  <a:pt x="464114" y="170458"/>
                </a:lnTo>
                <a:lnTo>
                  <a:pt x="464114" y="268906"/>
                </a:lnTo>
                <a:cubicBezTo>
                  <a:pt x="479585" y="280158"/>
                  <a:pt x="482397" y="302660"/>
                  <a:pt x="471146" y="318131"/>
                </a:cubicBezTo>
                <a:cubicBezTo>
                  <a:pt x="459895" y="333601"/>
                  <a:pt x="437392" y="336414"/>
                  <a:pt x="421922" y="325163"/>
                </a:cubicBezTo>
                <a:cubicBezTo>
                  <a:pt x="406451" y="313911"/>
                  <a:pt x="403639" y="291409"/>
                  <a:pt x="414890" y="275938"/>
                </a:cubicBezTo>
                <a:cubicBezTo>
                  <a:pt x="416296" y="273126"/>
                  <a:pt x="419109" y="270313"/>
                  <a:pt x="421922" y="268906"/>
                </a:cubicBezTo>
                <a:lnTo>
                  <a:pt x="421922" y="212650"/>
                </a:lnTo>
                <a:lnTo>
                  <a:pt x="351602" y="212650"/>
                </a:lnTo>
                <a:lnTo>
                  <a:pt x="351602" y="365948"/>
                </a:lnTo>
                <a:lnTo>
                  <a:pt x="450050" y="464397"/>
                </a:lnTo>
                <a:cubicBezTo>
                  <a:pt x="451456" y="464397"/>
                  <a:pt x="452863" y="464397"/>
                  <a:pt x="454269" y="464397"/>
                </a:cubicBezTo>
                <a:cubicBezTo>
                  <a:pt x="473959" y="464397"/>
                  <a:pt x="489429" y="479867"/>
                  <a:pt x="489429" y="499557"/>
                </a:cubicBezTo>
                <a:cubicBezTo>
                  <a:pt x="489429" y="519247"/>
                  <a:pt x="473959" y="534717"/>
                  <a:pt x="454269" y="534717"/>
                </a:cubicBezTo>
                <a:lnTo>
                  <a:pt x="454269" y="534717"/>
                </a:lnTo>
                <a:close/>
                <a:moveTo>
                  <a:pt x="625851" y="250623"/>
                </a:moveTo>
                <a:cubicBezTo>
                  <a:pt x="606161" y="250623"/>
                  <a:pt x="590691" y="235153"/>
                  <a:pt x="590691" y="215463"/>
                </a:cubicBezTo>
                <a:cubicBezTo>
                  <a:pt x="590691" y="214057"/>
                  <a:pt x="590691" y="214057"/>
                  <a:pt x="590691" y="212650"/>
                </a:cubicBezTo>
                <a:lnTo>
                  <a:pt x="534434" y="162020"/>
                </a:lnTo>
                <a:lnTo>
                  <a:pt x="534434" y="59352"/>
                </a:lnTo>
                <a:cubicBezTo>
                  <a:pt x="548498" y="63571"/>
                  <a:pt x="562563" y="69197"/>
                  <a:pt x="576627" y="74822"/>
                </a:cubicBezTo>
                <a:lnTo>
                  <a:pt x="576627" y="143736"/>
                </a:lnTo>
                <a:lnTo>
                  <a:pt x="618819" y="181709"/>
                </a:lnTo>
                <a:cubicBezTo>
                  <a:pt x="621632" y="181709"/>
                  <a:pt x="623038" y="181709"/>
                  <a:pt x="625851" y="181709"/>
                </a:cubicBezTo>
                <a:cubicBezTo>
                  <a:pt x="645541" y="181709"/>
                  <a:pt x="661011" y="197180"/>
                  <a:pt x="661011" y="216869"/>
                </a:cubicBezTo>
                <a:cubicBezTo>
                  <a:pt x="661011" y="236559"/>
                  <a:pt x="645541" y="250623"/>
                  <a:pt x="625851" y="250623"/>
                </a:cubicBezTo>
                <a:lnTo>
                  <a:pt x="625851" y="250623"/>
                </a:lnTo>
                <a:close/>
              </a:path>
            </a:pathLst>
          </a:custGeom>
          <a:solidFill>
            <a:srgbClr val="000000"/>
          </a:solidFill>
          <a:ln w="13990" cap="flat">
            <a:noFill/>
            <a:prstDash val="solid"/>
            <a:miter/>
          </a:ln>
        </p:spPr>
        <p:txBody>
          <a:bodyPr/>
          <a:lstStyle/>
          <a:p>
            <a:endParaRPr lang="ja-JP" altLang="en-US"/>
          </a:p>
        </p:txBody>
      </p:sp>
      <p:sp>
        <p:nvSpPr>
          <p:cNvPr id="40" name="コンテンツ プレースホルダー 2">
            <a:extLst>
              <a:ext uri="{FF2B5EF4-FFF2-40B4-BE49-F238E27FC236}">
                <a16:creationId xmlns:a16="http://schemas.microsoft.com/office/drawing/2014/main" id="{662114D5-0607-8C38-7800-E7BD92C7E33B}"/>
              </a:ext>
            </a:extLst>
          </p:cNvPr>
          <p:cNvSpPr txBox="1">
            <a:spLocks/>
          </p:cNvSpPr>
          <p:nvPr/>
        </p:nvSpPr>
        <p:spPr>
          <a:xfrm>
            <a:off x="290355" y="1857250"/>
            <a:ext cx="3412836" cy="4046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600" b="1">
                <a:solidFill>
                  <a:schemeClr val="tx2">
                    <a:lumMod val="90000"/>
                    <a:lumOff val="10000"/>
                  </a:schemeClr>
                </a:solidFill>
                <a:latin typeface="HGMinchoE" panose="02020909000000000000" pitchFamily="49" charset="-128"/>
                <a:ea typeface="HGMinchoE" panose="02020909000000000000" pitchFamily="49" charset="-128"/>
              </a:rPr>
              <a:t>例：大阪梅田駅前にホテル新設</a:t>
            </a:r>
            <a:endParaRPr lang="ja-JP" altLang="en-US" sz="1600">
              <a:solidFill>
                <a:schemeClr val="tx2">
                  <a:lumMod val="90000"/>
                  <a:lumOff val="10000"/>
                </a:schemeClr>
              </a:solidFill>
              <a:latin typeface="HGMinchoE" panose="02020909000000000000" pitchFamily="49" charset="-128"/>
              <a:ea typeface="HGMinchoE" panose="02020909000000000000" pitchFamily="49" charset="-128"/>
            </a:endParaRPr>
          </a:p>
        </p:txBody>
      </p:sp>
      <p:graphicFrame>
        <p:nvGraphicFramePr>
          <p:cNvPr id="215" name="表 214">
            <a:extLst>
              <a:ext uri="{FF2B5EF4-FFF2-40B4-BE49-F238E27FC236}">
                <a16:creationId xmlns:a16="http://schemas.microsoft.com/office/drawing/2014/main" id="{2A99B880-78DE-29E1-2480-A36EEDCCB780}"/>
              </a:ext>
            </a:extLst>
          </p:cNvPr>
          <p:cNvGraphicFramePr>
            <a:graphicFrameLocks noGrp="1"/>
          </p:cNvGraphicFramePr>
          <p:nvPr>
            <p:extLst>
              <p:ext uri="{D42A27DB-BD31-4B8C-83A1-F6EECF244321}">
                <p14:modId xmlns:p14="http://schemas.microsoft.com/office/powerpoint/2010/main" val="1013653832"/>
              </p:ext>
            </p:extLst>
          </p:nvPr>
        </p:nvGraphicFramePr>
        <p:xfrm>
          <a:off x="818057" y="5245671"/>
          <a:ext cx="2622648" cy="594969"/>
        </p:xfrm>
        <a:graphic>
          <a:graphicData uri="http://schemas.openxmlformats.org/drawingml/2006/table">
            <a:tbl>
              <a:tblPr firstRow="1" firstCol="1" bandRow="1">
                <a:tableStyleId>{5C22544A-7EE6-4342-B048-85BDC9FD1C3A}</a:tableStyleId>
              </a:tblPr>
              <a:tblGrid>
                <a:gridCol w="874216">
                  <a:extLst>
                    <a:ext uri="{9D8B030D-6E8A-4147-A177-3AD203B41FA5}">
                      <a16:colId xmlns:a16="http://schemas.microsoft.com/office/drawing/2014/main" val="646960523"/>
                    </a:ext>
                  </a:extLst>
                </a:gridCol>
                <a:gridCol w="874216">
                  <a:extLst>
                    <a:ext uri="{9D8B030D-6E8A-4147-A177-3AD203B41FA5}">
                      <a16:colId xmlns:a16="http://schemas.microsoft.com/office/drawing/2014/main" val="2734930776"/>
                    </a:ext>
                  </a:extLst>
                </a:gridCol>
                <a:gridCol w="874216">
                  <a:extLst>
                    <a:ext uri="{9D8B030D-6E8A-4147-A177-3AD203B41FA5}">
                      <a16:colId xmlns:a16="http://schemas.microsoft.com/office/drawing/2014/main" val="37053510"/>
                    </a:ext>
                  </a:extLst>
                </a:gridCol>
              </a:tblGrid>
              <a:tr h="365759">
                <a:tc>
                  <a:txBody>
                    <a:bodyPr/>
                    <a:lstStyle/>
                    <a:p>
                      <a:pPr algn="ctr"/>
                      <a:r>
                        <a:rPr kumimoji="1" lang="ja-JP" altLang="en-US" sz="900">
                          <a:solidFill>
                            <a:schemeClr val="tx2">
                              <a:lumMod val="90000"/>
                              <a:lumOff val="10000"/>
                            </a:schemeClr>
                          </a:solidFill>
                        </a:rPr>
                        <a:t>客室部分割合</a:t>
                      </a:r>
                    </a:p>
                  </a:txBody>
                  <a:tcPr anchor="ctr">
                    <a:solidFill>
                      <a:srgbClr val="BACCEC"/>
                    </a:solidFill>
                  </a:tcPr>
                </a:tc>
                <a:tc>
                  <a:txBody>
                    <a:bodyPr/>
                    <a:lstStyle/>
                    <a:p>
                      <a:pPr algn="ctr"/>
                      <a:r>
                        <a:rPr lang="ja-JP" altLang="ja-JP" sz="900">
                          <a:solidFill>
                            <a:schemeClr val="tx2">
                              <a:lumMod val="90000"/>
                              <a:lumOff val="10000"/>
                            </a:schemeClr>
                          </a:solidFill>
                        </a:rPr>
                        <a:t>客室平均面積</a:t>
                      </a:r>
                      <a:endParaRPr kumimoji="1" lang="ja-JP" altLang="en-US" sz="900">
                        <a:solidFill>
                          <a:schemeClr val="tx2">
                            <a:lumMod val="90000"/>
                            <a:lumOff val="10000"/>
                          </a:schemeClr>
                        </a:solidFill>
                      </a:endParaRPr>
                    </a:p>
                  </a:txBody>
                  <a:tcPr anchor="ctr">
                    <a:solidFill>
                      <a:srgbClr val="BACCEC"/>
                    </a:solidFill>
                  </a:tcPr>
                </a:tc>
                <a:tc>
                  <a:txBody>
                    <a:bodyPr/>
                    <a:lstStyle/>
                    <a:p>
                      <a:pPr algn="ctr"/>
                      <a:r>
                        <a:rPr lang="ja-JP" altLang="en-US" sz="900">
                          <a:solidFill>
                            <a:schemeClr val="tx2">
                              <a:lumMod val="90000"/>
                              <a:lumOff val="10000"/>
                            </a:schemeClr>
                          </a:solidFill>
                        </a:rPr>
                        <a:t>客室数</a:t>
                      </a:r>
                      <a:endParaRPr kumimoji="1" lang="ja-JP" altLang="en-US" sz="900">
                        <a:solidFill>
                          <a:schemeClr val="tx2">
                            <a:lumMod val="90000"/>
                            <a:lumOff val="10000"/>
                          </a:schemeClr>
                        </a:solidFill>
                      </a:endParaRPr>
                    </a:p>
                  </a:txBody>
                  <a:tcPr anchor="ctr">
                    <a:solidFill>
                      <a:srgbClr val="BACCEC"/>
                    </a:solidFill>
                  </a:tcPr>
                </a:tc>
                <a:extLst>
                  <a:ext uri="{0D108BD9-81ED-4DB2-BD59-A6C34878D82A}">
                    <a16:rowId xmlns:a16="http://schemas.microsoft.com/office/drawing/2014/main" val="2737853201"/>
                  </a:ext>
                </a:extLst>
              </a:tr>
              <a:tr h="229210">
                <a:tc>
                  <a:txBody>
                    <a:bodyPr/>
                    <a:lstStyle/>
                    <a:p>
                      <a:pPr algn="ctr"/>
                      <a:r>
                        <a:rPr kumimoji="1" lang="en-US" altLang="ja-JP" sz="900" b="0">
                          <a:solidFill>
                            <a:schemeClr val="tx2">
                              <a:lumMod val="90000"/>
                              <a:lumOff val="10000"/>
                            </a:schemeClr>
                          </a:solidFill>
                        </a:rPr>
                        <a:t>60%</a:t>
                      </a:r>
                      <a:endParaRPr kumimoji="1" lang="ja-JP" altLang="en-US" sz="900" b="0">
                        <a:solidFill>
                          <a:schemeClr val="tx2">
                            <a:lumMod val="90000"/>
                            <a:lumOff val="10000"/>
                          </a:schemeClr>
                        </a:solidFill>
                      </a:endParaRPr>
                    </a:p>
                  </a:txBody>
                  <a:tcPr anchor="ctr">
                    <a:solidFill>
                      <a:schemeClr val="bg2">
                        <a:lumMod val="90000"/>
                      </a:schemeClr>
                    </a:solidFill>
                  </a:tcPr>
                </a:tc>
                <a:tc>
                  <a:txBody>
                    <a:bodyPr/>
                    <a:lstStyle/>
                    <a:p>
                      <a:pPr algn="ctr"/>
                      <a:r>
                        <a:rPr lang="en-US" altLang="ja-JP" sz="900" b="0"/>
                        <a:t>27</a:t>
                      </a:r>
                      <a:r>
                        <a:rPr lang="ja-JP" altLang="ja-JP" sz="900" b="0"/>
                        <a:t>㎡</a:t>
                      </a:r>
                      <a:endParaRPr kumimoji="1" lang="ja-JP" altLang="en-US" sz="900" b="0">
                        <a:solidFill>
                          <a:schemeClr val="tx2">
                            <a:lumMod val="90000"/>
                            <a:lumOff val="10000"/>
                          </a:schemeClr>
                        </a:solidFill>
                      </a:endParaRPr>
                    </a:p>
                  </a:txBody>
                  <a:tcPr anchor="ctr">
                    <a:solidFill>
                      <a:schemeClr val="bg2">
                        <a:lumMod val="90000"/>
                      </a:schemeClr>
                    </a:solidFill>
                  </a:tcPr>
                </a:tc>
                <a:tc>
                  <a:txBody>
                    <a:bodyPr/>
                    <a:lstStyle/>
                    <a:p>
                      <a:pPr algn="ctr"/>
                      <a:r>
                        <a:rPr lang="en-US" altLang="ja-JP" sz="900" b="0"/>
                        <a:t>200</a:t>
                      </a:r>
                      <a:r>
                        <a:rPr lang="ja-JP" altLang="en-US" sz="900" b="0"/>
                        <a:t>室</a:t>
                      </a:r>
                      <a:endParaRPr lang="en-US" altLang="ja-JP" sz="900" b="0"/>
                    </a:p>
                  </a:txBody>
                  <a:tcPr anchor="ctr">
                    <a:solidFill>
                      <a:schemeClr val="bg2">
                        <a:lumMod val="90000"/>
                      </a:schemeClr>
                    </a:solidFill>
                  </a:tcPr>
                </a:tc>
                <a:extLst>
                  <a:ext uri="{0D108BD9-81ED-4DB2-BD59-A6C34878D82A}">
                    <a16:rowId xmlns:a16="http://schemas.microsoft.com/office/drawing/2014/main" val="783521823"/>
                  </a:ext>
                </a:extLst>
              </a:tr>
            </a:tbl>
          </a:graphicData>
        </a:graphic>
      </p:graphicFrame>
      <p:sp>
        <p:nvSpPr>
          <p:cNvPr id="24" name="Rounded Rectangle 5">
            <a:extLst>
              <a:ext uri="{FF2B5EF4-FFF2-40B4-BE49-F238E27FC236}">
                <a16:creationId xmlns:a16="http://schemas.microsoft.com/office/drawing/2014/main" id="{7CAF5548-F103-06AE-7E18-7C7AB423FC3F}"/>
              </a:ext>
            </a:extLst>
          </p:cNvPr>
          <p:cNvSpPr/>
          <p:nvPr/>
        </p:nvSpPr>
        <p:spPr>
          <a:xfrm>
            <a:off x="4647971" y="2476556"/>
            <a:ext cx="2483144" cy="720369"/>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en-US" sz="1050">
                <a:solidFill>
                  <a:schemeClr val="tx1"/>
                </a:solidFill>
              </a:rPr>
              <a:t>大阪梅田駅前の開発計画。</a:t>
            </a:r>
            <a:endParaRPr lang="en-US" altLang="ja-JP" sz="1050">
              <a:solidFill>
                <a:schemeClr val="tx1"/>
              </a:solidFill>
            </a:endParaRPr>
          </a:p>
          <a:p>
            <a:r>
              <a:rPr lang="ja-JP" altLang="en-US" sz="1050">
                <a:solidFill>
                  <a:schemeClr val="tx1"/>
                </a:solidFill>
              </a:rPr>
              <a:t>高層ビルの建設を検討している。</a:t>
            </a:r>
            <a:endParaRPr lang="en-US" altLang="ja-JP" sz="1050">
              <a:solidFill>
                <a:schemeClr val="tx1"/>
              </a:solidFill>
            </a:endParaRPr>
          </a:p>
          <a:p>
            <a:r>
              <a:rPr lang="ja-JP" altLang="ja-JP" sz="1050">
                <a:solidFill>
                  <a:schemeClr val="tx1"/>
                </a:solidFill>
              </a:rPr>
              <a:t>大阪梅田駅の西側、歩行者通路に面した約2,000㎡の敷地です。</a:t>
            </a:r>
            <a:endParaRPr sz="1050">
              <a:solidFill>
                <a:schemeClr val="tx1"/>
              </a:solidFill>
            </a:endParaRPr>
          </a:p>
        </p:txBody>
      </p:sp>
      <p:sp>
        <p:nvSpPr>
          <p:cNvPr id="25" name="Rounded Rectangle 5">
            <a:extLst>
              <a:ext uri="{FF2B5EF4-FFF2-40B4-BE49-F238E27FC236}">
                <a16:creationId xmlns:a16="http://schemas.microsoft.com/office/drawing/2014/main" id="{6B6EE906-7A32-0A92-BB5B-23873193CAB2}"/>
              </a:ext>
            </a:extLst>
          </p:cNvPr>
          <p:cNvSpPr/>
          <p:nvPr/>
        </p:nvSpPr>
        <p:spPr>
          <a:xfrm>
            <a:off x="4107911" y="3248978"/>
            <a:ext cx="2483144" cy="573877"/>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en-US" sz="1050" dirty="0">
                <a:solidFill>
                  <a:schemeClr val="tx1"/>
                </a:solidFill>
              </a:rPr>
              <a:t>こちらの敷地でよろしいですか。面積は</a:t>
            </a:r>
            <a:r>
              <a:rPr lang="en-US" altLang="ja-JP" sz="1050" dirty="0">
                <a:solidFill>
                  <a:schemeClr val="tx1"/>
                </a:solidFill>
              </a:rPr>
              <a:t>1980</a:t>
            </a:r>
            <a:r>
              <a:rPr lang="ja-JP" altLang="ja-JP" sz="1050" dirty="0">
                <a:solidFill>
                  <a:schemeClr val="tx1"/>
                </a:solidFill>
              </a:rPr>
              <a:t>㎡</a:t>
            </a:r>
            <a:r>
              <a:rPr lang="ja-JP" altLang="en-US" sz="1050" dirty="0">
                <a:solidFill>
                  <a:schemeClr val="tx1"/>
                </a:solidFill>
              </a:rPr>
              <a:t>です。</a:t>
            </a:r>
            <a:r>
              <a:rPr lang="ja-JP" altLang="ja-JP" sz="1050" dirty="0">
                <a:solidFill>
                  <a:schemeClr val="tx1"/>
                </a:solidFill>
              </a:rPr>
              <a:t>現況は通路・広場で、駅と周辺施設をつなぐ場所ですね。</a:t>
            </a:r>
            <a:endParaRPr kumimoji="1" lang="ja-JP" altLang="en-US" sz="1050" dirty="0">
              <a:solidFill>
                <a:schemeClr val="tx1"/>
              </a:solidFill>
            </a:endParaRPr>
          </a:p>
        </p:txBody>
      </p:sp>
      <p:sp>
        <p:nvSpPr>
          <p:cNvPr id="50" name="Rounded Rectangle 5">
            <a:extLst>
              <a:ext uri="{FF2B5EF4-FFF2-40B4-BE49-F238E27FC236}">
                <a16:creationId xmlns:a16="http://schemas.microsoft.com/office/drawing/2014/main" id="{C30373DE-ED63-0698-E8A6-8F78F21214EB}"/>
              </a:ext>
            </a:extLst>
          </p:cNvPr>
          <p:cNvSpPr/>
          <p:nvPr/>
        </p:nvSpPr>
        <p:spPr>
          <a:xfrm>
            <a:off x="4072394" y="4338362"/>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ja-JP" sz="1050">
                <a:solidFill>
                  <a:schemeClr val="tx1"/>
                </a:solidFill>
              </a:rPr>
              <a:t>駅前立地から、ホテル・オフィス・商業の複合用途が考えられます。</a:t>
            </a:r>
          </a:p>
        </p:txBody>
      </p:sp>
      <p:sp>
        <p:nvSpPr>
          <p:cNvPr id="51" name="Rounded Rectangle 5">
            <a:extLst>
              <a:ext uri="{FF2B5EF4-FFF2-40B4-BE49-F238E27FC236}">
                <a16:creationId xmlns:a16="http://schemas.microsoft.com/office/drawing/2014/main" id="{B020A620-D008-CAD6-F3D8-2165E1C4197D}"/>
              </a:ext>
            </a:extLst>
          </p:cNvPr>
          <p:cNvSpPr/>
          <p:nvPr/>
        </p:nvSpPr>
        <p:spPr>
          <a:xfrm>
            <a:off x="4655840" y="4799034"/>
            <a:ext cx="2482137" cy="399170"/>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ja-JP" sz="1050">
                <a:solidFill>
                  <a:schemeClr val="tx1"/>
                </a:solidFill>
              </a:rPr>
              <a:t>主用途はホテル、低層部に商業施設を入れたいです。</a:t>
            </a:r>
            <a:endParaRPr lang="en-US" altLang="ja-JP" sz="1050">
              <a:solidFill>
                <a:schemeClr val="tx1"/>
              </a:solidFill>
            </a:endParaRPr>
          </a:p>
        </p:txBody>
      </p:sp>
      <p:sp>
        <p:nvSpPr>
          <p:cNvPr id="52" name="Rounded Rectangle 5">
            <a:extLst>
              <a:ext uri="{FF2B5EF4-FFF2-40B4-BE49-F238E27FC236}">
                <a16:creationId xmlns:a16="http://schemas.microsoft.com/office/drawing/2014/main" id="{DE60BB1C-A605-A4C6-6D0F-2D70EB3A84E9}"/>
              </a:ext>
            </a:extLst>
          </p:cNvPr>
          <p:cNvSpPr/>
          <p:nvPr/>
        </p:nvSpPr>
        <p:spPr>
          <a:xfrm>
            <a:off x="4072394" y="5260269"/>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ja-JP" sz="1050">
                <a:solidFill>
                  <a:schemeClr val="tx1"/>
                </a:solidFill>
              </a:rPr>
              <a:t>1〜3階を商業、上層部をホテルと仮定します。</a:t>
            </a:r>
          </a:p>
        </p:txBody>
      </p:sp>
      <p:sp>
        <p:nvSpPr>
          <p:cNvPr id="54" name="Rounded Rectangle 5">
            <a:extLst>
              <a:ext uri="{FF2B5EF4-FFF2-40B4-BE49-F238E27FC236}">
                <a16:creationId xmlns:a16="http://schemas.microsoft.com/office/drawing/2014/main" id="{F6191165-9121-0E03-B0FF-DEB59C654B4E}"/>
              </a:ext>
            </a:extLst>
          </p:cNvPr>
          <p:cNvSpPr/>
          <p:nvPr/>
        </p:nvSpPr>
        <p:spPr>
          <a:xfrm>
            <a:off x="4703050" y="5715061"/>
            <a:ext cx="2473070" cy="230353"/>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ja-JP" sz="1050">
                <a:solidFill>
                  <a:schemeClr val="tx1"/>
                </a:solidFill>
              </a:rPr>
              <a:t>地上25階で検討しています。</a:t>
            </a:r>
          </a:p>
        </p:txBody>
      </p:sp>
      <p:sp>
        <p:nvSpPr>
          <p:cNvPr id="55" name="Rounded Rectangle 5">
            <a:extLst>
              <a:ext uri="{FF2B5EF4-FFF2-40B4-BE49-F238E27FC236}">
                <a16:creationId xmlns:a16="http://schemas.microsoft.com/office/drawing/2014/main" id="{2B43591C-33BD-0069-517F-137DE3DD6CFF}"/>
              </a:ext>
            </a:extLst>
          </p:cNvPr>
          <p:cNvSpPr/>
          <p:nvPr/>
        </p:nvSpPr>
        <p:spPr>
          <a:xfrm>
            <a:off x="4072394" y="5998378"/>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ja-JP" sz="1050">
                <a:solidFill>
                  <a:schemeClr val="tx1"/>
                </a:solidFill>
              </a:rPr>
              <a:t>延床面積は約30,000㎡程度と推定します。</a:t>
            </a:r>
          </a:p>
        </p:txBody>
      </p:sp>
      <p:sp>
        <p:nvSpPr>
          <p:cNvPr id="59" name="Rounded Rectangle 5">
            <a:extLst>
              <a:ext uri="{FF2B5EF4-FFF2-40B4-BE49-F238E27FC236}">
                <a16:creationId xmlns:a16="http://schemas.microsoft.com/office/drawing/2014/main" id="{5754FB86-EE13-1957-CCF2-1A88971F314A}"/>
              </a:ext>
            </a:extLst>
          </p:cNvPr>
          <p:cNvSpPr/>
          <p:nvPr/>
        </p:nvSpPr>
        <p:spPr>
          <a:xfrm>
            <a:off x="8708605" y="2539467"/>
            <a:ext cx="2482137" cy="257438"/>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ja-JP" sz="1050" dirty="0">
                <a:solidFill>
                  <a:schemeClr val="tx1"/>
                </a:solidFill>
              </a:rPr>
              <a:t>ホテル部分は約25,000㎡と仮定します。</a:t>
            </a:r>
          </a:p>
        </p:txBody>
      </p:sp>
      <p:sp>
        <p:nvSpPr>
          <p:cNvPr id="61" name="Rounded Rectangle 5">
            <a:extLst>
              <a:ext uri="{FF2B5EF4-FFF2-40B4-BE49-F238E27FC236}">
                <a16:creationId xmlns:a16="http://schemas.microsoft.com/office/drawing/2014/main" id="{2076248B-02EE-1BD1-E270-3326E6827907}"/>
              </a:ext>
            </a:extLst>
          </p:cNvPr>
          <p:cNvSpPr/>
          <p:nvPr/>
        </p:nvSpPr>
        <p:spPr>
          <a:xfrm>
            <a:off x="8708605" y="2836629"/>
            <a:ext cx="2482137" cy="39794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ja-JP" sz="1050">
                <a:solidFill>
                  <a:schemeClr val="tx1"/>
                </a:solidFill>
              </a:rPr>
              <a:t>客室数は約500室、平均客室面積は27㎡程度と推定します。</a:t>
            </a:r>
          </a:p>
        </p:txBody>
      </p:sp>
      <p:sp>
        <p:nvSpPr>
          <p:cNvPr id="62" name="Rounded Rectangle 5">
            <a:extLst>
              <a:ext uri="{FF2B5EF4-FFF2-40B4-BE49-F238E27FC236}">
                <a16:creationId xmlns:a16="http://schemas.microsoft.com/office/drawing/2014/main" id="{7A93DCD4-AD3B-F4DA-92C9-F84ABBAA71B3}"/>
              </a:ext>
            </a:extLst>
          </p:cNvPr>
          <p:cNvSpPr/>
          <p:nvPr/>
        </p:nvSpPr>
        <p:spPr>
          <a:xfrm>
            <a:off x="8704939" y="3285082"/>
            <a:ext cx="2482137" cy="39794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ja-JP" sz="1050">
                <a:solidFill>
                  <a:schemeClr val="tx1"/>
                </a:solidFill>
              </a:rPr>
              <a:t>客室部分割合は約60％として整理します。</a:t>
            </a:r>
          </a:p>
        </p:txBody>
      </p:sp>
      <p:sp>
        <p:nvSpPr>
          <p:cNvPr id="63" name="Rounded Rectangle 5">
            <a:extLst>
              <a:ext uri="{FF2B5EF4-FFF2-40B4-BE49-F238E27FC236}">
                <a16:creationId xmlns:a16="http://schemas.microsoft.com/office/drawing/2014/main" id="{A8549FD5-2B3D-7F6A-9C22-A2C94539AD73}"/>
              </a:ext>
            </a:extLst>
          </p:cNvPr>
          <p:cNvSpPr/>
          <p:nvPr/>
        </p:nvSpPr>
        <p:spPr>
          <a:xfrm>
            <a:off x="9329498" y="3728746"/>
            <a:ext cx="2482137" cy="238547"/>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ja-JP" sz="1050">
                <a:solidFill>
                  <a:schemeClr val="tx1"/>
                </a:solidFill>
              </a:rPr>
              <a:t>その条件で進めてください。</a:t>
            </a:r>
            <a:endParaRPr lang="en-US" altLang="ja-JP" sz="1050">
              <a:solidFill>
                <a:schemeClr val="tx1"/>
              </a:solidFill>
            </a:endParaRPr>
          </a:p>
        </p:txBody>
      </p:sp>
      <p:sp>
        <p:nvSpPr>
          <p:cNvPr id="128" name="Rounded Rectangle 5">
            <a:extLst>
              <a:ext uri="{FF2B5EF4-FFF2-40B4-BE49-F238E27FC236}">
                <a16:creationId xmlns:a16="http://schemas.microsoft.com/office/drawing/2014/main" id="{877D59B7-F391-B689-F8C9-45230B9136C6}"/>
              </a:ext>
            </a:extLst>
          </p:cNvPr>
          <p:cNvSpPr/>
          <p:nvPr/>
        </p:nvSpPr>
        <p:spPr>
          <a:xfrm>
            <a:off x="8700051" y="4580635"/>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ja-JP" sz="1050">
                <a:solidFill>
                  <a:schemeClr val="tx1"/>
                </a:solidFill>
              </a:rPr>
              <a:t>1階は歩行者通路と広場を残す配置が望ましいです。</a:t>
            </a:r>
          </a:p>
        </p:txBody>
      </p:sp>
      <p:sp>
        <p:nvSpPr>
          <p:cNvPr id="130" name="Rounded Rectangle 5">
            <a:extLst>
              <a:ext uri="{FF2B5EF4-FFF2-40B4-BE49-F238E27FC236}">
                <a16:creationId xmlns:a16="http://schemas.microsoft.com/office/drawing/2014/main" id="{934A8A9E-C0EC-A313-0B6C-8860E180404C}"/>
              </a:ext>
            </a:extLst>
          </p:cNvPr>
          <p:cNvSpPr/>
          <p:nvPr/>
        </p:nvSpPr>
        <p:spPr>
          <a:xfrm>
            <a:off x="9329498" y="5041307"/>
            <a:ext cx="2482137" cy="399170"/>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ja-JP" sz="1050" dirty="0">
                <a:solidFill>
                  <a:schemeClr val="tx1"/>
                </a:solidFill>
              </a:rPr>
              <a:t>駅改札と周辺商業施設をつなぎたいです。</a:t>
            </a:r>
            <a:endParaRPr lang="en-US" altLang="ja-JP" sz="1050" dirty="0">
              <a:solidFill>
                <a:schemeClr val="tx1"/>
              </a:solidFill>
            </a:endParaRPr>
          </a:p>
        </p:txBody>
      </p:sp>
      <p:sp>
        <p:nvSpPr>
          <p:cNvPr id="132" name="Rounded Rectangle 5">
            <a:extLst>
              <a:ext uri="{FF2B5EF4-FFF2-40B4-BE49-F238E27FC236}">
                <a16:creationId xmlns:a16="http://schemas.microsoft.com/office/drawing/2014/main" id="{469A67E9-DAC1-CF73-57E7-A920C135D4E0}"/>
              </a:ext>
            </a:extLst>
          </p:cNvPr>
          <p:cNvSpPr/>
          <p:nvPr/>
        </p:nvSpPr>
        <p:spPr>
          <a:xfrm>
            <a:off x="8700051" y="5502542"/>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ja-JP" sz="1050">
                <a:solidFill>
                  <a:schemeClr val="tx1"/>
                </a:solidFill>
              </a:rPr>
              <a:t>建物内に貫通動線を設ける案を整理します。</a:t>
            </a:r>
          </a:p>
        </p:txBody>
      </p:sp>
      <p:sp>
        <p:nvSpPr>
          <p:cNvPr id="134" name="Rounded Rectangle 5">
            <a:extLst>
              <a:ext uri="{FF2B5EF4-FFF2-40B4-BE49-F238E27FC236}">
                <a16:creationId xmlns:a16="http://schemas.microsoft.com/office/drawing/2014/main" id="{B0155DE1-07A2-5092-54C5-D4F6B839096C}"/>
              </a:ext>
            </a:extLst>
          </p:cNvPr>
          <p:cNvSpPr/>
          <p:nvPr/>
        </p:nvSpPr>
        <p:spPr>
          <a:xfrm>
            <a:off x="8715273" y="5965907"/>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ja-JP" sz="1050">
                <a:solidFill>
                  <a:schemeClr val="tx1"/>
                </a:solidFill>
              </a:rPr>
              <a:t>この条件を人流評価用シナリオとして出力します。</a:t>
            </a:r>
          </a:p>
        </p:txBody>
      </p:sp>
      <p:sp>
        <p:nvSpPr>
          <p:cNvPr id="44" name="Rounded Rectangle 5">
            <a:extLst>
              <a:ext uri="{FF2B5EF4-FFF2-40B4-BE49-F238E27FC236}">
                <a16:creationId xmlns:a16="http://schemas.microsoft.com/office/drawing/2014/main" id="{670416E6-6D7B-A209-7791-301DA7440C98}"/>
              </a:ext>
            </a:extLst>
          </p:cNvPr>
          <p:cNvSpPr/>
          <p:nvPr/>
        </p:nvSpPr>
        <p:spPr>
          <a:xfrm>
            <a:off x="4258437" y="2172300"/>
            <a:ext cx="553714" cy="239162"/>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cxnSp>
        <p:nvCxnSpPr>
          <p:cNvPr id="56" name="コネクタ: カギ線 55">
            <a:extLst>
              <a:ext uri="{FF2B5EF4-FFF2-40B4-BE49-F238E27FC236}">
                <a16:creationId xmlns:a16="http://schemas.microsoft.com/office/drawing/2014/main" id="{3D9850F8-1D30-3864-2CCB-0D28670EE7AE}"/>
              </a:ext>
            </a:extLst>
          </p:cNvPr>
          <p:cNvCxnSpPr>
            <a:cxnSpLocks/>
            <a:stCxn id="15" idx="3"/>
            <a:endCxn id="18" idx="1"/>
          </p:cNvCxnSpPr>
          <p:nvPr/>
        </p:nvCxnSpPr>
        <p:spPr>
          <a:xfrm flipV="1">
            <a:off x="7286980" y="2719551"/>
            <a:ext cx="1300330" cy="2483457"/>
          </a:xfrm>
          <a:prstGeom prst="bentConnector3">
            <a:avLst/>
          </a:prstGeom>
          <a:ln w="38100">
            <a:tailEnd type="triangle"/>
          </a:ln>
        </p:spPr>
        <p:style>
          <a:lnRef idx="2">
            <a:schemeClr val="dk1"/>
          </a:lnRef>
          <a:fillRef idx="0">
            <a:schemeClr val="dk1"/>
          </a:fillRef>
          <a:effectRef idx="1">
            <a:schemeClr val="dk1"/>
          </a:effectRef>
          <a:fontRef idx="minor">
            <a:schemeClr val="tx1"/>
          </a:fontRef>
        </p:style>
      </p:cxnSp>
      <p:sp>
        <p:nvSpPr>
          <p:cNvPr id="35" name="テキスト ボックス 34">
            <a:extLst>
              <a:ext uri="{FF2B5EF4-FFF2-40B4-BE49-F238E27FC236}">
                <a16:creationId xmlns:a16="http://schemas.microsoft.com/office/drawing/2014/main" id="{20E4CE7C-7893-ED73-602B-9EC38EB7DC62}"/>
              </a:ext>
            </a:extLst>
          </p:cNvPr>
          <p:cNvSpPr txBox="1"/>
          <p:nvPr/>
        </p:nvSpPr>
        <p:spPr>
          <a:xfrm>
            <a:off x="4258437" y="2113212"/>
            <a:ext cx="553714" cy="338554"/>
          </a:xfrm>
          <a:prstGeom prst="rect">
            <a:avLst/>
          </a:prstGeom>
          <a:noFill/>
        </p:spPr>
        <p:txBody>
          <a:bodyPr wrap="square" rtlCol="0">
            <a:spAutoFit/>
          </a:bodyPr>
          <a:lstStyle/>
          <a:p>
            <a:pPr algn="ctr"/>
            <a:r>
              <a:rPr kumimoji="1" lang="en-US" altLang="ja-JP" sz="1600" dirty="0"/>
              <a:t>LLM</a:t>
            </a:r>
            <a:endParaRPr kumimoji="1" lang="ja-JP" altLang="en-US" sz="1600" dirty="0"/>
          </a:p>
        </p:txBody>
      </p:sp>
      <p:sp>
        <p:nvSpPr>
          <p:cNvPr id="42" name="Rounded Rectangle 5">
            <a:extLst>
              <a:ext uri="{FF2B5EF4-FFF2-40B4-BE49-F238E27FC236}">
                <a16:creationId xmlns:a16="http://schemas.microsoft.com/office/drawing/2014/main" id="{8516D0A0-491C-9680-7C5D-3345C1021839}"/>
              </a:ext>
            </a:extLst>
          </p:cNvPr>
          <p:cNvSpPr/>
          <p:nvPr/>
        </p:nvSpPr>
        <p:spPr>
          <a:xfrm>
            <a:off x="6453492" y="2176155"/>
            <a:ext cx="739427" cy="240714"/>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9" name="グラフィックス 5" descr="ユーザー 単色塗りつぶし">
            <a:extLst>
              <a:ext uri="{FF2B5EF4-FFF2-40B4-BE49-F238E27FC236}">
                <a16:creationId xmlns:a16="http://schemas.microsoft.com/office/drawing/2014/main" id="{AC224F48-5FFD-67C9-17B9-003F7E3485D0}"/>
              </a:ext>
            </a:extLst>
          </p:cNvPr>
          <p:cNvGrpSpPr/>
          <p:nvPr/>
        </p:nvGrpSpPr>
        <p:grpSpPr>
          <a:xfrm>
            <a:off x="11250001" y="1781220"/>
            <a:ext cx="385910" cy="384262"/>
            <a:chOff x="774295" y="5401243"/>
            <a:chExt cx="992220" cy="1054234"/>
          </a:xfrm>
          <a:solidFill>
            <a:srgbClr val="000000"/>
          </a:solidFill>
        </p:grpSpPr>
        <p:sp>
          <p:nvSpPr>
            <p:cNvPr id="11" name="円/楕円 10">
              <a:extLst>
                <a:ext uri="{FF2B5EF4-FFF2-40B4-BE49-F238E27FC236}">
                  <a16:creationId xmlns:a16="http://schemas.microsoft.com/office/drawing/2014/main" id="{88D8AA15-5F7F-752A-29E3-0F98B3B59237}"/>
                </a:ext>
              </a:extLst>
            </p:cNvPr>
            <p:cNvSpPr/>
            <p:nvPr/>
          </p:nvSpPr>
          <p:spPr>
            <a:xfrm>
              <a:off x="1022350" y="5401243"/>
              <a:ext cx="496110" cy="496110"/>
            </a:xfrm>
            <a:prstGeom prst="ellipse">
              <a:avLst/>
            </a:prstGeom>
            <a:solidFill>
              <a:srgbClr val="000000"/>
            </a:solidFill>
            <a:ln w="15478" cap="flat">
              <a:noFill/>
              <a:prstDash val="solid"/>
              <a:miter/>
            </a:ln>
          </p:spPr>
          <p:txBody>
            <a:bodyPr/>
            <a:lstStyle/>
            <a:p>
              <a:endParaRPr lang="ja-JP" altLang="en-US"/>
            </a:p>
          </p:txBody>
        </p:sp>
        <p:sp>
          <p:nvSpPr>
            <p:cNvPr id="30" name="フリーフォーム 29">
              <a:extLst>
                <a:ext uri="{FF2B5EF4-FFF2-40B4-BE49-F238E27FC236}">
                  <a16:creationId xmlns:a16="http://schemas.microsoft.com/office/drawing/2014/main" id="{1FA24AA5-F1DA-A3CD-668F-D5EDE5D3AB77}"/>
                </a:ext>
              </a:extLst>
            </p:cNvPr>
            <p:cNvSpPr/>
            <p:nvPr/>
          </p:nvSpPr>
          <p:spPr>
            <a:xfrm>
              <a:off x="774295" y="5959367"/>
              <a:ext cx="992220" cy="496110"/>
            </a:xfrm>
            <a:custGeom>
              <a:avLst/>
              <a:gdLst>
                <a:gd name="csX0" fmla="*/ 992221 w 992220"/>
                <a:gd name="csY0" fmla="*/ 496110 h 496110"/>
                <a:gd name="csX1" fmla="*/ 992221 w 992220"/>
                <a:gd name="csY1" fmla="*/ 248055 h 496110"/>
                <a:gd name="csX2" fmla="*/ 942610 w 992220"/>
                <a:gd name="csY2" fmla="*/ 148833 h 496110"/>
                <a:gd name="csX3" fmla="*/ 700756 w 992220"/>
                <a:gd name="csY3" fmla="*/ 31007 h 496110"/>
                <a:gd name="csX4" fmla="*/ 496110 w 992220"/>
                <a:gd name="csY4" fmla="*/ 0 h 496110"/>
                <a:gd name="csX5" fmla="*/ 291465 w 992220"/>
                <a:gd name="csY5" fmla="*/ 31007 h 496110"/>
                <a:gd name="csX6" fmla="*/ 49611 w 992220"/>
                <a:gd name="csY6" fmla="*/ 148833 h 496110"/>
                <a:gd name="csX7" fmla="*/ 0 w 992220"/>
                <a:gd name="csY7" fmla="*/ 248055 h 496110"/>
                <a:gd name="csX8" fmla="*/ 0 w 992220"/>
                <a:gd name="csY8" fmla="*/ 496110 h 496110"/>
                <a:gd name="csX9" fmla="*/ 992221 w 992220"/>
                <a:gd name="csY9" fmla="*/ 496110 h 496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92220" h="496110">
                  <a:moveTo>
                    <a:pt x="992221" y="496110"/>
                  </a:moveTo>
                  <a:lnTo>
                    <a:pt x="992221" y="248055"/>
                  </a:lnTo>
                  <a:cubicBezTo>
                    <a:pt x="992221" y="210847"/>
                    <a:pt x="973617" y="173639"/>
                    <a:pt x="942610" y="148833"/>
                  </a:cubicBezTo>
                  <a:cubicBezTo>
                    <a:pt x="874395" y="93021"/>
                    <a:pt x="787575" y="55812"/>
                    <a:pt x="700756" y="31007"/>
                  </a:cubicBezTo>
                  <a:cubicBezTo>
                    <a:pt x="638742" y="12403"/>
                    <a:pt x="570527" y="0"/>
                    <a:pt x="496110" y="0"/>
                  </a:cubicBezTo>
                  <a:cubicBezTo>
                    <a:pt x="427895" y="0"/>
                    <a:pt x="359680" y="12403"/>
                    <a:pt x="291465" y="31007"/>
                  </a:cubicBezTo>
                  <a:cubicBezTo>
                    <a:pt x="204646" y="55812"/>
                    <a:pt x="117826" y="99222"/>
                    <a:pt x="49611" y="148833"/>
                  </a:cubicBezTo>
                  <a:cubicBezTo>
                    <a:pt x="18604" y="173639"/>
                    <a:pt x="0" y="210847"/>
                    <a:pt x="0" y="248055"/>
                  </a:cubicBezTo>
                  <a:lnTo>
                    <a:pt x="0" y="496110"/>
                  </a:lnTo>
                  <a:lnTo>
                    <a:pt x="992221" y="496110"/>
                  </a:lnTo>
                  <a:close/>
                </a:path>
              </a:pathLst>
            </a:custGeom>
            <a:solidFill>
              <a:srgbClr val="000000"/>
            </a:solidFill>
            <a:ln w="15478" cap="flat">
              <a:noFill/>
              <a:prstDash val="solid"/>
              <a:miter/>
            </a:ln>
          </p:spPr>
          <p:txBody>
            <a:bodyPr/>
            <a:lstStyle/>
            <a:p>
              <a:endParaRPr lang="ja-JP" altLang="en-US"/>
            </a:p>
          </p:txBody>
        </p:sp>
      </p:grpSp>
      <p:sp>
        <p:nvSpPr>
          <p:cNvPr id="36" name="テキスト ボックス 35">
            <a:extLst>
              <a:ext uri="{FF2B5EF4-FFF2-40B4-BE49-F238E27FC236}">
                <a16:creationId xmlns:a16="http://schemas.microsoft.com/office/drawing/2014/main" id="{853B3141-7EFE-CC87-60F2-E8F0C8379384}"/>
              </a:ext>
            </a:extLst>
          </p:cNvPr>
          <p:cNvSpPr txBox="1"/>
          <p:nvPr/>
        </p:nvSpPr>
        <p:spPr>
          <a:xfrm>
            <a:off x="11056249" y="2180734"/>
            <a:ext cx="777643" cy="307777"/>
          </a:xfrm>
          <a:prstGeom prst="rect">
            <a:avLst/>
          </a:prstGeom>
          <a:noFill/>
        </p:spPr>
        <p:txBody>
          <a:bodyPr wrap="square" rtlCol="0">
            <a:spAutoFit/>
          </a:bodyPr>
          <a:lstStyle/>
          <a:p>
            <a:pPr algn="ctr"/>
            <a:r>
              <a:rPr kumimoji="1" lang="ja-JP" altLang="en-US" sz="1400" dirty="0"/>
              <a:t>計画者</a:t>
            </a:r>
          </a:p>
        </p:txBody>
      </p:sp>
      <p:sp>
        <p:nvSpPr>
          <p:cNvPr id="37" name="グラフィックス 9" descr="人工知能 単色塗りつぶし">
            <a:extLst>
              <a:ext uri="{FF2B5EF4-FFF2-40B4-BE49-F238E27FC236}">
                <a16:creationId xmlns:a16="http://schemas.microsoft.com/office/drawing/2014/main" id="{E428498D-7F5C-ADC8-F3DD-CF31C214055F}"/>
              </a:ext>
            </a:extLst>
          </p:cNvPr>
          <p:cNvSpPr/>
          <p:nvPr/>
        </p:nvSpPr>
        <p:spPr>
          <a:xfrm flipH="1">
            <a:off x="8931081" y="1780264"/>
            <a:ext cx="385910" cy="388964"/>
          </a:xfrm>
          <a:custGeom>
            <a:avLst/>
            <a:gdLst>
              <a:gd name="csX0" fmla="*/ 942292 w 956495"/>
              <a:gd name="csY0" fmla="*/ 613476 h 1133846"/>
              <a:gd name="csX1" fmla="*/ 845250 w 956495"/>
              <a:gd name="csY1" fmla="*/ 444707 h 1133846"/>
              <a:gd name="csX2" fmla="*/ 845250 w 956495"/>
              <a:gd name="csY2" fmla="*/ 437675 h 1133846"/>
              <a:gd name="csX3" fmla="*/ 437392 w 956495"/>
              <a:gd name="csY3" fmla="*/ 283 h 1133846"/>
              <a:gd name="csX4" fmla="*/ 0 w 956495"/>
              <a:gd name="csY4" fmla="*/ 406734 h 1133846"/>
              <a:gd name="csX5" fmla="*/ 0 w 956495"/>
              <a:gd name="csY5" fmla="*/ 437675 h 1133846"/>
              <a:gd name="csX6" fmla="*/ 165956 w 956495"/>
              <a:gd name="csY6" fmla="*/ 778026 h 1133846"/>
              <a:gd name="csX7" fmla="*/ 165956 w 956495"/>
              <a:gd name="csY7" fmla="*/ 1133846 h 1133846"/>
              <a:gd name="csX8" fmla="*/ 610380 w 956495"/>
              <a:gd name="csY8" fmla="*/ 1133846 h 1133846"/>
              <a:gd name="csX9" fmla="*/ 610380 w 956495"/>
              <a:gd name="csY9" fmla="*/ 965078 h 1133846"/>
              <a:gd name="csX10" fmla="*/ 679294 w 956495"/>
              <a:gd name="csY10" fmla="*/ 965078 h 1133846"/>
              <a:gd name="csX11" fmla="*/ 845250 w 956495"/>
              <a:gd name="csY11" fmla="*/ 799122 h 1133846"/>
              <a:gd name="csX12" fmla="*/ 845250 w 956495"/>
              <a:gd name="csY12" fmla="*/ 796309 h 1133846"/>
              <a:gd name="csX13" fmla="*/ 845250 w 956495"/>
              <a:gd name="csY13" fmla="*/ 711924 h 1133846"/>
              <a:gd name="csX14" fmla="*/ 907132 w 956495"/>
              <a:gd name="csY14" fmla="*/ 711924 h 1133846"/>
              <a:gd name="csX15" fmla="*/ 942292 w 956495"/>
              <a:gd name="csY15" fmla="*/ 613476 h 1133846"/>
              <a:gd name="csX16" fmla="*/ 63288 w 956495"/>
              <a:gd name="csY16" fmla="*/ 297035 h 1133846"/>
              <a:gd name="csX17" fmla="*/ 140641 w 956495"/>
              <a:gd name="csY17" fmla="*/ 297035 h 1133846"/>
              <a:gd name="csX18" fmla="*/ 140641 w 956495"/>
              <a:gd name="csY18" fmla="*/ 240778 h 1133846"/>
              <a:gd name="csX19" fmla="*/ 133609 w 956495"/>
              <a:gd name="csY19" fmla="*/ 191554 h 1133846"/>
              <a:gd name="csX20" fmla="*/ 182833 w 956495"/>
              <a:gd name="csY20" fmla="*/ 184522 h 1133846"/>
              <a:gd name="csX21" fmla="*/ 189865 w 956495"/>
              <a:gd name="csY21" fmla="*/ 233746 h 1133846"/>
              <a:gd name="csX22" fmla="*/ 182833 w 956495"/>
              <a:gd name="csY22" fmla="*/ 240778 h 1133846"/>
              <a:gd name="csX23" fmla="*/ 182833 w 956495"/>
              <a:gd name="csY23" fmla="*/ 297035 h 1133846"/>
              <a:gd name="csX24" fmla="*/ 239089 w 956495"/>
              <a:gd name="csY24" fmla="*/ 297035 h 1133846"/>
              <a:gd name="csX25" fmla="*/ 239089 w 956495"/>
              <a:gd name="csY25" fmla="*/ 395483 h 1133846"/>
              <a:gd name="csX26" fmla="*/ 246121 w 956495"/>
              <a:gd name="csY26" fmla="*/ 444707 h 1133846"/>
              <a:gd name="csX27" fmla="*/ 196897 w 956495"/>
              <a:gd name="csY27" fmla="*/ 451739 h 1133846"/>
              <a:gd name="csX28" fmla="*/ 189865 w 956495"/>
              <a:gd name="csY28" fmla="*/ 402515 h 1133846"/>
              <a:gd name="csX29" fmla="*/ 196897 w 956495"/>
              <a:gd name="csY29" fmla="*/ 395483 h 1133846"/>
              <a:gd name="csX30" fmla="*/ 196897 w 956495"/>
              <a:gd name="csY30" fmla="*/ 339227 h 1133846"/>
              <a:gd name="csX31" fmla="*/ 50631 w 956495"/>
              <a:gd name="csY31" fmla="*/ 339227 h 1133846"/>
              <a:gd name="csX32" fmla="*/ 63288 w 956495"/>
              <a:gd name="csY32" fmla="*/ 297035 h 1133846"/>
              <a:gd name="csX33" fmla="*/ 454269 w 956495"/>
              <a:gd name="csY33" fmla="*/ 534717 h 1133846"/>
              <a:gd name="csX34" fmla="*/ 419109 w 956495"/>
              <a:gd name="csY34" fmla="*/ 499557 h 1133846"/>
              <a:gd name="csX35" fmla="*/ 419109 w 956495"/>
              <a:gd name="csY35" fmla="*/ 493931 h 1133846"/>
              <a:gd name="csX36" fmla="*/ 382543 w 956495"/>
              <a:gd name="csY36" fmla="*/ 457365 h 1133846"/>
              <a:gd name="csX37" fmla="*/ 323473 w 956495"/>
              <a:gd name="csY37" fmla="*/ 516434 h 1133846"/>
              <a:gd name="csX38" fmla="*/ 323473 w 956495"/>
              <a:gd name="csY38" fmla="*/ 620508 h 1133846"/>
              <a:gd name="csX39" fmla="*/ 330505 w 956495"/>
              <a:gd name="csY39" fmla="*/ 669732 h 1133846"/>
              <a:gd name="csX40" fmla="*/ 281281 w 956495"/>
              <a:gd name="csY40" fmla="*/ 676764 h 1133846"/>
              <a:gd name="csX41" fmla="*/ 274249 w 956495"/>
              <a:gd name="csY41" fmla="*/ 627540 h 1133846"/>
              <a:gd name="csX42" fmla="*/ 281281 w 956495"/>
              <a:gd name="csY42" fmla="*/ 620508 h 1133846"/>
              <a:gd name="csX43" fmla="*/ 281281 w 956495"/>
              <a:gd name="csY43" fmla="*/ 606444 h 1133846"/>
              <a:gd name="csX44" fmla="*/ 187052 w 956495"/>
              <a:gd name="csY44" fmla="*/ 606444 h 1133846"/>
              <a:gd name="csX45" fmla="*/ 120951 w 956495"/>
              <a:gd name="csY45" fmla="*/ 529092 h 1133846"/>
              <a:gd name="csX46" fmla="*/ 82978 w 956495"/>
              <a:gd name="csY46" fmla="*/ 496744 h 1133846"/>
              <a:gd name="csX47" fmla="*/ 115325 w 956495"/>
              <a:gd name="csY47" fmla="*/ 458771 h 1133846"/>
              <a:gd name="csX48" fmla="*/ 153298 w 956495"/>
              <a:gd name="csY48" fmla="*/ 491119 h 1133846"/>
              <a:gd name="csX49" fmla="*/ 153298 w 956495"/>
              <a:gd name="csY49" fmla="*/ 500963 h 1133846"/>
              <a:gd name="csX50" fmla="*/ 206742 w 956495"/>
              <a:gd name="csY50" fmla="*/ 564252 h 1133846"/>
              <a:gd name="csX51" fmla="*/ 281281 w 956495"/>
              <a:gd name="csY51" fmla="*/ 564252 h 1133846"/>
              <a:gd name="csX52" fmla="*/ 281281 w 956495"/>
              <a:gd name="csY52" fmla="*/ 499557 h 1133846"/>
              <a:gd name="csX53" fmla="*/ 353008 w 956495"/>
              <a:gd name="csY53" fmla="*/ 427830 h 1133846"/>
              <a:gd name="csX54" fmla="*/ 309409 w 956495"/>
              <a:gd name="csY54" fmla="*/ 382825 h 1133846"/>
              <a:gd name="csX55" fmla="*/ 309409 w 956495"/>
              <a:gd name="csY55" fmla="*/ 128266 h 1133846"/>
              <a:gd name="csX56" fmla="*/ 302377 w 956495"/>
              <a:gd name="csY56" fmla="*/ 79042 h 1133846"/>
              <a:gd name="csX57" fmla="*/ 351602 w 956495"/>
              <a:gd name="csY57" fmla="*/ 72010 h 1133846"/>
              <a:gd name="csX58" fmla="*/ 358634 w 956495"/>
              <a:gd name="csY58" fmla="*/ 121234 h 1133846"/>
              <a:gd name="csX59" fmla="*/ 351602 w 956495"/>
              <a:gd name="csY59" fmla="*/ 128266 h 1133846"/>
              <a:gd name="csX60" fmla="*/ 351602 w 956495"/>
              <a:gd name="csY60" fmla="*/ 170458 h 1133846"/>
              <a:gd name="csX61" fmla="*/ 464114 w 956495"/>
              <a:gd name="csY61" fmla="*/ 170458 h 1133846"/>
              <a:gd name="csX62" fmla="*/ 464114 w 956495"/>
              <a:gd name="csY62" fmla="*/ 268906 h 1133846"/>
              <a:gd name="csX63" fmla="*/ 471146 w 956495"/>
              <a:gd name="csY63" fmla="*/ 318131 h 1133846"/>
              <a:gd name="csX64" fmla="*/ 421922 w 956495"/>
              <a:gd name="csY64" fmla="*/ 325163 h 1133846"/>
              <a:gd name="csX65" fmla="*/ 414890 w 956495"/>
              <a:gd name="csY65" fmla="*/ 275938 h 1133846"/>
              <a:gd name="csX66" fmla="*/ 421922 w 956495"/>
              <a:gd name="csY66" fmla="*/ 268906 h 1133846"/>
              <a:gd name="csX67" fmla="*/ 421922 w 956495"/>
              <a:gd name="csY67" fmla="*/ 212650 h 1133846"/>
              <a:gd name="csX68" fmla="*/ 351602 w 956495"/>
              <a:gd name="csY68" fmla="*/ 212650 h 1133846"/>
              <a:gd name="csX69" fmla="*/ 351602 w 956495"/>
              <a:gd name="csY69" fmla="*/ 365948 h 1133846"/>
              <a:gd name="csX70" fmla="*/ 450050 w 956495"/>
              <a:gd name="csY70" fmla="*/ 464397 h 1133846"/>
              <a:gd name="csX71" fmla="*/ 454269 w 956495"/>
              <a:gd name="csY71" fmla="*/ 464397 h 1133846"/>
              <a:gd name="csX72" fmla="*/ 489429 w 956495"/>
              <a:gd name="csY72" fmla="*/ 499557 h 1133846"/>
              <a:gd name="csX73" fmla="*/ 454269 w 956495"/>
              <a:gd name="csY73" fmla="*/ 534717 h 1133846"/>
              <a:gd name="csX74" fmla="*/ 454269 w 956495"/>
              <a:gd name="csY74" fmla="*/ 534717 h 1133846"/>
              <a:gd name="csX75" fmla="*/ 625851 w 956495"/>
              <a:gd name="csY75" fmla="*/ 250623 h 1133846"/>
              <a:gd name="csX76" fmla="*/ 590691 w 956495"/>
              <a:gd name="csY76" fmla="*/ 215463 h 1133846"/>
              <a:gd name="csX77" fmla="*/ 590691 w 956495"/>
              <a:gd name="csY77" fmla="*/ 212650 h 1133846"/>
              <a:gd name="csX78" fmla="*/ 534434 w 956495"/>
              <a:gd name="csY78" fmla="*/ 162020 h 1133846"/>
              <a:gd name="csX79" fmla="*/ 534434 w 956495"/>
              <a:gd name="csY79" fmla="*/ 59352 h 1133846"/>
              <a:gd name="csX80" fmla="*/ 576627 w 956495"/>
              <a:gd name="csY80" fmla="*/ 74822 h 1133846"/>
              <a:gd name="csX81" fmla="*/ 576627 w 956495"/>
              <a:gd name="csY81" fmla="*/ 143736 h 1133846"/>
              <a:gd name="csX82" fmla="*/ 618819 w 956495"/>
              <a:gd name="csY82" fmla="*/ 181709 h 1133846"/>
              <a:gd name="csX83" fmla="*/ 625851 w 956495"/>
              <a:gd name="csY83" fmla="*/ 181709 h 1133846"/>
              <a:gd name="csX84" fmla="*/ 661011 w 956495"/>
              <a:gd name="csY84" fmla="*/ 216869 h 1133846"/>
              <a:gd name="csX85" fmla="*/ 625851 w 956495"/>
              <a:gd name="csY85" fmla="*/ 250623 h 1133846"/>
              <a:gd name="csX86" fmla="*/ 625851 w 956495"/>
              <a:gd name="csY86" fmla="*/ 250623 h 11338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956495" h="1133846">
                <a:moveTo>
                  <a:pt x="942292" y="613476"/>
                </a:moveTo>
                <a:lnTo>
                  <a:pt x="845250" y="444707"/>
                </a:lnTo>
                <a:lnTo>
                  <a:pt x="845250" y="437675"/>
                </a:lnTo>
                <a:cubicBezTo>
                  <a:pt x="853689" y="204212"/>
                  <a:pt x="670856" y="8721"/>
                  <a:pt x="437392" y="283"/>
                </a:cubicBezTo>
                <a:cubicBezTo>
                  <a:pt x="203929" y="-8156"/>
                  <a:pt x="8438" y="173271"/>
                  <a:pt x="0" y="406734"/>
                </a:cubicBezTo>
                <a:cubicBezTo>
                  <a:pt x="0" y="416579"/>
                  <a:pt x="0" y="427830"/>
                  <a:pt x="0" y="437675"/>
                </a:cubicBezTo>
                <a:cubicBezTo>
                  <a:pt x="0" y="571284"/>
                  <a:pt x="60475" y="696454"/>
                  <a:pt x="165956" y="778026"/>
                </a:cubicBezTo>
                <a:lnTo>
                  <a:pt x="165956" y="1133846"/>
                </a:lnTo>
                <a:lnTo>
                  <a:pt x="610380" y="1133846"/>
                </a:lnTo>
                <a:lnTo>
                  <a:pt x="610380" y="965078"/>
                </a:lnTo>
                <a:lnTo>
                  <a:pt x="679294" y="965078"/>
                </a:lnTo>
                <a:cubicBezTo>
                  <a:pt x="770711" y="965078"/>
                  <a:pt x="845250" y="890538"/>
                  <a:pt x="845250" y="799122"/>
                </a:cubicBezTo>
                <a:cubicBezTo>
                  <a:pt x="845250" y="797715"/>
                  <a:pt x="845250" y="797715"/>
                  <a:pt x="845250" y="796309"/>
                </a:cubicBezTo>
                <a:lnTo>
                  <a:pt x="845250" y="711924"/>
                </a:lnTo>
                <a:lnTo>
                  <a:pt x="907132" y="711924"/>
                </a:lnTo>
                <a:cubicBezTo>
                  <a:pt x="943699" y="707705"/>
                  <a:pt x="976046" y="665513"/>
                  <a:pt x="942292" y="613476"/>
                </a:cubicBezTo>
                <a:close/>
                <a:moveTo>
                  <a:pt x="63288" y="297035"/>
                </a:moveTo>
                <a:lnTo>
                  <a:pt x="140641" y="297035"/>
                </a:lnTo>
                <a:lnTo>
                  <a:pt x="140641" y="240778"/>
                </a:lnTo>
                <a:cubicBezTo>
                  <a:pt x="125170" y="229527"/>
                  <a:pt x="122357" y="207025"/>
                  <a:pt x="133609" y="191554"/>
                </a:cubicBezTo>
                <a:cubicBezTo>
                  <a:pt x="144860" y="176084"/>
                  <a:pt x="167362" y="173271"/>
                  <a:pt x="182833" y="184522"/>
                </a:cubicBezTo>
                <a:cubicBezTo>
                  <a:pt x="198303" y="195773"/>
                  <a:pt x="201116" y="218276"/>
                  <a:pt x="189865" y="233746"/>
                </a:cubicBezTo>
                <a:cubicBezTo>
                  <a:pt x="188458" y="236559"/>
                  <a:pt x="185646" y="239372"/>
                  <a:pt x="182833" y="240778"/>
                </a:cubicBezTo>
                <a:lnTo>
                  <a:pt x="182833" y="297035"/>
                </a:lnTo>
                <a:lnTo>
                  <a:pt x="239089" y="297035"/>
                </a:lnTo>
                <a:lnTo>
                  <a:pt x="239089" y="395483"/>
                </a:lnTo>
                <a:cubicBezTo>
                  <a:pt x="254560" y="406734"/>
                  <a:pt x="257372" y="429237"/>
                  <a:pt x="246121" y="444707"/>
                </a:cubicBezTo>
                <a:cubicBezTo>
                  <a:pt x="234870" y="460178"/>
                  <a:pt x="212367" y="462990"/>
                  <a:pt x="196897" y="451739"/>
                </a:cubicBezTo>
                <a:cubicBezTo>
                  <a:pt x="181426" y="440488"/>
                  <a:pt x="178614" y="417985"/>
                  <a:pt x="189865" y="402515"/>
                </a:cubicBezTo>
                <a:cubicBezTo>
                  <a:pt x="191271" y="399702"/>
                  <a:pt x="194084" y="396889"/>
                  <a:pt x="196897" y="395483"/>
                </a:cubicBezTo>
                <a:lnTo>
                  <a:pt x="196897" y="339227"/>
                </a:lnTo>
                <a:lnTo>
                  <a:pt x="50631" y="339227"/>
                </a:lnTo>
                <a:cubicBezTo>
                  <a:pt x="54850" y="325163"/>
                  <a:pt x="57663" y="311099"/>
                  <a:pt x="63288" y="297035"/>
                </a:cubicBezTo>
                <a:close/>
                <a:moveTo>
                  <a:pt x="454269" y="534717"/>
                </a:moveTo>
                <a:cubicBezTo>
                  <a:pt x="434580" y="534717"/>
                  <a:pt x="419109" y="519247"/>
                  <a:pt x="419109" y="499557"/>
                </a:cubicBezTo>
                <a:cubicBezTo>
                  <a:pt x="419109" y="498151"/>
                  <a:pt x="419109" y="495338"/>
                  <a:pt x="419109" y="493931"/>
                </a:cubicBezTo>
                <a:lnTo>
                  <a:pt x="382543" y="457365"/>
                </a:lnTo>
                <a:lnTo>
                  <a:pt x="323473" y="516434"/>
                </a:lnTo>
                <a:lnTo>
                  <a:pt x="323473" y="620508"/>
                </a:lnTo>
                <a:cubicBezTo>
                  <a:pt x="338944" y="631759"/>
                  <a:pt x="341757" y="654262"/>
                  <a:pt x="330505" y="669732"/>
                </a:cubicBezTo>
                <a:cubicBezTo>
                  <a:pt x="319254" y="685203"/>
                  <a:pt x="296752" y="688015"/>
                  <a:pt x="281281" y="676764"/>
                </a:cubicBezTo>
                <a:cubicBezTo>
                  <a:pt x="265811" y="665513"/>
                  <a:pt x="262998" y="643010"/>
                  <a:pt x="274249" y="627540"/>
                </a:cubicBezTo>
                <a:cubicBezTo>
                  <a:pt x="275656" y="624727"/>
                  <a:pt x="278468" y="621914"/>
                  <a:pt x="281281" y="620508"/>
                </a:cubicBezTo>
                <a:lnTo>
                  <a:pt x="281281" y="606444"/>
                </a:lnTo>
                <a:lnTo>
                  <a:pt x="187052" y="606444"/>
                </a:lnTo>
                <a:lnTo>
                  <a:pt x="120951" y="529092"/>
                </a:lnTo>
                <a:cubicBezTo>
                  <a:pt x="101261" y="530498"/>
                  <a:pt x="84384" y="516434"/>
                  <a:pt x="82978" y="496744"/>
                </a:cubicBezTo>
                <a:cubicBezTo>
                  <a:pt x="81572" y="477055"/>
                  <a:pt x="95636" y="460178"/>
                  <a:pt x="115325" y="458771"/>
                </a:cubicBezTo>
                <a:cubicBezTo>
                  <a:pt x="135015" y="457365"/>
                  <a:pt x="151892" y="471429"/>
                  <a:pt x="153298" y="491119"/>
                </a:cubicBezTo>
                <a:cubicBezTo>
                  <a:pt x="153298" y="493931"/>
                  <a:pt x="153298" y="498151"/>
                  <a:pt x="153298" y="500963"/>
                </a:cubicBezTo>
                <a:lnTo>
                  <a:pt x="206742" y="564252"/>
                </a:lnTo>
                <a:lnTo>
                  <a:pt x="281281" y="564252"/>
                </a:lnTo>
                <a:lnTo>
                  <a:pt x="281281" y="499557"/>
                </a:lnTo>
                <a:lnTo>
                  <a:pt x="353008" y="427830"/>
                </a:lnTo>
                <a:lnTo>
                  <a:pt x="309409" y="382825"/>
                </a:lnTo>
                <a:lnTo>
                  <a:pt x="309409" y="128266"/>
                </a:lnTo>
                <a:cubicBezTo>
                  <a:pt x="293939" y="117015"/>
                  <a:pt x="291126" y="94512"/>
                  <a:pt x="302377" y="79042"/>
                </a:cubicBezTo>
                <a:cubicBezTo>
                  <a:pt x="313629" y="63571"/>
                  <a:pt x="336131" y="60758"/>
                  <a:pt x="351602" y="72010"/>
                </a:cubicBezTo>
                <a:cubicBezTo>
                  <a:pt x="367072" y="83261"/>
                  <a:pt x="369885" y="105763"/>
                  <a:pt x="358634" y="121234"/>
                </a:cubicBezTo>
                <a:cubicBezTo>
                  <a:pt x="357227" y="124047"/>
                  <a:pt x="354414" y="126859"/>
                  <a:pt x="351602" y="128266"/>
                </a:cubicBezTo>
                <a:lnTo>
                  <a:pt x="351602" y="170458"/>
                </a:lnTo>
                <a:lnTo>
                  <a:pt x="464114" y="170458"/>
                </a:lnTo>
                <a:lnTo>
                  <a:pt x="464114" y="268906"/>
                </a:lnTo>
                <a:cubicBezTo>
                  <a:pt x="479585" y="280158"/>
                  <a:pt x="482397" y="302660"/>
                  <a:pt x="471146" y="318131"/>
                </a:cubicBezTo>
                <a:cubicBezTo>
                  <a:pt x="459895" y="333601"/>
                  <a:pt x="437392" y="336414"/>
                  <a:pt x="421922" y="325163"/>
                </a:cubicBezTo>
                <a:cubicBezTo>
                  <a:pt x="406451" y="313911"/>
                  <a:pt x="403639" y="291409"/>
                  <a:pt x="414890" y="275938"/>
                </a:cubicBezTo>
                <a:cubicBezTo>
                  <a:pt x="416296" y="273126"/>
                  <a:pt x="419109" y="270313"/>
                  <a:pt x="421922" y="268906"/>
                </a:cubicBezTo>
                <a:lnTo>
                  <a:pt x="421922" y="212650"/>
                </a:lnTo>
                <a:lnTo>
                  <a:pt x="351602" y="212650"/>
                </a:lnTo>
                <a:lnTo>
                  <a:pt x="351602" y="365948"/>
                </a:lnTo>
                <a:lnTo>
                  <a:pt x="450050" y="464397"/>
                </a:lnTo>
                <a:cubicBezTo>
                  <a:pt x="451456" y="464397"/>
                  <a:pt x="452863" y="464397"/>
                  <a:pt x="454269" y="464397"/>
                </a:cubicBezTo>
                <a:cubicBezTo>
                  <a:pt x="473959" y="464397"/>
                  <a:pt x="489429" y="479867"/>
                  <a:pt x="489429" y="499557"/>
                </a:cubicBezTo>
                <a:cubicBezTo>
                  <a:pt x="489429" y="519247"/>
                  <a:pt x="473959" y="534717"/>
                  <a:pt x="454269" y="534717"/>
                </a:cubicBezTo>
                <a:lnTo>
                  <a:pt x="454269" y="534717"/>
                </a:lnTo>
                <a:close/>
                <a:moveTo>
                  <a:pt x="625851" y="250623"/>
                </a:moveTo>
                <a:cubicBezTo>
                  <a:pt x="606161" y="250623"/>
                  <a:pt x="590691" y="235153"/>
                  <a:pt x="590691" y="215463"/>
                </a:cubicBezTo>
                <a:cubicBezTo>
                  <a:pt x="590691" y="214057"/>
                  <a:pt x="590691" y="214057"/>
                  <a:pt x="590691" y="212650"/>
                </a:cubicBezTo>
                <a:lnTo>
                  <a:pt x="534434" y="162020"/>
                </a:lnTo>
                <a:lnTo>
                  <a:pt x="534434" y="59352"/>
                </a:lnTo>
                <a:cubicBezTo>
                  <a:pt x="548498" y="63571"/>
                  <a:pt x="562563" y="69197"/>
                  <a:pt x="576627" y="74822"/>
                </a:cubicBezTo>
                <a:lnTo>
                  <a:pt x="576627" y="143736"/>
                </a:lnTo>
                <a:lnTo>
                  <a:pt x="618819" y="181709"/>
                </a:lnTo>
                <a:cubicBezTo>
                  <a:pt x="621632" y="181709"/>
                  <a:pt x="623038" y="181709"/>
                  <a:pt x="625851" y="181709"/>
                </a:cubicBezTo>
                <a:cubicBezTo>
                  <a:pt x="645541" y="181709"/>
                  <a:pt x="661011" y="197180"/>
                  <a:pt x="661011" y="216869"/>
                </a:cubicBezTo>
                <a:cubicBezTo>
                  <a:pt x="661011" y="236559"/>
                  <a:pt x="645541" y="250623"/>
                  <a:pt x="625851" y="250623"/>
                </a:cubicBezTo>
                <a:lnTo>
                  <a:pt x="625851" y="250623"/>
                </a:lnTo>
                <a:close/>
              </a:path>
            </a:pathLst>
          </a:custGeom>
          <a:solidFill>
            <a:srgbClr val="000000"/>
          </a:solidFill>
          <a:ln w="13990" cap="flat">
            <a:noFill/>
            <a:prstDash val="solid"/>
            <a:miter/>
          </a:ln>
        </p:spPr>
        <p:txBody>
          <a:bodyPr/>
          <a:lstStyle/>
          <a:p>
            <a:endParaRPr lang="ja-JP" altLang="en-US"/>
          </a:p>
        </p:txBody>
      </p:sp>
      <p:sp>
        <p:nvSpPr>
          <p:cNvPr id="38" name="Rounded Rectangle 5">
            <a:extLst>
              <a:ext uri="{FF2B5EF4-FFF2-40B4-BE49-F238E27FC236}">
                <a16:creationId xmlns:a16="http://schemas.microsoft.com/office/drawing/2014/main" id="{9B05DC08-169C-BD4A-8404-2F9E2F8BC8AA}"/>
              </a:ext>
            </a:extLst>
          </p:cNvPr>
          <p:cNvSpPr/>
          <p:nvPr/>
        </p:nvSpPr>
        <p:spPr>
          <a:xfrm>
            <a:off x="8872378" y="2195759"/>
            <a:ext cx="553714" cy="239162"/>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5" name="テキスト ボックス 44">
            <a:extLst>
              <a:ext uri="{FF2B5EF4-FFF2-40B4-BE49-F238E27FC236}">
                <a16:creationId xmlns:a16="http://schemas.microsoft.com/office/drawing/2014/main" id="{D9479098-0D86-35C4-C645-822730DE3546}"/>
              </a:ext>
            </a:extLst>
          </p:cNvPr>
          <p:cNvSpPr txBox="1"/>
          <p:nvPr/>
        </p:nvSpPr>
        <p:spPr>
          <a:xfrm>
            <a:off x="8872378" y="2136671"/>
            <a:ext cx="553714" cy="338554"/>
          </a:xfrm>
          <a:prstGeom prst="rect">
            <a:avLst/>
          </a:prstGeom>
          <a:noFill/>
        </p:spPr>
        <p:txBody>
          <a:bodyPr wrap="square" rtlCol="0">
            <a:spAutoFit/>
          </a:bodyPr>
          <a:lstStyle/>
          <a:p>
            <a:pPr algn="ctr"/>
            <a:r>
              <a:rPr kumimoji="1" lang="en-US" altLang="ja-JP" sz="1600" dirty="0"/>
              <a:t>LLM</a:t>
            </a:r>
            <a:endParaRPr kumimoji="1" lang="ja-JP" altLang="en-US" sz="1600" dirty="0"/>
          </a:p>
        </p:txBody>
      </p:sp>
      <p:sp>
        <p:nvSpPr>
          <p:cNvPr id="53" name="Rounded Rectangle 5">
            <a:extLst>
              <a:ext uri="{FF2B5EF4-FFF2-40B4-BE49-F238E27FC236}">
                <a16:creationId xmlns:a16="http://schemas.microsoft.com/office/drawing/2014/main" id="{A4B7F48F-2BDA-3968-8093-FDD6178052B0}"/>
              </a:ext>
            </a:extLst>
          </p:cNvPr>
          <p:cNvSpPr/>
          <p:nvPr/>
        </p:nvSpPr>
        <p:spPr>
          <a:xfrm>
            <a:off x="11067433" y="2199614"/>
            <a:ext cx="739427" cy="240714"/>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415970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E6FF5-1EEA-F6BF-99B6-78B330B9166F}"/>
            </a:ext>
          </a:extLst>
        </p:cNvPr>
        <p:cNvGrpSpPr/>
        <p:nvPr/>
      </p:nvGrpSpPr>
      <p:grpSpPr>
        <a:xfrm>
          <a:off x="0" y="0"/>
          <a:ext cx="0" cy="0"/>
          <a:chOff x="0" y="0"/>
          <a:chExt cx="0" cy="0"/>
        </a:xfrm>
      </p:grpSpPr>
      <p:sp>
        <p:nvSpPr>
          <p:cNvPr id="50" name="Rounded Rectangle 5">
            <a:extLst>
              <a:ext uri="{FF2B5EF4-FFF2-40B4-BE49-F238E27FC236}">
                <a16:creationId xmlns:a16="http://schemas.microsoft.com/office/drawing/2014/main" id="{04534713-5FD4-E535-AF63-0AD42356738F}"/>
              </a:ext>
            </a:extLst>
          </p:cNvPr>
          <p:cNvSpPr/>
          <p:nvPr/>
        </p:nvSpPr>
        <p:spPr>
          <a:xfrm>
            <a:off x="4038600" y="5013346"/>
            <a:ext cx="4278823" cy="1359230"/>
          </a:xfrm>
          <a:prstGeom prst="roundRect">
            <a:avLst>
              <a:gd name="adj" fmla="val 9000"/>
            </a:avLst>
          </a:prstGeom>
          <a:solidFill>
            <a:srgbClr val="BACCEC">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タイトル 1">
            <a:extLst>
              <a:ext uri="{FF2B5EF4-FFF2-40B4-BE49-F238E27FC236}">
                <a16:creationId xmlns:a16="http://schemas.microsoft.com/office/drawing/2014/main" id="{3B63DA6A-2541-AA53-4C4A-D8D3A7CC69B4}"/>
              </a:ext>
            </a:extLst>
          </p:cNvPr>
          <p:cNvSpPr>
            <a:spLocks noGrp="1"/>
          </p:cNvSpPr>
          <p:nvPr>
            <p:ph type="title"/>
          </p:nvPr>
        </p:nvSpPr>
        <p:spPr>
          <a:xfrm>
            <a:off x="200344" y="1"/>
            <a:ext cx="11798035" cy="908719"/>
          </a:xfrm>
        </p:spPr>
        <p:txBody>
          <a:bodyPr/>
          <a:lstStyle/>
          <a:p>
            <a:r>
              <a:rPr lang="ja-JP" altLang="ja-JP" dirty="0"/>
              <a:t>最初の</a:t>
            </a:r>
            <a:r>
              <a:rPr lang="en-US" altLang="ja-JP" dirty="0"/>
              <a:t>3</a:t>
            </a:r>
            <a:r>
              <a:rPr lang="ja-JP" altLang="ja-JP" dirty="0"/>
              <a:t>か月（2Q：7-9月）の取組イメージ</a:t>
            </a:r>
            <a:r>
              <a:rPr lang="ja-JP" altLang="en-US" dirty="0"/>
              <a:t>：擬似人流とシナリオに応じた感度分析</a:t>
            </a:r>
            <a:endParaRPr kumimoji="1" lang="ja-JP" altLang="en-US" dirty="0"/>
          </a:p>
        </p:txBody>
      </p:sp>
      <p:sp>
        <p:nvSpPr>
          <p:cNvPr id="4" name="日付プレースホルダー 3">
            <a:extLst>
              <a:ext uri="{FF2B5EF4-FFF2-40B4-BE49-F238E27FC236}">
                <a16:creationId xmlns:a16="http://schemas.microsoft.com/office/drawing/2014/main" id="{F14F3E9F-54B5-737E-B597-51F3EC21C135}"/>
              </a:ext>
            </a:extLst>
          </p:cNvPr>
          <p:cNvSpPr>
            <a:spLocks noGrp="1"/>
          </p:cNvSpPr>
          <p:nvPr>
            <p:ph type="dt" sz="half" idx="10"/>
          </p:nvPr>
        </p:nvSpPr>
        <p:spPr/>
        <p:txBody>
          <a:bodyPr/>
          <a:lstStyle/>
          <a:p>
            <a:r>
              <a:rPr lang="en-US" altLang="ja-JP"/>
              <a:t>2026/6</a:t>
            </a:r>
            <a:endParaRPr kumimoji="1" lang="ja-JP" altLang="en-US"/>
          </a:p>
        </p:txBody>
      </p:sp>
      <p:sp>
        <p:nvSpPr>
          <p:cNvPr id="5" name="フッター プレースホルダー 4">
            <a:extLst>
              <a:ext uri="{FF2B5EF4-FFF2-40B4-BE49-F238E27FC236}">
                <a16:creationId xmlns:a16="http://schemas.microsoft.com/office/drawing/2014/main" id="{6EFC864B-0371-E5D8-569D-87B8300C193C}"/>
              </a:ext>
            </a:extLst>
          </p:cNvPr>
          <p:cNvSpPr>
            <a:spLocks noGrp="1"/>
          </p:cNvSpPr>
          <p:nvPr>
            <p:ph type="ftr" sz="quarter" idx="11"/>
          </p:nvPr>
        </p:nvSpPr>
        <p:spPr/>
        <p:txBody>
          <a:bodyPr/>
          <a:lstStyle/>
          <a:p>
            <a:r>
              <a:rPr kumimoji="1" lang="ja-JP" altLang="en-US"/>
              <a:t>関本・中居研究室</a:t>
            </a:r>
          </a:p>
        </p:txBody>
      </p:sp>
      <p:sp>
        <p:nvSpPr>
          <p:cNvPr id="6" name="スライド番号プレースホルダー 5">
            <a:extLst>
              <a:ext uri="{FF2B5EF4-FFF2-40B4-BE49-F238E27FC236}">
                <a16:creationId xmlns:a16="http://schemas.microsoft.com/office/drawing/2014/main" id="{A73D1B36-91BF-80AE-0546-0E2B326B1761}"/>
              </a:ext>
            </a:extLst>
          </p:cNvPr>
          <p:cNvSpPr>
            <a:spLocks noGrp="1"/>
          </p:cNvSpPr>
          <p:nvPr>
            <p:ph type="sldNum" sz="quarter" idx="12"/>
          </p:nvPr>
        </p:nvSpPr>
        <p:spPr/>
        <p:txBody>
          <a:bodyPr/>
          <a:lstStyle/>
          <a:p>
            <a:fld id="{6539E37A-E522-3D47-AAB7-DDF67C94A05D}" type="slidenum">
              <a:rPr lang="en-US" altLang="ja-JP"/>
              <a:t>3</a:t>
            </a:fld>
            <a:endParaRPr kumimoji="1" lang="ja-JP" altLang="en-US"/>
          </a:p>
        </p:txBody>
      </p:sp>
      <p:grpSp>
        <p:nvGrpSpPr>
          <p:cNvPr id="119" name="グループ化 118">
            <a:extLst>
              <a:ext uri="{FF2B5EF4-FFF2-40B4-BE49-F238E27FC236}">
                <a16:creationId xmlns:a16="http://schemas.microsoft.com/office/drawing/2014/main" id="{04FC4451-5535-823E-18F8-A2310A2DDF78}"/>
              </a:ext>
            </a:extLst>
          </p:cNvPr>
          <p:cNvGrpSpPr/>
          <p:nvPr/>
        </p:nvGrpSpPr>
        <p:grpSpPr>
          <a:xfrm>
            <a:off x="4291411" y="1980090"/>
            <a:ext cx="1298448" cy="262128"/>
            <a:chOff x="2843784" y="2029968"/>
            <a:chExt cx="1298448" cy="262128"/>
          </a:xfrm>
        </p:grpSpPr>
        <p:sp>
          <p:nvSpPr>
            <p:cNvPr id="120" name="Rounded Rectangle 16">
              <a:extLst>
                <a:ext uri="{FF2B5EF4-FFF2-40B4-BE49-F238E27FC236}">
                  <a16:creationId xmlns:a16="http://schemas.microsoft.com/office/drawing/2014/main" id="{0C214181-2DAE-B023-2CC2-43398DEAD776}"/>
                </a:ext>
              </a:extLst>
            </p:cNvPr>
            <p:cNvSpPr/>
            <p:nvPr/>
          </p:nvSpPr>
          <p:spPr>
            <a:xfrm>
              <a:off x="2843784" y="2036064"/>
              <a:ext cx="1298448" cy="256032"/>
            </a:xfrm>
            <a:prstGeom prst="roundRect">
              <a:avLst>
                <a:gd name="adj" fmla="val 9000"/>
              </a:avLst>
            </a:prstGeom>
            <a:solidFill>
              <a:srgbClr val="1B519F"/>
            </a:solidFill>
            <a:ln w="12700">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7">
              <a:extLst>
                <a:ext uri="{FF2B5EF4-FFF2-40B4-BE49-F238E27FC236}">
                  <a16:creationId xmlns:a16="http://schemas.microsoft.com/office/drawing/2014/main" id="{579DFA51-9248-DE3F-2A60-EC202A49DC80}"/>
                </a:ext>
              </a:extLst>
            </p:cNvPr>
            <p:cNvSpPr txBox="1"/>
            <p:nvPr/>
          </p:nvSpPr>
          <p:spPr>
            <a:xfrm>
              <a:off x="3163824" y="2029968"/>
              <a:ext cx="676656" cy="146304"/>
            </a:xfrm>
            <a:prstGeom prst="rect">
              <a:avLst/>
            </a:prstGeom>
            <a:noFill/>
            <a:ln>
              <a:noFill/>
            </a:ln>
          </p:spPr>
          <p:txBody>
            <a:bodyPr wrap="square" lIns="36576" tIns="36576" rIns="36576" bIns="36576" anchor="t">
              <a:spAutoFit/>
            </a:bodyPr>
            <a:lstStyle/>
            <a:p>
              <a:pPr algn="ctr"/>
              <a:r>
                <a:rPr sz="1400" b="1">
                  <a:solidFill>
                    <a:srgbClr val="FFFFFF"/>
                  </a:solidFill>
                  <a:latin typeface="Noto Sans CJK JP"/>
                </a:rPr>
                <a:t>Before</a:t>
              </a:r>
            </a:p>
          </p:txBody>
        </p:sp>
      </p:grpSp>
      <p:grpSp>
        <p:nvGrpSpPr>
          <p:cNvPr id="122" name="グループ化 121">
            <a:extLst>
              <a:ext uri="{FF2B5EF4-FFF2-40B4-BE49-F238E27FC236}">
                <a16:creationId xmlns:a16="http://schemas.microsoft.com/office/drawing/2014/main" id="{DFD05FD9-78DC-F785-7002-4F56A3128240}"/>
              </a:ext>
            </a:extLst>
          </p:cNvPr>
          <p:cNvGrpSpPr/>
          <p:nvPr/>
        </p:nvGrpSpPr>
        <p:grpSpPr>
          <a:xfrm>
            <a:off x="6728883" y="1980834"/>
            <a:ext cx="1298448" cy="265176"/>
            <a:chOff x="4681728" y="2029968"/>
            <a:chExt cx="1298448" cy="265176"/>
          </a:xfrm>
        </p:grpSpPr>
        <p:sp>
          <p:nvSpPr>
            <p:cNvPr id="123" name="Rounded Rectangle 18">
              <a:extLst>
                <a:ext uri="{FF2B5EF4-FFF2-40B4-BE49-F238E27FC236}">
                  <a16:creationId xmlns:a16="http://schemas.microsoft.com/office/drawing/2014/main" id="{DAB5462A-7B90-F602-155A-8C83691DE7C7}"/>
                </a:ext>
              </a:extLst>
            </p:cNvPr>
            <p:cNvSpPr/>
            <p:nvPr/>
          </p:nvSpPr>
          <p:spPr>
            <a:xfrm>
              <a:off x="4681728" y="2039112"/>
              <a:ext cx="1298448" cy="256032"/>
            </a:xfrm>
            <a:prstGeom prst="roundRect">
              <a:avLst>
                <a:gd name="adj" fmla="val 9000"/>
              </a:avLst>
            </a:prstGeom>
            <a:solidFill>
              <a:srgbClr val="D94C3D"/>
            </a:solidFill>
            <a:ln w="12700">
              <a:solidFill>
                <a:srgbClr val="D9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9">
              <a:extLst>
                <a:ext uri="{FF2B5EF4-FFF2-40B4-BE49-F238E27FC236}">
                  <a16:creationId xmlns:a16="http://schemas.microsoft.com/office/drawing/2014/main" id="{FE33D435-3BA5-5651-ED20-032CFEA48A03}"/>
                </a:ext>
              </a:extLst>
            </p:cNvPr>
            <p:cNvSpPr txBox="1"/>
            <p:nvPr/>
          </p:nvSpPr>
          <p:spPr>
            <a:xfrm>
              <a:off x="5029200" y="2029968"/>
              <a:ext cx="640080" cy="146304"/>
            </a:xfrm>
            <a:prstGeom prst="rect">
              <a:avLst/>
            </a:prstGeom>
            <a:noFill/>
            <a:ln>
              <a:noFill/>
            </a:ln>
          </p:spPr>
          <p:txBody>
            <a:bodyPr wrap="square" lIns="36576" tIns="36576" rIns="36576" bIns="36576" anchor="t">
              <a:spAutoFit/>
            </a:bodyPr>
            <a:lstStyle/>
            <a:p>
              <a:pPr algn="ctr"/>
              <a:r>
                <a:rPr sz="1400" b="1">
                  <a:solidFill>
                    <a:srgbClr val="FFFFFF"/>
                  </a:solidFill>
                  <a:latin typeface="Noto Sans CJK JP"/>
                </a:rPr>
                <a:t>After</a:t>
              </a:r>
            </a:p>
          </p:txBody>
        </p:sp>
      </p:grpSp>
      <p:sp>
        <p:nvSpPr>
          <p:cNvPr id="127" name="Rounded Rectangle 5">
            <a:extLst>
              <a:ext uri="{FF2B5EF4-FFF2-40B4-BE49-F238E27FC236}">
                <a16:creationId xmlns:a16="http://schemas.microsoft.com/office/drawing/2014/main" id="{5D72920D-2AA5-C468-7F6C-70244EC9B407}"/>
              </a:ext>
            </a:extLst>
          </p:cNvPr>
          <p:cNvSpPr/>
          <p:nvPr/>
        </p:nvSpPr>
        <p:spPr>
          <a:xfrm>
            <a:off x="8603487" y="2270138"/>
            <a:ext cx="3369872" cy="1246574"/>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7">
            <a:extLst>
              <a:ext uri="{FF2B5EF4-FFF2-40B4-BE49-F238E27FC236}">
                <a16:creationId xmlns:a16="http://schemas.microsoft.com/office/drawing/2014/main" id="{9CD89372-741A-0D06-04DB-0F42B6DF20B4}"/>
              </a:ext>
            </a:extLst>
          </p:cNvPr>
          <p:cNvSpPr txBox="1"/>
          <p:nvPr/>
        </p:nvSpPr>
        <p:spPr>
          <a:xfrm>
            <a:off x="9642715" y="2297151"/>
            <a:ext cx="1272176" cy="286036"/>
          </a:xfrm>
          <a:prstGeom prst="roundRect">
            <a:avLst/>
          </a:prstGeom>
          <a:noFill/>
          <a:ln>
            <a:noFill/>
          </a:ln>
        </p:spPr>
        <p:txBody>
          <a:bodyPr wrap="square" lIns="36576" tIns="36576" rIns="36576" bIns="36576" anchor="t">
            <a:spAutoFit/>
          </a:bodyPr>
          <a:lstStyle/>
          <a:p>
            <a:pPr algn="ctr"/>
            <a:r>
              <a:rPr lang="ja-JP" altLang="en-US" sz="1200" b="1">
                <a:solidFill>
                  <a:srgbClr val="0B2B5B"/>
                </a:solidFill>
                <a:latin typeface="Noto Sans CJK JP"/>
              </a:rPr>
              <a:t>例</a:t>
            </a:r>
            <a:r>
              <a:rPr lang="en-US" altLang="ja-JP" sz="1200" b="1">
                <a:solidFill>
                  <a:srgbClr val="0B2B5B"/>
                </a:solidFill>
                <a:latin typeface="Noto Sans CJK JP"/>
              </a:rPr>
              <a:t>1</a:t>
            </a:r>
            <a:r>
              <a:rPr lang="ja-JP" altLang="en-US" sz="1200" b="1">
                <a:solidFill>
                  <a:srgbClr val="0B2B5B"/>
                </a:solidFill>
                <a:latin typeface="Noto Sans CJK JP"/>
              </a:rPr>
              <a:t>：計画の変更</a:t>
            </a:r>
            <a:endParaRPr sz="1200" b="1">
              <a:solidFill>
                <a:srgbClr val="0B2B5B"/>
              </a:solidFill>
              <a:latin typeface="Noto Sans CJK JP"/>
            </a:endParaRPr>
          </a:p>
        </p:txBody>
      </p:sp>
      <p:sp>
        <p:nvSpPr>
          <p:cNvPr id="132" name="Rounded Rectangle 5">
            <a:extLst>
              <a:ext uri="{FF2B5EF4-FFF2-40B4-BE49-F238E27FC236}">
                <a16:creationId xmlns:a16="http://schemas.microsoft.com/office/drawing/2014/main" id="{BE80DE9F-DFD9-28A1-13B5-28A18107182F}"/>
              </a:ext>
            </a:extLst>
          </p:cNvPr>
          <p:cNvSpPr/>
          <p:nvPr/>
        </p:nvSpPr>
        <p:spPr>
          <a:xfrm>
            <a:off x="8615273" y="3555465"/>
            <a:ext cx="3369872" cy="1173569"/>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7">
            <a:extLst>
              <a:ext uri="{FF2B5EF4-FFF2-40B4-BE49-F238E27FC236}">
                <a16:creationId xmlns:a16="http://schemas.microsoft.com/office/drawing/2014/main" id="{370A8F6C-0E05-4F01-0270-11721816DAD6}"/>
              </a:ext>
            </a:extLst>
          </p:cNvPr>
          <p:cNvSpPr txBox="1"/>
          <p:nvPr/>
        </p:nvSpPr>
        <p:spPr>
          <a:xfrm>
            <a:off x="9105728" y="3565279"/>
            <a:ext cx="2341449" cy="286036"/>
          </a:xfrm>
          <a:prstGeom prst="roundRect">
            <a:avLst/>
          </a:prstGeom>
          <a:noFill/>
          <a:ln>
            <a:noFill/>
          </a:ln>
        </p:spPr>
        <p:txBody>
          <a:bodyPr wrap="square" lIns="36576" tIns="36576" rIns="36576" bIns="36576" anchor="t">
            <a:spAutoFit/>
          </a:bodyPr>
          <a:lstStyle/>
          <a:p>
            <a:pPr algn="ctr"/>
            <a:r>
              <a:rPr lang="ja-JP" altLang="en-US" sz="1200" b="1">
                <a:solidFill>
                  <a:srgbClr val="0B2B5B"/>
                </a:solidFill>
                <a:latin typeface="Noto Sans CJK JP"/>
              </a:rPr>
              <a:t>例</a:t>
            </a:r>
            <a:r>
              <a:rPr lang="en-US" altLang="ja-JP" sz="1200" b="1">
                <a:solidFill>
                  <a:srgbClr val="0B2B5B"/>
                </a:solidFill>
                <a:latin typeface="Noto Sans CJK JP"/>
              </a:rPr>
              <a:t>2</a:t>
            </a:r>
            <a:r>
              <a:rPr lang="ja-JP" altLang="en-US" sz="1200" b="1">
                <a:solidFill>
                  <a:srgbClr val="0B2B5B"/>
                </a:solidFill>
                <a:latin typeface="Noto Sans CJK JP"/>
              </a:rPr>
              <a:t>：特定のシナリオ</a:t>
            </a:r>
            <a:endParaRPr sz="1200" b="1">
              <a:solidFill>
                <a:srgbClr val="0B2B5B"/>
              </a:solidFill>
              <a:latin typeface="Noto Sans CJK JP"/>
            </a:endParaRPr>
          </a:p>
        </p:txBody>
      </p:sp>
      <p:sp>
        <p:nvSpPr>
          <p:cNvPr id="135" name="Rounded Rectangle 5">
            <a:extLst>
              <a:ext uri="{FF2B5EF4-FFF2-40B4-BE49-F238E27FC236}">
                <a16:creationId xmlns:a16="http://schemas.microsoft.com/office/drawing/2014/main" id="{DC19770B-343B-23B1-97C1-541A66451B07}"/>
              </a:ext>
            </a:extLst>
          </p:cNvPr>
          <p:cNvSpPr/>
          <p:nvPr/>
        </p:nvSpPr>
        <p:spPr>
          <a:xfrm>
            <a:off x="8628508" y="4779552"/>
            <a:ext cx="3369872" cy="1593024"/>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7">
            <a:extLst>
              <a:ext uri="{FF2B5EF4-FFF2-40B4-BE49-F238E27FC236}">
                <a16:creationId xmlns:a16="http://schemas.microsoft.com/office/drawing/2014/main" id="{D7085D2D-45D2-43BF-CEF4-A39AC8E3B3C3}"/>
              </a:ext>
            </a:extLst>
          </p:cNvPr>
          <p:cNvSpPr txBox="1"/>
          <p:nvPr/>
        </p:nvSpPr>
        <p:spPr>
          <a:xfrm>
            <a:off x="9108420" y="4805593"/>
            <a:ext cx="2341449" cy="286036"/>
          </a:xfrm>
          <a:prstGeom prst="roundRect">
            <a:avLst/>
          </a:prstGeom>
          <a:noFill/>
          <a:ln>
            <a:noFill/>
          </a:ln>
        </p:spPr>
        <p:txBody>
          <a:bodyPr wrap="square" lIns="36576" tIns="36576" rIns="36576" bIns="36576" anchor="t">
            <a:spAutoFit/>
          </a:bodyPr>
          <a:lstStyle/>
          <a:p>
            <a:pPr algn="ctr"/>
            <a:r>
              <a:rPr lang="ja-JP" altLang="en-US" sz="1200" b="1">
                <a:solidFill>
                  <a:srgbClr val="0B2B5B"/>
                </a:solidFill>
                <a:latin typeface="Noto Sans CJK JP"/>
              </a:rPr>
              <a:t>例</a:t>
            </a:r>
            <a:r>
              <a:rPr lang="en-US" altLang="ja-JP" sz="1200" b="1">
                <a:solidFill>
                  <a:srgbClr val="0B2B5B"/>
                </a:solidFill>
                <a:latin typeface="Noto Sans CJK JP"/>
              </a:rPr>
              <a:t>3</a:t>
            </a:r>
            <a:r>
              <a:rPr lang="ja-JP" altLang="en-US" sz="1200" b="1">
                <a:solidFill>
                  <a:srgbClr val="0B2B5B"/>
                </a:solidFill>
                <a:latin typeface="Noto Sans CJK JP"/>
              </a:rPr>
              <a:t>：上方・下方シナリオ</a:t>
            </a:r>
            <a:endParaRPr sz="1200" b="1">
              <a:solidFill>
                <a:srgbClr val="0B2B5B"/>
              </a:solidFill>
              <a:latin typeface="Noto Sans CJK JP"/>
            </a:endParaRPr>
          </a:p>
        </p:txBody>
      </p:sp>
      <p:sp>
        <p:nvSpPr>
          <p:cNvPr id="138" name="コンテンツ プレースホルダー 2">
            <a:extLst>
              <a:ext uri="{FF2B5EF4-FFF2-40B4-BE49-F238E27FC236}">
                <a16:creationId xmlns:a16="http://schemas.microsoft.com/office/drawing/2014/main" id="{F934E9E5-4E99-6839-09C5-25FC5181C9AB}"/>
              </a:ext>
            </a:extLst>
          </p:cNvPr>
          <p:cNvSpPr txBox="1">
            <a:spLocks/>
          </p:cNvSpPr>
          <p:nvPr/>
        </p:nvSpPr>
        <p:spPr>
          <a:xfrm>
            <a:off x="8867956" y="1980090"/>
            <a:ext cx="2821695" cy="4046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600" b="1"/>
              <a:t>状況ごとの人流比較</a:t>
            </a:r>
            <a:endParaRPr lang="ja-JP" altLang="en-US" sz="1600"/>
          </a:p>
        </p:txBody>
      </p:sp>
      <p:grpSp>
        <p:nvGrpSpPr>
          <p:cNvPr id="41" name="グループ化 40">
            <a:extLst>
              <a:ext uri="{FF2B5EF4-FFF2-40B4-BE49-F238E27FC236}">
                <a16:creationId xmlns:a16="http://schemas.microsoft.com/office/drawing/2014/main" id="{63470504-AA79-EC57-3011-3ED1EC7808B5}"/>
              </a:ext>
            </a:extLst>
          </p:cNvPr>
          <p:cNvGrpSpPr/>
          <p:nvPr/>
        </p:nvGrpSpPr>
        <p:grpSpPr>
          <a:xfrm>
            <a:off x="4065224" y="2300786"/>
            <a:ext cx="1866616" cy="2650684"/>
            <a:chOff x="4680529" y="2155879"/>
            <a:chExt cx="1866616" cy="2650684"/>
          </a:xfrm>
        </p:grpSpPr>
        <p:pic>
          <p:nvPicPr>
            <p:cNvPr id="125" name="図 124">
              <a:extLst>
                <a:ext uri="{FF2B5EF4-FFF2-40B4-BE49-F238E27FC236}">
                  <a16:creationId xmlns:a16="http://schemas.microsoft.com/office/drawing/2014/main" id="{A98BE586-7944-65CE-945B-072E50645C91}"/>
                </a:ext>
              </a:extLst>
            </p:cNvPr>
            <p:cNvPicPr>
              <a:picLocks noChangeAspect="1"/>
            </p:cNvPicPr>
            <p:nvPr/>
          </p:nvPicPr>
          <p:blipFill>
            <a:blip r:embed="rId3"/>
            <a:srcRect/>
            <a:stretch/>
          </p:blipFill>
          <p:spPr>
            <a:xfrm>
              <a:off x="4680529" y="2155879"/>
              <a:ext cx="1866616" cy="2650684"/>
            </a:xfrm>
            <a:prstGeom prst="rect">
              <a:avLst/>
            </a:prstGeom>
          </p:spPr>
        </p:pic>
        <p:cxnSp>
          <p:nvCxnSpPr>
            <p:cNvPr id="15" name="直線矢印コネクタ 14">
              <a:extLst>
                <a:ext uri="{FF2B5EF4-FFF2-40B4-BE49-F238E27FC236}">
                  <a16:creationId xmlns:a16="http://schemas.microsoft.com/office/drawing/2014/main" id="{470192CC-F805-A63D-4CD0-444E97B52B0B}"/>
                </a:ext>
              </a:extLst>
            </p:cNvPr>
            <p:cNvCxnSpPr/>
            <p:nvPr/>
          </p:nvCxnSpPr>
          <p:spPr>
            <a:xfrm flipV="1">
              <a:off x="4888319" y="3277057"/>
              <a:ext cx="555465" cy="90010"/>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19" name="直線矢印コネクタ 18">
              <a:extLst>
                <a:ext uri="{FF2B5EF4-FFF2-40B4-BE49-F238E27FC236}">
                  <a16:creationId xmlns:a16="http://schemas.microsoft.com/office/drawing/2014/main" id="{048093A6-6DC1-B63F-6A4B-20E16592C517}"/>
                </a:ext>
              </a:extLst>
            </p:cNvPr>
            <p:cNvCxnSpPr>
              <a:cxnSpLocks/>
            </p:cNvCxnSpPr>
            <p:nvPr/>
          </p:nvCxnSpPr>
          <p:spPr>
            <a:xfrm flipV="1">
              <a:off x="4997777" y="4194085"/>
              <a:ext cx="558163" cy="115429"/>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22" name="直線矢印コネクタ 21">
              <a:extLst>
                <a:ext uri="{FF2B5EF4-FFF2-40B4-BE49-F238E27FC236}">
                  <a16:creationId xmlns:a16="http://schemas.microsoft.com/office/drawing/2014/main" id="{110F0104-2E4C-75E3-E44C-C8356721C11B}"/>
                </a:ext>
              </a:extLst>
            </p:cNvPr>
            <p:cNvCxnSpPr>
              <a:cxnSpLocks/>
            </p:cNvCxnSpPr>
            <p:nvPr/>
          </p:nvCxnSpPr>
          <p:spPr>
            <a:xfrm>
              <a:off x="5465930" y="3277057"/>
              <a:ext cx="138764" cy="917028"/>
            </a:xfrm>
            <a:prstGeom prst="straightConnector1">
              <a:avLst/>
            </a:prstGeom>
            <a:ln w="31750">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25" name="直線矢印コネクタ 24">
              <a:extLst>
                <a:ext uri="{FF2B5EF4-FFF2-40B4-BE49-F238E27FC236}">
                  <a16:creationId xmlns:a16="http://schemas.microsoft.com/office/drawing/2014/main" id="{E7265852-D95F-FD85-B0A2-4E361DAA35F8}"/>
                </a:ext>
              </a:extLst>
            </p:cNvPr>
            <p:cNvCxnSpPr>
              <a:cxnSpLocks/>
            </p:cNvCxnSpPr>
            <p:nvPr/>
          </p:nvCxnSpPr>
          <p:spPr>
            <a:xfrm flipV="1">
              <a:off x="5673084" y="4216557"/>
              <a:ext cx="558163" cy="115429"/>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26" name="直線矢印コネクタ 25">
              <a:extLst>
                <a:ext uri="{FF2B5EF4-FFF2-40B4-BE49-F238E27FC236}">
                  <a16:creationId xmlns:a16="http://schemas.microsoft.com/office/drawing/2014/main" id="{0232EAA0-54B4-0A19-F5E7-11294C2497BA}"/>
                </a:ext>
              </a:extLst>
            </p:cNvPr>
            <p:cNvCxnSpPr>
              <a:cxnSpLocks/>
            </p:cNvCxnSpPr>
            <p:nvPr/>
          </p:nvCxnSpPr>
          <p:spPr>
            <a:xfrm>
              <a:off x="5308395" y="2618910"/>
              <a:ext cx="95752" cy="610791"/>
            </a:xfrm>
            <a:prstGeom prst="straightConnector1">
              <a:avLst/>
            </a:prstGeom>
            <a:ln w="15875">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29" name="直線矢印コネクタ 28">
              <a:extLst>
                <a:ext uri="{FF2B5EF4-FFF2-40B4-BE49-F238E27FC236}">
                  <a16:creationId xmlns:a16="http://schemas.microsoft.com/office/drawing/2014/main" id="{BC34AB95-6834-6F12-AE31-D49F3D0A8FD0}"/>
                </a:ext>
              </a:extLst>
            </p:cNvPr>
            <p:cNvCxnSpPr>
              <a:cxnSpLocks/>
            </p:cNvCxnSpPr>
            <p:nvPr/>
          </p:nvCxnSpPr>
          <p:spPr>
            <a:xfrm>
              <a:off x="5124665" y="3812444"/>
              <a:ext cx="59313" cy="381641"/>
            </a:xfrm>
            <a:prstGeom prst="straightConnector1">
              <a:avLst/>
            </a:prstGeom>
            <a:ln w="12700">
              <a:headEnd type="triangle"/>
              <a:tailEnd type="triangle"/>
            </a:ln>
          </p:spPr>
          <p:style>
            <a:lnRef idx="2">
              <a:schemeClr val="accent4"/>
            </a:lnRef>
            <a:fillRef idx="0">
              <a:schemeClr val="accent4"/>
            </a:fillRef>
            <a:effectRef idx="1">
              <a:schemeClr val="accent4"/>
            </a:effectRef>
            <a:fontRef idx="minor">
              <a:schemeClr val="tx1"/>
            </a:fontRef>
          </p:style>
        </p:cxnSp>
      </p:grpSp>
      <p:grpSp>
        <p:nvGrpSpPr>
          <p:cNvPr id="40" name="グループ化 39">
            <a:extLst>
              <a:ext uri="{FF2B5EF4-FFF2-40B4-BE49-F238E27FC236}">
                <a16:creationId xmlns:a16="http://schemas.microsoft.com/office/drawing/2014/main" id="{D1CF8874-12AA-9A9B-052C-3CC75DA3AB69}"/>
              </a:ext>
            </a:extLst>
          </p:cNvPr>
          <p:cNvGrpSpPr/>
          <p:nvPr/>
        </p:nvGrpSpPr>
        <p:grpSpPr>
          <a:xfrm>
            <a:off x="6439776" y="2308393"/>
            <a:ext cx="1876661" cy="2657597"/>
            <a:chOff x="6975760" y="2155879"/>
            <a:chExt cx="1876661" cy="2657597"/>
          </a:xfrm>
        </p:grpSpPr>
        <p:pic>
          <p:nvPicPr>
            <p:cNvPr id="126" name="図 125">
              <a:extLst>
                <a:ext uri="{FF2B5EF4-FFF2-40B4-BE49-F238E27FC236}">
                  <a16:creationId xmlns:a16="http://schemas.microsoft.com/office/drawing/2014/main" id="{B0E6FD01-CC64-95E7-47BB-46BB409F165B}"/>
                </a:ext>
              </a:extLst>
            </p:cNvPr>
            <p:cNvPicPr>
              <a:picLocks noChangeAspect="1"/>
            </p:cNvPicPr>
            <p:nvPr/>
          </p:nvPicPr>
          <p:blipFill>
            <a:blip r:embed="rId4"/>
            <a:srcRect/>
            <a:stretch/>
          </p:blipFill>
          <p:spPr>
            <a:xfrm>
              <a:off x="6975760" y="2155879"/>
              <a:ext cx="1871071" cy="2650684"/>
            </a:xfrm>
            <a:prstGeom prst="rect">
              <a:avLst/>
            </a:prstGeom>
          </p:spPr>
        </p:pic>
        <p:pic>
          <p:nvPicPr>
            <p:cNvPr id="31" name="図 30">
              <a:extLst>
                <a:ext uri="{FF2B5EF4-FFF2-40B4-BE49-F238E27FC236}">
                  <a16:creationId xmlns:a16="http://schemas.microsoft.com/office/drawing/2014/main" id="{F2FE2C76-CE20-57A9-D1F9-1618F87D27CE}"/>
                </a:ext>
              </a:extLst>
            </p:cNvPr>
            <p:cNvPicPr>
              <a:picLocks noChangeAspect="1"/>
            </p:cNvPicPr>
            <p:nvPr/>
          </p:nvPicPr>
          <p:blipFill>
            <a:blip r:embed="rId3"/>
            <a:srcRect/>
            <a:stretch/>
          </p:blipFill>
          <p:spPr>
            <a:xfrm>
              <a:off x="6985805" y="2162792"/>
              <a:ext cx="1866616" cy="2650684"/>
            </a:xfrm>
            <a:prstGeom prst="rect">
              <a:avLst/>
            </a:prstGeom>
          </p:spPr>
        </p:pic>
        <p:cxnSp>
          <p:nvCxnSpPr>
            <p:cNvPr id="32" name="直線矢印コネクタ 31">
              <a:extLst>
                <a:ext uri="{FF2B5EF4-FFF2-40B4-BE49-F238E27FC236}">
                  <a16:creationId xmlns:a16="http://schemas.microsoft.com/office/drawing/2014/main" id="{C072F1B8-F073-D375-FA35-EF07DCF8B8E0}"/>
                </a:ext>
              </a:extLst>
            </p:cNvPr>
            <p:cNvCxnSpPr/>
            <p:nvPr/>
          </p:nvCxnSpPr>
          <p:spPr>
            <a:xfrm flipV="1">
              <a:off x="7193595" y="3283970"/>
              <a:ext cx="555465" cy="90010"/>
            </a:xfrm>
            <a:prstGeom prst="straightConnector1">
              <a:avLst/>
            </a:prstGeom>
            <a:ln w="41275">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4" name="直線矢印コネクタ 33">
              <a:extLst>
                <a:ext uri="{FF2B5EF4-FFF2-40B4-BE49-F238E27FC236}">
                  <a16:creationId xmlns:a16="http://schemas.microsoft.com/office/drawing/2014/main" id="{D1292F6C-30DE-939B-9758-8D70341CB70C}"/>
                </a:ext>
              </a:extLst>
            </p:cNvPr>
            <p:cNvCxnSpPr>
              <a:cxnSpLocks/>
            </p:cNvCxnSpPr>
            <p:nvPr/>
          </p:nvCxnSpPr>
          <p:spPr>
            <a:xfrm flipV="1">
              <a:off x="7303053" y="4200998"/>
              <a:ext cx="558163" cy="115429"/>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5" name="直線矢印コネクタ 34">
              <a:extLst>
                <a:ext uri="{FF2B5EF4-FFF2-40B4-BE49-F238E27FC236}">
                  <a16:creationId xmlns:a16="http://schemas.microsoft.com/office/drawing/2014/main" id="{E034EBC6-DAC2-F167-0636-BEE3654BADDE}"/>
                </a:ext>
              </a:extLst>
            </p:cNvPr>
            <p:cNvCxnSpPr>
              <a:cxnSpLocks/>
            </p:cNvCxnSpPr>
            <p:nvPr/>
          </p:nvCxnSpPr>
          <p:spPr>
            <a:xfrm>
              <a:off x="7771206" y="3283970"/>
              <a:ext cx="138764" cy="917028"/>
            </a:xfrm>
            <a:prstGeom prst="straightConnector1">
              <a:avLst/>
            </a:prstGeom>
            <a:ln w="25400">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6" name="直線矢印コネクタ 35">
              <a:extLst>
                <a:ext uri="{FF2B5EF4-FFF2-40B4-BE49-F238E27FC236}">
                  <a16:creationId xmlns:a16="http://schemas.microsoft.com/office/drawing/2014/main" id="{46924E5A-6C63-88D8-B9AC-E320CC3F6BD0}"/>
                </a:ext>
              </a:extLst>
            </p:cNvPr>
            <p:cNvCxnSpPr>
              <a:cxnSpLocks/>
            </p:cNvCxnSpPr>
            <p:nvPr/>
          </p:nvCxnSpPr>
          <p:spPr>
            <a:xfrm flipV="1">
              <a:off x="7978360" y="4223470"/>
              <a:ext cx="558163" cy="115429"/>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7" name="直線矢印コネクタ 36">
              <a:extLst>
                <a:ext uri="{FF2B5EF4-FFF2-40B4-BE49-F238E27FC236}">
                  <a16:creationId xmlns:a16="http://schemas.microsoft.com/office/drawing/2014/main" id="{CA717A52-5D35-0E68-1603-27C78B085D28}"/>
                </a:ext>
              </a:extLst>
            </p:cNvPr>
            <p:cNvCxnSpPr>
              <a:cxnSpLocks/>
            </p:cNvCxnSpPr>
            <p:nvPr/>
          </p:nvCxnSpPr>
          <p:spPr>
            <a:xfrm>
              <a:off x="7613671" y="2625823"/>
              <a:ext cx="95752" cy="610791"/>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8" name="直線矢印コネクタ 37">
              <a:extLst>
                <a:ext uri="{FF2B5EF4-FFF2-40B4-BE49-F238E27FC236}">
                  <a16:creationId xmlns:a16="http://schemas.microsoft.com/office/drawing/2014/main" id="{7EA08612-FC50-06EC-3984-30D1568DB131}"/>
                </a:ext>
              </a:extLst>
            </p:cNvPr>
            <p:cNvCxnSpPr>
              <a:cxnSpLocks/>
            </p:cNvCxnSpPr>
            <p:nvPr/>
          </p:nvCxnSpPr>
          <p:spPr>
            <a:xfrm>
              <a:off x="7429941" y="3819357"/>
              <a:ext cx="59313" cy="381641"/>
            </a:xfrm>
            <a:prstGeom prst="straightConnector1">
              <a:avLst/>
            </a:prstGeom>
            <a:ln w="28575">
              <a:headEnd type="triangle"/>
              <a:tailEnd type="triangle"/>
            </a:ln>
          </p:spPr>
          <p:style>
            <a:lnRef idx="2">
              <a:schemeClr val="accent6"/>
            </a:lnRef>
            <a:fillRef idx="0">
              <a:schemeClr val="accent6"/>
            </a:fillRef>
            <a:effectRef idx="1">
              <a:schemeClr val="accent6"/>
            </a:effectRef>
            <a:fontRef idx="minor">
              <a:schemeClr val="tx1"/>
            </a:fontRef>
          </p:style>
        </p:cxnSp>
        <p:cxnSp>
          <p:nvCxnSpPr>
            <p:cNvPr id="39" name="直線矢印コネクタ 38">
              <a:extLst>
                <a:ext uri="{FF2B5EF4-FFF2-40B4-BE49-F238E27FC236}">
                  <a16:creationId xmlns:a16="http://schemas.microsoft.com/office/drawing/2014/main" id="{E8C40642-1745-97A9-0F9A-6D3F01EF90A2}"/>
                </a:ext>
              </a:extLst>
            </p:cNvPr>
            <p:cNvCxnSpPr>
              <a:cxnSpLocks/>
            </p:cNvCxnSpPr>
            <p:nvPr/>
          </p:nvCxnSpPr>
          <p:spPr>
            <a:xfrm>
              <a:off x="7537167" y="3359660"/>
              <a:ext cx="54089" cy="413628"/>
            </a:xfrm>
            <a:prstGeom prst="straightConnector1">
              <a:avLst/>
            </a:prstGeom>
            <a:ln w="28575">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grpSp>
      <p:grpSp>
        <p:nvGrpSpPr>
          <p:cNvPr id="8" name="グループ化 7">
            <a:extLst>
              <a:ext uri="{FF2B5EF4-FFF2-40B4-BE49-F238E27FC236}">
                <a16:creationId xmlns:a16="http://schemas.microsoft.com/office/drawing/2014/main" id="{F4D31F7C-D60A-FC58-A0E0-972FAA3F999C}"/>
              </a:ext>
            </a:extLst>
          </p:cNvPr>
          <p:cNvGrpSpPr/>
          <p:nvPr/>
        </p:nvGrpSpPr>
        <p:grpSpPr>
          <a:xfrm>
            <a:off x="769143" y="2207003"/>
            <a:ext cx="2980346" cy="4100906"/>
            <a:chOff x="649685" y="1422978"/>
            <a:chExt cx="3383674" cy="4804980"/>
          </a:xfrm>
        </p:grpSpPr>
        <p:pic>
          <p:nvPicPr>
            <p:cNvPr id="9" name="図 8">
              <a:extLst>
                <a:ext uri="{FF2B5EF4-FFF2-40B4-BE49-F238E27FC236}">
                  <a16:creationId xmlns:a16="http://schemas.microsoft.com/office/drawing/2014/main" id="{B0C47695-4C48-37F5-0612-E708AD73B10D}"/>
                </a:ext>
              </a:extLst>
            </p:cNvPr>
            <p:cNvPicPr>
              <a:picLocks noChangeAspect="1"/>
            </p:cNvPicPr>
            <p:nvPr/>
          </p:nvPicPr>
          <p:blipFill>
            <a:blip r:embed="rId3"/>
            <a:srcRect/>
            <a:stretch/>
          </p:blipFill>
          <p:spPr>
            <a:xfrm>
              <a:off x="649685" y="1422978"/>
              <a:ext cx="3383674" cy="4804980"/>
            </a:xfrm>
            <a:prstGeom prst="rect">
              <a:avLst/>
            </a:prstGeom>
          </p:spPr>
        </p:pic>
        <p:sp>
          <p:nvSpPr>
            <p:cNvPr id="10" name="Oval 6">
              <a:extLst>
                <a:ext uri="{FF2B5EF4-FFF2-40B4-BE49-F238E27FC236}">
                  <a16:creationId xmlns:a16="http://schemas.microsoft.com/office/drawing/2014/main" id="{5D1A83C5-59F3-44F6-5B47-C7C4D9801C58}"/>
                </a:ext>
              </a:extLst>
            </p:cNvPr>
            <p:cNvSpPr/>
            <p:nvPr/>
          </p:nvSpPr>
          <p:spPr>
            <a:xfrm>
              <a:off x="1269322" y="3690529"/>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1</a:t>
              </a:r>
              <a:endParaRPr sz="1500" b="1">
                <a:solidFill>
                  <a:srgbClr val="FFFFFF"/>
                </a:solidFill>
                <a:latin typeface="Noto Sans CJK JP"/>
              </a:endParaRPr>
            </a:p>
          </p:txBody>
        </p:sp>
        <p:sp>
          <p:nvSpPr>
            <p:cNvPr id="11" name="テキスト ボックス 10">
              <a:extLst>
                <a:ext uri="{FF2B5EF4-FFF2-40B4-BE49-F238E27FC236}">
                  <a16:creationId xmlns:a16="http://schemas.microsoft.com/office/drawing/2014/main" id="{15092849-D5CB-7341-0B7A-8F9D35914DBF}"/>
                </a:ext>
              </a:extLst>
            </p:cNvPr>
            <p:cNvSpPr txBox="1"/>
            <p:nvPr/>
          </p:nvSpPr>
          <p:spPr>
            <a:xfrm>
              <a:off x="1235459" y="3899991"/>
              <a:ext cx="744131" cy="294921"/>
            </a:xfrm>
            <a:prstGeom prst="rect">
              <a:avLst/>
            </a:prstGeom>
            <a:noFill/>
          </p:spPr>
          <p:txBody>
            <a:bodyPr wrap="square" rtlCol="0">
              <a:spAutoFit/>
            </a:bodyPr>
            <a:lstStyle/>
            <a:p>
              <a:r>
                <a:rPr kumimoji="1" lang="en-US" altLang="ja-JP" sz="1050"/>
                <a:t>1,98</a:t>
              </a:r>
              <a:r>
                <a:rPr lang="ja-JP" altLang="ja-JP" sz="1050"/>
                <a:t>0㎡</a:t>
              </a:r>
              <a:endParaRPr kumimoji="1" lang="en-US" altLang="ja-JP" sz="1050"/>
            </a:p>
          </p:txBody>
        </p:sp>
        <p:sp>
          <p:nvSpPr>
            <p:cNvPr id="12" name="Oval 6">
              <a:extLst>
                <a:ext uri="{FF2B5EF4-FFF2-40B4-BE49-F238E27FC236}">
                  <a16:creationId xmlns:a16="http://schemas.microsoft.com/office/drawing/2014/main" id="{3FCDAB7A-32FB-B4C7-4E85-8C25F7034447}"/>
                </a:ext>
              </a:extLst>
            </p:cNvPr>
            <p:cNvSpPr/>
            <p:nvPr/>
          </p:nvSpPr>
          <p:spPr>
            <a:xfrm>
              <a:off x="841365" y="4591304"/>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3</a:t>
              </a:r>
              <a:endParaRPr sz="1500" b="1">
                <a:solidFill>
                  <a:srgbClr val="FFFFFF"/>
                </a:solidFill>
                <a:latin typeface="Noto Sans CJK JP"/>
              </a:endParaRPr>
            </a:p>
          </p:txBody>
        </p:sp>
        <p:sp>
          <p:nvSpPr>
            <p:cNvPr id="13" name="正方形/長方形 12">
              <a:extLst>
                <a:ext uri="{FF2B5EF4-FFF2-40B4-BE49-F238E27FC236}">
                  <a16:creationId xmlns:a16="http://schemas.microsoft.com/office/drawing/2014/main" id="{7A165BEE-F2B5-388C-B581-015D837B3E5B}"/>
                </a:ext>
              </a:extLst>
            </p:cNvPr>
            <p:cNvSpPr/>
            <p:nvPr/>
          </p:nvSpPr>
          <p:spPr>
            <a:xfrm rot="21007099">
              <a:off x="1478102" y="2877394"/>
              <a:ext cx="421475" cy="600768"/>
            </a:xfrm>
            <a:prstGeom prst="rect">
              <a:avLst/>
            </a:pr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246">
              <a:extLst>
                <a:ext uri="{FF2B5EF4-FFF2-40B4-BE49-F238E27FC236}">
                  <a16:creationId xmlns:a16="http://schemas.microsoft.com/office/drawing/2014/main" id="{870CFBE2-C0E5-F294-4005-31FFEDC8EAB5}"/>
                </a:ext>
              </a:extLst>
            </p:cNvPr>
            <p:cNvSpPr/>
            <p:nvPr/>
          </p:nvSpPr>
          <p:spPr>
            <a:xfrm rot="21007099">
              <a:off x="1286658" y="2931056"/>
              <a:ext cx="272063" cy="1397919"/>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0 w 421475"/>
                <a:gd name="csY0" fmla="*/ 0 h 1397919"/>
                <a:gd name="csX1" fmla="*/ 421475 w 421475"/>
                <a:gd name="csY1" fmla="*/ 0 h 1397919"/>
                <a:gd name="csX2" fmla="*/ 421475 w 421475"/>
                <a:gd name="csY2" fmla="*/ 600768 h 1397919"/>
                <a:gd name="csX3" fmla="*/ 154414 w 421475"/>
                <a:gd name="csY3" fmla="*/ 1397919 h 1397919"/>
                <a:gd name="csX4" fmla="*/ 0 w 421475"/>
                <a:gd name="csY4" fmla="*/ 0 h 1397919"/>
                <a:gd name="csX0" fmla="*/ 5165 w 267061"/>
                <a:gd name="csY0" fmla="*/ 804496 h 1397919"/>
                <a:gd name="csX1" fmla="*/ 267061 w 267061"/>
                <a:gd name="csY1" fmla="*/ 0 h 1397919"/>
                <a:gd name="csX2" fmla="*/ 267061 w 267061"/>
                <a:gd name="csY2" fmla="*/ 600768 h 1397919"/>
                <a:gd name="csX3" fmla="*/ 0 w 267061"/>
                <a:gd name="csY3" fmla="*/ 1397919 h 1397919"/>
                <a:gd name="csX4" fmla="*/ 5165 w 267061"/>
                <a:gd name="csY4" fmla="*/ 804496 h 1397919"/>
                <a:gd name="csX0" fmla="*/ 238 w 272063"/>
                <a:gd name="csY0" fmla="*/ 805988 h 1397919"/>
                <a:gd name="csX1" fmla="*/ 272063 w 272063"/>
                <a:gd name="csY1" fmla="*/ 0 h 1397919"/>
                <a:gd name="csX2" fmla="*/ 272063 w 272063"/>
                <a:gd name="csY2" fmla="*/ 600768 h 1397919"/>
                <a:gd name="csX3" fmla="*/ 5002 w 272063"/>
                <a:gd name="csY3" fmla="*/ 1397919 h 1397919"/>
                <a:gd name="csX4" fmla="*/ 238 w 272063"/>
                <a:gd name="csY4" fmla="*/ 805988 h 1397919"/>
              </a:gdLst>
              <a:ahLst/>
              <a:cxnLst>
                <a:cxn ang="0">
                  <a:pos x="csX0" y="csY0"/>
                </a:cxn>
                <a:cxn ang="0">
                  <a:pos x="csX1" y="csY1"/>
                </a:cxn>
                <a:cxn ang="0">
                  <a:pos x="csX2" y="csY2"/>
                </a:cxn>
                <a:cxn ang="0">
                  <a:pos x="csX3" y="csY3"/>
                </a:cxn>
                <a:cxn ang="0">
                  <a:pos x="csX4" y="csY4"/>
                </a:cxn>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246">
              <a:extLst>
                <a:ext uri="{FF2B5EF4-FFF2-40B4-BE49-F238E27FC236}">
                  <a16:creationId xmlns:a16="http://schemas.microsoft.com/office/drawing/2014/main" id="{BE26C57B-C5C4-A4CE-446F-0B9995C2D464}"/>
                </a:ext>
              </a:extLst>
            </p:cNvPr>
            <p:cNvSpPr/>
            <p:nvPr/>
          </p:nvSpPr>
          <p:spPr>
            <a:xfrm rot="21007099">
              <a:off x="1700558" y="2853614"/>
              <a:ext cx="272063" cy="1397919"/>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0 w 421475"/>
                <a:gd name="csY0" fmla="*/ 0 h 1397919"/>
                <a:gd name="csX1" fmla="*/ 421475 w 421475"/>
                <a:gd name="csY1" fmla="*/ 0 h 1397919"/>
                <a:gd name="csX2" fmla="*/ 421475 w 421475"/>
                <a:gd name="csY2" fmla="*/ 600768 h 1397919"/>
                <a:gd name="csX3" fmla="*/ 154414 w 421475"/>
                <a:gd name="csY3" fmla="*/ 1397919 h 1397919"/>
                <a:gd name="csX4" fmla="*/ 0 w 421475"/>
                <a:gd name="csY4" fmla="*/ 0 h 1397919"/>
                <a:gd name="csX0" fmla="*/ 5165 w 267061"/>
                <a:gd name="csY0" fmla="*/ 804496 h 1397919"/>
                <a:gd name="csX1" fmla="*/ 267061 w 267061"/>
                <a:gd name="csY1" fmla="*/ 0 h 1397919"/>
                <a:gd name="csX2" fmla="*/ 267061 w 267061"/>
                <a:gd name="csY2" fmla="*/ 600768 h 1397919"/>
                <a:gd name="csX3" fmla="*/ 0 w 267061"/>
                <a:gd name="csY3" fmla="*/ 1397919 h 1397919"/>
                <a:gd name="csX4" fmla="*/ 5165 w 267061"/>
                <a:gd name="csY4" fmla="*/ 804496 h 1397919"/>
                <a:gd name="csX0" fmla="*/ 238 w 272063"/>
                <a:gd name="csY0" fmla="*/ 805988 h 1397919"/>
                <a:gd name="csX1" fmla="*/ 272063 w 272063"/>
                <a:gd name="csY1" fmla="*/ 0 h 1397919"/>
                <a:gd name="csX2" fmla="*/ 272063 w 272063"/>
                <a:gd name="csY2" fmla="*/ 600768 h 1397919"/>
                <a:gd name="csX3" fmla="*/ 5002 w 272063"/>
                <a:gd name="csY3" fmla="*/ 1397919 h 1397919"/>
                <a:gd name="csX4" fmla="*/ 238 w 272063"/>
                <a:gd name="csY4" fmla="*/ 805988 h 1397919"/>
              </a:gdLst>
              <a:ahLst/>
              <a:cxnLst>
                <a:cxn ang="0">
                  <a:pos x="csX0" y="csY0"/>
                </a:cxn>
                <a:cxn ang="0">
                  <a:pos x="csX1" y="csY1"/>
                </a:cxn>
                <a:cxn ang="0">
                  <a:pos x="csX2" y="csY2"/>
                </a:cxn>
                <a:cxn ang="0">
                  <a:pos x="csX3" y="csY3"/>
                </a:cxn>
                <a:cxn ang="0">
                  <a:pos x="csX4" y="csY4"/>
                </a:cxn>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252">
              <a:extLst>
                <a:ext uri="{FF2B5EF4-FFF2-40B4-BE49-F238E27FC236}">
                  <a16:creationId xmlns:a16="http://schemas.microsoft.com/office/drawing/2014/main" id="{4D391F1C-1322-2E29-F4D7-214D80D17B20}"/>
                </a:ext>
              </a:extLst>
            </p:cNvPr>
            <p:cNvSpPr/>
            <p:nvPr/>
          </p:nvSpPr>
          <p:spPr>
            <a:xfrm rot="21007099">
              <a:off x="1342753" y="3495540"/>
              <a:ext cx="684421" cy="808641"/>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262946 w 684421"/>
                <a:gd name="csY0" fmla="*/ 0 h 796674"/>
                <a:gd name="csX1" fmla="*/ 684421 w 684421"/>
                <a:gd name="csY1" fmla="*/ 0 h 796674"/>
                <a:gd name="csX2" fmla="*/ 684421 w 684421"/>
                <a:gd name="csY2" fmla="*/ 600768 h 796674"/>
                <a:gd name="csX3" fmla="*/ 0 w 684421"/>
                <a:gd name="csY3" fmla="*/ 796674 h 796674"/>
                <a:gd name="csX4" fmla="*/ 262946 w 684421"/>
                <a:gd name="csY4" fmla="*/ 0 h 796674"/>
                <a:gd name="csX0" fmla="*/ 262946 w 684421"/>
                <a:gd name="csY0" fmla="*/ 0 h 808641"/>
                <a:gd name="csX1" fmla="*/ 684421 w 684421"/>
                <a:gd name="csY1" fmla="*/ 0 h 808641"/>
                <a:gd name="csX2" fmla="*/ 416167 w 684421"/>
                <a:gd name="csY2" fmla="*/ 808641 h 808641"/>
                <a:gd name="csX3" fmla="*/ 0 w 684421"/>
                <a:gd name="csY3" fmla="*/ 796674 h 808641"/>
                <a:gd name="csX4" fmla="*/ 262946 w 684421"/>
                <a:gd name="csY4" fmla="*/ 0 h 808641"/>
              </a:gdLst>
              <a:ahLst/>
              <a:cxnLst>
                <a:cxn ang="0">
                  <a:pos x="csX0" y="csY0"/>
                </a:cxn>
                <a:cxn ang="0">
                  <a:pos x="csX1" y="csY1"/>
                </a:cxn>
                <a:cxn ang="0">
                  <a:pos x="csX2" y="csY2"/>
                </a:cxn>
                <a:cxn ang="0">
                  <a:pos x="csX3" y="csY3"/>
                </a:cxn>
                <a:cxn ang="0">
                  <a:pos x="csX4" y="csY4"/>
                </a:cxn>
              </a:cxnLst>
              <a:rect l="l" t="t" r="r" b="b"/>
              <a:pathLst>
                <a:path w="684421" h="808641">
                  <a:moveTo>
                    <a:pt x="262946" y="0"/>
                  </a:moveTo>
                  <a:lnTo>
                    <a:pt x="684421" y="0"/>
                  </a:lnTo>
                  <a:lnTo>
                    <a:pt x="416167" y="808641"/>
                  </a:lnTo>
                  <a:lnTo>
                    <a:pt x="0" y="796674"/>
                  </a:lnTo>
                  <a:lnTo>
                    <a:pt x="262946" y="0"/>
                  </a:ln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6690BCFF-4990-1486-2DEE-06D0784E2ABC}"/>
                </a:ext>
              </a:extLst>
            </p:cNvPr>
            <p:cNvSpPr txBox="1"/>
            <p:nvPr/>
          </p:nvSpPr>
          <p:spPr>
            <a:xfrm>
              <a:off x="1449200" y="3044190"/>
              <a:ext cx="565353" cy="321731"/>
            </a:xfrm>
            <a:prstGeom prst="rect">
              <a:avLst/>
            </a:prstGeom>
            <a:noFill/>
          </p:spPr>
          <p:txBody>
            <a:bodyPr wrap="none" rtlCol="0">
              <a:spAutoFit/>
            </a:bodyPr>
            <a:lstStyle/>
            <a:p>
              <a:r>
                <a:rPr kumimoji="1" lang="en-US" altLang="ja-JP" sz="1200"/>
                <a:t>25</a:t>
              </a:r>
              <a:r>
                <a:rPr kumimoji="1" lang="ja-JP" altLang="en-US" sz="1200"/>
                <a:t>階</a:t>
              </a:r>
            </a:p>
          </p:txBody>
        </p:sp>
        <p:sp>
          <p:nvSpPr>
            <p:cNvPr id="20" name="Oval 6">
              <a:extLst>
                <a:ext uri="{FF2B5EF4-FFF2-40B4-BE49-F238E27FC236}">
                  <a16:creationId xmlns:a16="http://schemas.microsoft.com/office/drawing/2014/main" id="{CBC782B0-21D0-D49F-1622-01F8402A7C04}"/>
                </a:ext>
              </a:extLst>
            </p:cNvPr>
            <p:cNvSpPr/>
            <p:nvPr/>
          </p:nvSpPr>
          <p:spPr>
            <a:xfrm>
              <a:off x="1449200" y="2821894"/>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2</a:t>
              </a:r>
              <a:endParaRPr sz="1500" b="1">
                <a:solidFill>
                  <a:srgbClr val="FFFFFF"/>
                </a:solidFill>
                <a:latin typeface="Noto Sans CJK JP"/>
              </a:endParaRPr>
            </a:p>
          </p:txBody>
        </p:sp>
        <p:sp>
          <p:nvSpPr>
            <p:cNvPr id="21" name="フリーフォーム 20">
              <a:extLst>
                <a:ext uri="{FF2B5EF4-FFF2-40B4-BE49-F238E27FC236}">
                  <a16:creationId xmlns:a16="http://schemas.microsoft.com/office/drawing/2014/main" id="{0405FCF0-F2F0-04F0-4BE8-E9891B3CF3C2}"/>
                </a:ext>
              </a:extLst>
            </p:cNvPr>
            <p:cNvSpPr/>
            <p:nvPr/>
          </p:nvSpPr>
          <p:spPr>
            <a:xfrm>
              <a:off x="1614076" y="3425050"/>
              <a:ext cx="647927" cy="904330"/>
            </a:xfrm>
            <a:custGeom>
              <a:avLst/>
              <a:gdLst>
                <a:gd name="csX0" fmla="*/ 654689 w 654689"/>
                <a:gd name="csY0" fmla="*/ 0 h 302996"/>
                <a:gd name="csX1" fmla="*/ 0 w 654689"/>
                <a:gd name="csY1" fmla="*/ 124445 h 302996"/>
                <a:gd name="csX2" fmla="*/ 21643 w 654689"/>
                <a:gd name="csY2" fmla="*/ 302996 h 302996"/>
                <a:gd name="csX0" fmla="*/ 654689 w 654689"/>
                <a:gd name="csY0" fmla="*/ 0 h 389741"/>
                <a:gd name="csX1" fmla="*/ 0 w 654689"/>
                <a:gd name="csY1" fmla="*/ 124445 h 389741"/>
                <a:gd name="csX2" fmla="*/ 40986 w 654689"/>
                <a:gd name="csY2" fmla="*/ 389741 h 389741"/>
                <a:gd name="csX0" fmla="*/ 657913 w 657913"/>
                <a:gd name="csY0" fmla="*/ 0 h 389741"/>
                <a:gd name="csX1" fmla="*/ 0 w 657913"/>
                <a:gd name="csY1" fmla="*/ 127781 h 389741"/>
                <a:gd name="csX2" fmla="*/ 44210 w 657913"/>
                <a:gd name="csY2" fmla="*/ 389741 h 389741"/>
                <a:gd name="csX0" fmla="*/ 657913 w 657913"/>
                <a:gd name="csY0" fmla="*/ 0 h 950284"/>
                <a:gd name="csX1" fmla="*/ 0 w 657913"/>
                <a:gd name="csY1" fmla="*/ 127781 h 950284"/>
                <a:gd name="csX2" fmla="*/ 135262 w 657913"/>
                <a:gd name="csY2" fmla="*/ 950284 h 950284"/>
              </a:gdLst>
              <a:ahLst/>
              <a:cxnLst>
                <a:cxn ang="0">
                  <a:pos x="csX0" y="csY0"/>
                </a:cxn>
                <a:cxn ang="0">
                  <a:pos x="csX1" y="csY1"/>
                </a:cxn>
                <a:cxn ang="0">
                  <a:pos x="csX2" y="csY2"/>
                </a:cxn>
              </a:cxnLst>
              <a:rect l="l" t="t" r="r" b="b"/>
              <a:pathLst>
                <a:path w="657913" h="950284">
                  <a:moveTo>
                    <a:pt x="657913" y="0"/>
                  </a:moveTo>
                  <a:lnTo>
                    <a:pt x="0" y="127781"/>
                  </a:lnTo>
                  <a:cubicBezTo>
                    <a:pt x="7214" y="187298"/>
                    <a:pt x="128048" y="890767"/>
                    <a:pt x="135262" y="950284"/>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フリーフォーム 22">
              <a:extLst>
                <a:ext uri="{FF2B5EF4-FFF2-40B4-BE49-F238E27FC236}">
                  <a16:creationId xmlns:a16="http://schemas.microsoft.com/office/drawing/2014/main" id="{3A2981C2-7FF5-6404-C3E7-519E195F6556}"/>
                </a:ext>
              </a:extLst>
            </p:cNvPr>
            <p:cNvSpPr/>
            <p:nvPr/>
          </p:nvSpPr>
          <p:spPr>
            <a:xfrm>
              <a:off x="1716137" y="3610497"/>
              <a:ext cx="887248" cy="842965"/>
            </a:xfrm>
            <a:custGeom>
              <a:avLst/>
              <a:gdLst>
                <a:gd name="csX0" fmla="*/ 773723 w 773723"/>
                <a:gd name="csY0" fmla="*/ 56271 h 196948"/>
                <a:gd name="csX1" fmla="*/ 28135 w 773723"/>
                <a:gd name="csY1" fmla="*/ 196948 h 196948"/>
                <a:gd name="csX2" fmla="*/ 0 w 773723"/>
                <a:gd name="csY2" fmla="*/ 0 h 196948"/>
                <a:gd name="csX0" fmla="*/ 802298 w 802298"/>
                <a:gd name="csY0" fmla="*/ 183271 h 323948"/>
                <a:gd name="csX1" fmla="*/ 56710 w 802298"/>
                <a:gd name="csY1" fmla="*/ 323948 h 323948"/>
                <a:gd name="csX2" fmla="*/ 0 w 802298"/>
                <a:gd name="csY2" fmla="*/ 0 h 323948"/>
                <a:gd name="csX0" fmla="*/ 896686 w 896686"/>
                <a:gd name="csY0" fmla="*/ 750347 h 891024"/>
                <a:gd name="csX1" fmla="*/ 151098 w 896686"/>
                <a:gd name="csY1" fmla="*/ 891024 h 891024"/>
                <a:gd name="csX2" fmla="*/ 0 w 896686"/>
                <a:gd name="csY2" fmla="*/ 0 h 891024"/>
                <a:gd name="csX0" fmla="*/ 887247 w 887247"/>
                <a:gd name="csY0" fmla="*/ 702289 h 842966"/>
                <a:gd name="csX1" fmla="*/ 141659 w 887247"/>
                <a:gd name="csY1" fmla="*/ 842966 h 842966"/>
                <a:gd name="csX2" fmla="*/ 0 w 887247"/>
                <a:gd name="csY2" fmla="*/ 0 h 842966"/>
              </a:gdLst>
              <a:ahLst/>
              <a:cxnLst>
                <a:cxn ang="0">
                  <a:pos x="csX0" y="csY0"/>
                </a:cxn>
                <a:cxn ang="0">
                  <a:pos x="csX1" y="csY1"/>
                </a:cxn>
                <a:cxn ang="0">
                  <a:pos x="csX2" y="csY2"/>
                </a:cxn>
              </a:cxnLst>
              <a:rect l="l" t="t" r="r" b="b"/>
              <a:pathLst>
                <a:path w="887247" h="842966">
                  <a:moveTo>
                    <a:pt x="887247" y="702289"/>
                  </a:moveTo>
                  <a:lnTo>
                    <a:pt x="141659" y="842966"/>
                  </a:lnTo>
                  <a:cubicBezTo>
                    <a:pt x="132281" y="777317"/>
                    <a:pt x="9378" y="65649"/>
                    <a:pt x="0" y="0"/>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フリーフォーム 23">
              <a:extLst>
                <a:ext uri="{FF2B5EF4-FFF2-40B4-BE49-F238E27FC236}">
                  <a16:creationId xmlns:a16="http://schemas.microsoft.com/office/drawing/2014/main" id="{0700D77A-66BD-45B8-37F4-51C3E7FED2C5}"/>
                </a:ext>
              </a:extLst>
            </p:cNvPr>
            <p:cNvSpPr/>
            <p:nvPr/>
          </p:nvSpPr>
          <p:spPr>
            <a:xfrm>
              <a:off x="756168" y="3546416"/>
              <a:ext cx="838200" cy="311150"/>
            </a:xfrm>
            <a:custGeom>
              <a:avLst/>
              <a:gdLst>
                <a:gd name="csX0" fmla="*/ 838200 w 838200"/>
                <a:gd name="csY0" fmla="*/ 0 h 311150"/>
                <a:gd name="csX1" fmla="*/ 415925 w 838200"/>
                <a:gd name="csY1" fmla="*/ 82550 h 311150"/>
                <a:gd name="csX2" fmla="*/ 0 w 838200"/>
                <a:gd name="csY2" fmla="*/ 311150 h 311150"/>
              </a:gdLst>
              <a:ahLst/>
              <a:cxnLst>
                <a:cxn ang="0">
                  <a:pos x="csX0" y="csY0"/>
                </a:cxn>
                <a:cxn ang="0">
                  <a:pos x="csX1" y="csY1"/>
                </a:cxn>
                <a:cxn ang="0">
                  <a:pos x="csX2" y="csY2"/>
                </a:cxn>
              </a:cxnLst>
              <a:rect l="l" t="t" r="r" b="b"/>
              <a:pathLst>
                <a:path w="838200" h="311150">
                  <a:moveTo>
                    <a:pt x="838200" y="0"/>
                  </a:moveTo>
                  <a:lnTo>
                    <a:pt x="415925" y="82550"/>
                  </a:lnTo>
                  <a:lnTo>
                    <a:pt x="0" y="311150"/>
                  </a:lnTo>
                </a:path>
              </a:pathLst>
            </a:custGeom>
            <a:noFill/>
            <a:ln w="38100">
              <a:solidFill>
                <a:srgbClr val="F2B3E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Oval 6">
              <a:extLst>
                <a:ext uri="{FF2B5EF4-FFF2-40B4-BE49-F238E27FC236}">
                  <a16:creationId xmlns:a16="http://schemas.microsoft.com/office/drawing/2014/main" id="{A5BC62E2-32EC-9C1E-18C7-ECBE4CAB3D55}"/>
                </a:ext>
              </a:extLst>
            </p:cNvPr>
            <p:cNvSpPr/>
            <p:nvPr/>
          </p:nvSpPr>
          <p:spPr>
            <a:xfrm>
              <a:off x="2368253" y="4266909"/>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rgbClr val="FFFFFF"/>
                  </a:solidFill>
                  <a:latin typeface="Noto Sans CJK JP"/>
                </a:rPr>
                <a:t>4</a:t>
              </a:r>
              <a:endParaRPr sz="1500" b="1">
                <a:solidFill>
                  <a:srgbClr val="FFFFFF"/>
                </a:solidFill>
                <a:latin typeface="Noto Sans CJK JP"/>
              </a:endParaRPr>
            </a:p>
          </p:txBody>
        </p:sp>
      </p:grpSp>
      <p:sp>
        <p:nvSpPr>
          <p:cNvPr id="28" name="コンテンツ プレースホルダー 2">
            <a:extLst>
              <a:ext uri="{FF2B5EF4-FFF2-40B4-BE49-F238E27FC236}">
                <a16:creationId xmlns:a16="http://schemas.microsoft.com/office/drawing/2014/main" id="{6A8F459F-7F1D-F5A0-92CF-B834E940EBE0}"/>
              </a:ext>
            </a:extLst>
          </p:cNvPr>
          <p:cNvSpPr txBox="1">
            <a:spLocks/>
          </p:cNvSpPr>
          <p:nvPr/>
        </p:nvSpPr>
        <p:spPr>
          <a:xfrm>
            <a:off x="335360" y="1089140"/>
            <a:ext cx="10944470" cy="4046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800" b="1" dirty="0">
                <a:solidFill>
                  <a:schemeClr val="bg2">
                    <a:lumMod val="10000"/>
                  </a:schemeClr>
                </a:solidFill>
                <a:latin typeface="Noto Sans CJK JP"/>
              </a:rPr>
              <a:t>さらに色々なシナリオに応じた人流</a:t>
            </a:r>
            <a:r>
              <a:rPr lang="en" altLang="ja-JP" sz="1800" b="1" dirty="0">
                <a:solidFill>
                  <a:schemeClr val="bg2">
                    <a:lumMod val="10000"/>
                  </a:schemeClr>
                </a:solidFill>
                <a:latin typeface="Noto Sans CJK JP"/>
              </a:rPr>
              <a:t>シミュレーションを行</a:t>
            </a:r>
            <a:r>
              <a:rPr lang="ja-JP" altLang="en-US" sz="1800" b="1" dirty="0">
                <a:solidFill>
                  <a:schemeClr val="bg2">
                    <a:lumMod val="10000"/>
                  </a:schemeClr>
                </a:solidFill>
                <a:latin typeface="Noto Sans CJK JP"/>
              </a:rPr>
              <a:t>い、変動範囲を予測する。</a:t>
            </a:r>
            <a:endParaRPr lang="ja-JP" altLang="en-US" sz="1800" dirty="0"/>
          </a:p>
        </p:txBody>
      </p:sp>
      <p:sp>
        <p:nvSpPr>
          <p:cNvPr id="33" name="コンテンツ プレースホルダー 2">
            <a:extLst>
              <a:ext uri="{FF2B5EF4-FFF2-40B4-BE49-F238E27FC236}">
                <a16:creationId xmlns:a16="http://schemas.microsoft.com/office/drawing/2014/main" id="{5F4DCE42-8D84-2C1C-1086-D00EE3C581C4}"/>
              </a:ext>
            </a:extLst>
          </p:cNvPr>
          <p:cNvSpPr txBox="1">
            <a:spLocks/>
          </p:cNvSpPr>
          <p:nvPr/>
        </p:nvSpPr>
        <p:spPr>
          <a:xfrm>
            <a:off x="211528" y="1908832"/>
            <a:ext cx="3996544" cy="4046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600" b="1">
                <a:solidFill>
                  <a:schemeClr val="tx2">
                    <a:lumMod val="90000"/>
                    <a:lumOff val="10000"/>
                  </a:schemeClr>
                </a:solidFill>
                <a:latin typeface="HGMinchoE" panose="02020909000000000000" pitchFamily="49" charset="-128"/>
                <a:ea typeface="HGMinchoE" panose="02020909000000000000" pitchFamily="49" charset="-128"/>
              </a:rPr>
              <a:t>例：大阪梅田駅前にホテル新設</a:t>
            </a:r>
            <a:endParaRPr lang="ja-JP" altLang="en-US" sz="1600">
              <a:solidFill>
                <a:schemeClr val="tx2">
                  <a:lumMod val="90000"/>
                  <a:lumOff val="10000"/>
                </a:schemeClr>
              </a:solidFill>
              <a:latin typeface="HGMinchoE" panose="02020909000000000000" pitchFamily="49" charset="-128"/>
              <a:ea typeface="HGMinchoE" panose="02020909000000000000" pitchFamily="49" charset="-128"/>
            </a:endParaRPr>
          </a:p>
        </p:txBody>
      </p:sp>
      <p:sp>
        <p:nvSpPr>
          <p:cNvPr id="42" name="右矢印 41">
            <a:extLst>
              <a:ext uri="{FF2B5EF4-FFF2-40B4-BE49-F238E27FC236}">
                <a16:creationId xmlns:a16="http://schemas.microsoft.com/office/drawing/2014/main" id="{BBEFE5E3-4DE9-D477-98D5-BDBE1A541782}"/>
              </a:ext>
            </a:extLst>
          </p:cNvPr>
          <p:cNvSpPr/>
          <p:nvPr/>
        </p:nvSpPr>
        <p:spPr>
          <a:xfrm>
            <a:off x="6033379" y="3579260"/>
            <a:ext cx="355895" cy="182778"/>
          </a:xfrm>
          <a:prstGeom prst="rightArrow">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Rounded Rectangle 5">
            <a:extLst>
              <a:ext uri="{FF2B5EF4-FFF2-40B4-BE49-F238E27FC236}">
                <a16:creationId xmlns:a16="http://schemas.microsoft.com/office/drawing/2014/main" id="{0B2913D3-BD74-6D36-DB85-7FEB8E595874}"/>
              </a:ext>
            </a:extLst>
          </p:cNvPr>
          <p:cNvSpPr/>
          <p:nvPr/>
        </p:nvSpPr>
        <p:spPr>
          <a:xfrm>
            <a:off x="5712201" y="5084871"/>
            <a:ext cx="2482137" cy="238547"/>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en-US" sz="1050">
                <a:solidFill>
                  <a:schemeClr val="tx1"/>
                </a:solidFill>
              </a:rPr>
              <a:t>人流を予測してください。</a:t>
            </a:r>
            <a:endParaRPr lang="en-US" altLang="ja-JP" sz="1050">
              <a:solidFill>
                <a:schemeClr val="tx1"/>
              </a:solidFill>
            </a:endParaRPr>
          </a:p>
        </p:txBody>
      </p:sp>
      <p:sp>
        <p:nvSpPr>
          <p:cNvPr id="44" name="Rounded Rectangle 5">
            <a:extLst>
              <a:ext uri="{FF2B5EF4-FFF2-40B4-BE49-F238E27FC236}">
                <a16:creationId xmlns:a16="http://schemas.microsoft.com/office/drawing/2014/main" id="{83E3009E-5B3A-5D07-E2DE-F61DA4CBCAB0}"/>
              </a:ext>
            </a:extLst>
          </p:cNvPr>
          <p:cNvSpPr/>
          <p:nvPr/>
        </p:nvSpPr>
        <p:spPr>
          <a:xfrm>
            <a:off x="4187952" y="5400133"/>
            <a:ext cx="2888402" cy="880236"/>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200">
                <a:solidFill>
                  <a:schemeClr val="tx1"/>
                </a:solidFill>
              </a:rPr>
              <a:t>こちらの図が人流予測結果です。</a:t>
            </a:r>
            <a:endParaRPr lang="en-US" altLang="ja-JP" sz="1200">
              <a:solidFill>
                <a:schemeClr val="tx1"/>
              </a:solidFill>
            </a:endParaRPr>
          </a:p>
          <a:p>
            <a:pPr algn="ctr"/>
            <a:r>
              <a:rPr lang="ja-JP" altLang="en-US" sz="1200">
                <a:solidFill>
                  <a:schemeClr val="tx1"/>
                </a:solidFill>
              </a:rPr>
              <a:t>平日の来訪者：〇〇万人</a:t>
            </a:r>
          </a:p>
          <a:p>
            <a:pPr algn="ctr"/>
            <a:r>
              <a:rPr lang="ja-JP" altLang="en-US" sz="1200">
                <a:solidFill>
                  <a:schemeClr val="tx1"/>
                </a:solidFill>
              </a:rPr>
              <a:t>休日の来訪者：△△万人</a:t>
            </a:r>
          </a:p>
          <a:p>
            <a:pPr algn="ctr"/>
            <a:r>
              <a:rPr lang="en-US" altLang="ja-JP" sz="1200">
                <a:solidFill>
                  <a:schemeClr val="tx1"/>
                </a:solidFill>
              </a:rPr>
              <a:t>~~</a:t>
            </a:r>
            <a:r>
              <a:rPr lang="ja-JP" altLang="en-US" sz="1200">
                <a:solidFill>
                  <a:schemeClr val="tx1"/>
                </a:solidFill>
              </a:rPr>
              <a:t>の道を使う人が特に増えました</a:t>
            </a:r>
          </a:p>
        </p:txBody>
      </p:sp>
      <p:sp>
        <p:nvSpPr>
          <p:cNvPr id="45" name="Rounded Rectangle 5">
            <a:extLst>
              <a:ext uri="{FF2B5EF4-FFF2-40B4-BE49-F238E27FC236}">
                <a16:creationId xmlns:a16="http://schemas.microsoft.com/office/drawing/2014/main" id="{F0CCA1F7-8CD5-D722-83A8-30F14043783A}"/>
              </a:ext>
            </a:extLst>
          </p:cNvPr>
          <p:cNvSpPr/>
          <p:nvPr/>
        </p:nvSpPr>
        <p:spPr>
          <a:xfrm>
            <a:off x="9386433" y="2583187"/>
            <a:ext cx="2483144" cy="404645"/>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en-US" sz="1050">
                <a:solidFill>
                  <a:schemeClr val="tx1"/>
                </a:solidFill>
              </a:rPr>
              <a:t>商業施設のバランスを・・のように変えようかな。</a:t>
            </a:r>
            <a:endParaRPr sz="1050">
              <a:solidFill>
                <a:schemeClr val="tx1"/>
              </a:solidFill>
            </a:endParaRPr>
          </a:p>
        </p:txBody>
      </p:sp>
      <p:sp>
        <p:nvSpPr>
          <p:cNvPr id="46" name="Rounded Rectangle 5">
            <a:extLst>
              <a:ext uri="{FF2B5EF4-FFF2-40B4-BE49-F238E27FC236}">
                <a16:creationId xmlns:a16="http://schemas.microsoft.com/office/drawing/2014/main" id="{E0DFFC78-6EC4-F509-0351-A0A555716C26}"/>
              </a:ext>
            </a:extLst>
          </p:cNvPr>
          <p:cNvSpPr/>
          <p:nvPr/>
        </p:nvSpPr>
        <p:spPr>
          <a:xfrm>
            <a:off x="8733515" y="3040582"/>
            <a:ext cx="2483144" cy="425581"/>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kumimoji="1" lang="ja-JP" altLang="en-US" sz="1050">
                <a:solidFill>
                  <a:schemeClr val="tx1"/>
                </a:solidFill>
              </a:rPr>
              <a:t>その場合、来訪者は</a:t>
            </a:r>
            <a:r>
              <a:rPr lang="ja-JP" altLang="en-US" sz="1050">
                <a:solidFill>
                  <a:schemeClr val="tx1"/>
                </a:solidFill>
              </a:rPr>
              <a:t>〇〇万人に変化します。</a:t>
            </a:r>
            <a:endParaRPr kumimoji="1" lang="ja-JP" altLang="en-US" sz="1050">
              <a:solidFill>
                <a:schemeClr val="tx1"/>
              </a:solidFill>
            </a:endParaRPr>
          </a:p>
        </p:txBody>
      </p:sp>
      <p:sp>
        <p:nvSpPr>
          <p:cNvPr id="47" name="Rounded Rectangle 5">
            <a:extLst>
              <a:ext uri="{FF2B5EF4-FFF2-40B4-BE49-F238E27FC236}">
                <a16:creationId xmlns:a16="http://schemas.microsoft.com/office/drawing/2014/main" id="{B367B70A-7657-6858-F488-6094574F0AFD}"/>
              </a:ext>
            </a:extLst>
          </p:cNvPr>
          <p:cNvSpPr/>
          <p:nvPr/>
        </p:nvSpPr>
        <p:spPr>
          <a:xfrm>
            <a:off x="9376647" y="3861407"/>
            <a:ext cx="2483144" cy="286036"/>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nSpc>
                <a:spcPct val="150000"/>
              </a:lnSpc>
            </a:pPr>
            <a:r>
              <a:rPr kumimoji="1" lang="ja-JP" altLang="en-US" sz="1050">
                <a:solidFill>
                  <a:schemeClr val="tx1"/>
                </a:solidFill>
                <a:latin typeface="+mn-ea"/>
              </a:rPr>
              <a:t>一日中雨の場合の減少状況を見たいな。</a:t>
            </a:r>
          </a:p>
        </p:txBody>
      </p:sp>
      <p:sp>
        <p:nvSpPr>
          <p:cNvPr id="48" name="Rounded Rectangle 5">
            <a:extLst>
              <a:ext uri="{FF2B5EF4-FFF2-40B4-BE49-F238E27FC236}">
                <a16:creationId xmlns:a16="http://schemas.microsoft.com/office/drawing/2014/main" id="{2CD80D3E-3C3C-04C1-BF3C-183F3AB00014}"/>
              </a:ext>
            </a:extLst>
          </p:cNvPr>
          <p:cNvSpPr/>
          <p:nvPr/>
        </p:nvSpPr>
        <p:spPr>
          <a:xfrm>
            <a:off x="9379339" y="5091629"/>
            <a:ext cx="2483144" cy="720245"/>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nSpc>
                <a:spcPct val="150000"/>
              </a:lnSpc>
            </a:pPr>
            <a:r>
              <a:rPr kumimoji="1" lang="ja-JP" altLang="en-US" sz="1050">
                <a:solidFill>
                  <a:schemeClr val="tx1"/>
                </a:solidFill>
                <a:latin typeface="+mn-ea"/>
              </a:rPr>
              <a:t>開業一年間でヒットしうまく行った場合の上方シナリオと下方シナリオを知りたいな。</a:t>
            </a:r>
          </a:p>
        </p:txBody>
      </p:sp>
      <p:sp>
        <p:nvSpPr>
          <p:cNvPr id="53" name="Rounded Rectangle 5">
            <a:extLst>
              <a:ext uri="{FF2B5EF4-FFF2-40B4-BE49-F238E27FC236}">
                <a16:creationId xmlns:a16="http://schemas.microsoft.com/office/drawing/2014/main" id="{58C384DB-13FB-5358-95F8-C14FC57C28FD}"/>
              </a:ext>
            </a:extLst>
          </p:cNvPr>
          <p:cNvSpPr/>
          <p:nvPr/>
        </p:nvSpPr>
        <p:spPr>
          <a:xfrm>
            <a:off x="8713947" y="4211312"/>
            <a:ext cx="2605334" cy="43692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kumimoji="1" lang="ja-JP" altLang="en-US" sz="1050">
                <a:solidFill>
                  <a:schemeClr val="tx1"/>
                </a:solidFill>
              </a:rPr>
              <a:t>雨の場合、平日の来訪者は</a:t>
            </a:r>
            <a:r>
              <a:rPr lang="ja-JP" altLang="en-US" sz="1050">
                <a:solidFill>
                  <a:schemeClr val="tx1"/>
                </a:solidFill>
              </a:rPr>
              <a:t>〇〇万人に、休日の来訪者は△△万人に減少します。</a:t>
            </a:r>
            <a:endParaRPr kumimoji="1" lang="ja-JP" altLang="en-US" sz="1050">
              <a:solidFill>
                <a:schemeClr val="tx1"/>
              </a:solidFill>
            </a:endParaRPr>
          </a:p>
        </p:txBody>
      </p:sp>
      <p:sp>
        <p:nvSpPr>
          <p:cNvPr id="54" name="Rounded Rectangle 5">
            <a:extLst>
              <a:ext uri="{FF2B5EF4-FFF2-40B4-BE49-F238E27FC236}">
                <a16:creationId xmlns:a16="http://schemas.microsoft.com/office/drawing/2014/main" id="{E1F9C3E9-68EF-687E-C527-D1AE17B96561}"/>
              </a:ext>
            </a:extLst>
          </p:cNvPr>
          <p:cNvSpPr/>
          <p:nvPr/>
        </p:nvSpPr>
        <p:spPr>
          <a:xfrm>
            <a:off x="8727150" y="5862392"/>
            <a:ext cx="2605334" cy="43692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ja-JP" altLang="ja-JP" sz="1050">
                <a:solidFill>
                  <a:schemeClr val="tx1"/>
                </a:solidFill>
              </a:rPr>
              <a:t>上方シナリオ／下方シナリオの2パターンを</a:t>
            </a:r>
            <a:r>
              <a:rPr lang="ja-JP" altLang="en-US" sz="1050">
                <a:solidFill>
                  <a:schemeClr val="tx1"/>
                </a:solidFill>
              </a:rPr>
              <a:t>作成し比較します。</a:t>
            </a:r>
            <a:endParaRPr kumimoji="1" lang="ja-JP" altLang="en-US" sz="1050">
              <a:solidFill>
                <a:schemeClr val="tx1"/>
              </a:solidFill>
            </a:endParaRPr>
          </a:p>
        </p:txBody>
      </p:sp>
    </p:spTree>
    <p:extLst>
      <p:ext uri="{BB962C8B-B14F-4D97-AF65-F5344CB8AC3E}">
        <p14:creationId xmlns:p14="http://schemas.microsoft.com/office/powerpoint/2010/main" val="2708325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E576B1-22A1-0D05-6DB9-A4AD50C6CE11}"/>
              </a:ext>
            </a:extLst>
          </p:cNvPr>
          <p:cNvSpPr>
            <a:spLocks noGrp="1"/>
          </p:cNvSpPr>
          <p:nvPr>
            <p:ph type="title"/>
          </p:nvPr>
        </p:nvSpPr>
        <p:spPr/>
        <p:txBody>
          <a:bodyPr/>
          <a:lstStyle/>
          <a:p>
            <a:r>
              <a:rPr kumimoji="1" lang="ja-JP" altLang="en-US" dirty="0"/>
              <a:t>本研究の立ち位置</a:t>
            </a:r>
          </a:p>
        </p:txBody>
      </p:sp>
      <p:sp>
        <p:nvSpPr>
          <p:cNvPr id="4" name="日付プレースホルダー 3">
            <a:extLst>
              <a:ext uri="{FF2B5EF4-FFF2-40B4-BE49-F238E27FC236}">
                <a16:creationId xmlns:a16="http://schemas.microsoft.com/office/drawing/2014/main" id="{BE9387B3-A02B-3389-7A72-675A0DF4C767}"/>
              </a:ext>
            </a:extLst>
          </p:cNvPr>
          <p:cNvSpPr>
            <a:spLocks noGrp="1"/>
          </p:cNvSpPr>
          <p:nvPr>
            <p:ph type="dt" sz="half" idx="10"/>
          </p:nvPr>
        </p:nvSpPr>
        <p:spPr/>
        <p:txBody>
          <a:bodyPr/>
          <a:lstStyle/>
          <a:p>
            <a:r>
              <a:rPr lang="en-US" altLang="ja-JP"/>
              <a:t>2026/6</a:t>
            </a:r>
            <a:endParaRPr kumimoji="1" lang="ja-JP" altLang="en-US"/>
          </a:p>
        </p:txBody>
      </p:sp>
      <p:sp>
        <p:nvSpPr>
          <p:cNvPr id="5" name="フッター プレースホルダー 4">
            <a:extLst>
              <a:ext uri="{FF2B5EF4-FFF2-40B4-BE49-F238E27FC236}">
                <a16:creationId xmlns:a16="http://schemas.microsoft.com/office/drawing/2014/main" id="{665A0854-A25E-86D0-D931-BC6F83E9840C}"/>
              </a:ext>
            </a:extLst>
          </p:cNvPr>
          <p:cNvSpPr>
            <a:spLocks noGrp="1"/>
          </p:cNvSpPr>
          <p:nvPr>
            <p:ph type="ftr" sz="quarter" idx="11"/>
          </p:nvPr>
        </p:nvSpPr>
        <p:spPr/>
        <p:txBody>
          <a:bodyPr/>
          <a:lstStyle/>
          <a:p>
            <a:r>
              <a:rPr kumimoji="1" lang="ja-JP" altLang="en-US"/>
              <a:t>関本・中居研究室</a:t>
            </a:r>
          </a:p>
        </p:txBody>
      </p:sp>
      <p:sp>
        <p:nvSpPr>
          <p:cNvPr id="6" name="スライド番号プレースホルダー 5">
            <a:extLst>
              <a:ext uri="{FF2B5EF4-FFF2-40B4-BE49-F238E27FC236}">
                <a16:creationId xmlns:a16="http://schemas.microsoft.com/office/drawing/2014/main" id="{83DE9FBD-C16D-C3C4-2F2E-38E16C008899}"/>
              </a:ext>
            </a:extLst>
          </p:cNvPr>
          <p:cNvSpPr>
            <a:spLocks noGrp="1"/>
          </p:cNvSpPr>
          <p:nvPr>
            <p:ph type="sldNum" sz="quarter" idx="12"/>
          </p:nvPr>
        </p:nvSpPr>
        <p:spPr/>
        <p:txBody>
          <a:bodyPr/>
          <a:lstStyle/>
          <a:p>
            <a:fld id="{6539E37A-E522-3D47-AAB7-DDF67C94A05D}" type="slidenum">
              <a:rPr lang="en-US" altLang="ja-JP"/>
              <a:t>4</a:t>
            </a:fld>
            <a:endParaRPr kumimoji="1" lang="ja-JP" altLang="en-US"/>
          </a:p>
        </p:txBody>
      </p:sp>
      <p:sp>
        <p:nvSpPr>
          <p:cNvPr id="22" name="コンテンツ プレースホルダー 2">
            <a:extLst>
              <a:ext uri="{FF2B5EF4-FFF2-40B4-BE49-F238E27FC236}">
                <a16:creationId xmlns:a16="http://schemas.microsoft.com/office/drawing/2014/main" id="{37CAFBFB-CBC4-5813-B1BF-5950CD11BF53}"/>
              </a:ext>
            </a:extLst>
          </p:cNvPr>
          <p:cNvSpPr txBox="1">
            <a:spLocks/>
          </p:cNvSpPr>
          <p:nvPr/>
        </p:nvSpPr>
        <p:spPr>
          <a:xfrm>
            <a:off x="425370" y="1041383"/>
            <a:ext cx="11594864" cy="112747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800" b="1" dirty="0"/>
              <a:t>LLM</a:t>
            </a:r>
            <a:r>
              <a:rPr lang="ja-JP" altLang="en-US" sz="1800" b="1" dirty="0"/>
              <a:t>を活用した都市開発計画支援研究は構想整理に有効だが、人流評価との接続は限定的</a:t>
            </a:r>
            <a:endParaRPr lang="en-US" altLang="ja-JP" sz="1800" b="1" dirty="0"/>
          </a:p>
          <a:p>
            <a:r>
              <a:rPr lang="ja-JP" altLang="en-US" sz="1800" b="1" dirty="0"/>
              <a:t>人流予測研究は施設配置や施策の効果評価に有効だが、自然言語の計画意図を直接扱いにくい</a:t>
            </a:r>
            <a:endParaRPr lang="en-US" altLang="ja-JP" sz="1800" b="1" dirty="0"/>
          </a:p>
          <a:p>
            <a:r>
              <a:rPr lang="ja-JP" altLang="en-US" sz="1800" b="1" dirty="0"/>
              <a:t>本研究は、</a:t>
            </a:r>
            <a:r>
              <a:rPr lang="en-US" altLang="ja-JP" sz="1800" b="1" dirty="0"/>
              <a:t>LLM</a:t>
            </a:r>
            <a:r>
              <a:rPr lang="ja-JP" altLang="en-US" sz="1800" b="1" dirty="0"/>
              <a:t>による開発計画の具体化と人流予測の双方をシームレスに接続し、初期構想の評価を可能にする</a:t>
            </a:r>
            <a:endParaRPr lang="en-US" altLang="ja-JP" sz="1800" b="1" dirty="0"/>
          </a:p>
          <a:p>
            <a:endParaRPr lang="ja-JP" altLang="en-US" sz="1800" dirty="0"/>
          </a:p>
        </p:txBody>
      </p:sp>
      <p:grpSp>
        <p:nvGrpSpPr>
          <p:cNvPr id="28" name="グループ化 27">
            <a:extLst>
              <a:ext uri="{FF2B5EF4-FFF2-40B4-BE49-F238E27FC236}">
                <a16:creationId xmlns:a16="http://schemas.microsoft.com/office/drawing/2014/main" id="{6BAE53AC-D060-6226-44E1-EAF436AB3683}"/>
              </a:ext>
            </a:extLst>
          </p:cNvPr>
          <p:cNvGrpSpPr/>
          <p:nvPr/>
        </p:nvGrpSpPr>
        <p:grpSpPr>
          <a:xfrm>
            <a:off x="618220" y="2306227"/>
            <a:ext cx="3420380" cy="3778068"/>
            <a:chOff x="1235460" y="2511315"/>
            <a:chExt cx="3420380" cy="3510390"/>
          </a:xfrm>
          <a:effectLst/>
        </p:grpSpPr>
        <p:grpSp>
          <p:nvGrpSpPr>
            <p:cNvPr id="26" name="グループ化 25">
              <a:extLst>
                <a:ext uri="{FF2B5EF4-FFF2-40B4-BE49-F238E27FC236}">
                  <a16:creationId xmlns:a16="http://schemas.microsoft.com/office/drawing/2014/main" id="{AC9FF0E6-393E-13DD-554E-C70174F65199}"/>
                </a:ext>
              </a:extLst>
            </p:cNvPr>
            <p:cNvGrpSpPr/>
            <p:nvPr/>
          </p:nvGrpSpPr>
          <p:grpSpPr>
            <a:xfrm>
              <a:off x="1235460" y="2511315"/>
              <a:ext cx="3420380" cy="3510390"/>
              <a:chOff x="833099" y="2578989"/>
              <a:chExt cx="2888402" cy="3510390"/>
            </a:xfrm>
          </p:grpSpPr>
          <p:sp>
            <p:nvSpPr>
              <p:cNvPr id="23" name="Rounded Rectangle 5">
                <a:extLst>
                  <a:ext uri="{FF2B5EF4-FFF2-40B4-BE49-F238E27FC236}">
                    <a16:creationId xmlns:a16="http://schemas.microsoft.com/office/drawing/2014/main" id="{C43EEF9F-8FED-7BFA-2237-7E54BB5AC069}"/>
                  </a:ext>
                </a:extLst>
              </p:cNvPr>
              <p:cNvSpPr/>
              <p:nvPr/>
            </p:nvSpPr>
            <p:spPr>
              <a:xfrm>
                <a:off x="833099" y="2578989"/>
                <a:ext cx="2888402" cy="3510390"/>
              </a:xfrm>
              <a:prstGeom prst="roundRect">
                <a:avLst>
                  <a:gd name="adj" fmla="val 9000"/>
                </a:avLst>
              </a:prstGeom>
              <a:solidFill>
                <a:schemeClr val="bg2">
                  <a:lumMod val="90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200">
                  <a:solidFill>
                    <a:schemeClr val="tx1"/>
                  </a:solidFill>
                </a:endParaRPr>
              </a:p>
            </p:txBody>
          </p:sp>
          <p:sp>
            <p:nvSpPr>
              <p:cNvPr id="25" name="片側の 2 つの角を丸めた四角形 24">
                <a:extLst>
                  <a:ext uri="{FF2B5EF4-FFF2-40B4-BE49-F238E27FC236}">
                    <a16:creationId xmlns:a16="http://schemas.microsoft.com/office/drawing/2014/main" id="{9DE9E5CF-2253-6B56-FF3E-D828592A5EFC}"/>
                  </a:ext>
                </a:extLst>
              </p:cNvPr>
              <p:cNvSpPr/>
              <p:nvPr/>
            </p:nvSpPr>
            <p:spPr>
              <a:xfrm>
                <a:off x="833099" y="2578990"/>
                <a:ext cx="2888402" cy="540060"/>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7" name="テキスト ボックス 26">
              <a:extLst>
                <a:ext uri="{FF2B5EF4-FFF2-40B4-BE49-F238E27FC236}">
                  <a16:creationId xmlns:a16="http://schemas.microsoft.com/office/drawing/2014/main" id="{1E22F820-3F64-C1A8-3BE1-4F4AEB548CBA}"/>
                </a:ext>
              </a:extLst>
            </p:cNvPr>
            <p:cNvSpPr txBox="1"/>
            <p:nvPr/>
          </p:nvSpPr>
          <p:spPr>
            <a:xfrm>
              <a:off x="1343288" y="2663911"/>
              <a:ext cx="3199915" cy="314567"/>
            </a:xfrm>
            <a:prstGeom prst="rect">
              <a:avLst/>
            </a:prstGeom>
            <a:noFill/>
          </p:spPr>
          <p:txBody>
            <a:bodyPr wrap="none" rtlCol="0">
              <a:spAutoFit/>
            </a:bodyPr>
            <a:lstStyle/>
            <a:p>
              <a:r>
                <a:rPr lang="ja-JP" altLang="ja-JP" sz="1600" b="1">
                  <a:solidFill>
                    <a:schemeClr val="bg1"/>
                  </a:solidFill>
                </a:rPr>
                <a:t>LLMを活用した</a:t>
              </a:r>
              <a:r>
                <a:rPr lang="ja-JP" altLang="en-US" sz="1600" b="1">
                  <a:solidFill>
                    <a:schemeClr val="bg1"/>
                  </a:solidFill>
                </a:rPr>
                <a:t>都市</a:t>
              </a:r>
              <a:r>
                <a:rPr lang="ja-JP" altLang="ja-JP" sz="1600" b="1">
                  <a:solidFill>
                    <a:schemeClr val="bg1"/>
                  </a:solidFill>
                </a:rPr>
                <a:t>計画</a:t>
              </a:r>
              <a:r>
                <a:rPr lang="ja-JP" altLang="en-US" sz="1600" b="1">
                  <a:solidFill>
                    <a:schemeClr val="bg1"/>
                  </a:solidFill>
                </a:rPr>
                <a:t>の</a:t>
              </a:r>
              <a:r>
                <a:rPr lang="ja-JP" altLang="ja-JP" sz="1600" b="1">
                  <a:solidFill>
                    <a:schemeClr val="bg1"/>
                  </a:solidFill>
                </a:rPr>
                <a:t>具体化</a:t>
              </a:r>
              <a:endParaRPr kumimoji="1" lang="ja-JP" altLang="en-US" sz="1600" b="1">
                <a:solidFill>
                  <a:schemeClr val="bg1"/>
                </a:solidFill>
              </a:endParaRPr>
            </a:p>
          </p:txBody>
        </p:sp>
      </p:grpSp>
      <p:grpSp>
        <p:nvGrpSpPr>
          <p:cNvPr id="29" name="グループ化 28">
            <a:extLst>
              <a:ext uri="{FF2B5EF4-FFF2-40B4-BE49-F238E27FC236}">
                <a16:creationId xmlns:a16="http://schemas.microsoft.com/office/drawing/2014/main" id="{3D850FA2-3337-D956-B209-4C07B1636237}"/>
              </a:ext>
            </a:extLst>
          </p:cNvPr>
          <p:cNvGrpSpPr/>
          <p:nvPr/>
        </p:nvGrpSpPr>
        <p:grpSpPr>
          <a:xfrm>
            <a:off x="4293062" y="2318330"/>
            <a:ext cx="3420380" cy="3778068"/>
            <a:chOff x="1235460" y="2511315"/>
            <a:chExt cx="3420380" cy="3510390"/>
          </a:xfrm>
          <a:effectLst/>
        </p:grpSpPr>
        <p:grpSp>
          <p:nvGrpSpPr>
            <p:cNvPr id="30" name="グループ化 29">
              <a:extLst>
                <a:ext uri="{FF2B5EF4-FFF2-40B4-BE49-F238E27FC236}">
                  <a16:creationId xmlns:a16="http://schemas.microsoft.com/office/drawing/2014/main" id="{6D262424-F6E8-E1D9-242A-A273D486C4A5}"/>
                </a:ext>
              </a:extLst>
            </p:cNvPr>
            <p:cNvGrpSpPr/>
            <p:nvPr/>
          </p:nvGrpSpPr>
          <p:grpSpPr>
            <a:xfrm>
              <a:off x="1235460" y="2511315"/>
              <a:ext cx="3420380" cy="3510390"/>
              <a:chOff x="833099" y="2578989"/>
              <a:chExt cx="2888402" cy="3510390"/>
            </a:xfrm>
          </p:grpSpPr>
          <p:sp>
            <p:nvSpPr>
              <p:cNvPr id="32" name="Rounded Rectangle 5">
                <a:extLst>
                  <a:ext uri="{FF2B5EF4-FFF2-40B4-BE49-F238E27FC236}">
                    <a16:creationId xmlns:a16="http://schemas.microsoft.com/office/drawing/2014/main" id="{1DDBA576-D84B-C769-F1F4-317B8F416E9A}"/>
                  </a:ext>
                </a:extLst>
              </p:cNvPr>
              <p:cNvSpPr/>
              <p:nvPr/>
            </p:nvSpPr>
            <p:spPr>
              <a:xfrm>
                <a:off x="833099" y="2578989"/>
                <a:ext cx="2888402" cy="3510390"/>
              </a:xfrm>
              <a:prstGeom prst="roundRect">
                <a:avLst>
                  <a:gd name="adj" fmla="val 9000"/>
                </a:avLst>
              </a:prstGeom>
              <a:solidFill>
                <a:schemeClr val="bg2">
                  <a:lumMod val="90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200">
                  <a:solidFill>
                    <a:schemeClr val="tx1"/>
                  </a:solidFill>
                </a:endParaRPr>
              </a:p>
            </p:txBody>
          </p:sp>
          <p:sp>
            <p:nvSpPr>
              <p:cNvPr id="33" name="片側の 2 つの角を丸めた四角形 32">
                <a:extLst>
                  <a:ext uri="{FF2B5EF4-FFF2-40B4-BE49-F238E27FC236}">
                    <a16:creationId xmlns:a16="http://schemas.microsoft.com/office/drawing/2014/main" id="{74203617-3F6A-216D-834B-C6FAA31E59F3}"/>
                  </a:ext>
                </a:extLst>
              </p:cNvPr>
              <p:cNvSpPr/>
              <p:nvPr/>
            </p:nvSpPr>
            <p:spPr>
              <a:xfrm>
                <a:off x="833099" y="2578990"/>
                <a:ext cx="2888402" cy="540060"/>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1" name="テキスト ボックス 30">
              <a:extLst>
                <a:ext uri="{FF2B5EF4-FFF2-40B4-BE49-F238E27FC236}">
                  <a16:creationId xmlns:a16="http://schemas.microsoft.com/office/drawing/2014/main" id="{14247868-FCAF-015B-E2F5-AF6927669688}"/>
                </a:ext>
              </a:extLst>
            </p:cNvPr>
            <p:cNvSpPr txBox="1"/>
            <p:nvPr/>
          </p:nvSpPr>
          <p:spPr>
            <a:xfrm>
              <a:off x="2240655" y="2664659"/>
              <a:ext cx="1415772" cy="314567"/>
            </a:xfrm>
            <a:prstGeom prst="rect">
              <a:avLst/>
            </a:prstGeom>
            <a:noFill/>
          </p:spPr>
          <p:txBody>
            <a:bodyPr wrap="none" rtlCol="0">
              <a:spAutoFit/>
            </a:bodyPr>
            <a:lstStyle/>
            <a:p>
              <a:r>
                <a:rPr lang="ja-JP" altLang="en-US" sz="1600" b="1">
                  <a:solidFill>
                    <a:schemeClr val="bg1"/>
                  </a:solidFill>
                </a:rPr>
                <a:t>人流予測研究</a:t>
              </a:r>
              <a:endParaRPr kumimoji="1" lang="ja-JP" altLang="en-US" sz="1600">
                <a:solidFill>
                  <a:schemeClr val="bg1"/>
                </a:solidFill>
              </a:endParaRPr>
            </a:p>
          </p:txBody>
        </p:sp>
      </p:grpSp>
      <p:grpSp>
        <p:nvGrpSpPr>
          <p:cNvPr id="34" name="グループ化 33">
            <a:extLst>
              <a:ext uri="{FF2B5EF4-FFF2-40B4-BE49-F238E27FC236}">
                <a16:creationId xmlns:a16="http://schemas.microsoft.com/office/drawing/2014/main" id="{E423460B-2572-0244-5C46-3BCEBD492064}"/>
              </a:ext>
            </a:extLst>
          </p:cNvPr>
          <p:cNvGrpSpPr/>
          <p:nvPr/>
        </p:nvGrpSpPr>
        <p:grpSpPr>
          <a:xfrm>
            <a:off x="7973686" y="2306227"/>
            <a:ext cx="3504790" cy="3778068"/>
            <a:chOff x="1235460" y="2511315"/>
            <a:chExt cx="3504790" cy="3510390"/>
          </a:xfrm>
          <a:effectLst/>
        </p:grpSpPr>
        <p:grpSp>
          <p:nvGrpSpPr>
            <p:cNvPr id="35" name="グループ化 34">
              <a:extLst>
                <a:ext uri="{FF2B5EF4-FFF2-40B4-BE49-F238E27FC236}">
                  <a16:creationId xmlns:a16="http://schemas.microsoft.com/office/drawing/2014/main" id="{00DC4BA9-D8C1-3C22-6BBE-F130B12A2B95}"/>
                </a:ext>
              </a:extLst>
            </p:cNvPr>
            <p:cNvGrpSpPr/>
            <p:nvPr/>
          </p:nvGrpSpPr>
          <p:grpSpPr>
            <a:xfrm>
              <a:off x="1235460" y="2511315"/>
              <a:ext cx="3420380" cy="3510390"/>
              <a:chOff x="833099" y="2578989"/>
              <a:chExt cx="2888402" cy="3510390"/>
            </a:xfrm>
          </p:grpSpPr>
          <p:sp>
            <p:nvSpPr>
              <p:cNvPr id="37" name="Rounded Rectangle 5">
                <a:extLst>
                  <a:ext uri="{FF2B5EF4-FFF2-40B4-BE49-F238E27FC236}">
                    <a16:creationId xmlns:a16="http://schemas.microsoft.com/office/drawing/2014/main" id="{901A5644-BA38-148B-2FBF-117266FDACE1}"/>
                  </a:ext>
                </a:extLst>
              </p:cNvPr>
              <p:cNvSpPr/>
              <p:nvPr/>
            </p:nvSpPr>
            <p:spPr>
              <a:xfrm>
                <a:off x="833099" y="2578989"/>
                <a:ext cx="2888402" cy="3510390"/>
              </a:xfrm>
              <a:prstGeom prst="roundRect">
                <a:avLst>
                  <a:gd name="adj" fmla="val 9000"/>
                </a:avLst>
              </a:prstGeom>
              <a:solidFill>
                <a:schemeClr val="bg2">
                  <a:lumMod val="90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200">
                  <a:solidFill>
                    <a:schemeClr val="tx1"/>
                  </a:solidFill>
                </a:endParaRPr>
              </a:p>
            </p:txBody>
          </p:sp>
          <p:sp>
            <p:nvSpPr>
              <p:cNvPr id="38" name="片側の 2 つの角を丸めた四角形 37">
                <a:extLst>
                  <a:ext uri="{FF2B5EF4-FFF2-40B4-BE49-F238E27FC236}">
                    <a16:creationId xmlns:a16="http://schemas.microsoft.com/office/drawing/2014/main" id="{54EDACB5-AFA3-E0EB-D685-67D7B83C2BEE}"/>
                  </a:ext>
                </a:extLst>
              </p:cNvPr>
              <p:cNvSpPr/>
              <p:nvPr/>
            </p:nvSpPr>
            <p:spPr>
              <a:xfrm>
                <a:off x="833099" y="2578990"/>
                <a:ext cx="2888402" cy="540060"/>
              </a:xfrm>
              <a:prstGeom prst="round2SameRect">
                <a:avLst>
                  <a:gd name="adj1" fmla="val 50000"/>
                  <a:gd name="adj2" fmla="val 0"/>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 name="テキスト ボックス 35">
              <a:extLst>
                <a:ext uri="{FF2B5EF4-FFF2-40B4-BE49-F238E27FC236}">
                  <a16:creationId xmlns:a16="http://schemas.microsoft.com/office/drawing/2014/main" id="{C3B59545-2608-E897-EFF8-1E716E321E6B}"/>
                </a:ext>
              </a:extLst>
            </p:cNvPr>
            <p:cNvSpPr txBox="1"/>
            <p:nvPr/>
          </p:nvSpPr>
          <p:spPr>
            <a:xfrm>
              <a:off x="1247984" y="2663911"/>
              <a:ext cx="3492266" cy="314567"/>
            </a:xfrm>
            <a:prstGeom prst="rect">
              <a:avLst/>
            </a:prstGeom>
            <a:noFill/>
          </p:spPr>
          <p:txBody>
            <a:bodyPr wrap="square" rtlCol="0">
              <a:spAutoFit/>
            </a:bodyPr>
            <a:lstStyle/>
            <a:p>
              <a:pPr algn="ctr"/>
              <a:r>
                <a:rPr lang="ja-JP" altLang="en-US" sz="1600" b="1" dirty="0">
                  <a:solidFill>
                    <a:schemeClr val="bg1"/>
                  </a:solidFill>
                </a:rPr>
                <a:t>本研究（双方をシームレスに接続）</a:t>
              </a:r>
              <a:endParaRPr kumimoji="1" lang="ja-JP" altLang="en-US" sz="1600" dirty="0">
                <a:solidFill>
                  <a:schemeClr val="bg1"/>
                </a:solidFill>
              </a:endParaRPr>
            </a:p>
          </p:txBody>
        </p:sp>
      </p:grpSp>
      <p:sp>
        <p:nvSpPr>
          <p:cNvPr id="39" name="テキスト ボックス 38">
            <a:extLst>
              <a:ext uri="{FF2B5EF4-FFF2-40B4-BE49-F238E27FC236}">
                <a16:creationId xmlns:a16="http://schemas.microsoft.com/office/drawing/2014/main" id="{F37AE888-B8AF-0F52-700A-F3F84ED9DBCF}"/>
              </a:ext>
            </a:extLst>
          </p:cNvPr>
          <p:cNvSpPr txBox="1"/>
          <p:nvPr/>
        </p:nvSpPr>
        <p:spPr>
          <a:xfrm>
            <a:off x="931005" y="2999060"/>
            <a:ext cx="2893150" cy="584775"/>
          </a:xfrm>
          <a:prstGeom prst="rect">
            <a:avLst/>
          </a:prstGeom>
          <a:noFill/>
        </p:spPr>
        <p:txBody>
          <a:bodyPr wrap="square" rtlCol="0">
            <a:spAutoFit/>
          </a:bodyPr>
          <a:lstStyle/>
          <a:p>
            <a:r>
              <a:rPr lang="ja-JP" altLang="ja-JP" sz="1600"/>
              <a:t>自然言語から計画案・土地利用案を整理</a:t>
            </a:r>
            <a:endParaRPr kumimoji="1" lang="ja-JP" altLang="en-US" sz="1600"/>
          </a:p>
        </p:txBody>
      </p:sp>
      <p:sp>
        <p:nvSpPr>
          <p:cNvPr id="40" name="テキスト ボックス 39">
            <a:extLst>
              <a:ext uri="{FF2B5EF4-FFF2-40B4-BE49-F238E27FC236}">
                <a16:creationId xmlns:a16="http://schemas.microsoft.com/office/drawing/2014/main" id="{8C184932-869C-6A94-B380-98B79A7F7A16}"/>
              </a:ext>
            </a:extLst>
          </p:cNvPr>
          <p:cNvSpPr txBox="1"/>
          <p:nvPr/>
        </p:nvSpPr>
        <p:spPr>
          <a:xfrm>
            <a:off x="931005" y="3583835"/>
            <a:ext cx="2892486" cy="584775"/>
          </a:xfrm>
          <a:prstGeom prst="rect">
            <a:avLst/>
          </a:prstGeom>
          <a:noFill/>
        </p:spPr>
        <p:txBody>
          <a:bodyPr wrap="square" rtlCol="0">
            <a:spAutoFit/>
          </a:bodyPr>
          <a:lstStyle/>
          <a:p>
            <a:r>
              <a:rPr lang="ja-JP" altLang="ja-JP" sz="1600"/>
              <a:t>対話を通じた要件整理やシナリオ生成</a:t>
            </a:r>
            <a:endParaRPr kumimoji="1" lang="ja-JP" altLang="en-US" sz="1600"/>
          </a:p>
        </p:txBody>
      </p:sp>
      <p:sp>
        <p:nvSpPr>
          <p:cNvPr id="41" name="テキスト ボックス 40">
            <a:extLst>
              <a:ext uri="{FF2B5EF4-FFF2-40B4-BE49-F238E27FC236}">
                <a16:creationId xmlns:a16="http://schemas.microsoft.com/office/drawing/2014/main" id="{02802972-72DE-69D5-C8C9-BA51A3B0CC6D}"/>
              </a:ext>
            </a:extLst>
          </p:cNvPr>
          <p:cNvSpPr txBox="1"/>
          <p:nvPr/>
        </p:nvSpPr>
        <p:spPr>
          <a:xfrm>
            <a:off x="930341" y="4156245"/>
            <a:ext cx="2880149" cy="584775"/>
          </a:xfrm>
          <a:prstGeom prst="rect">
            <a:avLst/>
          </a:prstGeom>
          <a:noFill/>
        </p:spPr>
        <p:txBody>
          <a:bodyPr wrap="square" rtlCol="0">
            <a:spAutoFit/>
          </a:bodyPr>
          <a:lstStyle/>
          <a:p>
            <a:r>
              <a:rPr lang="ja-JP" altLang="ja-JP" sz="1600"/>
              <a:t>人流予測モデルへの入力形式に未接続</a:t>
            </a:r>
            <a:endParaRPr kumimoji="1" lang="ja-JP" altLang="en-US" sz="1600"/>
          </a:p>
        </p:txBody>
      </p:sp>
      <p:sp>
        <p:nvSpPr>
          <p:cNvPr id="42" name="テキスト ボックス 41">
            <a:extLst>
              <a:ext uri="{FF2B5EF4-FFF2-40B4-BE49-F238E27FC236}">
                <a16:creationId xmlns:a16="http://schemas.microsoft.com/office/drawing/2014/main" id="{B6BC8E3A-0B14-9897-B6E6-C86284DDA489}"/>
              </a:ext>
            </a:extLst>
          </p:cNvPr>
          <p:cNvSpPr txBox="1"/>
          <p:nvPr/>
        </p:nvSpPr>
        <p:spPr>
          <a:xfrm>
            <a:off x="930341" y="4753385"/>
            <a:ext cx="2880149" cy="584775"/>
          </a:xfrm>
          <a:prstGeom prst="rect">
            <a:avLst/>
          </a:prstGeom>
          <a:noFill/>
        </p:spPr>
        <p:txBody>
          <a:bodyPr wrap="square" rtlCol="0">
            <a:spAutoFit/>
          </a:bodyPr>
          <a:lstStyle/>
          <a:p>
            <a:r>
              <a:rPr lang="ja-JP" altLang="ja-JP" sz="1600"/>
              <a:t>効果検証が定性的に留まりやすい</a:t>
            </a:r>
            <a:endParaRPr kumimoji="1" lang="ja-JP" altLang="en-US" sz="1600"/>
          </a:p>
        </p:txBody>
      </p:sp>
      <p:sp>
        <p:nvSpPr>
          <p:cNvPr id="44" name="テキスト ボックス 43">
            <a:extLst>
              <a:ext uri="{FF2B5EF4-FFF2-40B4-BE49-F238E27FC236}">
                <a16:creationId xmlns:a16="http://schemas.microsoft.com/office/drawing/2014/main" id="{22BDF1C2-2B45-BE08-BF47-DF5166742286}"/>
              </a:ext>
            </a:extLst>
          </p:cNvPr>
          <p:cNvSpPr txBox="1"/>
          <p:nvPr/>
        </p:nvSpPr>
        <p:spPr>
          <a:xfrm>
            <a:off x="642578" y="3112964"/>
            <a:ext cx="415498" cy="369332"/>
          </a:xfrm>
          <a:prstGeom prst="rect">
            <a:avLst/>
          </a:prstGeom>
          <a:noFill/>
        </p:spPr>
        <p:txBody>
          <a:bodyPr wrap="none" rtlCol="0">
            <a:spAutoFit/>
          </a:bodyPr>
          <a:lstStyle/>
          <a:p>
            <a:r>
              <a:rPr kumimoji="1" lang="ja-JP" altLang="en-US" b="1">
                <a:solidFill>
                  <a:srgbClr val="FF0000"/>
                </a:solidFill>
              </a:rPr>
              <a:t>○</a:t>
            </a:r>
          </a:p>
        </p:txBody>
      </p:sp>
      <p:sp>
        <p:nvSpPr>
          <p:cNvPr id="45" name="テキスト ボックス 44">
            <a:extLst>
              <a:ext uri="{FF2B5EF4-FFF2-40B4-BE49-F238E27FC236}">
                <a16:creationId xmlns:a16="http://schemas.microsoft.com/office/drawing/2014/main" id="{FAE73F34-F6EF-C339-747F-925F795D0348}"/>
              </a:ext>
            </a:extLst>
          </p:cNvPr>
          <p:cNvSpPr txBox="1"/>
          <p:nvPr/>
        </p:nvSpPr>
        <p:spPr>
          <a:xfrm>
            <a:off x="642578" y="3687123"/>
            <a:ext cx="415498" cy="369332"/>
          </a:xfrm>
          <a:prstGeom prst="rect">
            <a:avLst/>
          </a:prstGeom>
          <a:noFill/>
        </p:spPr>
        <p:txBody>
          <a:bodyPr wrap="none" rtlCol="0">
            <a:spAutoFit/>
          </a:bodyPr>
          <a:lstStyle/>
          <a:p>
            <a:r>
              <a:rPr kumimoji="1" lang="ja-JP" altLang="en-US" b="1">
                <a:solidFill>
                  <a:srgbClr val="FF0000"/>
                </a:solidFill>
              </a:rPr>
              <a:t>○</a:t>
            </a:r>
          </a:p>
        </p:txBody>
      </p:sp>
      <p:sp>
        <p:nvSpPr>
          <p:cNvPr id="46" name="テキスト ボックス 45">
            <a:extLst>
              <a:ext uri="{FF2B5EF4-FFF2-40B4-BE49-F238E27FC236}">
                <a16:creationId xmlns:a16="http://schemas.microsoft.com/office/drawing/2014/main" id="{13DA31AB-3A75-02E3-3AEF-48C8A0F4C9FD}"/>
              </a:ext>
            </a:extLst>
          </p:cNvPr>
          <p:cNvSpPr txBox="1"/>
          <p:nvPr/>
        </p:nvSpPr>
        <p:spPr>
          <a:xfrm>
            <a:off x="661814" y="4275992"/>
            <a:ext cx="377026" cy="369332"/>
          </a:xfrm>
          <a:prstGeom prst="rect">
            <a:avLst/>
          </a:prstGeom>
          <a:noFill/>
        </p:spPr>
        <p:txBody>
          <a:bodyPr wrap="none" rtlCol="0">
            <a:spAutoFit/>
          </a:bodyPr>
          <a:lstStyle/>
          <a:p>
            <a:r>
              <a:rPr kumimoji="1" lang="en-US" altLang="ja-JP">
                <a:solidFill>
                  <a:srgbClr val="0432FF"/>
                </a:solidFill>
              </a:rPr>
              <a:t>×</a:t>
            </a:r>
            <a:endParaRPr kumimoji="1" lang="ja-JP" altLang="en-US">
              <a:solidFill>
                <a:srgbClr val="0432FF"/>
              </a:solidFill>
            </a:endParaRPr>
          </a:p>
        </p:txBody>
      </p:sp>
      <p:sp>
        <p:nvSpPr>
          <p:cNvPr id="47" name="テキスト ボックス 46">
            <a:extLst>
              <a:ext uri="{FF2B5EF4-FFF2-40B4-BE49-F238E27FC236}">
                <a16:creationId xmlns:a16="http://schemas.microsoft.com/office/drawing/2014/main" id="{8CB71F67-AEF7-4394-2087-747BB5E777D6}"/>
              </a:ext>
            </a:extLst>
          </p:cNvPr>
          <p:cNvSpPr txBox="1"/>
          <p:nvPr/>
        </p:nvSpPr>
        <p:spPr>
          <a:xfrm>
            <a:off x="661814" y="4853508"/>
            <a:ext cx="377026" cy="369332"/>
          </a:xfrm>
          <a:prstGeom prst="rect">
            <a:avLst/>
          </a:prstGeom>
          <a:noFill/>
        </p:spPr>
        <p:txBody>
          <a:bodyPr wrap="none" rtlCol="0">
            <a:spAutoFit/>
          </a:bodyPr>
          <a:lstStyle/>
          <a:p>
            <a:r>
              <a:rPr kumimoji="1" lang="en-US" altLang="ja-JP">
                <a:solidFill>
                  <a:srgbClr val="0432FF"/>
                </a:solidFill>
              </a:rPr>
              <a:t>×</a:t>
            </a:r>
            <a:endParaRPr kumimoji="1" lang="ja-JP" altLang="en-US">
              <a:solidFill>
                <a:srgbClr val="0432FF"/>
              </a:solidFill>
            </a:endParaRPr>
          </a:p>
        </p:txBody>
      </p:sp>
      <p:sp>
        <p:nvSpPr>
          <p:cNvPr id="48" name="テキスト ボックス 47">
            <a:extLst>
              <a:ext uri="{FF2B5EF4-FFF2-40B4-BE49-F238E27FC236}">
                <a16:creationId xmlns:a16="http://schemas.microsoft.com/office/drawing/2014/main" id="{E74E280A-A690-513F-CDBD-E6412CC7188D}"/>
              </a:ext>
            </a:extLst>
          </p:cNvPr>
          <p:cNvSpPr txBox="1"/>
          <p:nvPr/>
        </p:nvSpPr>
        <p:spPr>
          <a:xfrm>
            <a:off x="726048" y="5354952"/>
            <a:ext cx="3204723" cy="523220"/>
          </a:xfrm>
          <a:prstGeom prst="rect">
            <a:avLst/>
          </a:prstGeom>
          <a:noFill/>
        </p:spPr>
        <p:txBody>
          <a:bodyPr wrap="square" rtlCol="0">
            <a:spAutoFit/>
          </a:bodyPr>
          <a:lstStyle/>
          <a:p>
            <a:r>
              <a:rPr kumimoji="1" lang="en-US" altLang="ja-JP" sz="1400"/>
              <a:t>Ex. PlanGPT, Large language model empowered participatory urban planning</a:t>
            </a:r>
            <a:endParaRPr kumimoji="1" lang="ja-JP" altLang="en-US" sz="1400"/>
          </a:p>
        </p:txBody>
      </p:sp>
      <p:sp>
        <p:nvSpPr>
          <p:cNvPr id="49" name="テキスト ボックス 48">
            <a:extLst>
              <a:ext uri="{FF2B5EF4-FFF2-40B4-BE49-F238E27FC236}">
                <a16:creationId xmlns:a16="http://schemas.microsoft.com/office/drawing/2014/main" id="{2A9C890E-6F5B-2745-F214-6150E50C5210}"/>
              </a:ext>
            </a:extLst>
          </p:cNvPr>
          <p:cNvSpPr txBox="1"/>
          <p:nvPr/>
        </p:nvSpPr>
        <p:spPr>
          <a:xfrm>
            <a:off x="4603583" y="2999060"/>
            <a:ext cx="2893150" cy="584775"/>
          </a:xfrm>
          <a:prstGeom prst="rect">
            <a:avLst/>
          </a:prstGeom>
          <a:noFill/>
        </p:spPr>
        <p:txBody>
          <a:bodyPr wrap="square" rtlCol="0">
            <a:spAutoFit/>
          </a:bodyPr>
          <a:lstStyle/>
          <a:p>
            <a:r>
              <a:rPr lang="ja-JP" altLang="ja-JP" sz="1600"/>
              <a:t>施設配置や施策変更の影響を評価</a:t>
            </a:r>
            <a:endParaRPr kumimoji="1" lang="ja-JP" altLang="en-US" sz="1600"/>
          </a:p>
        </p:txBody>
      </p:sp>
      <p:sp>
        <p:nvSpPr>
          <p:cNvPr id="50" name="テキスト ボックス 49">
            <a:extLst>
              <a:ext uri="{FF2B5EF4-FFF2-40B4-BE49-F238E27FC236}">
                <a16:creationId xmlns:a16="http://schemas.microsoft.com/office/drawing/2014/main" id="{FB47F317-B7CF-8500-1F8D-127123FA82C4}"/>
              </a:ext>
            </a:extLst>
          </p:cNvPr>
          <p:cNvSpPr txBox="1"/>
          <p:nvPr/>
        </p:nvSpPr>
        <p:spPr>
          <a:xfrm>
            <a:off x="4603583" y="3583835"/>
            <a:ext cx="2892486" cy="584775"/>
          </a:xfrm>
          <a:prstGeom prst="rect">
            <a:avLst/>
          </a:prstGeom>
          <a:noFill/>
        </p:spPr>
        <p:txBody>
          <a:bodyPr wrap="square" rtlCol="0">
            <a:spAutoFit/>
          </a:bodyPr>
          <a:lstStyle/>
          <a:p>
            <a:r>
              <a:rPr lang="ja-JP" altLang="ja-JP" sz="1600"/>
              <a:t>来訪者数・混雑・滞在の変化を推定</a:t>
            </a:r>
            <a:endParaRPr kumimoji="1" lang="ja-JP" altLang="en-US" sz="1600"/>
          </a:p>
        </p:txBody>
      </p:sp>
      <p:sp>
        <p:nvSpPr>
          <p:cNvPr id="51" name="テキスト ボックス 50">
            <a:extLst>
              <a:ext uri="{FF2B5EF4-FFF2-40B4-BE49-F238E27FC236}">
                <a16:creationId xmlns:a16="http://schemas.microsoft.com/office/drawing/2014/main" id="{07632B67-AA4B-2FB6-77CD-FCC60D902BDB}"/>
              </a:ext>
            </a:extLst>
          </p:cNvPr>
          <p:cNvSpPr txBox="1"/>
          <p:nvPr/>
        </p:nvSpPr>
        <p:spPr>
          <a:xfrm>
            <a:off x="4602919" y="4156245"/>
            <a:ext cx="2880149" cy="584775"/>
          </a:xfrm>
          <a:prstGeom prst="rect">
            <a:avLst/>
          </a:prstGeom>
          <a:noFill/>
        </p:spPr>
        <p:txBody>
          <a:bodyPr wrap="square" rtlCol="0">
            <a:spAutoFit/>
          </a:bodyPr>
          <a:lstStyle/>
          <a:p>
            <a:r>
              <a:rPr lang="ja-JP" altLang="ja-JP" sz="1600"/>
              <a:t>計画意図の曖昧さを直接扱いにくい</a:t>
            </a:r>
            <a:endParaRPr kumimoji="1" lang="ja-JP" altLang="en-US" sz="1600"/>
          </a:p>
        </p:txBody>
      </p:sp>
      <p:sp>
        <p:nvSpPr>
          <p:cNvPr id="52" name="テキスト ボックス 51">
            <a:extLst>
              <a:ext uri="{FF2B5EF4-FFF2-40B4-BE49-F238E27FC236}">
                <a16:creationId xmlns:a16="http://schemas.microsoft.com/office/drawing/2014/main" id="{5EC0B909-01CD-57AD-F085-EFF8DBA719AD}"/>
              </a:ext>
            </a:extLst>
          </p:cNvPr>
          <p:cNvSpPr txBox="1"/>
          <p:nvPr/>
        </p:nvSpPr>
        <p:spPr>
          <a:xfrm>
            <a:off x="4602919" y="4753385"/>
            <a:ext cx="2880149" cy="584775"/>
          </a:xfrm>
          <a:prstGeom prst="rect">
            <a:avLst/>
          </a:prstGeom>
          <a:noFill/>
        </p:spPr>
        <p:txBody>
          <a:bodyPr wrap="square" rtlCol="0">
            <a:spAutoFit/>
          </a:bodyPr>
          <a:lstStyle/>
          <a:p>
            <a:r>
              <a:rPr lang="ja-JP" altLang="ja-JP" sz="1600"/>
              <a:t>初期構想からのシナリオ具体化は対象外</a:t>
            </a:r>
            <a:endParaRPr kumimoji="1" lang="ja-JP" altLang="en-US" sz="1600"/>
          </a:p>
        </p:txBody>
      </p:sp>
      <p:sp>
        <p:nvSpPr>
          <p:cNvPr id="53" name="テキスト ボックス 52">
            <a:extLst>
              <a:ext uri="{FF2B5EF4-FFF2-40B4-BE49-F238E27FC236}">
                <a16:creationId xmlns:a16="http://schemas.microsoft.com/office/drawing/2014/main" id="{0A1CF332-8B3C-7B7A-9099-C72E1956ED72}"/>
              </a:ext>
            </a:extLst>
          </p:cNvPr>
          <p:cNvSpPr txBox="1"/>
          <p:nvPr/>
        </p:nvSpPr>
        <p:spPr>
          <a:xfrm>
            <a:off x="4315156" y="3112964"/>
            <a:ext cx="415498" cy="369332"/>
          </a:xfrm>
          <a:prstGeom prst="rect">
            <a:avLst/>
          </a:prstGeom>
          <a:noFill/>
        </p:spPr>
        <p:txBody>
          <a:bodyPr wrap="none" rtlCol="0">
            <a:spAutoFit/>
          </a:bodyPr>
          <a:lstStyle/>
          <a:p>
            <a:r>
              <a:rPr kumimoji="1" lang="ja-JP" altLang="en-US" b="1">
                <a:solidFill>
                  <a:srgbClr val="FF0000"/>
                </a:solidFill>
              </a:rPr>
              <a:t>○</a:t>
            </a:r>
          </a:p>
        </p:txBody>
      </p:sp>
      <p:sp>
        <p:nvSpPr>
          <p:cNvPr id="54" name="テキスト ボックス 53">
            <a:extLst>
              <a:ext uri="{FF2B5EF4-FFF2-40B4-BE49-F238E27FC236}">
                <a16:creationId xmlns:a16="http://schemas.microsoft.com/office/drawing/2014/main" id="{CB7C5CD4-DD52-731C-AC6A-746DFA2F1B6A}"/>
              </a:ext>
            </a:extLst>
          </p:cNvPr>
          <p:cNvSpPr txBox="1"/>
          <p:nvPr/>
        </p:nvSpPr>
        <p:spPr>
          <a:xfrm>
            <a:off x="4315156" y="3687123"/>
            <a:ext cx="415498" cy="369332"/>
          </a:xfrm>
          <a:prstGeom prst="rect">
            <a:avLst/>
          </a:prstGeom>
          <a:noFill/>
        </p:spPr>
        <p:txBody>
          <a:bodyPr wrap="none" rtlCol="0">
            <a:spAutoFit/>
          </a:bodyPr>
          <a:lstStyle/>
          <a:p>
            <a:r>
              <a:rPr kumimoji="1" lang="ja-JP" altLang="en-US" b="1">
                <a:solidFill>
                  <a:srgbClr val="FF0000"/>
                </a:solidFill>
              </a:rPr>
              <a:t>○</a:t>
            </a:r>
          </a:p>
        </p:txBody>
      </p:sp>
      <p:sp>
        <p:nvSpPr>
          <p:cNvPr id="55" name="テキスト ボックス 54">
            <a:extLst>
              <a:ext uri="{FF2B5EF4-FFF2-40B4-BE49-F238E27FC236}">
                <a16:creationId xmlns:a16="http://schemas.microsoft.com/office/drawing/2014/main" id="{26EFA40C-0F9B-DB5C-CE78-A287761B62C2}"/>
              </a:ext>
            </a:extLst>
          </p:cNvPr>
          <p:cNvSpPr txBox="1"/>
          <p:nvPr/>
        </p:nvSpPr>
        <p:spPr>
          <a:xfrm>
            <a:off x="4315156" y="4261282"/>
            <a:ext cx="377026" cy="369332"/>
          </a:xfrm>
          <a:prstGeom prst="rect">
            <a:avLst/>
          </a:prstGeom>
          <a:noFill/>
        </p:spPr>
        <p:txBody>
          <a:bodyPr wrap="none" rtlCol="0">
            <a:spAutoFit/>
          </a:bodyPr>
          <a:lstStyle/>
          <a:p>
            <a:r>
              <a:rPr kumimoji="1" lang="en-US" altLang="ja-JP">
                <a:solidFill>
                  <a:srgbClr val="0432FF"/>
                </a:solidFill>
              </a:rPr>
              <a:t>×</a:t>
            </a:r>
            <a:endParaRPr kumimoji="1" lang="ja-JP" altLang="en-US">
              <a:solidFill>
                <a:srgbClr val="0432FF"/>
              </a:solidFill>
            </a:endParaRPr>
          </a:p>
        </p:txBody>
      </p:sp>
      <p:sp>
        <p:nvSpPr>
          <p:cNvPr id="56" name="テキスト ボックス 55">
            <a:extLst>
              <a:ext uri="{FF2B5EF4-FFF2-40B4-BE49-F238E27FC236}">
                <a16:creationId xmlns:a16="http://schemas.microsoft.com/office/drawing/2014/main" id="{6E429E77-67E6-5B7A-0297-EBEE4AC7328A}"/>
              </a:ext>
            </a:extLst>
          </p:cNvPr>
          <p:cNvSpPr txBox="1"/>
          <p:nvPr/>
        </p:nvSpPr>
        <p:spPr>
          <a:xfrm>
            <a:off x="4315156" y="4838798"/>
            <a:ext cx="377026" cy="369332"/>
          </a:xfrm>
          <a:prstGeom prst="rect">
            <a:avLst/>
          </a:prstGeom>
          <a:noFill/>
        </p:spPr>
        <p:txBody>
          <a:bodyPr wrap="none" rtlCol="0">
            <a:spAutoFit/>
          </a:bodyPr>
          <a:lstStyle/>
          <a:p>
            <a:r>
              <a:rPr kumimoji="1" lang="en-US" altLang="ja-JP">
                <a:solidFill>
                  <a:srgbClr val="0432FF"/>
                </a:solidFill>
              </a:rPr>
              <a:t>×</a:t>
            </a:r>
            <a:endParaRPr kumimoji="1" lang="ja-JP" altLang="en-US">
              <a:solidFill>
                <a:srgbClr val="0432FF"/>
              </a:solidFill>
            </a:endParaRPr>
          </a:p>
        </p:txBody>
      </p:sp>
      <p:sp>
        <p:nvSpPr>
          <p:cNvPr id="57" name="テキスト ボックス 56">
            <a:extLst>
              <a:ext uri="{FF2B5EF4-FFF2-40B4-BE49-F238E27FC236}">
                <a16:creationId xmlns:a16="http://schemas.microsoft.com/office/drawing/2014/main" id="{1F43922B-AB00-1438-9225-6FD1E733A61D}"/>
              </a:ext>
            </a:extLst>
          </p:cNvPr>
          <p:cNvSpPr txBox="1"/>
          <p:nvPr/>
        </p:nvSpPr>
        <p:spPr>
          <a:xfrm>
            <a:off x="4451019" y="5354952"/>
            <a:ext cx="3204723" cy="307777"/>
          </a:xfrm>
          <a:prstGeom prst="rect">
            <a:avLst/>
          </a:prstGeom>
          <a:noFill/>
        </p:spPr>
        <p:txBody>
          <a:bodyPr wrap="square" rtlCol="0">
            <a:spAutoFit/>
          </a:bodyPr>
          <a:lstStyle/>
          <a:p>
            <a:r>
              <a:rPr kumimoji="1" lang="en-US" altLang="ja-JP" sz="1400"/>
              <a:t>Ex.</a:t>
            </a:r>
            <a:r>
              <a:rPr lang="ja-JP" altLang="ja-JP" sz="1400"/>
              <a:t> CausalPOI</a:t>
            </a:r>
            <a:r>
              <a:rPr lang="en-US" altLang="ja-JP" sz="1400"/>
              <a:t>, </a:t>
            </a:r>
            <a:r>
              <a:rPr lang="ja-JP" altLang="ja-JP" sz="1400"/>
              <a:t>SeMob</a:t>
            </a:r>
            <a:endParaRPr kumimoji="1" lang="ja-JP" altLang="en-US" sz="1400"/>
          </a:p>
        </p:txBody>
      </p:sp>
      <p:sp>
        <p:nvSpPr>
          <p:cNvPr id="62" name="テキスト ボックス 61">
            <a:extLst>
              <a:ext uri="{FF2B5EF4-FFF2-40B4-BE49-F238E27FC236}">
                <a16:creationId xmlns:a16="http://schemas.microsoft.com/office/drawing/2014/main" id="{547BAB07-8676-EEA1-1FCD-05A8BA70B92E}"/>
              </a:ext>
            </a:extLst>
          </p:cNvPr>
          <p:cNvSpPr txBox="1"/>
          <p:nvPr/>
        </p:nvSpPr>
        <p:spPr>
          <a:xfrm>
            <a:off x="7994951" y="3112964"/>
            <a:ext cx="415498" cy="369332"/>
          </a:xfrm>
          <a:prstGeom prst="rect">
            <a:avLst/>
          </a:prstGeom>
          <a:noFill/>
        </p:spPr>
        <p:txBody>
          <a:bodyPr wrap="none" rtlCol="0">
            <a:spAutoFit/>
          </a:bodyPr>
          <a:lstStyle/>
          <a:p>
            <a:r>
              <a:rPr kumimoji="1" lang="ja-JP" altLang="en-US" b="1">
                <a:solidFill>
                  <a:srgbClr val="FF0000"/>
                </a:solidFill>
              </a:rPr>
              <a:t>○</a:t>
            </a:r>
          </a:p>
        </p:txBody>
      </p:sp>
      <p:sp>
        <p:nvSpPr>
          <p:cNvPr id="63" name="テキスト ボックス 62">
            <a:extLst>
              <a:ext uri="{FF2B5EF4-FFF2-40B4-BE49-F238E27FC236}">
                <a16:creationId xmlns:a16="http://schemas.microsoft.com/office/drawing/2014/main" id="{7B423202-A49D-2522-A6B0-F25CF2A95344}"/>
              </a:ext>
            </a:extLst>
          </p:cNvPr>
          <p:cNvSpPr txBox="1"/>
          <p:nvPr/>
        </p:nvSpPr>
        <p:spPr>
          <a:xfrm>
            <a:off x="7994951" y="3687123"/>
            <a:ext cx="415498" cy="369332"/>
          </a:xfrm>
          <a:prstGeom prst="rect">
            <a:avLst/>
          </a:prstGeom>
          <a:noFill/>
        </p:spPr>
        <p:txBody>
          <a:bodyPr wrap="none" rtlCol="0">
            <a:spAutoFit/>
          </a:bodyPr>
          <a:lstStyle/>
          <a:p>
            <a:r>
              <a:rPr kumimoji="1" lang="ja-JP" altLang="en-US" b="1">
                <a:solidFill>
                  <a:srgbClr val="FF0000"/>
                </a:solidFill>
              </a:rPr>
              <a:t>○</a:t>
            </a:r>
          </a:p>
        </p:txBody>
      </p:sp>
      <p:sp>
        <p:nvSpPr>
          <p:cNvPr id="76" name="テキスト ボックス 75">
            <a:extLst>
              <a:ext uri="{FF2B5EF4-FFF2-40B4-BE49-F238E27FC236}">
                <a16:creationId xmlns:a16="http://schemas.microsoft.com/office/drawing/2014/main" id="{B2F6402B-E88E-4D3E-467F-38D375476016}"/>
              </a:ext>
            </a:extLst>
          </p:cNvPr>
          <p:cNvSpPr txBox="1"/>
          <p:nvPr/>
        </p:nvSpPr>
        <p:spPr>
          <a:xfrm>
            <a:off x="8381510" y="2999060"/>
            <a:ext cx="2893150" cy="584775"/>
          </a:xfrm>
          <a:prstGeom prst="rect">
            <a:avLst/>
          </a:prstGeom>
          <a:noFill/>
        </p:spPr>
        <p:txBody>
          <a:bodyPr wrap="square" rtlCol="0">
            <a:spAutoFit/>
          </a:bodyPr>
          <a:lstStyle/>
          <a:p>
            <a:r>
              <a:rPr lang="ja-JP" altLang="ja-JP" sz="1600"/>
              <a:t>LLMとの対話で低粒度の開発構想を具体化</a:t>
            </a:r>
            <a:endParaRPr kumimoji="1" lang="ja-JP" altLang="en-US" sz="1600"/>
          </a:p>
        </p:txBody>
      </p:sp>
      <p:sp>
        <p:nvSpPr>
          <p:cNvPr id="77" name="テキスト ボックス 76">
            <a:extLst>
              <a:ext uri="{FF2B5EF4-FFF2-40B4-BE49-F238E27FC236}">
                <a16:creationId xmlns:a16="http://schemas.microsoft.com/office/drawing/2014/main" id="{31150009-7B97-A334-D7CC-1F128CDD5E9A}"/>
              </a:ext>
            </a:extLst>
          </p:cNvPr>
          <p:cNvSpPr txBox="1"/>
          <p:nvPr/>
        </p:nvSpPr>
        <p:spPr>
          <a:xfrm>
            <a:off x="8381510" y="3583835"/>
            <a:ext cx="2892486" cy="584775"/>
          </a:xfrm>
          <a:prstGeom prst="rect">
            <a:avLst/>
          </a:prstGeom>
          <a:noFill/>
        </p:spPr>
        <p:txBody>
          <a:bodyPr wrap="square" rtlCol="0">
            <a:spAutoFit/>
          </a:bodyPr>
          <a:lstStyle/>
          <a:p>
            <a:r>
              <a:rPr lang="ja-JP" altLang="ja-JP" sz="1600"/>
              <a:t>人流予測可能なパラメータへ構造化変換</a:t>
            </a:r>
            <a:endParaRPr kumimoji="1" lang="ja-JP" altLang="en-US" sz="1600"/>
          </a:p>
        </p:txBody>
      </p:sp>
      <p:sp>
        <p:nvSpPr>
          <p:cNvPr id="78" name="テキスト ボックス 77">
            <a:extLst>
              <a:ext uri="{FF2B5EF4-FFF2-40B4-BE49-F238E27FC236}">
                <a16:creationId xmlns:a16="http://schemas.microsoft.com/office/drawing/2014/main" id="{59950C45-E8C2-9444-4857-EAC7326D66F4}"/>
              </a:ext>
            </a:extLst>
          </p:cNvPr>
          <p:cNvSpPr txBox="1"/>
          <p:nvPr/>
        </p:nvSpPr>
        <p:spPr>
          <a:xfrm>
            <a:off x="8380846" y="4156245"/>
            <a:ext cx="2880149" cy="584775"/>
          </a:xfrm>
          <a:prstGeom prst="rect">
            <a:avLst/>
          </a:prstGeom>
          <a:noFill/>
        </p:spPr>
        <p:txBody>
          <a:bodyPr wrap="square" rtlCol="0">
            <a:spAutoFit/>
          </a:bodyPr>
          <a:lstStyle/>
          <a:p>
            <a:r>
              <a:rPr lang="ja-JP" altLang="ja-JP" sz="1600"/>
              <a:t>具体化した複数シナリオを人流面から比較評価</a:t>
            </a:r>
            <a:endParaRPr kumimoji="1" lang="ja-JP" altLang="en-US" sz="1600"/>
          </a:p>
        </p:txBody>
      </p:sp>
      <p:sp>
        <p:nvSpPr>
          <p:cNvPr id="79" name="テキスト ボックス 78">
            <a:extLst>
              <a:ext uri="{FF2B5EF4-FFF2-40B4-BE49-F238E27FC236}">
                <a16:creationId xmlns:a16="http://schemas.microsoft.com/office/drawing/2014/main" id="{D28E2104-AC83-F9C5-4B1B-4232200C731F}"/>
              </a:ext>
            </a:extLst>
          </p:cNvPr>
          <p:cNvSpPr txBox="1"/>
          <p:nvPr/>
        </p:nvSpPr>
        <p:spPr>
          <a:xfrm>
            <a:off x="8380846" y="4753385"/>
            <a:ext cx="2880149" cy="584775"/>
          </a:xfrm>
          <a:prstGeom prst="rect">
            <a:avLst/>
          </a:prstGeom>
          <a:noFill/>
        </p:spPr>
        <p:txBody>
          <a:bodyPr wrap="square" rtlCol="0">
            <a:spAutoFit/>
          </a:bodyPr>
          <a:lstStyle/>
          <a:p>
            <a:r>
              <a:rPr lang="ja-JP" altLang="ja-JP" sz="1600"/>
              <a:t>計画具体化と人流評価を統合したワークフロー</a:t>
            </a:r>
            <a:endParaRPr kumimoji="1" lang="ja-JP" altLang="en-US" sz="1600"/>
          </a:p>
        </p:txBody>
      </p:sp>
      <p:sp>
        <p:nvSpPr>
          <p:cNvPr id="85" name="テキスト ボックス 84">
            <a:extLst>
              <a:ext uri="{FF2B5EF4-FFF2-40B4-BE49-F238E27FC236}">
                <a16:creationId xmlns:a16="http://schemas.microsoft.com/office/drawing/2014/main" id="{71FACC7C-FB81-3B6A-BCBE-FE609F70F2CB}"/>
              </a:ext>
            </a:extLst>
          </p:cNvPr>
          <p:cNvSpPr txBox="1"/>
          <p:nvPr/>
        </p:nvSpPr>
        <p:spPr>
          <a:xfrm>
            <a:off x="8001205" y="4243896"/>
            <a:ext cx="415498" cy="369332"/>
          </a:xfrm>
          <a:prstGeom prst="rect">
            <a:avLst/>
          </a:prstGeom>
          <a:noFill/>
        </p:spPr>
        <p:txBody>
          <a:bodyPr wrap="none" rtlCol="0">
            <a:spAutoFit/>
          </a:bodyPr>
          <a:lstStyle/>
          <a:p>
            <a:r>
              <a:rPr kumimoji="1" lang="ja-JP" altLang="en-US" b="1">
                <a:solidFill>
                  <a:srgbClr val="FF0000"/>
                </a:solidFill>
              </a:rPr>
              <a:t>○</a:t>
            </a:r>
          </a:p>
        </p:txBody>
      </p:sp>
      <p:sp>
        <p:nvSpPr>
          <p:cNvPr id="86" name="テキスト ボックス 85">
            <a:extLst>
              <a:ext uri="{FF2B5EF4-FFF2-40B4-BE49-F238E27FC236}">
                <a16:creationId xmlns:a16="http://schemas.microsoft.com/office/drawing/2014/main" id="{C4E65F0F-CC50-2057-2504-519D8B4705CF}"/>
              </a:ext>
            </a:extLst>
          </p:cNvPr>
          <p:cNvSpPr txBox="1"/>
          <p:nvPr/>
        </p:nvSpPr>
        <p:spPr>
          <a:xfrm>
            <a:off x="8001205" y="4818055"/>
            <a:ext cx="415498" cy="369332"/>
          </a:xfrm>
          <a:prstGeom prst="rect">
            <a:avLst/>
          </a:prstGeom>
          <a:noFill/>
        </p:spPr>
        <p:txBody>
          <a:bodyPr wrap="none" rtlCol="0">
            <a:spAutoFit/>
          </a:bodyPr>
          <a:lstStyle/>
          <a:p>
            <a:r>
              <a:rPr kumimoji="1" lang="ja-JP" altLang="en-US" b="1">
                <a:solidFill>
                  <a:srgbClr val="FF0000"/>
                </a:solidFill>
              </a:rPr>
              <a:t>○</a:t>
            </a:r>
          </a:p>
        </p:txBody>
      </p:sp>
    </p:spTree>
    <p:extLst>
      <p:ext uri="{BB962C8B-B14F-4D97-AF65-F5344CB8AC3E}">
        <p14:creationId xmlns:p14="http://schemas.microsoft.com/office/powerpoint/2010/main" val="3905925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E4C036-3F18-6E1D-162E-A82FAD22AE36}"/>
              </a:ext>
            </a:extLst>
          </p:cNvPr>
          <p:cNvSpPr>
            <a:spLocks noGrp="1"/>
          </p:cNvSpPr>
          <p:nvPr>
            <p:ph type="title"/>
          </p:nvPr>
        </p:nvSpPr>
        <p:spPr/>
        <p:txBody>
          <a:bodyPr/>
          <a:lstStyle/>
          <a:p>
            <a:r>
              <a:rPr lang="ja-JP" altLang="ja-JP">
                <a:latin typeface="HGMinchoE" panose="02020909000000000000" pitchFamily="49" charset="-128"/>
                <a:ea typeface="HGMinchoE" panose="02020909000000000000" pitchFamily="49" charset="-128"/>
              </a:rPr>
              <a:t>その後の年度内（3-4Q</a:t>
            </a:r>
            <a:r>
              <a:rPr lang="en-US" altLang="ja-JP">
                <a:latin typeface="HGMinchoE" panose="02020909000000000000" pitchFamily="49" charset="-128"/>
                <a:ea typeface="HGMinchoE" panose="02020909000000000000" pitchFamily="49" charset="-128"/>
              </a:rPr>
              <a:t>:10-3</a:t>
            </a:r>
            <a:r>
              <a:rPr lang="ja-JP" altLang="en-US">
                <a:latin typeface="HGMinchoE" panose="02020909000000000000" pitchFamily="49" charset="-128"/>
                <a:ea typeface="HGMinchoE" panose="02020909000000000000" pitchFamily="49" charset="-128"/>
              </a:rPr>
              <a:t>月</a:t>
            </a:r>
            <a:r>
              <a:rPr lang="ja-JP" altLang="ja-JP">
                <a:latin typeface="HGMinchoE" panose="02020909000000000000" pitchFamily="49" charset="-128"/>
                <a:ea typeface="HGMinchoE" panose="02020909000000000000" pitchFamily="49" charset="-128"/>
              </a:rPr>
              <a:t>）の取組イメージ</a:t>
            </a:r>
            <a:endParaRPr kumimoji="1" lang="ja-JP" altLang="en-US">
              <a:latin typeface="HGMinchoE" panose="02020909000000000000" pitchFamily="49" charset="-128"/>
              <a:ea typeface="HGMinchoE" panose="02020909000000000000" pitchFamily="49" charset="-128"/>
            </a:endParaRPr>
          </a:p>
        </p:txBody>
      </p:sp>
      <p:sp>
        <p:nvSpPr>
          <p:cNvPr id="4" name="日付プレースホルダー 3">
            <a:extLst>
              <a:ext uri="{FF2B5EF4-FFF2-40B4-BE49-F238E27FC236}">
                <a16:creationId xmlns:a16="http://schemas.microsoft.com/office/drawing/2014/main" id="{1C4FBD14-DE56-0D3B-4F8B-C604B1070FBF}"/>
              </a:ext>
            </a:extLst>
          </p:cNvPr>
          <p:cNvSpPr>
            <a:spLocks noGrp="1"/>
          </p:cNvSpPr>
          <p:nvPr>
            <p:ph type="dt" sz="half" idx="10"/>
          </p:nvPr>
        </p:nvSpPr>
        <p:spPr/>
        <p:txBody>
          <a:bodyPr/>
          <a:lstStyle/>
          <a:p>
            <a:r>
              <a:rPr lang="en-US" altLang="ja-JP"/>
              <a:t>2026/6</a:t>
            </a:r>
            <a:endParaRPr kumimoji="1" lang="ja-JP" altLang="en-US"/>
          </a:p>
        </p:txBody>
      </p:sp>
      <p:sp>
        <p:nvSpPr>
          <p:cNvPr id="13" name="フッター プレースホルダー 12">
            <a:extLst>
              <a:ext uri="{FF2B5EF4-FFF2-40B4-BE49-F238E27FC236}">
                <a16:creationId xmlns:a16="http://schemas.microsoft.com/office/drawing/2014/main" id="{1A8E4A53-370A-7A19-FA44-D6158DDE1CE2}"/>
              </a:ext>
            </a:extLst>
          </p:cNvPr>
          <p:cNvSpPr>
            <a:spLocks noGrp="1"/>
          </p:cNvSpPr>
          <p:nvPr>
            <p:ph type="ftr" sz="quarter" idx="11"/>
          </p:nvPr>
        </p:nvSpPr>
        <p:spPr/>
        <p:txBody>
          <a:bodyPr/>
          <a:lstStyle/>
          <a:p>
            <a:r>
              <a:rPr kumimoji="1" lang="ja-JP" altLang="en-US"/>
              <a:t>関本・中居研究室</a:t>
            </a:r>
          </a:p>
        </p:txBody>
      </p:sp>
      <p:sp>
        <p:nvSpPr>
          <p:cNvPr id="15" name="スライド番号プレースホルダー 14">
            <a:extLst>
              <a:ext uri="{FF2B5EF4-FFF2-40B4-BE49-F238E27FC236}">
                <a16:creationId xmlns:a16="http://schemas.microsoft.com/office/drawing/2014/main" id="{93A80ED0-0708-2A89-E5DF-4884CAD76733}"/>
              </a:ext>
            </a:extLst>
          </p:cNvPr>
          <p:cNvSpPr>
            <a:spLocks noGrp="1"/>
          </p:cNvSpPr>
          <p:nvPr>
            <p:ph type="sldNum" sz="quarter" idx="12"/>
          </p:nvPr>
        </p:nvSpPr>
        <p:spPr/>
        <p:txBody>
          <a:bodyPr/>
          <a:lstStyle/>
          <a:p>
            <a:fld id="{6539E37A-E522-3D47-AAB7-DDF67C94A05D}" type="slidenum">
              <a:rPr lang="en-US" altLang="ja-JP"/>
              <a:t>5</a:t>
            </a:fld>
            <a:endParaRPr kumimoji="1" lang="ja-JP" altLang="en-US"/>
          </a:p>
        </p:txBody>
      </p:sp>
      <p:graphicFrame>
        <p:nvGraphicFramePr>
          <p:cNvPr id="6" name="表 5">
            <a:extLst>
              <a:ext uri="{FF2B5EF4-FFF2-40B4-BE49-F238E27FC236}">
                <a16:creationId xmlns:a16="http://schemas.microsoft.com/office/drawing/2014/main" id="{EA352AE2-742B-3D72-FDC5-97CE91A432B2}"/>
              </a:ext>
            </a:extLst>
          </p:cNvPr>
          <p:cNvGraphicFramePr>
            <a:graphicFrameLocks noGrp="1"/>
          </p:cNvGraphicFramePr>
          <p:nvPr>
            <p:extLst>
              <p:ext uri="{D42A27DB-BD31-4B8C-83A1-F6EECF244321}">
                <p14:modId xmlns:p14="http://schemas.microsoft.com/office/powerpoint/2010/main" val="603291925"/>
              </p:ext>
            </p:extLst>
          </p:nvPr>
        </p:nvGraphicFramePr>
        <p:xfrm>
          <a:off x="850556" y="2438890"/>
          <a:ext cx="10515600" cy="3024149"/>
        </p:xfrm>
        <a:graphic>
          <a:graphicData uri="http://schemas.openxmlformats.org/drawingml/2006/table">
            <a:tbl>
              <a:tblPr firstRow="1" bandRow="1">
                <a:effectLst>
                  <a:outerShdw blurRad="50800" dist="38100" dir="8100000" algn="tr" rotWithShape="0">
                    <a:prstClr val="black">
                      <a:alpha val="40000"/>
                    </a:prstClr>
                  </a:outerShdw>
                </a:effectLst>
                <a:tableStyleId>{F5AB1C69-6EDB-4FF4-983F-18BD219EF322}</a:tableStyleId>
              </a:tblPr>
              <a:tblGrid>
                <a:gridCol w="3505200">
                  <a:extLst>
                    <a:ext uri="{9D8B030D-6E8A-4147-A177-3AD203B41FA5}">
                      <a16:colId xmlns:a16="http://schemas.microsoft.com/office/drawing/2014/main" val="3531872289"/>
                    </a:ext>
                  </a:extLst>
                </a:gridCol>
                <a:gridCol w="3505200">
                  <a:extLst>
                    <a:ext uri="{9D8B030D-6E8A-4147-A177-3AD203B41FA5}">
                      <a16:colId xmlns:a16="http://schemas.microsoft.com/office/drawing/2014/main" val="3092549854"/>
                    </a:ext>
                  </a:extLst>
                </a:gridCol>
                <a:gridCol w="3505200">
                  <a:extLst>
                    <a:ext uri="{9D8B030D-6E8A-4147-A177-3AD203B41FA5}">
                      <a16:colId xmlns:a16="http://schemas.microsoft.com/office/drawing/2014/main" val="3137149798"/>
                    </a:ext>
                  </a:extLst>
                </a:gridCol>
              </a:tblGrid>
              <a:tr h="450050">
                <a:tc>
                  <a:txBody>
                    <a:bodyPr/>
                    <a:lstStyle/>
                    <a:p>
                      <a:pPr algn="ctr"/>
                      <a:r>
                        <a:rPr kumimoji="1" lang="ja-JP" altLang="en-US" sz="1600"/>
                        <a:t>期間</a:t>
                      </a:r>
                    </a:p>
                  </a:txBody>
                  <a:tcPr anchor="ctr">
                    <a:solidFill>
                      <a:srgbClr val="0E2741"/>
                    </a:solidFill>
                  </a:tcPr>
                </a:tc>
                <a:tc>
                  <a:txBody>
                    <a:bodyPr/>
                    <a:lstStyle/>
                    <a:p>
                      <a:pPr algn="ctr"/>
                      <a:r>
                        <a:rPr kumimoji="1" lang="ja-JP" altLang="en-US" sz="1600"/>
                        <a:t>概要</a:t>
                      </a:r>
                    </a:p>
                  </a:txBody>
                  <a:tcPr anchor="ctr">
                    <a:solidFill>
                      <a:srgbClr val="0E2741"/>
                    </a:solidFill>
                  </a:tcPr>
                </a:tc>
                <a:tc>
                  <a:txBody>
                    <a:bodyPr/>
                    <a:lstStyle/>
                    <a:p>
                      <a:pPr algn="ctr"/>
                      <a:r>
                        <a:rPr kumimoji="1" lang="ja-JP" altLang="en-US" sz="1600"/>
                        <a:t>詳細</a:t>
                      </a:r>
                    </a:p>
                  </a:txBody>
                  <a:tcPr anchor="ctr">
                    <a:solidFill>
                      <a:srgbClr val="0E2741"/>
                    </a:solidFill>
                  </a:tcPr>
                </a:tc>
                <a:extLst>
                  <a:ext uri="{0D108BD9-81ED-4DB2-BD59-A6C34878D82A}">
                    <a16:rowId xmlns:a16="http://schemas.microsoft.com/office/drawing/2014/main" val="2757490642"/>
                  </a:ext>
                </a:extLst>
              </a:tr>
              <a:tr h="858033">
                <a:tc>
                  <a:txBody>
                    <a:bodyPr/>
                    <a:lstStyle/>
                    <a:p>
                      <a:pPr algn="l"/>
                      <a:r>
                        <a:rPr kumimoji="1" lang="en-US" altLang="ja-JP" b="0"/>
                        <a:t> 2Q(7-9</a:t>
                      </a:r>
                      <a:r>
                        <a:rPr kumimoji="1" lang="ja-JP" altLang="en-US" b="0"/>
                        <a:t>月</a:t>
                      </a:r>
                      <a:r>
                        <a:rPr kumimoji="1" lang="en-US" altLang="ja-JP" b="0"/>
                        <a:t>)</a:t>
                      </a:r>
                      <a:endParaRPr kumimoji="1" lang="ja-JP" altLang="en-US" b="0"/>
                    </a:p>
                  </a:txBody>
                  <a:tcPr anchor="ctr"/>
                </a:tc>
                <a:tc>
                  <a:txBody>
                    <a:bodyPr/>
                    <a:lstStyle/>
                    <a:p>
                      <a:r>
                        <a:rPr lang="ja-JP" altLang="ja-JP" sz="1400" b="0"/>
                        <a:t>典型的な1シナリオにおける計画具体化から人流予測までの実装</a:t>
                      </a:r>
                    </a:p>
                  </a:txBody>
                  <a:tcPr anchor="ctr"/>
                </a:tc>
                <a:tc>
                  <a:txBody>
                    <a:bodyPr/>
                    <a:lstStyle/>
                    <a:p>
                      <a:r>
                        <a:rPr lang="en-US" altLang="ja-JP" sz="1400" b="0"/>
                        <a:t>LLM</a:t>
                      </a:r>
                      <a:r>
                        <a:rPr lang="ja-JP" altLang="en-US" sz="1400" b="0"/>
                        <a:t>との対話の中で計画案を具体化していき、人流予測を行う。</a:t>
                      </a:r>
                      <a:endParaRPr lang="en-US" altLang="ja-JP" sz="1400" b="0"/>
                    </a:p>
                    <a:p>
                      <a:pPr algn="l"/>
                      <a:r>
                        <a:rPr kumimoji="1" lang="ja-JP" altLang="en-US" sz="1400" b="0"/>
                        <a:t>特定の</a:t>
                      </a:r>
                      <a:r>
                        <a:rPr kumimoji="1" lang="en-US" altLang="ja-JP" sz="1400" b="0"/>
                        <a:t>1</a:t>
                      </a:r>
                      <a:r>
                        <a:rPr kumimoji="1" lang="ja-JP" altLang="en-US" sz="1400" b="0"/>
                        <a:t>シナリオで実現する。</a:t>
                      </a:r>
                    </a:p>
                  </a:txBody>
                  <a:tcPr anchor="ctr"/>
                </a:tc>
                <a:extLst>
                  <a:ext uri="{0D108BD9-81ED-4DB2-BD59-A6C34878D82A}">
                    <a16:rowId xmlns:a16="http://schemas.microsoft.com/office/drawing/2014/main" val="2358868952"/>
                  </a:ext>
                </a:extLst>
              </a:tr>
              <a:tr h="858033">
                <a:tc>
                  <a:txBody>
                    <a:bodyPr/>
                    <a:lstStyle/>
                    <a:p>
                      <a:pPr algn="l"/>
                      <a:r>
                        <a:rPr kumimoji="1" lang="en-US" altLang="ja-JP"/>
                        <a:t> 3Q(10-12</a:t>
                      </a:r>
                      <a:r>
                        <a:rPr kumimoji="1" lang="ja-JP" altLang="en-US"/>
                        <a:t>月</a:t>
                      </a:r>
                      <a:r>
                        <a:rPr kumimoji="1" lang="en-US" altLang="ja-JP"/>
                        <a:t>)</a:t>
                      </a:r>
                      <a:endParaRPr kumimoji="1" lang="ja-JP" altLang="en-US"/>
                    </a:p>
                  </a:txBody>
                  <a:tcPr anchor="ctr"/>
                </a:tc>
                <a:tc>
                  <a:txBody>
                    <a:bodyPr/>
                    <a:lstStyle/>
                    <a:p>
                      <a:r>
                        <a:rPr kumimoji="1" lang="ja-JP" altLang="en-US" sz="1400"/>
                        <a:t>他のシナリオへの応用</a:t>
                      </a:r>
                    </a:p>
                  </a:txBody>
                  <a:tcPr anchor="ctr"/>
                </a:tc>
                <a:tc>
                  <a:txBody>
                    <a:bodyPr/>
                    <a:lstStyle/>
                    <a:p>
                      <a:r>
                        <a:rPr kumimoji="1" lang="en-US" altLang="ja-JP" sz="1400"/>
                        <a:t>2Q</a:t>
                      </a:r>
                      <a:r>
                        <a:rPr kumimoji="1" lang="ja-JP" altLang="en-US" sz="1400"/>
                        <a:t>で完成させたフローを応用させ、別のシナリオにも対応可能にする。</a:t>
                      </a:r>
                    </a:p>
                  </a:txBody>
                  <a:tcPr anchor="ctr"/>
                </a:tc>
                <a:extLst>
                  <a:ext uri="{0D108BD9-81ED-4DB2-BD59-A6C34878D82A}">
                    <a16:rowId xmlns:a16="http://schemas.microsoft.com/office/drawing/2014/main" val="4201957"/>
                  </a:ext>
                </a:extLst>
              </a:tr>
              <a:tr h="858033">
                <a:tc>
                  <a:txBody>
                    <a:bodyPr/>
                    <a:lstStyle/>
                    <a:p>
                      <a:pPr algn="l"/>
                      <a:r>
                        <a:rPr kumimoji="1" lang="en-US" altLang="ja-JP"/>
                        <a:t> 4Q(1-3</a:t>
                      </a:r>
                      <a:r>
                        <a:rPr kumimoji="1" lang="ja-JP" altLang="en-US"/>
                        <a:t>月</a:t>
                      </a:r>
                      <a:r>
                        <a:rPr kumimoji="1" lang="en-US" altLang="ja-JP"/>
                        <a:t>)</a:t>
                      </a:r>
                      <a:endParaRPr kumimoji="1" lang="ja-JP" altLang="en-US"/>
                    </a:p>
                  </a:txBody>
                  <a:tcPr anchor="ctr"/>
                </a:tc>
                <a:tc>
                  <a:txBody>
                    <a:bodyPr/>
                    <a:lstStyle/>
                    <a:p>
                      <a:r>
                        <a:rPr lang="ja-JP" altLang="ja-JP" sz="1400" b="0"/>
                        <a:t>典型的な5シナリオへの適用と、生成結果の妥当性評価</a:t>
                      </a:r>
                    </a:p>
                  </a:txBody>
                  <a:tcPr anchor="ctr"/>
                </a:tc>
                <a:tc>
                  <a:txBody>
                    <a:bodyPr/>
                    <a:lstStyle/>
                    <a:p>
                      <a:r>
                        <a:rPr lang="ja-JP" altLang="ja-JP" sz="1400"/>
                        <a:t>典型的な5シナリオとそれぞれのバリエーションを抑え、</a:t>
                      </a:r>
                      <a:r>
                        <a:rPr lang="ja-JP" altLang="en-US" sz="1400"/>
                        <a:t>生成結果の妥当性を評価する。</a:t>
                      </a:r>
                      <a:endParaRPr kumimoji="1" lang="ja-JP" altLang="en-US" sz="1400"/>
                    </a:p>
                  </a:txBody>
                  <a:tcPr anchor="ctr"/>
                </a:tc>
                <a:extLst>
                  <a:ext uri="{0D108BD9-81ED-4DB2-BD59-A6C34878D82A}">
                    <a16:rowId xmlns:a16="http://schemas.microsoft.com/office/drawing/2014/main" val="378628186"/>
                  </a:ext>
                </a:extLst>
              </a:tr>
            </a:tbl>
          </a:graphicData>
        </a:graphic>
      </p:graphicFrame>
      <p:sp>
        <p:nvSpPr>
          <p:cNvPr id="7" name="テキスト ボックス 6">
            <a:extLst>
              <a:ext uri="{FF2B5EF4-FFF2-40B4-BE49-F238E27FC236}">
                <a16:creationId xmlns:a16="http://schemas.microsoft.com/office/drawing/2014/main" id="{6263B8DF-571D-45A7-6AE0-08068847513A}"/>
              </a:ext>
            </a:extLst>
          </p:cNvPr>
          <p:cNvSpPr txBox="1"/>
          <p:nvPr/>
        </p:nvSpPr>
        <p:spPr>
          <a:xfrm>
            <a:off x="838200" y="1345903"/>
            <a:ext cx="10326470" cy="646331"/>
          </a:xfrm>
          <a:prstGeom prst="rect">
            <a:avLst/>
          </a:prstGeom>
          <a:noFill/>
        </p:spPr>
        <p:txBody>
          <a:bodyPr wrap="square" rtlCol="0">
            <a:spAutoFit/>
          </a:bodyPr>
          <a:lstStyle/>
          <a:p>
            <a:r>
              <a:rPr lang="ja-JP" altLang="ja-JP" b="1"/>
              <a:t>年度内は、LLMとの対話を通じて開発計画を人流予測可能なシナリオへ具体化するワークフローを構築し、1シナリオでの実装から複数シナリオへの適用・評価へ段階的に拡張する。</a:t>
            </a:r>
            <a:endParaRPr kumimoji="1" lang="ja-JP" altLang="en-US" b="1"/>
          </a:p>
        </p:txBody>
      </p:sp>
    </p:spTree>
    <p:extLst>
      <p:ext uri="{BB962C8B-B14F-4D97-AF65-F5344CB8AC3E}">
        <p14:creationId xmlns:p14="http://schemas.microsoft.com/office/powerpoint/2010/main" val="1044047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A4EF6B-B512-E957-743C-82DA5DE94E34}"/>
              </a:ext>
            </a:extLst>
          </p:cNvPr>
          <p:cNvSpPr>
            <a:spLocks noGrp="1"/>
          </p:cNvSpPr>
          <p:nvPr>
            <p:ph type="title"/>
          </p:nvPr>
        </p:nvSpPr>
        <p:spPr/>
        <p:txBody>
          <a:bodyPr/>
          <a:lstStyle/>
          <a:p>
            <a:r>
              <a:rPr lang="ja-JP" altLang="ja-JP">
                <a:effectLst/>
              </a:rPr>
              <a:t>開発事業者様にとっての</a:t>
            </a:r>
            <a:r>
              <a:rPr lang="ja-JP" altLang="ja-JP"/>
              <a:t>本アプリケーション活用メリット</a:t>
            </a:r>
            <a:endParaRPr kumimoji="1" lang="ja-JP" altLang="en-US"/>
          </a:p>
        </p:txBody>
      </p:sp>
      <p:sp>
        <p:nvSpPr>
          <p:cNvPr id="4" name="日付プレースホルダー 3">
            <a:extLst>
              <a:ext uri="{FF2B5EF4-FFF2-40B4-BE49-F238E27FC236}">
                <a16:creationId xmlns:a16="http://schemas.microsoft.com/office/drawing/2014/main" id="{DEAC2C02-6A43-455F-816A-C0CD36050948}"/>
              </a:ext>
            </a:extLst>
          </p:cNvPr>
          <p:cNvSpPr>
            <a:spLocks noGrp="1"/>
          </p:cNvSpPr>
          <p:nvPr>
            <p:ph type="dt" sz="half" idx="10"/>
          </p:nvPr>
        </p:nvSpPr>
        <p:spPr/>
        <p:txBody>
          <a:bodyPr/>
          <a:lstStyle/>
          <a:p>
            <a:r>
              <a:rPr lang="en-US" altLang="ja-JP"/>
              <a:t>2026/6</a:t>
            </a:r>
            <a:endParaRPr kumimoji="1" lang="ja-JP" altLang="en-US"/>
          </a:p>
        </p:txBody>
      </p:sp>
      <p:sp>
        <p:nvSpPr>
          <p:cNvPr id="5" name="フッター プレースホルダー 4">
            <a:extLst>
              <a:ext uri="{FF2B5EF4-FFF2-40B4-BE49-F238E27FC236}">
                <a16:creationId xmlns:a16="http://schemas.microsoft.com/office/drawing/2014/main" id="{0BEC8B07-CCEA-591D-35C2-1603ED422298}"/>
              </a:ext>
            </a:extLst>
          </p:cNvPr>
          <p:cNvSpPr>
            <a:spLocks noGrp="1"/>
          </p:cNvSpPr>
          <p:nvPr>
            <p:ph type="ftr" sz="quarter" idx="11"/>
          </p:nvPr>
        </p:nvSpPr>
        <p:spPr/>
        <p:txBody>
          <a:bodyPr/>
          <a:lstStyle/>
          <a:p>
            <a:r>
              <a:rPr kumimoji="1" lang="ja-JP" altLang="en-US"/>
              <a:t>関本・中居研究室</a:t>
            </a:r>
          </a:p>
        </p:txBody>
      </p:sp>
      <p:sp>
        <p:nvSpPr>
          <p:cNvPr id="6" name="スライド番号プレースホルダー 5">
            <a:extLst>
              <a:ext uri="{FF2B5EF4-FFF2-40B4-BE49-F238E27FC236}">
                <a16:creationId xmlns:a16="http://schemas.microsoft.com/office/drawing/2014/main" id="{DEA47CD3-D3DD-69C8-46D2-BEAA2391E6C8}"/>
              </a:ext>
            </a:extLst>
          </p:cNvPr>
          <p:cNvSpPr>
            <a:spLocks noGrp="1"/>
          </p:cNvSpPr>
          <p:nvPr>
            <p:ph type="sldNum" sz="quarter" idx="12"/>
          </p:nvPr>
        </p:nvSpPr>
        <p:spPr/>
        <p:txBody>
          <a:bodyPr/>
          <a:lstStyle/>
          <a:p>
            <a:fld id="{6539E37A-E522-3D47-AAB7-DDF67C94A05D}" type="slidenum">
              <a:rPr lang="en-US" altLang="ja-JP"/>
              <a:t>6</a:t>
            </a:fld>
            <a:endParaRPr kumimoji="1" lang="ja-JP" altLang="en-US"/>
          </a:p>
        </p:txBody>
      </p:sp>
      <p:sp>
        <p:nvSpPr>
          <p:cNvPr id="7" name="テキスト ボックス 6">
            <a:extLst>
              <a:ext uri="{FF2B5EF4-FFF2-40B4-BE49-F238E27FC236}">
                <a16:creationId xmlns:a16="http://schemas.microsoft.com/office/drawing/2014/main" id="{DA0DF16B-B2CB-1C9F-9313-C4CBA8E6C891}"/>
              </a:ext>
            </a:extLst>
          </p:cNvPr>
          <p:cNvSpPr txBox="1"/>
          <p:nvPr/>
        </p:nvSpPr>
        <p:spPr>
          <a:xfrm>
            <a:off x="838200" y="1223755"/>
            <a:ext cx="10326470" cy="1200329"/>
          </a:xfrm>
          <a:prstGeom prst="rect">
            <a:avLst/>
          </a:prstGeom>
          <a:noFill/>
        </p:spPr>
        <p:txBody>
          <a:bodyPr wrap="square" rtlCol="0">
            <a:spAutoFit/>
          </a:bodyPr>
          <a:lstStyle/>
          <a:p>
            <a:r>
              <a:rPr lang="ja-JP" altLang="ja-JP" b="1"/>
              <a:t>本研究では、自然言語で記述された開発構想を、LLMとの対話を通じて人流予測可能な開発シナリオへ具体化し、複数案の人流影響を比較評価できるアプリケーション</a:t>
            </a:r>
            <a:r>
              <a:rPr lang="ja-JP" altLang="en-US" b="1"/>
              <a:t>の開発を目指しています。</a:t>
            </a:r>
            <a:br>
              <a:rPr lang="ja-JP" altLang="ja-JP" b="1"/>
            </a:br>
            <a:r>
              <a:rPr lang="ja-JP" altLang="en-US" b="1"/>
              <a:t>本</a:t>
            </a:r>
            <a:r>
              <a:rPr lang="ja-JP" altLang="ja-JP" b="1"/>
              <a:t>アプリケーション</a:t>
            </a:r>
            <a:r>
              <a:rPr lang="ja-JP" altLang="en-US" b="1"/>
              <a:t>は</a:t>
            </a:r>
            <a:r>
              <a:rPr lang="ja-JP" altLang="ja-JP" b="1"/>
              <a:t>、計画検討の効率化、定量的な判断材料の提供、代替案の発見、将来案件への応用といった</a:t>
            </a:r>
            <a:r>
              <a:rPr lang="ja-JP" altLang="ja-JP" b="1">
                <a:effectLst/>
              </a:rPr>
              <a:t>開発事業者様の計画業務に寄与できるものと考えています</a:t>
            </a:r>
            <a:r>
              <a:rPr lang="ja-JP" altLang="ja-JP" b="1"/>
              <a:t>。</a:t>
            </a:r>
            <a:endParaRPr kumimoji="1" lang="ja-JP" altLang="en-US" b="1"/>
          </a:p>
        </p:txBody>
      </p:sp>
      <p:graphicFrame>
        <p:nvGraphicFramePr>
          <p:cNvPr id="8" name="表 7">
            <a:extLst>
              <a:ext uri="{FF2B5EF4-FFF2-40B4-BE49-F238E27FC236}">
                <a16:creationId xmlns:a16="http://schemas.microsoft.com/office/drawing/2014/main" id="{9991E133-78C9-D901-A47E-7FFFD0D405D9}"/>
              </a:ext>
            </a:extLst>
          </p:cNvPr>
          <p:cNvGraphicFramePr>
            <a:graphicFrameLocks noGrp="1"/>
          </p:cNvGraphicFramePr>
          <p:nvPr>
            <p:extLst>
              <p:ext uri="{D42A27DB-BD31-4B8C-83A1-F6EECF244321}">
                <p14:modId xmlns:p14="http://schemas.microsoft.com/office/powerpoint/2010/main" val="2891890973"/>
              </p:ext>
            </p:extLst>
          </p:nvPr>
        </p:nvGraphicFramePr>
        <p:xfrm>
          <a:off x="838200" y="2571075"/>
          <a:ext cx="10326470" cy="3638283"/>
        </p:xfrm>
        <a:graphic>
          <a:graphicData uri="http://schemas.openxmlformats.org/drawingml/2006/table">
            <a:tbl>
              <a:tblPr firstRow="1" bandRow="1">
                <a:effectLst>
                  <a:outerShdw blurRad="50800" dist="38100" dir="8100000" algn="tr" rotWithShape="0">
                    <a:prstClr val="black">
                      <a:alpha val="40000"/>
                    </a:prstClr>
                  </a:outerShdw>
                </a:effectLst>
                <a:tableStyleId>{F5AB1C69-6EDB-4FF4-983F-18BD219EF322}</a:tableStyleId>
              </a:tblPr>
              <a:tblGrid>
                <a:gridCol w="2287470">
                  <a:extLst>
                    <a:ext uri="{9D8B030D-6E8A-4147-A177-3AD203B41FA5}">
                      <a16:colId xmlns:a16="http://schemas.microsoft.com/office/drawing/2014/main" val="3531872289"/>
                    </a:ext>
                  </a:extLst>
                </a:gridCol>
                <a:gridCol w="8039000">
                  <a:extLst>
                    <a:ext uri="{9D8B030D-6E8A-4147-A177-3AD203B41FA5}">
                      <a16:colId xmlns:a16="http://schemas.microsoft.com/office/drawing/2014/main" val="3092549854"/>
                    </a:ext>
                  </a:extLst>
                </a:gridCol>
              </a:tblGrid>
              <a:tr h="495055">
                <a:tc>
                  <a:txBody>
                    <a:bodyPr/>
                    <a:lstStyle/>
                    <a:p>
                      <a:pPr algn="ctr">
                        <a:buNone/>
                      </a:pPr>
                      <a:r>
                        <a:rPr lang="ja-JP" b="0"/>
                        <a:t>観点</a:t>
                      </a:r>
                    </a:p>
                  </a:txBody>
                  <a:tcPr anchor="ctr">
                    <a:solidFill>
                      <a:srgbClr val="0E2741"/>
                    </a:solidFill>
                  </a:tcPr>
                </a:tc>
                <a:tc>
                  <a:txBody>
                    <a:bodyPr/>
                    <a:lstStyle/>
                    <a:p>
                      <a:pPr algn="ctr"/>
                      <a:r>
                        <a:rPr lang="ja-JP" altLang="ja-JP" sz="1800" b="0"/>
                        <a:t>メリット</a:t>
                      </a:r>
                      <a:endParaRPr kumimoji="1" lang="ja-JP" altLang="en-US" sz="1800" b="0"/>
                    </a:p>
                  </a:txBody>
                  <a:tcPr anchor="ctr">
                    <a:solidFill>
                      <a:srgbClr val="0E2741"/>
                    </a:solidFill>
                  </a:tcPr>
                </a:tc>
                <a:extLst>
                  <a:ext uri="{0D108BD9-81ED-4DB2-BD59-A6C34878D82A}">
                    <a16:rowId xmlns:a16="http://schemas.microsoft.com/office/drawing/2014/main" val="2757490642"/>
                  </a:ext>
                </a:extLst>
              </a:tr>
              <a:tr h="785807">
                <a:tc>
                  <a:txBody>
                    <a:bodyPr/>
                    <a:lstStyle/>
                    <a:p>
                      <a:pPr algn="ctr"/>
                      <a:r>
                        <a:rPr lang="ja-JP" altLang="ja-JP" sz="1600" b="0"/>
                        <a:t>計画検討の効率化</a:t>
                      </a:r>
                      <a:endParaRPr kumimoji="1" lang="ja-JP" altLang="en-US" sz="1600" b="0"/>
                    </a:p>
                  </a:txBody>
                  <a:tcPr anchor="ctr"/>
                </a:tc>
                <a:tc>
                  <a:txBody>
                    <a:bodyPr/>
                    <a:lstStyle/>
                    <a:p>
                      <a:r>
                        <a:rPr lang="ja-JP" altLang="ja-JP" sz="1400"/>
                        <a:t>通常数か月かかる初期検討を、粗い条件入力から数日〜数週間で比較可能な形に整理できる</a:t>
                      </a:r>
                      <a:endParaRPr lang="ja-JP" altLang="ja-JP" sz="1400" b="0"/>
                    </a:p>
                  </a:txBody>
                  <a:tcPr anchor="ctr"/>
                </a:tc>
                <a:extLst>
                  <a:ext uri="{0D108BD9-81ED-4DB2-BD59-A6C34878D82A}">
                    <a16:rowId xmlns:a16="http://schemas.microsoft.com/office/drawing/2014/main" val="2358868952"/>
                  </a:ext>
                </a:extLst>
              </a:tr>
              <a:tr h="785807">
                <a:tc>
                  <a:txBody>
                    <a:bodyPr/>
                    <a:lstStyle/>
                    <a:p>
                      <a:pPr algn="ctr"/>
                      <a:r>
                        <a:rPr lang="ja-JP" altLang="ja-JP" sz="1600" b="0"/>
                        <a:t>定量的な判断材料</a:t>
                      </a:r>
                      <a:endParaRPr kumimoji="1" lang="ja-JP" altLang="en-US" sz="1600" b="0"/>
                    </a:p>
                  </a:txBody>
                  <a:tcPr anchor="ctr"/>
                </a:tc>
                <a:tc>
                  <a:txBody>
                    <a:bodyPr/>
                    <a:lstStyle/>
                    <a:p>
                      <a:pPr>
                        <a:buNone/>
                      </a:pPr>
                      <a:r>
                        <a:rPr lang="ja-JP" altLang="en-US" sz="1400"/>
                        <a:t>訪問客</a:t>
                      </a:r>
                      <a:r>
                        <a:rPr lang="ja-JP" altLang="ja-JP" sz="1400"/>
                        <a:t>数、混雑箇所、周辺施設への波及などを</a:t>
                      </a:r>
                      <a:r>
                        <a:rPr lang="ja-JP" altLang="en-US" sz="1400" u="none"/>
                        <a:t>数値</a:t>
                      </a:r>
                      <a:r>
                        <a:rPr lang="ja-JP" altLang="ja-JP" sz="1400" u="none"/>
                        <a:t>で比較</a:t>
                      </a:r>
                      <a:r>
                        <a:rPr lang="ja-JP" altLang="ja-JP" sz="1400"/>
                        <a:t>できる</a:t>
                      </a:r>
                      <a:endParaRPr lang="ja-JP" sz="1400"/>
                    </a:p>
                  </a:txBody>
                  <a:tcPr anchor="ctr"/>
                </a:tc>
                <a:extLst>
                  <a:ext uri="{0D108BD9-81ED-4DB2-BD59-A6C34878D82A}">
                    <a16:rowId xmlns:a16="http://schemas.microsoft.com/office/drawing/2014/main" val="4201957"/>
                  </a:ext>
                </a:extLst>
              </a:tr>
              <a:tr h="785807">
                <a:tc>
                  <a:txBody>
                    <a:bodyPr/>
                    <a:lstStyle/>
                    <a:p>
                      <a:pPr algn="ctr"/>
                      <a:r>
                        <a:rPr lang="ja-JP" altLang="ja-JP" sz="1600" b="0"/>
                        <a:t>代替案の発見</a:t>
                      </a:r>
                      <a:endParaRPr kumimoji="1" lang="ja-JP" altLang="en-US" sz="1600" b="0"/>
                    </a:p>
                  </a:txBody>
                  <a:tcPr anchor="ctr"/>
                </a:tc>
                <a:tc>
                  <a:txBody>
                    <a:bodyPr/>
                    <a:lstStyle/>
                    <a:p>
                      <a:r>
                        <a:rPr lang="ja-JP" altLang="ja-JP" sz="1400"/>
                        <a:t>計画側が想定していない用途構成・動線・配置案を、LLMとの対話から提示できる可能性がある</a:t>
                      </a:r>
                      <a:endParaRPr lang="ja-JP" altLang="ja-JP" sz="1400" b="0"/>
                    </a:p>
                  </a:txBody>
                  <a:tcPr anchor="ctr"/>
                </a:tc>
                <a:extLst>
                  <a:ext uri="{0D108BD9-81ED-4DB2-BD59-A6C34878D82A}">
                    <a16:rowId xmlns:a16="http://schemas.microsoft.com/office/drawing/2014/main" val="378628186"/>
                  </a:ext>
                </a:extLst>
              </a:tr>
              <a:tr h="785807">
                <a:tc>
                  <a:txBody>
                    <a:bodyPr/>
                    <a:lstStyle/>
                    <a:p>
                      <a:pPr algn="ctr"/>
                      <a:r>
                        <a:rPr lang="ja-JP" altLang="ja-JP" sz="1600" b="0"/>
                        <a:t>将来案件への応用</a:t>
                      </a:r>
                      <a:endParaRPr kumimoji="1" lang="ja-JP" altLang="en-US" sz="1600" b="0"/>
                    </a:p>
                  </a:txBody>
                  <a:tcPr anchor="ctr"/>
                </a:tc>
                <a:tc>
                  <a:txBody>
                    <a:bodyPr/>
                    <a:lstStyle/>
                    <a:p>
                      <a:r>
                        <a:rPr lang="ja-JP" altLang="ja-JP" sz="1400"/>
                        <a:t>特定の対象地に限らず、他の再開発・駅前開発にも応用可能な検討ワークフローとして蓄積できる</a:t>
                      </a:r>
                      <a:endParaRPr lang="ja-JP" altLang="ja-JP" sz="1400" b="0"/>
                    </a:p>
                  </a:txBody>
                  <a:tcPr anchor="ctr"/>
                </a:tc>
                <a:extLst>
                  <a:ext uri="{0D108BD9-81ED-4DB2-BD59-A6C34878D82A}">
                    <a16:rowId xmlns:a16="http://schemas.microsoft.com/office/drawing/2014/main" val="1809346974"/>
                  </a:ext>
                </a:extLst>
              </a:tr>
            </a:tbl>
          </a:graphicData>
        </a:graphic>
      </p:graphicFrame>
    </p:spTree>
    <p:extLst>
      <p:ext uri="{BB962C8B-B14F-4D97-AF65-F5344CB8AC3E}">
        <p14:creationId xmlns:p14="http://schemas.microsoft.com/office/powerpoint/2010/main" val="2682505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012059-E259-5B9A-96D8-E48A2C29B4D9}"/>
              </a:ext>
            </a:extLst>
          </p:cNvPr>
          <p:cNvSpPr>
            <a:spLocks noGrp="1"/>
          </p:cNvSpPr>
          <p:nvPr>
            <p:ph type="title"/>
          </p:nvPr>
        </p:nvSpPr>
        <p:spPr/>
        <p:txBody>
          <a:bodyPr/>
          <a:lstStyle/>
          <a:p>
            <a:r>
              <a:rPr lang="ja-JP" altLang="ja-JP"/>
              <a:t>開発事業者様に</a:t>
            </a:r>
            <a:r>
              <a:rPr kumimoji="1" lang="ja-JP" altLang="en-US"/>
              <a:t>ご協力いただきたいこと</a:t>
            </a:r>
          </a:p>
        </p:txBody>
      </p:sp>
      <p:sp>
        <p:nvSpPr>
          <p:cNvPr id="3" name="コンテンツ プレースホルダー 2">
            <a:extLst>
              <a:ext uri="{FF2B5EF4-FFF2-40B4-BE49-F238E27FC236}">
                <a16:creationId xmlns:a16="http://schemas.microsoft.com/office/drawing/2014/main" id="{D6FC56F0-A53D-D0DA-50EC-C84A9EC253D9}"/>
              </a:ext>
            </a:extLst>
          </p:cNvPr>
          <p:cNvSpPr>
            <a:spLocks noGrp="1"/>
          </p:cNvSpPr>
          <p:nvPr>
            <p:ph idx="1"/>
          </p:nvPr>
        </p:nvSpPr>
        <p:spPr>
          <a:xfrm>
            <a:off x="605390" y="1073631"/>
            <a:ext cx="10515600" cy="2415482"/>
          </a:xfrm>
        </p:spPr>
        <p:txBody>
          <a:bodyPr>
            <a:normAutofit/>
          </a:bodyPr>
          <a:lstStyle/>
          <a:p>
            <a:pPr marL="0" indent="0">
              <a:buNone/>
            </a:pPr>
            <a:r>
              <a:rPr lang="ja-JP" altLang="ja-JP" b="1"/>
              <a:t>1. 開発構想に関する基本情報の共有</a:t>
            </a:r>
          </a:p>
          <a:p>
            <a:pPr marL="0" indent="0">
              <a:buNone/>
            </a:pPr>
            <a:r>
              <a:rPr lang="ja-JP" altLang="ja-JP" sz="1800"/>
              <a:t>以下のような情報を、テキストベースで</a:t>
            </a:r>
            <a:r>
              <a:rPr lang="ja-JP" altLang="en-US" sz="1800"/>
              <a:t>可能な範囲で</a:t>
            </a:r>
            <a:r>
              <a:rPr lang="ja-JP" altLang="ja-JP" sz="1800"/>
              <a:t>ご共有いただ</a:t>
            </a:r>
            <a:r>
              <a:rPr lang="ja-JP" altLang="en-US" sz="1800"/>
              <a:t>きたいと考えています</a:t>
            </a:r>
            <a:r>
              <a:rPr lang="ja-JP" altLang="ja-JP" sz="1800"/>
              <a:t>。</a:t>
            </a:r>
          </a:p>
          <a:p>
            <a:r>
              <a:rPr lang="ja-JP" altLang="ja-JP" sz="1800"/>
              <a:t>対象敷地の範囲</a:t>
            </a:r>
          </a:p>
          <a:p>
            <a:r>
              <a:rPr lang="ja-JP" altLang="ja-JP" sz="1800"/>
              <a:t>想定している用途構成</a:t>
            </a:r>
            <a:r>
              <a:rPr lang="ja-JP" altLang="en-US" sz="1800"/>
              <a:t>　（</a:t>
            </a:r>
            <a:r>
              <a:rPr lang="ja-JP" altLang="ja-JP" sz="1800"/>
              <a:t>例</a:t>
            </a:r>
            <a:r>
              <a:rPr lang="ja-JP" altLang="en-US" sz="1800"/>
              <a:t>）</a:t>
            </a:r>
            <a:r>
              <a:rPr lang="ja-JP" altLang="ja-JP" sz="1800"/>
              <a:t>：商業、ホテル、オフィス、広場、通路</a:t>
            </a:r>
            <a:r>
              <a:rPr lang="en-US" altLang="ja-JP" sz="1800"/>
              <a:t> </a:t>
            </a:r>
            <a:r>
              <a:rPr lang="ja-JP" altLang="ja-JP" sz="1800"/>
              <a:t>など </a:t>
            </a:r>
          </a:p>
          <a:p>
            <a:r>
              <a:rPr lang="ja-JP" altLang="ja-JP" sz="1800"/>
              <a:t>大まかな規模</a:t>
            </a:r>
            <a:r>
              <a:rPr lang="ja-JP" altLang="en-US" sz="1800"/>
              <a:t>　（</a:t>
            </a:r>
            <a:r>
              <a:rPr lang="ja-JP" altLang="ja-JP" sz="1800"/>
              <a:t>例</a:t>
            </a:r>
            <a:r>
              <a:rPr lang="ja-JP" altLang="en-US" sz="1800"/>
              <a:t>）</a:t>
            </a:r>
            <a:r>
              <a:rPr lang="ja-JP" altLang="ja-JP" sz="1800"/>
              <a:t>：階数、延床面積、低層部・高層部の使い分け </a:t>
            </a:r>
            <a:r>
              <a:rPr lang="ja-JP" altLang="en-US" sz="1800"/>
              <a:t>など</a:t>
            </a:r>
            <a:endParaRPr lang="ja-JP" altLang="ja-JP" sz="1800"/>
          </a:p>
          <a:p>
            <a:r>
              <a:rPr lang="ja-JP" altLang="ja-JP" sz="1800"/>
              <a:t>比較したい計画案・検討したいシナリオ</a:t>
            </a:r>
            <a:r>
              <a:rPr lang="ja-JP" altLang="en-US" sz="1800"/>
              <a:t>　（</a:t>
            </a:r>
            <a:r>
              <a:rPr lang="ja-JP" altLang="ja-JP" sz="1800"/>
              <a:t>例</a:t>
            </a:r>
            <a:r>
              <a:rPr lang="ja-JP" altLang="en-US" sz="1800"/>
              <a:t>）</a:t>
            </a:r>
            <a:r>
              <a:rPr lang="ja-JP" altLang="ja-JP" sz="1800"/>
              <a:t>：</a:t>
            </a:r>
            <a:r>
              <a:rPr lang="ja-JP" altLang="en-US" sz="1800">
                <a:latin typeface="Noto Sans CJK JP"/>
              </a:rPr>
              <a:t>上方・下方シナリオ</a:t>
            </a:r>
            <a:r>
              <a:rPr lang="ja-JP" altLang="en-US" sz="1800"/>
              <a:t>を見たい、</a:t>
            </a:r>
            <a:r>
              <a:rPr lang="ja-JP" altLang="ja-JP" sz="1800"/>
              <a:t>など </a:t>
            </a:r>
          </a:p>
        </p:txBody>
      </p:sp>
      <p:sp>
        <p:nvSpPr>
          <p:cNvPr id="4" name="日付プレースホルダー 3">
            <a:extLst>
              <a:ext uri="{FF2B5EF4-FFF2-40B4-BE49-F238E27FC236}">
                <a16:creationId xmlns:a16="http://schemas.microsoft.com/office/drawing/2014/main" id="{0166E489-ABEF-3DB4-D103-3C6414CA1C23}"/>
              </a:ext>
            </a:extLst>
          </p:cNvPr>
          <p:cNvSpPr>
            <a:spLocks noGrp="1"/>
          </p:cNvSpPr>
          <p:nvPr>
            <p:ph type="dt" sz="half" idx="10"/>
          </p:nvPr>
        </p:nvSpPr>
        <p:spPr/>
        <p:txBody>
          <a:bodyPr/>
          <a:lstStyle/>
          <a:p>
            <a:r>
              <a:rPr lang="en-US" altLang="ja-JP"/>
              <a:t>2026/6</a:t>
            </a:r>
            <a:endParaRPr kumimoji="1" lang="ja-JP" altLang="en-US"/>
          </a:p>
        </p:txBody>
      </p:sp>
      <p:sp>
        <p:nvSpPr>
          <p:cNvPr id="5" name="フッター プレースホルダー 4">
            <a:extLst>
              <a:ext uri="{FF2B5EF4-FFF2-40B4-BE49-F238E27FC236}">
                <a16:creationId xmlns:a16="http://schemas.microsoft.com/office/drawing/2014/main" id="{EBC257F6-25F9-A94A-1F77-076D81BDE7F7}"/>
              </a:ext>
            </a:extLst>
          </p:cNvPr>
          <p:cNvSpPr>
            <a:spLocks noGrp="1"/>
          </p:cNvSpPr>
          <p:nvPr>
            <p:ph type="ftr" sz="quarter" idx="11"/>
          </p:nvPr>
        </p:nvSpPr>
        <p:spPr/>
        <p:txBody>
          <a:bodyPr/>
          <a:lstStyle/>
          <a:p>
            <a:r>
              <a:rPr kumimoji="1" lang="ja-JP" altLang="en-US"/>
              <a:t>関本・中居研究室</a:t>
            </a:r>
          </a:p>
        </p:txBody>
      </p:sp>
      <p:sp>
        <p:nvSpPr>
          <p:cNvPr id="6" name="スライド番号プレースホルダー 5">
            <a:extLst>
              <a:ext uri="{FF2B5EF4-FFF2-40B4-BE49-F238E27FC236}">
                <a16:creationId xmlns:a16="http://schemas.microsoft.com/office/drawing/2014/main" id="{73A8431F-510D-3CE6-EFAE-63960607DC0D}"/>
              </a:ext>
            </a:extLst>
          </p:cNvPr>
          <p:cNvSpPr>
            <a:spLocks noGrp="1"/>
          </p:cNvSpPr>
          <p:nvPr>
            <p:ph type="sldNum" sz="quarter" idx="12"/>
          </p:nvPr>
        </p:nvSpPr>
        <p:spPr/>
        <p:txBody>
          <a:bodyPr/>
          <a:lstStyle/>
          <a:p>
            <a:fld id="{6539E37A-E522-3D47-AAB7-DDF67C94A05D}" type="slidenum">
              <a:rPr lang="en-US" altLang="ja-JP"/>
              <a:t>7</a:t>
            </a:fld>
            <a:endParaRPr kumimoji="1" lang="ja-JP" altLang="en-US"/>
          </a:p>
        </p:txBody>
      </p:sp>
      <p:sp>
        <p:nvSpPr>
          <p:cNvPr id="9" name="コンテンツ プレースホルダー 2">
            <a:extLst>
              <a:ext uri="{FF2B5EF4-FFF2-40B4-BE49-F238E27FC236}">
                <a16:creationId xmlns:a16="http://schemas.microsoft.com/office/drawing/2014/main" id="{C1539116-3C6B-D7F6-C066-17644665B23E}"/>
              </a:ext>
            </a:extLst>
          </p:cNvPr>
          <p:cNvSpPr txBox="1">
            <a:spLocks/>
          </p:cNvSpPr>
          <p:nvPr/>
        </p:nvSpPr>
        <p:spPr>
          <a:xfrm>
            <a:off x="605390" y="3654025"/>
            <a:ext cx="10515600" cy="256985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ja-JP" b="1"/>
              <a:t>2. 生成されたシナリオ・試算結果へのフィードバック</a:t>
            </a:r>
          </a:p>
          <a:p>
            <a:pPr marL="0" indent="0">
              <a:buNone/>
            </a:pPr>
            <a:r>
              <a:rPr lang="ja-JP" altLang="ja-JP" sz="1800"/>
              <a:t>作成した開発シナリオや人流試算結果について、以下の観点からフィードバックをいただ</a:t>
            </a:r>
            <a:r>
              <a:rPr lang="ja-JP" altLang="en-US" sz="1800"/>
              <a:t>きたいです</a:t>
            </a:r>
            <a:r>
              <a:rPr lang="ja-JP" altLang="ja-JP" sz="1800"/>
              <a:t>。</a:t>
            </a:r>
          </a:p>
          <a:p>
            <a:r>
              <a:rPr lang="ja-JP" altLang="ja-JP" sz="1800"/>
              <a:t>計画側の想定と大きく異なる点がないか </a:t>
            </a:r>
          </a:p>
          <a:p>
            <a:r>
              <a:rPr lang="ja-JP" altLang="ja-JP" sz="1800"/>
              <a:t>用途構成・規模の仮定が妥当か </a:t>
            </a:r>
          </a:p>
          <a:p>
            <a:r>
              <a:rPr lang="ja-JP" altLang="en-US" sz="1800"/>
              <a:t>訪問客</a:t>
            </a:r>
            <a:r>
              <a:rPr lang="ja-JP" altLang="ja-JP" sz="1800"/>
              <a:t>数、混雑箇所などの試算結果に違和感がないか </a:t>
            </a:r>
          </a:p>
          <a:p>
            <a:r>
              <a:rPr lang="ja-JP" altLang="ja-JP" sz="1800"/>
              <a:t>追加で検討すべき条件・代替案があるか </a:t>
            </a:r>
          </a:p>
          <a:p>
            <a:pPr marL="0" indent="0">
              <a:buNone/>
            </a:pPr>
            <a:r>
              <a:rPr lang="ja-JP" altLang="ja-JP" sz="1800" b="1"/>
              <a:t>フィードバックを反映し、計画条件・シナリオ・人流予測結果を反復的に更新</a:t>
            </a:r>
            <a:r>
              <a:rPr lang="ja-JP" altLang="en-US" sz="1800" b="1"/>
              <a:t>します</a:t>
            </a:r>
            <a:r>
              <a:rPr lang="ja-JP" altLang="ja-JP" sz="1800" b="1"/>
              <a:t>。</a:t>
            </a:r>
            <a:endParaRPr lang="ja-JP" altLang="ja-JP" sz="1800"/>
          </a:p>
        </p:txBody>
      </p:sp>
    </p:spTree>
    <p:extLst>
      <p:ext uri="{BB962C8B-B14F-4D97-AF65-F5344CB8AC3E}">
        <p14:creationId xmlns:p14="http://schemas.microsoft.com/office/powerpoint/2010/main" val="2424978084"/>
      </p:ext>
    </p:extLst>
  </p:cSld>
  <p:clrMapOvr>
    <a:masterClrMapping/>
  </p:clrMapOvr>
</p:sld>
</file>

<file path=ppt/theme/theme1.xml><?xml version="1.0" encoding="utf-8"?>
<a:theme xmlns:a="http://schemas.openxmlformats.org/drawingml/2006/main" name="標準スライド">
  <a:themeElements>
    <a:clrScheme name="Office テーマ">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9241</TotalTime>
  <Words>1500</Words>
  <Application>Microsoft Macintosh PowerPoint</Application>
  <PresentationFormat>ワイド画面</PresentationFormat>
  <Paragraphs>169</Paragraphs>
  <Slides>7</Slides>
  <Notes>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7</vt:i4>
      </vt:variant>
    </vt:vector>
  </HeadingPairs>
  <TitlesOfParts>
    <vt:vector size="13" baseType="lpstr">
      <vt:lpstr>HGMinchoE</vt:lpstr>
      <vt:lpstr>Noto Sans CJK JP</vt:lpstr>
      <vt:lpstr>游ゴシック</vt:lpstr>
      <vt:lpstr>Arial</vt:lpstr>
      <vt:lpstr>Calibri</vt:lpstr>
      <vt:lpstr>標準スライド</vt:lpstr>
      <vt:lpstr>開発計画の粒度に応じた 様々なパターン生成とその評価 ～芝田一丁目の開発計画を題材に</vt:lpstr>
      <vt:lpstr>最初の3か月（2Q：7-9月）の取組イメージ：計画エージェントとの対話の中で詳細化</vt:lpstr>
      <vt:lpstr>最初の3か月（2Q：7-9月）の取組イメージ：擬似人流とシナリオに応じた感度分析</vt:lpstr>
      <vt:lpstr>本研究の立ち位置</vt:lpstr>
      <vt:lpstr>その後の年度内（3-4Q:10-3月）の取組イメージ</vt:lpstr>
      <vt:lpstr>開発事業者様にとっての本アプリケーション活用メリット</vt:lpstr>
      <vt:lpstr>開発事業者様にご協力いただきたいこと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渡辺　悠生</dc:creator>
  <cp:lastModifiedBy>渡辺　悠生</cp:lastModifiedBy>
  <cp:revision>25</cp:revision>
  <dcterms:created xsi:type="dcterms:W3CDTF">2026-06-12T05:31:59Z</dcterms:created>
  <dcterms:modified xsi:type="dcterms:W3CDTF">2026-07-15T01:38:45Z</dcterms:modified>
</cp:coreProperties>
</file>