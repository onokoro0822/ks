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63" r:id="rId5"/>
    <p:sldId id="264" r:id="rId6"/>
    <p:sldId id="265" r:id="rId7"/>
    <p:sldId id="266" r:id="rId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D6C5EB5-B125-E782-B8C1-726CF45149BC}" name="関本　義秀" initials="義関" userId="S::4300617000@utac.u-tokyo.ac.jp::58197656-eaaa-4c42-a35f-aab39240ca32" providerId="AD"/>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581"/>
  </p:normalViewPr>
  <p:slideViewPr>
    <p:cSldViewPr>
      <p:cViewPr>
        <p:scale>
          <a:sx n="104" d="100"/>
          <a:sy n="104" d="100"/>
        </p:scale>
        <p:origin x="800" y="400"/>
      </p:cViewPr>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we develop a planning proposal through dialogue with an LLM.</a:t>
            </a:r>
          </a:p>
          <a:p>
            <a:r>
              <a:t>First, we identify the target area, Shibata 1-chome, and confirm its surrounding stations and pedestrian networks. Then, we organize basic planning conditions, such as land use, scale, pedestrian flow, functions, and constraints.</a:t>
            </a:r>
          </a:p>
          <a:p>
            <a:r>
              <a:t>Next, we compare several planning directions, such as commercial-focused, circulation-focused, and office-focused plans. Through this process, the user and the LLM gradually narrow down the proposal.</a:t>
            </a:r>
          </a:p>
          <a:p>
            <a:r>
              <a:t>Finally, the selected direction is translated into a concrete development plan, including commercial functions, offices, public open space, and improved pedestrian connections.</a:t>
            </a:r>
          </a:p>
          <a:p>
            <a:r>
              <a:t>
出典：名鉄百貨店『名鉄百貨店本店 営業終了後のお知らせ』。名古屋鉄道 2026-05-15ニュースリリース『M's RELIER NAGOYA』。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注：人流の数値は実測・提供データを受領後に算定する。現段階では評価指標と比較条件のみを提示。</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935700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p:cNvSpPr>
          <p:nvPr/>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正方形/長方形 7">
            <a:extLst>
              <a:ext uri="{FF2B5EF4-FFF2-40B4-BE49-F238E27FC236}">
                <a16:creationId xmlns:a16="http://schemas.microsoft.com/office/drawing/2014/main" id="{011358BB-C83D-DC73-90A9-FD099D231007}"/>
              </a:ext>
            </a:extLst>
          </p:cNvPr>
          <p:cNvSpPr>
            <a:spLocks noGrp="1"/>
          </p:cNvSpPr>
          <p:nvPr/>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sp>
        <p:nvSpPr>
          <p:cNvPr id="2" name="Title 1">
            <a:extLst>
              <a:ext uri="{FF2B5EF4-FFF2-40B4-BE49-F238E27FC236}">
                <a16:creationId xmlns:a16="http://schemas.microsoft.com/office/drawing/2014/main" id="{CEDFCFD7-5669-4CDF-8196-80F00CD0B63E}"/>
              </a:ext>
            </a:extLst>
          </p:cNvPr>
          <p:cNvSpPr>
            <a:spLocks noGrp="1"/>
          </p:cNvSpPr>
          <p:nvPr>
            <p:ph type="ctrTitle"/>
          </p:nvPr>
        </p:nvSpPr>
        <p:spPr>
          <a:xfrm>
            <a:off x="815698" y="1822519"/>
            <a:ext cx="8981594" cy="1800200"/>
          </a:xfrm>
        </p:spPr>
        <p:txBody>
          <a:bodyPr anchor="b"/>
          <a:lstStyle>
            <a:lvl1pPr algn="ctr">
              <a:buNone/>
              <a:defRPr sz="6000">
                <a:latin typeface="HGMinchoE"/>
                <a:ea typeface="HGMinchoE"/>
                <a:cs typeface="HGMinchoE"/>
              </a:defRPr>
            </a:lvl1pPr>
          </a:lstStyle>
          <a:p>
            <a:r>
              <a:t>マスター タイトルの書式設定</a:t>
            </a:r>
          </a:p>
        </p:txBody>
      </p:sp>
      <p:sp>
        <p:nvSpPr>
          <p:cNvPr id="4" name="Date Placeholder 3">
            <a:extLst>
              <a:ext uri="{FF2B5EF4-FFF2-40B4-BE49-F238E27FC236}">
                <a16:creationId xmlns:a16="http://schemas.microsoft.com/office/drawing/2014/main" id="{19A3B0E2-4A38-456C-B93E-BB195C4A3BEA}"/>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A66CE179-1185-4294-A28B-2AEC71217739}"/>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3BD2C87E-7E69-49BC-9873-83346CBBCDC3}"/>
              </a:ext>
            </a:extLst>
          </p:cNvPr>
          <p:cNvSpPr>
            <a:spLocks noGrp="1"/>
          </p:cNvSpPr>
          <p:nvPr>
            <p:ph type="sldNum" idx="12"/>
          </p:nvPr>
        </p:nvSpPr>
        <p:spPr/>
        <p:txBody>
          <a:bodyPr/>
          <a:lstStyle/>
          <a:p>
            <a:fld id="{6539E37A-E522-3D47-AAB7-DDF67C94A05D}" type="slidenum">
              <a:t>‹#›</a:t>
            </a:fld>
            <a:endParaRPr/>
          </a:p>
        </p:txBody>
      </p:sp>
      <p:sp>
        <p:nvSpPr>
          <p:cNvPr id="10" name="正方形/長方形 9">
            <a:extLst>
              <a:ext uri="{FF2B5EF4-FFF2-40B4-BE49-F238E27FC236}">
                <a16:creationId xmlns:a16="http://schemas.microsoft.com/office/drawing/2014/main" id="{4CD3B0C5-05CC-6CD8-19D9-83A04040DEB5}"/>
              </a:ext>
            </a:extLst>
          </p:cNvPr>
          <p:cNvSpPr>
            <a:spLocks noGrp="1"/>
          </p:cNvSpPr>
          <p:nvPr/>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Subtitle 2">
            <a:extLst>
              <a:ext uri="{FF2B5EF4-FFF2-40B4-BE49-F238E27FC236}">
                <a16:creationId xmlns:a16="http://schemas.microsoft.com/office/drawing/2014/main" id="{1EA00032-B280-9C70-9D60-577AEB1A3456}"/>
              </a:ext>
            </a:extLst>
          </p:cNvPr>
          <p:cNvSpPr>
            <a:spLocks noGrp="1"/>
          </p:cNvSpPr>
          <p:nvPr/>
        </p:nvSpPr>
        <p:spPr>
          <a:xfrm>
            <a:off x="815695" y="4494532"/>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2026年7月　関本・中居研究室</a:t>
            </a:r>
          </a:p>
        </p:txBody>
      </p:sp>
      <p:sp>
        <p:nvSpPr>
          <p:cNvPr id="12" name="Subtitle 2">
            <a:extLst>
              <a:ext uri="{FF2B5EF4-FFF2-40B4-BE49-F238E27FC236}">
                <a16:creationId xmlns:a16="http://schemas.microsoft.com/office/drawing/2014/main" id="{8C5479DB-FB15-2DE2-02DC-3F41B6BAA47D}"/>
              </a:ext>
            </a:extLst>
          </p:cNvPr>
          <p:cNvSpPr>
            <a:spLocks noGrp="1"/>
          </p:cNvSpPr>
          <p:nvPr/>
        </p:nvSpPr>
        <p:spPr>
          <a:xfrm>
            <a:off x="815696" y="4636415"/>
            <a:ext cx="5032775" cy="398632"/>
          </a:xfrm>
          <a:prstGeom prst="rect">
            <a:avLst/>
          </a:prstGeom>
        </p:spPr>
        <p:txBody>
          <a:bodyPr vert="horz" lIns="91440" tIns="45720" rIns="91440" bIns="45720">
            <a:normAutofit lnSpcReduction="10000"/>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endParaRPr/>
          </a:p>
        </p:txBody>
      </p:sp>
      <p:sp>
        <p:nvSpPr>
          <p:cNvPr id="13" name="Subtitle 2">
            <a:extLst>
              <a:ext uri="{FF2B5EF4-FFF2-40B4-BE49-F238E27FC236}">
                <a16:creationId xmlns:a16="http://schemas.microsoft.com/office/drawing/2014/main" id="{265B0414-1E04-19AB-89FC-B267F02CDFAF}"/>
              </a:ext>
            </a:extLst>
          </p:cNvPr>
          <p:cNvSpPr>
            <a:spLocks noGrp="1"/>
          </p:cNvSpPr>
          <p:nvPr/>
        </p:nvSpPr>
        <p:spPr>
          <a:xfrm>
            <a:off x="834852" y="4095900"/>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lang="ja-JP" altLang="en-US" sz="1800">
                <a:solidFill>
                  <a:schemeClr val="bg2">
                    <a:lumMod val="50000"/>
                  </a:schemeClr>
                </a:solidFill>
              </a:rPr>
              <a:t>名鉄名古屋駅　</a:t>
            </a:r>
            <a:r>
              <a:rPr sz="1800">
                <a:solidFill>
                  <a:schemeClr val="bg2">
                    <a:lumMod val="50000"/>
                  </a:schemeClr>
                </a:solidFill>
              </a:rPr>
              <a:t>取組計画</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p:cNvSpPr>
          <p:nvPr/>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A1E3CCA-3CE2-4EF4-BFE4-6B77DD98DA0A}"/>
              </a:ext>
            </a:extLst>
          </p:cNvPr>
          <p:cNvSpPr>
            <a:spLocks noGrp="1"/>
          </p:cNvSpPr>
          <p:nvPr>
            <p:ph type="title"/>
          </p:nvPr>
        </p:nvSpPr>
        <p:spPr>
          <a:xfrm>
            <a:off x="200345" y="1"/>
            <a:ext cx="10326470" cy="908719"/>
          </a:xfrm>
        </p:spPr>
        <p:txBody>
          <a:bodyPr/>
          <a:lstStyle>
            <a:lvl1pPr>
              <a:buNone/>
              <a:defRPr sz="2400">
                <a:solidFill>
                  <a:schemeClr val="bg1"/>
                </a:solidFill>
                <a:latin typeface="HGMinchoE"/>
                <a:ea typeface="HGMinchoE"/>
                <a:cs typeface="HGMinchoE"/>
              </a:defRPr>
            </a:lvl1pPr>
          </a:lstStyle>
          <a:p>
            <a:r>
              <a:t>マスター タイトルの書式設定</a:t>
            </a:r>
          </a:p>
        </p:txBody>
      </p:sp>
      <p:sp>
        <p:nvSpPr>
          <p:cNvPr id="3" name="Content Placeholder 2">
            <a:extLst>
              <a:ext uri="{FF2B5EF4-FFF2-40B4-BE49-F238E27FC236}">
                <a16:creationId xmlns:a16="http://schemas.microsoft.com/office/drawing/2014/main" id="{87D4FA2F-8A80-41C3-9F59-4C73C819572F}"/>
              </a:ext>
            </a:extLst>
          </p:cNvPr>
          <p:cNvSpPr>
            <a:spLocks noGrp="1"/>
          </p:cNvSpPr>
          <p:nvPr>
            <p:ph idx="1"/>
          </p:nvPr>
        </p:nvSpPr>
        <p:spPr>
          <a:xfrm>
            <a:off x="838200" y="1253331"/>
            <a:ext cx="10515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2EA041E9-C94D-4B63-BBAA-0B9F65B110DD}"/>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287330EF-AB4F-4F03-8F9C-0E6D2B9592BB}"/>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BBF9B4E-8BDC-4E75-AAE6-DAE6C9DC1777}"/>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F7F3-377B-475B-91B7-063425BBE96D}"/>
              </a:ext>
            </a:extLst>
          </p:cNvPr>
          <p:cNvSpPr>
            <a:spLocks noGrp="1"/>
          </p:cNvSpPr>
          <p:nvPr>
            <p:ph type="title"/>
          </p:nvPr>
        </p:nvSpPr>
        <p:spPr>
          <a:xfrm>
            <a:off x="831850" y="1709738"/>
            <a:ext cx="10515600" cy="2852737"/>
          </a:xfrm>
        </p:spPr>
        <p:txBody>
          <a:bodyPr anchor="b"/>
          <a:lstStyle>
            <a:lvl1pPr>
              <a:buNone/>
              <a:defRPr sz="6000"/>
            </a:lvl1pPr>
          </a:lstStyle>
          <a:p>
            <a:r>
              <a:t>マスター タイトルの書式設定</a:t>
            </a:r>
          </a:p>
        </p:txBody>
      </p:sp>
      <p:sp>
        <p:nvSpPr>
          <p:cNvPr id="3" name="Text Placeholder 2">
            <a:extLst>
              <a:ext uri="{FF2B5EF4-FFF2-40B4-BE49-F238E27FC236}">
                <a16:creationId xmlns:a16="http://schemas.microsoft.com/office/drawing/2014/main" id="{50E73A06-3141-48B6-A85B-CB93002AB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マスター テキストの書式設定</a:t>
            </a:r>
          </a:p>
        </p:txBody>
      </p:sp>
      <p:sp>
        <p:nvSpPr>
          <p:cNvPr id="4" name="Date Placeholder 3">
            <a:extLst>
              <a:ext uri="{FF2B5EF4-FFF2-40B4-BE49-F238E27FC236}">
                <a16:creationId xmlns:a16="http://schemas.microsoft.com/office/drawing/2014/main" id="{B9F7F693-4881-4542-A0CE-9AA9D053ABE3}"/>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1DC2734C-C497-44EF-90F6-46E8EFB4883F}"/>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BEEC4A9B-F0E6-4FD5-9339-90855013E2C1}"/>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6F6E-3655-4748-A453-8930F3D83902}"/>
              </a:ext>
            </a:extLst>
          </p:cNvPr>
          <p:cNvSpPr>
            <a:spLocks noGrp="1"/>
          </p:cNvSpPr>
          <p:nvPr>
            <p:ph type="title"/>
          </p:nvPr>
        </p:nvSpPr>
        <p:spPr/>
        <p:txBody>
          <a:bodyPr/>
          <a:lstStyle/>
          <a:p>
            <a:r>
              <a:t>マスター タイトルの書式設定</a:t>
            </a:r>
          </a:p>
        </p:txBody>
      </p:sp>
      <p:sp>
        <p:nvSpPr>
          <p:cNvPr id="3" name="Content Placeholder 2">
            <a:extLst>
              <a:ext uri="{FF2B5EF4-FFF2-40B4-BE49-F238E27FC236}">
                <a16:creationId xmlns:a16="http://schemas.microsoft.com/office/drawing/2014/main" id="{BB727C32-D46B-4D07-AB2D-8DF1F1D41285}"/>
              </a:ext>
            </a:extLst>
          </p:cNvPr>
          <p:cNvSpPr>
            <a:spLocks noGrp="1"/>
          </p:cNvSpPr>
          <p:nvPr>
            <p:ph idx="1"/>
          </p:nvPr>
        </p:nvSpPr>
        <p:spPr>
          <a:xfrm>
            <a:off x="838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Content Placeholder 3">
            <a:extLst>
              <a:ext uri="{FF2B5EF4-FFF2-40B4-BE49-F238E27FC236}">
                <a16:creationId xmlns:a16="http://schemas.microsoft.com/office/drawing/2014/main" id="{6EF9CCD7-C78B-4429-A230-3159A6EC020B}"/>
              </a:ext>
            </a:extLst>
          </p:cNvPr>
          <p:cNvSpPr>
            <a:spLocks noGrp="1"/>
          </p:cNvSpPr>
          <p:nvPr>
            <p:ph idx="2"/>
          </p:nvPr>
        </p:nvSpPr>
        <p:spPr>
          <a:xfrm>
            <a:off x="6172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Date Placeholder 4">
            <a:extLst>
              <a:ext uri="{FF2B5EF4-FFF2-40B4-BE49-F238E27FC236}">
                <a16:creationId xmlns:a16="http://schemas.microsoft.com/office/drawing/2014/main" id="{36B516ED-1404-4EF0-82FE-5106E9919356}"/>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4F52E344-6EEF-402F-9845-3676F7F61512}"/>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29EFDA9F-D047-42EA-814B-EDC23052F2F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3DD0-E642-476B-872F-E09CB857DC7C}"/>
              </a:ext>
            </a:extLst>
          </p:cNvPr>
          <p:cNvSpPr>
            <a:spLocks noGrp="1"/>
          </p:cNvSpPr>
          <p:nvPr>
            <p:ph type="title"/>
          </p:nvPr>
        </p:nvSpPr>
        <p:spPr>
          <a:xfrm>
            <a:off x="839788" y="365125"/>
            <a:ext cx="10515600" cy="1325563"/>
          </a:xfrm>
        </p:spPr>
        <p:txBody>
          <a:bodyPr/>
          <a:lstStyle/>
          <a:p>
            <a:r>
              <a:t>マスター タイトルの書式設定</a:t>
            </a:r>
          </a:p>
        </p:txBody>
      </p:sp>
      <p:sp>
        <p:nvSpPr>
          <p:cNvPr id="3" name="Text Placeholder 2">
            <a:extLst>
              <a:ext uri="{FF2B5EF4-FFF2-40B4-BE49-F238E27FC236}">
                <a16:creationId xmlns:a16="http://schemas.microsoft.com/office/drawing/2014/main" id="{2891B65A-99A7-4EA1-A222-682E20651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4" name="Content Placeholder 3">
            <a:extLst>
              <a:ext uri="{FF2B5EF4-FFF2-40B4-BE49-F238E27FC236}">
                <a16:creationId xmlns:a16="http://schemas.microsoft.com/office/drawing/2014/main" id="{5D47DDF4-4110-4513-9553-9FDC19587D10}"/>
              </a:ext>
            </a:extLst>
          </p:cNvPr>
          <p:cNvSpPr>
            <a:spLocks noGrp="1"/>
          </p:cNvSpPr>
          <p:nvPr>
            <p:ph idx="2"/>
          </p:nvPr>
        </p:nvSpPr>
        <p:spPr>
          <a:xfrm>
            <a:off x="839788" y="2505075"/>
            <a:ext cx="5157787"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Text Placeholder 4">
            <a:extLst>
              <a:ext uri="{FF2B5EF4-FFF2-40B4-BE49-F238E27FC236}">
                <a16:creationId xmlns:a16="http://schemas.microsoft.com/office/drawing/2014/main" id="{7668D606-2281-43EA-9BAD-4161F6D2D61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6" name="Content Placeholder 5">
            <a:extLst>
              <a:ext uri="{FF2B5EF4-FFF2-40B4-BE49-F238E27FC236}">
                <a16:creationId xmlns:a16="http://schemas.microsoft.com/office/drawing/2014/main" id="{9C202E1D-D386-4F1E-B6BD-2E2449666C77}"/>
              </a:ext>
            </a:extLst>
          </p:cNvPr>
          <p:cNvSpPr>
            <a:spLocks noGrp="1"/>
          </p:cNvSpPr>
          <p:nvPr>
            <p:ph idx="4"/>
          </p:nvPr>
        </p:nvSpPr>
        <p:spPr>
          <a:xfrm>
            <a:off x="6172200" y="2505075"/>
            <a:ext cx="5183188"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7" name="Date Placeholder 6">
            <a:extLst>
              <a:ext uri="{FF2B5EF4-FFF2-40B4-BE49-F238E27FC236}">
                <a16:creationId xmlns:a16="http://schemas.microsoft.com/office/drawing/2014/main" id="{FB90A48D-D04A-4857-A71D-A3D0C1B1600E}"/>
              </a:ext>
            </a:extLst>
          </p:cNvPr>
          <p:cNvSpPr>
            <a:spLocks noGrp="1"/>
          </p:cNvSpPr>
          <p:nvPr>
            <p:ph type="dt" idx="10"/>
          </p:nvPr>
        </p:nvSpPr>
        <p:spPr/>
        <p:txBody>
          <a:bodyPr/>
          <a:lstStyle/>
          <a:p>
            <a:r>
              <a:t>2026/7</a:t>
            </a:r>
          </a:p>
        </p:txBody>
      </p:sp>
      <p:sp>
        <p:nvSpPr>
          <p:cNvPr id="8" name="Footer Placeholder 7">
            <a:extLst>
              <a:ext uri="{FF2B5EF4-FFF2-40B4-BE49-F238E27FC236}">
                <a16:creationId xmlns:a16="http://schemas.microsoft.com/office/drawing/2014/main" id="{BD6249F3-4443-45E3-A8C2-0290F8208D4B}"/>
              </a:ext>
            </a:extLst>
          </p:cNvPr>
          <p:cNvSpPr>
            <a:spLocks noGrp="1"/>
          </p:cNvSpPr>
          <p:nvPr>
            <p:ph type="ftr" idx="11"/>
          </p:nvPr>
        </p:nvSpPr>
        <p:spPr/>
        <p:txBody>
          <a:bodyPr/>
          <a:lstStyle/>
          <a:p>
            <a:r>
              <a:t>関本・中居研究室</a:t>
            </a:r>
          </a:p>
        </p:txBody>
      </p:sp>
      <p:sp>
        <p:nvSpPr>
          <p:cNvPr id="9" name="Slide Number Placeholder 8">
            <a:extLst>
              <a:ext uri="{FF2B5EF4-FFF2-40B4-BE49-F238E27FC236}">
                <a16:creationId xmlns:a16="http://schemas.microsoft.com/office/drawing/2014/main" id="{82BA9647-FFBF-4123-955A-CBA4F7BFD5EC}"/>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322B-481D-47DA-B7D6-0BDD07D77BF5}"/>
              </a:ext>
            </a:extLst>
          </p:cNvPr>
          <p:cNvSpPr>
            <a:spLocks noGrp="1"/>
          </p:cNvSpPr>
          <p:nvPr>
            <p:ph type="title"/>
          </p:nvPr>
        </p:nvSpPr>
        <p:spPr/>
        <p:txBody>
          <a:bodyPr/>
          <a:lstStyle/>
          <a:p>
            <a:r>
              <a:t>マスター タイトルの書式設定</a:t>
            </a:r>
          </a:p>
        </p:txBody>
      </p:sp>
      <p:sp>
        <p:nvSpPr>
          <p:cNvPr id="3" name="Date Placeholder 2">
            <a:extLst>
              <a:ext uri="{FF2B5EF4-FFF2-40B4-BE49-F238E27FC236}">
                <a16:creationId xmlns:a16="http://schemas.microsoft.com/office/drawing/2014/main" id="{1854686E-548C-416B-B0B5-081AF327D575}"/>
              </a:ext>
            </a:extLst>
          </p:cNvPr>
          <p:cNvSpPr>
            <a:spLocks noGrp="1"/>
          </p:cNvSpPr>
          <p:nvPr>
            <p:ph type="dt" idx="10"/>
          </p:nvPr>
        </p:nvSpPr>
        <p:spPr/>
        <p:txBody>
          <a:bodyPr/>
          <a:lstStyle/>
          <a:p>
            <a:r>
              <a:t>2026/7</a:t>
            </a:r>
          </a:p>
        </p:txBody>
      </p:sp>
      <p:sp>
        <p:nvSpPr>
          <p:cNvPr id="4" name="Footer Placeholder 3">
            <a:extLst>
              <a:ext uri="{FF2B5EF4-FFF2-40B4-BE49-F238E27FC236}">
                <a16:creationId xmlns:a16="http://schemas.microsoft.com/office/drawing/2014/main" id="{46931CEE-0658-466D-AF43-DAAB564DD98E}"/>
              </a:ext>
            </a:extLst>
          </p:cNvPr>
          <p:cNvSpPr>
            <a:spLocks noGrp="1"/>
          </p:cNvSpPr>
          <p:nvPr>
            <p:ph type="ftr" idx="11"/>
          </p:nvPr>
        </p:nvSpPr>
        <p:spPr/>
        <p:txBody>
          <a:bodyPr/>
          <a:lstStyle/>
          <a:p>
            <a:r>
              <a:t>関本・中居研究室</a:t>
            </a:r>
          </a:p>
        </p:txBody>
      </p:sp>
      <p:sp>
        <p:nvSpPr>
          <p:cNvPr id="5" name="Slide Number Placeholder 4">
            <a:extLst>
              <a:ext uri="{FF2B5EF4-FFF2-40B4-BE49-F238E27FC236}">
                <a16:creationId xmlns:a16="http://schemas.microsoft.com/office/drawing/2014/main" id="{41945100-E454-435E-8219-2C3DAC4D2D8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6623E9-4E44-413B-955F-3E0FF9C2B6DB}"/>
              </a:ext>
            </a:extLst>
          </p:cNvPr>
          <p:cNvSpPr>
            <a:spLocks noGrp="1"/>
          </p:cNvSpPr>
          <p:nvPr>
            <p:ph type="dt" idx="10"/>
          </p:nvPr>
        </p:nvSpPr>
        <p:spPr/>
        <p:txBody>
          <a:bodyPr/>
          <a:lstStyle/>
          <a:p>
            <a:r>
              <a:t>2026/7</a:t>
            </a:r>
          </a:p>
        </p:txBody>
      </p:sp>
      <p:sp>
        <p:nvSpPr>
          <p:cNvPr id="3" name="Footer Placeholder 2">
            <a:extLst>
              <a:ext uri="{FF2B5EF4-FFF2-40B4-BE49-F238E27FC236}">
                <a16:creationId xmlns:a16="http://schemas.microsoft.com/office/drawing/2014/main" id="{102589D5-2DBD-4E83-9876-681024BF0598}"/>
              </a:ext>
            </a:extLst>
          </p:cNvPr>
          <p:cNvSpPr>
            <a:spLocks noGrp="1"/>
          </p:cNvSpPr>
          <p:nvPr>
            <p:ph type="ftr" idx="11"/>
          </p:nvPr>
        </p:nvSpPr>
        <p:spPr/>
        <p:txBody>
          <a:bodyPr/>
          <a:lstStyle/>
          <a:p>
            <a:r>
              <a:t>関本・中居研究室</a:t>
            </a:r>
          </a:p>
        </p:txBody>
      </p:sp>
      <p:sp>
        <p:nvSpPr>
          <p:cNvPr id="4" name="Slide Number Placeholder 3">
            <a:extLst>
              <a:ext uri="{FF2B5EF4-FFF2-40B4-BE49-F238E27FC236}">
                <a16:creationId xmlns:a16="http://schemas.microsoft.com/office/drawing/2014/main" id="{90810C24-2CB2-4AC5-B789-140AF074A213}"/>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06B6-EA1E-4BA2-BE52-8C6AB9518569}"/>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Content Placeholder 2">
            <a:extLst>
              <a:ext uri="{FF2B5EF4-FFF2-40B4-BE49-F238E27FC236}">
                <a16:creationId xmlns:a16="http://schemas.microsoft.com/office/drawing/2014/main" id="{88A979AE-5C53-431A-B6E7-9B54FC1ED04D}"/>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Text Placeholder 3">
            <a:extLst>
              <a:ext uri="{FF2B5EF4-FFF2-40B4-BE49-F238E27FC236}">
                <a16:creationId xmlns:a16="http://schemas.microsoft.com/office/drawing/2014/main" id="{5FF83870-6770-45DD-864D-F017A14734E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9EC0FA4-175F-437E-9E81-CCDACEF0D6D2}"/>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114EACAE-EE30-431E-9CE0-DAA6DA536777}"/>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349AB41A-647F-496C-A49D-E23B2DED7CC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244B-E99F-4AC2-B099-9682354B432A}"/>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Picture Placeholder 2">
            <a:extLst>
              <a:ext uri="{FF2B5EF4-FFF2-40B4-BE49-F238E27FC236}">
                <a16:creationId xmlns:a16="http://schemas.microsoft.com/office/drawing/2014/main" id="{963A81B6-6650-43EB-BB80-C375C62C2914}"/>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アイコンをクリックして図を追加</a:t>
            </a:r>
          </a:p>
        </p:txBody>
      </p:sp>
      <p:sp>
        <p:nvSpPr>
          <p:cNvPr id="4" name="Text Placeholder 3">
            <a:extLst>
              <a:ext uri="{FF2B5EF4-FFF2-40B4-BE49-F238E27FC236}">
                <a16:creationId xmlns:a16="http://schemas.microsoft.com/office/drawing/2014/main" id="{EAC36610-C1E4-49AF-9BFC-6D4157EAC10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7F4E133-A85B-4961-9121-704167E5B808}"/>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7D5D966E-55B1-4A84-B9BF-9AEB608FD361}"/>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E22389C8-A8EB-43B6-8B92-8E02CC63EE5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01D9-F485-45CE-87D1-876B7795C8F0}"/>
              </a:ext>
            </a:extLst>
          </p:cNvPr>
          <p:cNvSpPr>
            <a:spLocks noGrp="1"/>
          </p:cNvSpPr>
          <p:nvPr>
            <p:ph type="title"/>
          </p:nvPr>
        </p:nvSpPr>
        <p:spPr/>
        <p:txBody>
          <a:bodyPr/>
          <a:lstStyle/>
          <a:p>
            <a:r>
              <a:t>マスター タイトルの書式設定</a:t>
            </a:r>
          </a:p>
        </p:txBody>
      </p:sp>
      <p:sp>
        <p:nvSpPr>
          <p:cNvPr id="3" name="Vertical Text Placeholder 2">
            <a:extLst>
              <a:ext uri="{FF2B5EF4-FFF2-40B4-BE49-F238E27FC236}">
                <a16:creationId xmlns:a16="http://schemas.microsoft.com/office/drawing/2014/main" id="{02254D58-BE4F-493D-98C5-10197B975F6B}"/>
              </a:ext>
            </a:extLst>
          </p:cNvPr>
          <p:cNvSpPr>
            <a:spLocks noGrp="1"/>
          </p:cNvSpPr>
          <p:nvPr>
            <p:ph type="body" idx="1"/>
          </p:nvPr>
        </p:nvSpPr>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CB62F91B-685F-4019-B664-2D6F8918AEF8}"/>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B30F2381-605F-4E62-B860-7CAE72BEB04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4F32440B-13F8-43EB-B94E-B46B4E3D4884}"/>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66B44E-FEE5-48D1-B2FB-9E0E6BDB4298}"/>
              </a:ext>
            </a:extLst>
          </p:cNvPr>
          <p:cNvSpPr>
            <a:spLocks noGrp="1"/>
          </p:cNvSpPr>
          <p:nvPr>
            <p:ph type="title"/>
          </p:nvPr>
        </p:nvSpPr>
        <p:spPr>
          <a:xfrm>
            <a:off x="8724900" y="365125"/>
            <a:ext cx="2628900" cy="5811838"/>
          </a:xfrm>
        </p:spPr>
        <p:txBody>
          <a:bodyPr vert="eaVert"/>
          <a:lstStyle/>
          <a:p>
            <a:r>
              <a:t>マスター タイトルの書式設定</a:t>
            </a:r>
          </a:p>
        </p:txBody>
      </p:sp>
      <p:sp>
        <p:nvSpPr>
          <p:cNvPr id="3" name="Vertical Text Placeholder 2">
            <a:extLst>
              <a:ext uri="{FF2B5EF4-FFF2-40B4-BE49-F238E27FC236}">
                <a16:creationId xmlns:a16="http://schemas.microsoft.com/office/drawing/2014/main" id="{A64556AC-3DA3-4710-B807-44BA00E3A34D}"/>
              </a:ext>
            </a:extLst>
          </p:cNvPr>
          <p:cNvSpPr>
            <a:spLocks noGrp="1"/>
          </p:cNvSpPr>
          <p:nvPr>
            <p:ph type="body" idx="1"/>
          </p:nvPr>
        </p:nvSpPr>
        <p:spPr>
          <a:xfrm>
            <a:off x="838200" y="365125"/>
            <a:ext cx="7734300" cy="5811838"/>
          </a:xfrm>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E4CB5CF4-76FC-4853-92D8-F85E32F658F6}"/>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FDE59F42-5E58-4864-AEE7-FC380CBB659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1C118CC-2896-49A8-9726-5B00656C0ABD}"/>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B393A8-A998-4454-9BA1-BFD181C693A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マスター タイトルの書式設定</a:t>
            </a:r>
          </a:p>
        </p:txBody>
      </p:sp>
      <p:sp>
        <p:nvSpPr>
          <p:cNvPr id="3" name="Text Placeholder 2">
            <a:extLst>
              <a:ext uri="{FF2B5EF4-FFF2-40B4-BE49-F238E27FC236}">
                <a16:creationId xmlns:a16="http://schemas.microsoft.com/office/drawing/2014/main" id="{AE372BF0-6647-47D2-B9AA-AC5A00DE35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8F2B3B02-7345-4A51-AA40-AF7DD2FFC21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r>
              <a:t>2026/7</a:t>
            </a:r>
          </a:p>
        </p:txBody>
      </p:sp>
      <p:sp>
        <p:nvSpPr>
          <p:cNvPr id="5" name="Footer Placeholder 4">
            <a:extLst>
              <a:ext uri="{FF2B5EF4-FFF2-40B4-BE49-F238E27FC236}">
                <a16:creationId xmlns:a16="http://schemas.microsoft.com/office/drawing/2014/main" id="{998EC7DB-3D6E-4E0D-9CDC-795F99ABA39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関本・中居研究室</a:t>
            </a:r>
          </a:p>
        </p:txBody>
      </p:sp>
      <p:sp>
        <p:nvSpPr>
          <p:cNvPr id="6" name="Slide Number Placeholder 5">
            <a:extLst>
              <a:ext uri="{FF2B5EF4-FFF2-40B4-BE49-F238E27FC236}">
                <a16:creationId xmlns:a16="http://schemas.microsoft.com/office/drawing/2014/main" id="{04B37C9F-FF12-45FE-A77A-2E247A44814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b="1">
                <a:solidFill>
                  <a:schemeClr val="tx1">
                    <a:tint val="82000"/>
                  </a:schemeClr>
                </a:solidFill>
              </a:defRPr>
            </a:lvl1pPr>
          </a:lstStyle>
          <a:p>
            <a:fld id="{6539E37A-E522-3D47-AAB7-DDF67C94A05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a:lnSpc>
          <a:spcPct val="90000"/>
        </a:lnSpc>
        <a:buNone/>
        <a:defRPr sz="2800">
          <a:solidFill>
            <a:schemeClr val="tx1"/>
          </a:solidFill>
          <a:latin typeface="+mj-lt"/>
          <a:ea typeface="+mj-lt"/>
          <a:cs typeface="+mj-lt"/>
        </a:defRPr>
      </a:lvl1pPr>
    </p:titleStyle>
    <p:body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5" y="1943835"/>
            <a:ext cx="8910990" cy="1665185"/>
          </a:xfrm>
        </p:spPr>
        <p:txBody>
          <a:bodyPr anchor="t">
            <a:normAutofit/>
          </a:bodyPr>
          <a:lstStyle/>
          <a:p>
            <a:pPr algn="l">
              <a:buNone/>
            </a:pPr>
            <a:r>
              <a:rPr sz="3600"/>
              <a:t>自然言語から人流シナリオを生成</a:t>
            </a:r>
            <a:br/>
            <a:r>
              <a:rPr sz="3600"/>
              <a:t>複数条件の影響を比較評価</a:t>
            </a:r>
            <a:br/>
            <a:r>
              <a:rPr sz="3600"/>
              <a:t>～</a:t>
            </a:r>
            <a:r>
              <a:rPr lang="ja-JP" altLang="en-US" sz="3600"/>
              <a:t>名鉄名古屋駅</a:t>
            </a:r>
            <a:r>
              <a:rPr sz="3600"/>
              <a:t>を対象に</a:t>
            </a:r>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5">
            <a:extLst>
              <a:ext uri="{FF2B5EF4-FFF2-40B4-BE49-F238E27FC236}">
                <a16:creationId xmlns:a16="http://schemas.microsoft.com/office/drawing/2014/main" id="{AD297800-830A-8224-51EB-6C7132C8F991}"/>
              </a:ext>
            </a:extLst>
          </p:cNvPr>
          <p:cNvSpPr>
            <a:spLocks noGrp="1"/>
          </p:cNvSpPr>
          <p:nvPr/>
        </p:nvSpPr>
        <p:spPr>
          <a:xfrm>
            <a:off x="3959915" y="1368624"/>
            <a:ext cx="3351220" cy="2553406"/>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3DB7D953-961A-0C86-23D5-190D3A58FD1A}"/>
              </a:ext>
            </a:extLst>
          </p:cNvPr>
          <p:cNvSpPr>
            <a:spLocks noGrp="1"/>
          </p:cNvSpPr>
          <p:nvPr>
            <p:ph type="title"/>
          </p:nvPr>
        </p:nvSpPr>
        <p:spPr>
          <a:xfrm>
            <a:off x="189866" y="0"/>
            <a:ext cx="12002134" cy="908720"/>
          </a:xfrm>
        </p:spPr>
        <p:txBody>
          <a:bodyPr anchor="ctr"/>
          <a:lstStyle/>
          <a:p>
            <a:r>
              <a:rPr>
                <a:latin typeface="HGMinchoE"/>
                <a:ea typeface="HGMinchoE"/>
                <a:cs typeface="HGMinchoE"/>
              </a:rPr>
              <a:t>最初の3か月（2Q：7-9月）の取組イメージ：周辺の条件整理</a:t>
            </a:r>
          </a:p>
        </p:txBody>
      </p:sp>
      <p:sp>
        <p:nvSpPr>
          <p:cNvPr id="3" name="コンテンツ プレースホルダー 2">
            <a:extLst>
              <a:ext uri="{FF2B5EF4-FFF2-40B4-BE49-F238E27FC236}">
                <a16:creationId xmlns:a16="http://schemas.microsoft.com/office/drawing/2014/main" id="{A421FFD3-CB16-2746-79BA-7F60972841E4}"/>
              </a:ext>
            </a:extLst>
          </p:cNvPr>
          <p:cNvSpPr>
            <a:spLocks noGrp="1"/>
          </p:cNvSpPr>
          <p:nvPr>
            <p:ph idx="1"/>
          </p:nvPr>
        </p:nvSpPr>
        <p:spPr>
          <a:xfrm>
            <a:off x="259551" y="998730"/>
            <a:ext cx="12002134" cy="423820"/>
          </a:xfrm>
        </p:spPr>
        <p:txBody>
          <a:bodyPr>
            <a:normAutofit fontScale="90687"/>
          </a:bodyPr>
          <a:lstStyle/>
          <a:p>
            <a:pPr marL="0" indent="0">
              <a:buNone/>
            </a:pPr>
            <a:r>
              <a:rPr sz="1800" b="1">
                <a:solidFill>
                  <a:schemeClr val="bg2">
                    <a:lumMod val="10000"/>
                  </a:schemeClr>
                </a:solidFill>
                <a:latin typeface="Noto Sans CJK JP"/>
                <a:ea typeface="Noto Sans CJK JP"/>
                <a:cs typeface="Noto Sans CJK JP"/>
              </a:rPr>
              <a:t>エージェント（LLM）との対話を通じて、駅・旧本店・周辺施設の条件を人流予測用の入力へ段階的に整理する。</a:t>
            </a:r>
          </a:p>
        </p:txBody>
      </p:sp>
      <p:sp>
        <p:nvSpPr>
          <p:cNvPr id="4" name="日付プレースホルダー 3">
            <a:extLst>
              <a:ext uri="{FF2B5EF4-FFF2-40B4-BE49-F238E27FC236}">
                <a16:creationId xmlns:a16="http://schemas.microsoft.com/office/drawing/2014/main" id="{1E37C397-1E3C-9C60-59D6-15235091DE13}"/>
              </a:ext>
            </a:extLst>
          </p:cNvPr>
          <p:cNvSpPr>
            <a:spLocks noGrp="1"/>
          </p:cNvSpPr>
          <p:nvPr>
            <p:ph type="dt" idx="10"/>
          </p:nvPr>
        </p:nvSpPr>
        <p:spPr>
          <a:xfrm>
            <a:off x="838200" y="6534345"/>
            <a:ext cx="2743200" cy="365125"/>
          </a:xfrm>
        </p:spPr>
        <p:txBody>
          <a:bodyPr/>
          <a:lstStyle/>
          <a:p>
            <a:r>
              <a:t>2026/7</a:t>
            </a:r>
          </a:p>
        </p:txBody>
      </p:sp>
      <p:sp>
        <p:nvSpPr>
          <p:cNvPr id="5" name="フッター プレースホルダー 4">
            <a:extLst>
              <a:ext uri="{FF2B5EF4-FFF2-40B4-BE49-F238E27FC236}">
                <a16:creationId xmlns:a16="http://schemas.microsoft.com/office/drawing/2014/main" id="{DB185221-EB95-DE46-5DC4-E5E697994A18}"/>
              </a:ext>
            </a:extLst>
          </p:cNvPr>
          <p:cNvSpPr>
            <a:spLocks noGrp="1"/>
          </p:cNvSpPr>
          <p:nvPr>
            <p:ph type="ftr" idx="11"/>
          </p:nvPr>
        </p:nvSpPr>
        <p:spPr>
          <a:xfrm>
            <a:off x="4038600" y="6534345"/>
            <a:ext cx="4114800" cy="365125"/>
          </a:xfrm>
        </p:spPr>
        <p:txBody>
          <a:bodyPr/>
          <a:lstStyle/>
          <a:p>
            <a:r>
              <a:t>関本・中居研究室</a:t>
            </a:r>
          </a:p>
        </p:txBody>
      </p:sp>
      <p:sp>
        <p:nvSpPr>
          <p:cNvPr id="6" name="スライド番号プレースホルダー 5">
            <a:extLst>
              <a:ext uri="{FF2B5EF4-FFF2-40B4-BE49-F238E27FC236}">
                <a16:creationId xmlns:a16="http://schemas.microsoft.com/office/drawing/2014/main" id="{B3B91617-188B-FF7B-A976-7F171DEB4A95}"/>
              </a:ext>
            </a:extLst>
          </p:cNvPr>
          <p:cNvSpPr>
            <a:spLocks noGrp="1"/>
          </p:cNvSpPr>
          <p:nvPr>
            <p:ph type="sldNum" idx="12"/>
          </p:nvPr>
        </p:nvSpPr>
        <p:spPr>
          <a:xfrm>
            <a:off x="8610600" y="6534345"/>
            <a:ext cx="2743200" cy="365125"/>
          </a:xfrm>
        </p:spPr>
        <p:txBody>
          <a:bodyPr/>
          <a:lstStyle/>
          <a:p>
            <a:fld id="{6539E37A-E522-3D47-AAB7-DDF67C94A05D}" type="slidenum">
              <a:rPr/>
              <a:t>2</a:t>
            </a:fld>
            <a:endParaRPr/>
          </a:p>
        </p:txBody>
      </p:sp>
      <p:sp>
        <p:nvSpPr>
          <p:cNvPr id="13" name="Oval 6">
            <a:extLst>
              <a:ext uri="{FF2B5EF4-FFF2-40B4-BE49-F238E27FC236}">
                <a16:creationId xmlns:a16="http://schemas.microsoft.com/office/drawing/2014/main" id="{A94F91C9-6AAF-3928-51C1-B3F22EB6C263}"/>
              </a:ext>
            </a:extLst>
          </p:cNvPr>
          <p:cNvSpPr>
            <a:spLocks noGrp="1"/>
          </p:cNvSpPr>
          <p:nvPr/>
        </p:nvSpPr>
        <p:spPr>
          <a:xfrm>
            <a:off x="4171902"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14" name="TextBox 7">
            <a:extLst>
              <a:ext uri="{FF2B5EF4-FFF2-40B4-BE49-F238E27FC236}">
                <a16:creationId xmlns:a16="http://schemas.microsoft.com/office/drawing/2014/main" id="{56A6C7B2-6281-21A7-E8F4-53405DA8428F}"/>
              </a:ext>
            </a:extLst>
          </p:cNvPr>
          <p:cNvSpPr>
            <a:spLocks noGrp="1"/>
          </p:cNvSpPr>
          <p:nvPr/>
        </p:nvSpPr>
        <p:spPr>
          <a:xfrm>
            <a:off x="4527641" y="1448780"/>
            <a:ext cx="1667169" cy="337114"/>
          </a:xfrm>
          <a:prstGeom prst="round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対象エリアの整理</a:t>
            </a:r>
          </a:p>
        </p:txBody>
      </p:sp>
      <p:sp>
        <p:nvSpPr>
          <p:cNvPr id="15" name="Rounded Rectangle 5">
            <a:extLst>
              <a:ext uri="{FF2B5EF4-FFF2-40B4-BE49-F238E27FC236}">
                <a16:creationId xmlns:a16="http://schemas.microsoft.com/office/drawing/2014/main" id="{33F500D9-CF9C-5B34-C4C6-099286B7D9CE}"/>
              </a:ext>
            </a:extLst>
          </p:cNvPr>
          <p:cNvSpPr>
            <a:spLocks noGrp="1"/>
          </p:cNvSpPr>
          <p:nvPr/>
        </p:nvSpPr>
        <p:spPr>
          <a:xfrm>
            <a:off x="3935760" y="3916676"/>
            <a:ext cx="3351220" cy="2572664"/>
          </a:xfrm>
          <a:prstGeom prst="roundRect">
            <a:avLst>
              <a:gd name="adj" fmla="val 9000"/>
            </a:avLst>
          </a:prstGeom>
          <a:solidFill>
            <a:srgbClr val="BAEAC4">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6">
            <a:extLst>
              <a:ext uri="{FF2B5EF4-FFF2-40B4-BE49-F238E27FC236}">
                <a16:creationId xmlns:a16="http://schemas.microsoft.com/office/drawing/2014/main" id="{CB0FD11A-87D3-A96A-2088-A465B47E0A29}"/>
              </a:ext>
            </a:extLst>
          </p:cNvPr>
          <p:cNvSpPr>
            <a:spLocks noGrp="1"/>
          </p:cNvSpPr>
          <p:nvPr/>
        </p:nvSpPr>
        <p:spPr>
          <a:xfrm>
            <a:off x="4019528" y="3967293"/>
            <a:ext cx="363601"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17" name="TextBox 7">
            <a:extLst>
              <a:ext uri="{FF2B5EF4-FFF2-40B4-BE49-F238E27FC236}">
                <a16:creationId xmlns:a16="http://schemas.microsoft.com/office/drawing/2014/main" id="{ABAB1503-61F5-57E2-398A-87E8B5145005}"/>
              </a:ext>
            </a:extLst>
          </p:cNvPr>
          <p:cNvSpPr>
            <a:spLocks noGrp="1"/>
          </p:cNvSpPr>
          <p:nvPr/>
        </p:nvSpPr>
        <p:spPr>
          <a:xfrm>
            <a:off x="4404694" y="3987124"/>
            <a:ext cx="1853689" cy="304699"/>
          </a:xfrm>
          <a:prstGeom prst="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用途・規模の整理</a:t>
            </a:r>
          </a:p>
        </p:txBody>
      </p:sp>
      <p:sp>
        <p:nvSpPr>
          <p:cNvPr id="18" name="Rounded Rectangle 5">
            <a:extLst>
              <a:ext uri="{FF2B5EF4-FFF2-40B4-BE49-F238E27FC236}">
                <a16:creationId xmlns:a16="http://schemas.microsoft.com/office/drawing/2014/main" id="{C6D69BE9-D12E-262B-B9C9-6ABA9913A1A3}"/>
              </a:ext>
            </a:extLst>
          </p:cNvPr>
          <p:cNvSpPr>
            <a:spLocks noGrp="1"/>
          </p:cNvSpPr>
          <p:nvPr/>
        </p:nvSpPr>
        <p:spPr>
          <a:xfrm>
            <a:off x="8587310" y="1368624"/>
            <a:ext cx="3345140" cy="2701854"/>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Oval 6">
            <a:extLst>
              <a:ext uri="{FF2B5EF4-FFF2-40B4-BE49-F238E27FC236}">
                <a16:creationId xmlns:a16="http://schemas.microsoft.com/office/drawing/2014/main" id="{009B14BC-2912-59AC-EB9D-6E7A53F5900F}"/>
              </a:ext>
            </a:extLst>
          </p:cNvPr>
          <p:cNvSpPr>
            <a:spLocks noGrp="1"/>
          </p:cNvSpPr>
          <p:nvPr/>
        </p:nvSpPr>
        <p:spPr>
          <a:xfrm>
            <a:off x="8651038"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20" name="TextBox 7">
            <a:extLst>
              <a:ext uri="{FF2B5EF4-FFF2-40B4-BE49-F238E27FC236}">
                <a16:creationId xmlns:a16="http://schemas.microsoft.com/office/drawing/2014/main" id="{6816F2C6-7793-6653-D498-0B1EBA2BB962}"/>
              </a:ext>
            </a:extLst>
          </p:cNvPr>
          <p:cNvSpPr>
            <a:spLocks noGrp="1"/>
          </p:cNvSpPr>
          <p:nvPr/>
        </p:nvSpPr>
        <p:spPr>
          <a:xfrm>
            <a:off x="8999706" y="1423204"/>
            <a:ext cx="1564435" cy="304699"/>
          </a:xfrm>
          <a:prstGeom prst="rect">
            <a:avLst/>
          </a:prstGeom>
          <a:noFill/>
          <a:ln>
            <a:noFill/>
          </a:ln>
        </p:spPr>
        <p:txBody>
          <a:bodyPr wrap="square" lIns="36576" tIns="36576" rIns="36576" bIns="36576" anchor="t">
            <a:spAutoFit/>
          </a:bodyPr>
          <a:lstStyle/>
          <a:p>
            <a:pPr algn="l">
              <a:buNone/>
            </a:pPr>
            <a:r>
              <a:rPr lang="ja-JP" altLang="en-US" sz="1500" b="1">
                <a:solidFill>
                  <a:srgbClr val="0B2B5B"/>
                </a:solidFill>
                <a:latin typeface="Noto Sans CJK JP"/>
                <a:ea typeface="Noto Sans CJK JP"/>
                <a:cs typeface="Noto Sans CJK JP"/>
              </a:rPr>
              <a:t>建物属性</a:t>
            </a:r>
            <a:endParaRPr sz="1500" b="1">
              <a:solidFill>
                <a:srgbClr val="0B2B5B"/>
              </a:solidFill>
              <a:latin typeface="Noto Sans CJK JP"/>
              <a:ea typeface="Noto Sans CJK JP"/>
              <a:cs typeface="Noto Sans CJK JP"/>
            </a:endParaRPr>
          </a:p>
        </p:txBody>
      </p:sp>
      <p:sp>
        <p:nvSpPr>
          <p:cNvPr id="21" name="Rounded Rectangle 5">
            <a:extLst>
              <a:ext uri="{FF2B5EF4-FFF2-40B4-BE49-F238E27FC236}">
                <a16:creationId xmlns:a16="http://schemas.microsoft.com/office/drawing/2014/main" id="{63521FC1-95D6-B0F7-C2F0-0B4700C56632}"/>
              </a:ext>
            </a:extLst>
          </p:cNvPr>
          <p:cNvSpPr>
            <a:spLocks noGrp="1"/>
          </p:cNvSpPr>
          <p:nvPr/>
        </p:nvSpPr>
        <p:spPr>
          <a:xfrm>
            <a:off x="8597608" y="4120732"/>
            <a:ext cx="3381857" cy="2368608"/>
          </a:xfrm>
          <a:prstGeom prst="roundRect">
            <a:avLst>
              <a:gd name="adj" fmla="val 9000"/>
            </a:avLst>
          </a:prstGeom>
          <a:solidFill>
            <a:srgbClr val="F2B3ED">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Oval 6">
            <a:extLst>
              <a:ext uri="{FF2B5EF4-FFF2-40B4-BE49-F238E27FC236}">
                <a16:creationId xmlns:a16="http://schemas.microsoft.com/office/drawing/2014/main" id="{6D00757E-6F02-4FE5-27BA-49BC15C21C04}"/>
              </a:ext>
            </a:extLst>
          </p:cNvPr>
          <p:cNvSpPr>
            <a:spLocks noGrp="1"/>
          </p:cNvSpPr>
          <p:nvPr/>
        </p:nvSpPr>
        <p:spPr>
          <a:xfrm>
            <a:off x="8650287" y="4181281"/>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23" name="TextBox 7">
            <a:extLst>
              <a:ext uri="{FF2B5EF4-FFF2-40B4-BE49-F238E27FC236}">
                <a16:creationId xmlns:a16="http://schemas.microsoft.com/office/drawing/2014/main" id="{05917BDB-ED8A-EA90-FC3D-2989200E4B48}"/>
              </a:ext>
            </a:extLst>
          </p:cNvPr>
          <p:cNvSpPr>
            <a:spLocks noGrp="1"/>
          </p:cNvSpPr>
          <p:nvPr/>
        </p:nvSpPr>
        <p:spPr>
          <a:xfrm>
            <a:off x="8999706" y="4193523"/>
            <a:ext cx="2149004" cy="304699"/>
          </a:xfrm>
          <a:prstGeom prst="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配置・接続条件</a:t>
            </a:r>
          </a:p>
        </p:txBody>
      </p:sp>
      <p:sp>
        <p:nvSpPr>
          <p:cNvPr id="33" name="円/楕円 32">
            <a:extLst>
              <a:ext uri="{FF2B5EF4-FFF2-40B4-BE49-F238E27FC236}">
                <a16:creationId xmlns:a16="http://schemas.microsoft.com/office/drawing/2014/main" id="{863664CA-A4DD-74DC-D0CD-B3F8C7A609FB}"/>
              </a:ext>
            </a:extLst>
          </p:cNvPr>
          <p:cNvSpPr>
            <a:spLocks noGrp="1"/>
          </p:cNvSpPr>
          <p:nvPr/>
        </p:nvSpPr>
        <p:spPr>
          <a:xfrm>
            <a:off x="6732537" y="1757761"/>
            <a:ext cx="192955" cy="180829"/>
          </a:xfrm>
          <a:prstGeom prst="ellipse">
            <a:avLst/>
          </a:prstGeom>
          <a:solidFill>
            <a:srgbClr val="000000"/>
          </a:solidFill>
          <a:ln w="15478">
            <a:noFill/>
            <a:prstDash val="solid"/>
          </a:ln>
        </p:spPr>
        <p:txBody>
          <a:bodyPr/>
          <a:lstStyle/>
          <a:p>
            <a:endParaRPr/>
          </a:p>
        </p:txBody>
      </p:sp>
      <p:sp>
        <p:nvSpPr>
          <p:cNvPr id="34" name="フリーフォーム 33">
            <a:extLst>
              <a:ext uri="{FF2B5EF4-FFF2-40B4-BE49-F238E27FC236}">
                <a16:creationId xmlns:a16="http://schemas.microsoft.com/office/drawing/2014/main" id="{1ADA9A37-D641-9731-E000-62D56064CC34}"/>
              </a:ext>
            </a:extLst>
          </p:cNvPr>
          <p:cNvSpPr>
            <a:spLocks noGrp="1"/>
          </p:cNvSpPr>
          <p:nvPr/>
        </p:nvSpPr>
        <p:spPr>
          <a:xfrm>
            <a:off x="6636060" y="1961194"/>
            <a:ext cx="385910" cy="180829"/>
          </a:xfrm>
          <a:custGeom>
            <a:avLst/>
            <a:gdLst/>
            <a:ahLst/>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a:noFill/>
            <a:prstDash val="solid"/>
          </a:ln>
        </p:spPr>
        <p:txBody>
          <a:bodyPr/>
          <a:lstStyle/>
          <a:p>
            <a:endParaRPr/>
          </a:p>
        </p:txBody>
      </p:sp>
      <p:sp>
        <p:nvSpPr>
          <p:cNvPr id="32" name="テキスト ボックス 31">
            <a:extLst>
              <a:ext uri="{FF2B5EF4-FFF2-40B4-BE49-F238E27FC236}">
                <a16:creationId xmlns:a16="http://schemas.microsoft.com/office/drawing/2014/main" id="{E8F0E08D-C14E-188E-7CED-FC0857581B86}"/>
              </a:ext>
            </a:extLst>
          </p:cNvPr>
          <p:cNvSpPr>
            <a:spLocks noGrp="1"/>
          </p:cNvSpPr>
          <p:nvPr/>
        </p:nvSpPr>
        <p:spPr>
          <a:xfrm>
            <a:off x="6442308" y="2157275"/>
            <a:ext cx="777643" cy="307777"/>
          </a:xfrm>
          <a:prstGeom prst="rect">
            <a:avLst/>
          </a:prstGeom>
          <a:noFill/>
        </p:spPr>
        <p:txBody>
          <a:bodyPr wrap="square">
            <a:spAutoFit/>
          </a:bodyPr>
          <a:lstStyle/>
          <a:p>
            <a:pPr algn="ctr">
              <a:buNone/>
            </a:pPr>
            <a:r>
              <a:rPr sz="1400"/>
              <a:t>計画者</a:t>
            </a:r>
          </a:p>
        </p:txBody>
      </p:sp>
      <p:sp>
        <p:nvSpPr>
          <p:cNvPr id="29" name="グラフィックス 9">
            <a:extLst>
              <a:ext uri="{FF2B5EF4-FFF2-40B4-BE49-F238E27FC236}">
                <a16:creationId xmlns:a16="http://schemas.microsoft.com/office/drawing/2014/main" id="{EA818BFD-F3CC-D9DC-F17B-E2FD004076FE}"/>
              </a:ext>
            </a:extLst>
          </p:cNvPr>
          <p:cNvSpPr>
            <a:spLocks noGrp="1"/>
          </p:cNvSpPr>
          <p:nvPr/>
        </p:nvSpPr>
        <p:spPr>
          <a:xfrm flipH="1">
            <a:off x="4317140" y="1756805"/>
            <a:ext cx="385910" cy="388964"/>
          </a:xfrm>
          <a:custGeom>
            <a:avLst/>
            <a:gdLst/>
            <a:ahLst/>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a:noFill/>
            <a:prstDash val="solid"/>
          </a:ln>
        </p:spPr>
        <p:txBody>
          <a:bodyPr/>
          <a:lstStyle/>
          <a:p>
            <a:endParaRPr/>
          </a:p>
        </p:txBody>
      </p:sp>
      <p:sp>
        <p:nvSpPr>
          <p:cNvPr id="24" name="Rounded Rectangle 5">
            <a:extLst>
              <a:ext uri="{FF2B5EF4-FFF2-40B4-BE49-F238E27FC236}">
                <a16:creationId xmlns:a16="http://schemas.microsoft.com/office/drawing/2014/main" id="{7CAF5548-F103-06AE-7E18-7C7AB423FC3F}"/>
              </a:ext>
            </a:extLst>
          </p:cNvPr>
          <p:cNvSpPr>
            <a:spLocks noGrp="1"/>
          </p:cNvSpPr>
          <p:nvPr/>
        </p:nvSpPr>
        <p:spPr>
          <a:xfrm>
            <a:off x="4647971" y="2476556"/>
            <a:ext cx="2483144" cy="720369"/>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ja-JP" sz="1050">
                <a:solidFill>
                  <a:schemeClr val="tx1"/>
                </a:solidFill>
              </a:rPr>
              <a:t>名鉄百貨店本店の営業終了後、既存建物を暫定利用する仮想的な計画案を検討したいです。</a:t>
            </a:r>
            <a:endParaRPr sz="1050">
              <a:solidFill>
                <a:schemeClr val="tx1"/>
              </a:solidFill>
            </a:endParaRPr>
          </a:p>
        </p:txBody>
      </p:sp>
      <p:sp>
        <p:nvSpPr>
          <p:cNvPr id="25" name="Rounded Rectangle 5">
            <a:extLst>
              <a:ext uri="{FF2B5EF4-FFF2-40B4-BE49-F238E27FC236}">
                <a16:creationId xmlns:a16="http://schemas.microsoft.com/office/drawing/2014/main" id="{6B6EE906-7A32-0A92-BB5B-23873193CAB2}"/>
              </a:ext>
            </a:extLst>
          </p:cNvPr>
          <p:cNvSpPr>
            <a:spLocks noGrp="1"/>
          </p:cNvSpPr>
          <p:nvPr/>
        </p:nvSpPr>
        <p:spPr>
          <a:xfrm>
            <a:off x="4107911" y="3248978"/>
            <a:ext cx="2483144" cy="573877"/>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対象は旧</a:t>
            </a:r>
            <a:r>
              <a:rPr lang="ja-JP" altLang="en-US" sz="1050">
                <a:solidFill>
                  <a:schemeClr val="tx1"/>
                </a:solidFill>
              </a:rPr>
              <a:t>名鉄百貨店</a:t>
            </a:r>
            <a:r>
              <a:rPr sz="1050">
                <a:solidFill>
                  <a:schemeClr val="tx1"/>
                </a:solidFill>
              </a:rPr>
              <a:t>周辺です。</a:t>
            </a:r>
            <a:r>
              <a:rPr lang="ja-JP" altLang="en-US" sz="1050">
                <a:solidFill>
                  <a:schemeClr val="tx1"/>
                </a:solidFill>
              </a:rPr>
              <a:t>敷地面積は約</a:t>
            </a:r>
            <a:r>
              <a:rPr lang="en-US" altLang="ja-JP" sz="1050">
                <a:solidFill>
                  <a:schemeClr val="tx1"/>
                </a:solidFill>
              </a:rPr>
              <a:t>1000</a:t>
            </a:r>
            <a:r>
              <a:rPr lang="ja-JP" altLang="ja-JP" sz="1050" dirty="0">
                <a:solidFill>
                  <a:schemeClr val="tx1"/>
                </a:solidFill>
              </a:rPr>
              <a:t> ㎡ </a:t>
            </a:r>
            <a:r>
              <a:rPr lang="ja-JP" altLang="en-US" sz="1050" dirty="0">
                <a:solidFill>
                  <a:schemeClr val="tx1"/>
                </a:solidFill>
              </a:rPr>
              <a:t>です。</a:t>
            </a:r>
            <a:r>
              <a:rPr sz="1050">
                <a:solidFill>
                  <a:schemeClr val="tx1"/>
                </a:solidFill>
              </a:rPr>
              <a:t>改札・バスセンター・</a:t>
            </a:r>
            <a:r>
              <a:rPr lang="ja-JP" altLang="en-US" sz="1050">
                <a:solidFill>
                  <a:schemeClr val="tx1"/>
                </a:solidFill>
              </a:rPr>
              <a:t>駅</a:t>
            </a:r>
            <a:r>
              <a:rPr sz="1050">
                <a:solidFill>
                  <a:schemeClr val="tx1"/>
                </a:solidFill>
              </a:rPr>
              <a:t>との接続</a:t>
            </a:r>
            <a:r>
              <a:rPr lang="ja-JP" altLang="en-US" sz="1050">
                <a:solidFill>
                  <a:schemeClr val="tx1"/>
                </a:solidFill>
              </a:rPr>
              <a:t>が良好な場所です。</a:t>
            </a:r>
            <a:endParaRPr sz="1050">
              <a:solidFill>
                <a:schemeClr val="tx1"/>
              </a:solidFill>
            </a:endParaRPr>
          </a:p>
        </p:txBody>
      </p:sp>
      <p:sp>
        <p:nvSpPr>
          <p:cNvPr id="50" name="Rounded Rectangle 5">
            <a:extLst>
              <a:ext uri="{FF2B5EF4-FFF2-40B4-BE49-F238E27FC236}">
                <a16:creationId xmlns:a16="http://schemas.microsoft.com/office/drawing/2014/main" id="{C30373DE-ED63-0698-E8A6-8F78F21214EB}"/>
              </a:ext>
            </a:extLst>
          </p:cNvPr>
          <p:cNvSpPr>
            <a:spLocks noGrp="1"/>
          </p:cNvSpPr>
          <p:nvPr/>
        </p:nvSpPr>
        <p:spPr>
          <a:xfrm>
            <a:off x="4072394" y="433836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駅周辺の</a:t>
            </a:r>
            <a:r>
              <a:rPr lang="ja-JP" altLang="en-US" sz="1050">
                <a:solidFill>
                  <a:schemeClr val="tx1"/>
                </a:solidFill>
              </a:rPr>
              <a:t>施設</a:t>
            </a:r>
            <a:r>
              <a:rPr sz="1050">
                <a:solidFill>
                  <a:schemeClr val="tx1"/>
                </a:solidFill>
              </a:rPr>
              <a:t>を踏まえ、候補用途と規模を整理します。</a:t>
            </a:r>
          </a:p>
        </p:txBody>
      </p:sp>
      <p:sp>
        <p:nvSpPr>
          <p:cNvPr id="51" name="Rounded Rectangle 5">
            <a:extLst>
              <a:ext uri="{FF2B5EF4-FFF2-40B4-BE49-F238E27FC236}">
                <a16:creationId xmlns:a16="http://schemas.microsoft.com/office/drawing/2014/main" id="{B020A620-D008-CAD6-F3D8-2165E1C4197D}"/>
              </a:ext>
            </a:extLst>
          </p:cNvPr>
          <p:cNvSpPr>
            <a:spLocks noGrp="1"/>
          </p:cNvSpPr>
          <p:nvPr/>
        </p:nvSpPr>
        <p:spPr>
          <a:xfrm>
            <a:off x="4655840" y="4799034"/>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ja-JP" sz="1050">
                <a:solidFill>
                  <a:schemeClr val="tx1"/>
                </a:solidFill>
              </a:rPr>
              <a:t>買い物だけでなく食事や休憩のために駅利用者が立ち寄る施設にしたいです。</a:t>
            </a:r>
            <a:endParaRPr sz="1050">
              <a:solidFill>
                <a:schemeClr val="tx1"/>
              </a:solidFill>
            </a:endParaRPr>
          </a:p>
        </p:txBody>
      </p:sp>
      <p:sp>
        <p:nvSpPr>
          <p:cNvPr id="52" name="Rounded Rectangle 5">
            <a:extLst>
              <a:ext uri="{FF2B5EF4-FFF2-40B4-BE49-F238E27FC236}">
                <a16:creationId xmlns:a16="http://schemas.microsoft.com/office/drawing/2014/main" id="{DE60BB1C-A605-A4C6-6D0F-2D70EB3A84E9}"/>
              </a:ext>
            </a:extLst>
          </p:cNvPr>
          <p:cNvSpPr>
            <a:spLocks noGrp="1"/>
          </p:cNvSpPr>
          <p:nvPr/>
        </p:nvSpPr>
        <p:spPr>
          <a:xfrm>
            <a:off x="4072394" y="5260269"/>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物販・飲食を含む複合施設を候補にします。</a:t>
            </a:r>
          </a:p>
        </p:txBody>
      </p:sp>
      <p:sp>
        <p:nvSpPr>
          <p:cNvPr id="54" name="Rounded Rectangle 5">
            <a:extLst>
              <a:ext uri="{FF2B5EF4-FFF2-40B4-BE49-F238E27FC236}">
                <a16:creationId xmlns:a16="http://schemas.microsoft.com/office/drawing/2014/main" id="{F6191165-9121-0E03-B0FF-DEB59C654B4E}"/>
              </a:ext>
            </a:extLst>
          </p:cNvPr>
          <p:cNvSpPr>
            <a:spLocks noGrp="1"/>
          </p:cNvSpPr>
          <p:nvPr/>
        </p:nvSpPr>
        <p:spPr>
          <a:xfrm>
            <a:off x="4703050" y="5715061"/>
            <a:ext cx="2473070" cy="230353"/>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en-US" sz="1050">
                <a:solidFill>
                  <a:schemeClr val="tx1"/>
                </a:solidFill>
              </a:rPr>
              <a:t>低層階を</a:t>
            </a:r>
            <a:r>
              <a:rPr sz="1050">
                <a:solidFill>
                  <a:schemeClr val="tx1"/>
                </a:solidFill>
              </a:rPr>
              <a:t>中心で検討します。</a:t>
            </a:r>
          </a:p>
        </p:txBody>
      </p:sp>
      <p:sp>
        <p:nvSpPr>
          <p:cNvPr id="55" name="Rounded Rectangle 5">
            <a:extLst>
              <a:ext uri="{FF2B5EF4-FFF2-40B4-BE49-F238E27FC236}">
                <a16:creationId xmlns:a16="http://schemas.microsoft.com/office/drawing/2014/main" id="{2B43591C-33BD-0069-517F-137DE3DD6CFF}"/>
              </a:ext>
            </a:extLst>
          </p:cNvPr>
          <p:cNvSpPr>
            <a:spLocks noGrp="1"/>
          </p:cNvSpPr>
          <p:nvPr/>
        </p:nvSpPr>
        <p:spPr>
          <a:xfrm>
            <a:off x="4072394" y="5998378"/>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駅前の商業＋</a:t>
            </a:r>
            <a:r>
              <a:rPr lang="ja-JP" altLang="en-US" sz="1050">
                <a:solidFill>
                  <a:schemeClr val="tx1"/>
                </a:solidFill>
              </a:rPr>
              <a:t>休憩場所の低層施設</a:t>
            </a:r>
            <a:r>
              <a:rPr sz="1050">
                <a:solidFill>
                  <a:schemeClr val="tx1"/>
                </a:solidFill>
              </a:rPr>
              <a:t>として設定します。</a:t>
            </a:r>
          </a:p>
        </p:txBody>
      </p:sp>
      <p:sp>
        <p:nvSpPr>
          <p:cNvPr id="59" name="Rounded Rectangle 5">
            <a:extLst>
              <a:ext uri="{FF2B5EF4-FFF2-40B4-BE49-F238E27FC236}">
                <a16:creationId xmlns:a16="http://schemas.microsoft.com/office/drawing/2014/main" id="{5754FB86-EE13-1957-CCF2-1A88971F314A}"/>
              </a:ext>
            </a:extLst>
          </p:cNvPr>
          <p:cNvSpPr>
            <a:spLocks noGrp="1"/>
          </p:cNvSpPr>
          <p:nvPr/>
        </p:nvSpPr>
        <p:spPr>
          <a:xfrm>
            <a:off x="8708605" y="2539467"/>
            <a:ext cx="2482137" cy="257438"/>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en-US" sz="1050">
                <a:solidFill>
                  <a:schemeClr val="tx1"/>
                </a:solidFill>
              </a:rPr>
              <a:t>1〜4階を対象とします。</a:t>
            </a:r>
            <a:endParaRPr sz="1050">
              <a:solidFill>
                <a:schemeClr val="tx1"/>
              </a:solidFill>
            </a:endParaRPr>
          </a:p>
        </p:txBody>
      </p:sp>
      <p:sp>
        <p:nvSpPr>
          <p:cNvPr id="61" name="Rounded Rectangle 5">
            <a:extLst>
              <a:ext uri="{FF2B5EF4-FFF2-40B4-BE49-F238E27FC236}">
                <a16:creationId xmlns:a16="http://schemas.microsoft.com/office/drawing/2014/main" id="{2076248B-02EE-1BD1-E270-3326E6827907}"/>
              </a:ext>
            </a:extLst>
          </p:cNvPr>
          <p:cNvSpPr>
            <a:spLocks noGrp="1"/>
          </p:cNvSpPr>
          <p:nvPr/>
        </p:nvSpPr>
        <p:spPr>
          <a:xfrm>
            <a:off x="8708605" y="2836629"/>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en-US" sz="1050">
                <a:solidFill>
                  <a:schemeClr val="tx1"/>
                </a:solidFill>
              </a:rPr>
              <a:t>延床面積は約</a:t>
            </a:r>
            <a:r>
              <a:rPr lang="en-US" altLang="ja-JP" sz="1050">
                <a:solidFill>
                  <a:schemeClr val="tx1"/>
                </a:solidFill>
              </a:rPr>
              <a:t>4000</a:t>
            </a:r>
            <a:r>
              <a:rPr lang="ja-JP" altLang="ja-JP" sz="1050" dirty="0">
                <a:solidFill>
                  <a:schemeClr val="tx1"/>
                </a:solidFill>
              </a:rPr>
              <a:t> ㎡ </a:t>
            </a:r>
            <a:r>
              <a:rPr lang="ja-JP" altLang="en-US" sz="1050" dirty="0">
                <a:solidFill>
                  <a:schemeClr val="tx1"/>
                </a:solidFill>
              </a:rPr>
              <a:t>、</a:t>
            </a:r>
            <a:r>
              <a:rPr lang="ja-JP" altLang="ja-JP" sz="1050">
                <a:solidFill>
                  <a:schemeClr val="tx1"/>
                </a:solidFill>
              </a:rPr>
              <a:t>物販を中心に飲食・交流機能も設け</a:t>
            </a:r>
            <a:r>
              <a:rPr lang="ja-JP" altLang="en-US" sz="1050">
                <a:solidFill>
                  <a:schemeClr val="tx1"/>
                </a:solidFill>
              </a:rPr>
              <a:t>ます</a:t>
            </a:r>
            <a:r>
              <a:rPr lang="ja-JP" altLang="ja-JP" sz="1050">
                <a:solidFill>
                  <a:schemeClr val="tx1"/>
                </a:solidFill>
              </a:rPr>
              <a:t>。</a:t>
            </a:r>
            <a:endParaRPr sz="1050">
              <a:solidFill>
                <a:schemeClr val="tx1"/>
              </a:solidFill>
            </a:endParaRPr>
          </a:p>
        </p:txBody>
      </p:sp>
      <p:sp>
        <p:nvSpPr>
          <p:cNvPr id="62" name="Rounded Rectangle 5">
            <a:extLst>
              <a:ext uri="{FF2B5EF4-FFF2-40B4-BE49-F238E27FC236}">
                <a16:creationId xmlns:a16="http://schemas.microsoft.com/office/drawing/2014/main" id="{7A93DCD4-AD3B-F4DA-92C9-F84ABBAA71B3}"/>
              </a:ext>
            </a:extLst>
          </p:cNvPr>
          <p:cNvSpPr>
            <a:spLocks noGrp="1"/>
          </p:cNvSpPr>
          <p:nvPr/>
        </p:nvSpPr>
        <p:spPr>
          <a:xfrm>
            <a:off x="8704939" y="3285082"/>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ja-JP" sz="1050">
                <a:solidFill>
                  <a:schemeClr val="tx1"/>
                </a:solidFill>
              </a:rPr>
              <a:t>物販</a:t>
            </a:r>
            <a:r>
              <a:rPr lang="en-US" altLang="ja-JP" sz="1050">
                <a:solidFill>
                  <a:schemeClr val="tx1"/>
                </a:solidFill>
              </a:rPr>
              <a:t>8</a:t>
            </a:r>
            <a:r>
              <a:rPr lang="ja-JP" altLang="ja-JP" sz="1050">
                <a:solidFill>
                  <a:schemeClr val="tx1"/>
                </a:solidFill>
              </a:rPr>
              <a:t>0％、飲食20％</a:t>
            </a:r>
            <a:r>
              <a:rPr lang="ja-JP" altLang="en-US" sz="1050">
                <a:solidFill>
                  <a:schemeClr val="tx1"/>
                </a:solidFill>
              </a:rPr>
              <a:t>とします。営業時間は</a:t>
            </a:r>
            <a:r>
              <a:rPr lang="en-US" altLang="ja-JP" sz="1050">
                <a:solidFill>
                  <a:schemeClr val="tx1"/>
                </a:solidFill>
              </a:rPr>
              <a:t>10〜18</a:t>
            </a:r>
            <a:r>
              <a:rPr lang="ja-JP" altLang="en-US" sz="1050">
                <a:solidFill>
                  <a:schemeClr val="tx1"/>
                </a:solidFill>
              </a:rPr>
              <a:t>時と仮定します。</a:t>
            </a:r>
            <a:endParaRPr sz="1050">
              <a:solidFill>
                <a:schemeClr val="tx1"/>
              </a:solidFill>
            </a:endParaRPr>
          </a:p>
        </p:txBody>
      </p:sp>
      <p:sp>
        <p:nvSpPr>
          <p:cNvPr id="63" name="Rounded Rectangle 5">
            <a:extLst>
              <a:ext uri="{FF2B5EF4-FFF2-40B4-BE49-F238E27FC236}">
                <a16:creationId xmlns:a16="http://schemas.microsoft.com/office/drawing/2014/main" id="{A8549FD5-2B3D-7F6A-9C22-A2C94539AD73}"/>
              </a:ext>
            </a:extLst>
          </p:cNvPr>
          <p:cNvSpPr>
            <a:spLocks noGrp="1"/>
          </p:cNvSpPr>
          <p:nvPr/>
        </p:nvSpPr>
        <p:spPr>
          <a:xfrm>
            <a:off x="9329498" y="3728746"/>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その条件で進めてください。</a:t>
            </a:r>
          </a:p>
        </p:txBody>
      </p:sp>
      <p:sp>
        <p:nvSpPr>
          <p:cNvPr id="128" name="Rounded Rectangle 5">
            <a:extLst>
              <a:ext uri="{FF2B5EF4-FFF2-40B4-BE49-F238E27FC236}">
                <a16:creationId xmlns:a16="http://schemas.microsoft.com/office/drawing/2014/main" id="{877D59B7-F391-B689-F8C9-45230B9136C6}"/>
              </a:ext>
            </a:extLst>
          </p:cNvPr>
          <p:cNvSpPr>
            <a:spLocks noGrp="1"/>
          </p:cNvSpPr>
          <p:nvPr/>
        </p:nvSpPr>
        <p:spPr>
          <a:xfrm>
            <a:off x="8700051" y="4580635"/>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改札、地下通路、地上出入口を
接続点として扱います。</a:t>
            </a:r>
          </a:p>
        </p:txBody>
      </p:sp>
      <p:sp>
        <p:nvSpPr>
          <p:cNvPr id="130" name="Rounded Rectangle 5">
            <a:extLst>
              <a:ext uri="{FF2B5EF4-FFF2-40B4-BE49-F238E27FC236}">
                <a16:creationId xmlns:a16="http://schemas.microsoft.com/office/drawing/2014/main" id="{934A8A9E-C0EC-A313-0B6C-8860E180404C}"/>
              </a:ext>
            </a:extLst>
          </p:cNvPr>
          <p:cNvSpPr>
            <a:spLocks noGrp="1"/>
          </p:cNvSpPr>
          <p:nvPr/>
        </p:nvSpPr>
        <p:spPr>
          <a:xfrm>
            <a:off x="9329498" y="5041307"/>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バスセンター・近鉄・JRの乗</a:t>
            </a:r>
            <a:r>
              <a:rPr lang="ja-JP" altLang="en-US" sz="1050">
                <a:solidFill>
                  <a:schemeClr val="tx1"/>
                </a:solidFill>
              </a:rPr>
              <a:t>り</a:t>
            </a:r>
            <a:r>
              <a:rPr sz="1050">
                <a:solidFill>
                  <a:schemeClr val="tx1"/>
                </a:solidFill>
              </a:rPr>
              <a:t>換</a:t>
            </a:r>
            <a:r>
              <a:rPr lang="ja-JP" altLang="en-US" sz="1050">
                <a:solidFill>
                  <a:schemeClr val="tx1"/>
                </a:solidFill>
              </a:rPr>
              <a:t>え</a:t>
            </a:r>
            <a:r>
              <a:rPr sz="1050">
                <a:solidFill>
                  <a:schemeClr val="tx1"/>
                </a:solidFill>
              </a:rPr>
              <a:t>を考慮し</a:t>
            </a:r>
            <a:r>
              <a:rPr lang="ja-JP" altLang="en-US" sz="1050">
                <a:solidFill>
                  <a:schemeClr val="tx1"/>
                </a:solidFill>
              </a:rPr>
              <a:t>てください</a:t>
            </a:r>
            <a:r>
              <a:rPr sz="1050">
                <a:solidFill>
                  <a:schemeClr val="tx1"/>
                </a:solidFill>
              </a:rPr>
              <a:t>。</a:t>
            </a:r>
          </a:p>
        </p:txBody>
      </p:sp>
      <p:sp>
        <p:nvSpPr>
          <p:cNvPr id="132" name="Rounded Rectangle 5">
            <a:extLst>
              <a:ext uri="{FF2B5EF4-FFF2-40B4-BE49-F238E27FC236}">
                <a16:creationId xmlns:a16="http://schemas.microsoft.com/office/drawing/2014/main" id="{469A67E9-DAC1-CF73-57E7-A920C135D4E0}"/>
              </a:ext>
            </a:extLst>
          </p:cNvPr>
          <p:cNvSpPr>
            <a:spLocks noGrp="1"/>
          </p:cNvSpPr>
          <p:nvPr/>
        </p:nvSpPr>
        <p:spPr>
          <a:xfrm>
            <a:off x="8700051" y="550254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en-US" sz="1050">
                <a:solidFill>
                  <a:schemeClr val="tx1"/>
                </a:solidFill>
              </a:rPr>
              <a:t>乗り換え通路から直接飲食店にアクセスしやすい配置にします。</a:t>
            </a:r>
            <a:endParaRPr sz="1050">
              <a:solidFill>
                <a:schemeClr val="tx1"/>
              </a:solidFill>
            </a:endParaRPr>
          </a:p>
        </p:txBody>
      </p:sp>
      <p:sp>
        <p:nvSpPr>
          <p:cNvPr id="134" name="Rounded Rectangle 5">
            <a:extLst>
              <a:ext uri="{FF2B5EF4-FFF2-40B4-BE49-F238E27FC236}">
                <a16:creationId xmlns:a16="http://schemas.microsoft.com/office/drawing/2014/main" id="{B0155DE1-07A2-5092-54C5-D4F6B839096C}"/>
              </a:ext>
            </a:extLst>
          </p:cNvPr>
          <p:cNvSpPr>
            <a:spLocks noGrp="1"/>
          </p:cNvSpPr>
          <p:nvPr/>
        </p:nvSpPr>
        <p:spPr>
          <a:xfrm>
            <a:off x="8715273" y="5965907"/>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en-US" sz="1050">
                <a:solidFill>
                  <a:schemeClr val="tx1"/>
                </a:solidFill>
              </a:rPr>
              <a:t>会話を元に</a:t>
            </a:r>
            <a:r>
              <a:rPr sz="1050">
                <a:solidFill>
                  <a:schemeClr val="tx1"/>
                </a:solidFill>
              </a:rPr>
              <a:t>人流評価用の入力条件</a:t>
            </a:r>
            <a:r>
              <a:rPr lang="ja-JP" altLang="en-US" sz="1050">
                <a:solidFill>
                  <a:schemeClr val="tx1"/>
                </a:solidFill>
              </a:rPr>
              <a:t>を</a:t>
            </a:r>
            <a:r>
              <a:rPr sz="1050">
                <a:solidFill>
                  <a:schemeClr val="tx1"/>
                </a:solidFill>
              </a:rPr>
              <a:t>出力します。</a:t>
            </a:r>
          </a:p>
        </p:txBody>
      </p:sp>
      <p:sp>
        <p:nvSpPr>
          <p:cNvPr id="44" name="Rounded Rectangle 5">
            <a:extLst>
              <a:ext uri="{FF2B5EF4-FFF2-40B4-BE49-F238E27FC236}">
                <a16:creationId xmlns:a16="http://schemas.microsoft.com/office/drawing/2014/main" id="{670416E6-6D7B-A209-7791-301DA7440C98}"/>
              </a:ext>
            </a:extLst>
          </p:cNvPr>
          <p:cNvSpPr>
            <a:spLocks noGrp="1"/>
          </p:cNvSpPr>
          <p:nvPr/>
        </p:nvSpPr>
        <p:spPr>
          <a:xfrm>
            <a:off x="4258437" y="2172300"/>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cxnSp>
        <p:nvCxnSpPr>
          <p:cNvPr id="534" name="コネクタ: カギ線 55"/>
          <p:cNvCxnSpPr>
            <a:stCxn id="15" idx="3"/>
            <a:endCxn id="18" idx="1"/>
          </p:cNvCxnSpPr>
          <p:nvPr/>
        </p:nvCxnSpPr>
        <p:spPr>
          <a:xfrm flipV="1">
            <a:off x="7286980" y="2719551"/>
            <a:ext cx="1300330" cy="2483457"/>
          </a:xfrm>
          <a:prstGeom prst="bentConnector3">
            <a:avLst/>
          </a:prstGeom>
          <a:ln w="38100">
            <a:tailEnd type="triangle"/>
          </a:ln>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20E4CE7C-7893-ED73-602B-9EC38EB7DC62}"/>
              </a:ext>
            </a:extLst>
          </p:cNvPr>
          <p:cNvSpPr>
            <a:spLocks noGrp="1"/>
          </p:cNvSpPr>
          <p:nvPr/>
        </p:nvSpPr>
        <p:spPr>
          <a:xfrm>
            <a:off x="4258437" y="2113212"/>
            <a:ext cx="553714" cy="338554"/>
          </a:xfrm>
          <a:prstGeom prst="rect">
            <a:avLst/>
          </a:prstGeom>
          <a:noFill/>
        </p:spPr>
        <p:txBody>
          <a:bodyPr wrap="square">
            <a:spAutoFit/>
          </a:bodyPr>
          <a:lstStyle/>
          <a:p>
            <a:pPr algn="ctr">
              <a:buNone/>
            </a:pPr>
            <a:r>
              <a:rPr sz="1600"/>
              <a:t>LLM</a:t>
            </a:r>
          </a:p>
        </p:txBody>
      </p:sp>
      <p:sp>
        <p:nvSpPr>
          <p:cNvPr id="42" name="Rounded Rectangle 5">
            <a:extLst>
              <a:ext uri="{FF2B5EF4-FFF2-40B4-BE49-F238E27FC236}">
                <a16:creationId xmlns:a16="http://schemas.microsoft.com/office/drawing/2014/main" id="{8516D0A0-491C-9680-7C5D-3345C1021839}"/>
              </a:ext>
            </a:extLst>
          </p:cNvPr>
          <p:cNvSpPr>
            <a:spLocks noGrp="1"/>
          </p:cNvSpPr>
          <p:nvPr/>
        </p:nvSpPr>
        <p:spPr>
          <a:xfrm>
            <a:off x="6453492" y="2176155"/>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円/楕円 10">
            <a:extLst>
              <a:ext uri="{FF2B5EF4-FFF2-40B4-BE49-F238E27FC236}">
                <a16:creationId xmlns:a16="http://schemas.microsoft.com/office/drawing/2014/main" id="{88D8AA15-5F7F-752A-29E3-0F98B3B59237}"/>
              </a:ext>
            </a:extLst>
          </p:cNvPr>
          <p:cNvSpPr>
            <a:spLocks noGrp="1"/>
          </p:cNvSpPr>
          <p:nvPr/>
        </p:nvSpPr>
        <p:spPr>
          <a:xfrm>
            <a:off x="11346478" y="1781220"/>
            <a:ext cx="192955" cy="180829"/>
          </a:xfrm>
          <a:prstGeom prst="ellipse">
            <a:avLst/>
          </a:prstGeom>
          <a:solidFill>
            <a:srgbClr val="000000"/>
          </a:solidFill>
          <a:ln w="15478">
            <a:noFill/>
            <a:prstDash val="solid"/>
          </a:ln>
        </p:spPr>
        <p:txBody>
          <a:bodyPr/>
          <a:lstStyle/>
          <a:p>
            <a:endParaRPr/>
          </a:p>
        </p:txBody>
      </p:sp>
      <p:sp>
        <p:nvSpPr>
          <p:cNvPr id="30" name="フリーフォーム 29">
            <a:extLst>
              <a:ext uri="{FF2B5EF4-FFF2-40B4-BE49-F238E27FC236}">
                <a16:creationId xmlns:a16="http://schemas.microsoft.com/office/drawing/2014/main" id="{1FA24AA5-F1DA-A3CD-668F-D5EDE5D3AB77}"/>
              </a:ext>
            </a:extLst>
          </p:cNvPr>
          <p:cNvSpPr>
            <a:spLocks noGrp="1"/>
          </p:cNvSpPr>
          <p:nvPr/>
        </p:nvSpPr>
        <p:spPr>
          <a:xfrm>
            <a:off x="11250001" y="1984653"/>
            <a:ext cx="385910" cy="180829"/>
          </a:xfrm>
          <a:custGeom>
            <a:avLst/>
            <a:gdLst/>
            <a:ahLst/>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a:noFill/>
            <a:prstDash val="solid"/>
          </a:ln>
        </p:spPr>
        <p:txBody>
          <a:bodyPr/>
          <a:lstStyle/>
          <a:p>
            <a:endParaRPr/>
          </a:p>
        </p:txBody>
      </p:sp>
      <p:sp>
        <p:nvSpPr>
          <p:cNvPr id="36" name="テキスト ボックス 35">
            <a:extLst>
              <a:ext uri="{FF2B5EF4-FFF2-40B4-BE49-F238E27FC236}">
                <a16:creationId xmlns:a16="http://schemas.microsoft.com/office/drawing/2014/main" id="{853B3141-7EFE-CC87-60F2-E8F0C8379384}"/>
              </a:ext>
            </a:extLst>
          </p:cNvPr>
          <p:cNvSpPr>
            <a:spLocks noGrp="1"/>
          </p:cNvSpPr>
          <p:nvPr/>
        </p:nvSpPr>
        <p:spPr>
          <a:xfrm>
            <a:off x="11056249" y="2180734"/>
            <a:ext cx="777643" cy="307777"/>
          </a:xfrm>
          <a:prstGeom prst="rect">
            <a:avLst/>
          </a:prstGeom>
          <a:noFill/>
        </p:spPr>
        <p:txBody>
          <a:bodyPr wrap="square">
            <a:spAutoFit/>
          </a:bodyPr>
          <a:lstStyle/>
          <a:p>
            <a:pPr algn="ctr">
              <a:buNone/>
            </a:pPr>
            <a:r>
              <a:rPr sz="1400"/>
              <a:t>計画者</a:t>
            </a:r>
          </a:p>
        </p:txBody>
      </p:sp>
      <p:sp>
        <p:nvSpPr>
          <p:cNvPr id="37" name="グラフィックス 9">
            <a:extLst>
              <a:ext uri="{FF2B5EF4-FFF2-40B4-BE49-F238E27FC236}">
                <a16:creationId xmlns:a16="http://schemas.microsoft.com/office/drawing/2014/main" id="{E428498D-7F5C-ADC8-F3DD-CF31C214055F}"/>
              </a:ext>
            </a:extLst>
          </p:cNvPr>
          <p:cNvSpPr>
            <a:spLocks noGrp="1"/>
          </p:cNvSpPr>
          <p:nvPr/>
        </p:nvSpPr>
        <p:spPr>
          <a:xfrm flipH="1">
            <a:off x="8931081" y="1780264"/>
            <a:ext cx="385910" cy="388964"/>
          </a:xfrm>
          <a:custGeom>
            <a:avLst/>
            <a:gdLst/>
            <a:ahLst/>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a:noFill/>
            <a:prstDash val="solid"/>
          </a:ln>
        </p:spPr>
        <p:txBody>
          <a:bodyPr/>
          <a:lstStyle/>
          <a:p>
            <a:endParaRPr/>
          </a:p>
        </p:txBody>
      </p:sp>
      <p:sp>
        <p:nvSpPr>
          <p:cNvPr id="38" name="Rounded Rectangle 5">
            <a:extLst>
              <a:ext uri="{FF2B5EF4-FFF2-40B4-BE49-F238E27FC236}">
                <a16:creationId xmlns:a16="http://schemas.microsoft.com/office/drawing/2014/main" id="{9B05DC08-169C-BD4A-8404-2F9E2F8BC8AA}"/>
              </a:ext>
            </a:extLst>
          </p:cNvPr>
          <p:cNvSpPr>
            <a:spLocks noGrp="1"/>
          </p:cNvSpPr>
          <p:nvPr/>
        </p:nvSpPr>
        <p:spPr>
          <a:xfrm>
            <a:off x="8872378" y="2195759"/>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テキスト ボックス 44">
            <a:extLst>
              <a:ext uri="{FF2B5EF4-FFF2-40B4-BE49-F238E27FC236}">
                <a16:creationId xmlns:a16="http://schemas.microsoft.com/office/drawing/2014/main" id="{D9479098-0D86-35C4-C645-822730DE3546}"/>
              </a:ext>
            </a:extLst>
          </p:cNvPr>
          <p:cNvSpPr>
            <a:spLocks noGrp="1"/>
          </p:cNvSpPr>
          <p:nvPr/>
        </p:nvSpPr>
        <p:spPr>
          <a:xfrm>
            <a:off x="8872378" y="2136671"/>
            <a:ext cx="553714" cy="338554"/>
          </a:xfrm>
          <a:prstGeom prst="rect">
            <a:avLst/>
          </a:prstGeom>
          <a:noFill/>
        </p:spPr>
        <p:txBody>
          <a:bodyPr wrap="square">
            <a:spAutoFit/>
          </a:bodyPr>
          <a:lstStyle/>
          <a:p>
            <a:pPr algn="ctr">
              <a:buNone/>
            </a:pPr>
            <a:r>
              <a:rPr sz="1600"/>
              <a:t>LLM</a:t>
            </a:r>
          </a:p>
        </p:txBody>
      </p:sp>
      <p:sp>
        <p:nvSpPr>
          <p:cNvPr id="53" name="Rounded Rectangle 5">
            <a:extLst>
              <a:ext uri="{FF2B5EF4-FFF2-40B4-BE49-F238E27FC236}">
                <a16:creationId xmlns:a16="http://schemas.microsoft.com/office/drawing/2014/main" id="{A4B7F48F-2BDA-3968-8093-FDD6178052B0}"/>
              </a:ext>
            </a:extLst>
          </p:cNvPr>
          <p:cNvSpPr>
            <a:spLocks noGrp="1"/>
          </p:cNvSpPr>
          <p:nvPr/>
        </p:nvSpPr>
        <p:spPr>
          <a:xfrm>
            <a:off x="11067433" y="2199614"/>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7" name="図 8">
            <a:extLst>
              <a:ext uri="{FF2B5EF4-FFF2-40B4-BE49-F238E27FC236}">
                <a16:creationId xmlns:a16="http://schemas.microsoft.com/office/drawing/2014/main" id="{024870B4-7A1B-B5DC-5084-FFEF703C866B}"/>
              </a:ext>
            </a:extLst>
          </p:cNvPr>
          <p:cNvPicPr>
            <a:picLocks noChangeAspect="1"/>
          </p:cNvPicPr>
          <p:nvPr/>
        </p:nvPicPr>
        <p:blipFill>
          <a:blip r:embed="rId3"/>
          <a:srcRect l="17000" r="17000"/>
          <a:stretch/>
        </p:blipFill>
        <p:spPr>
          <a:xfrm>
            <a:off x="610833" y="2229703"/>
            <a:ext cx="2980346" cy="4100906"/>
          </a:xfrm>
          <a:prstGeom prst="rect">
            <a:avLst/>
          </a:prstGeom>
        </p:spPr>
      </p:pic>
      <p:sp>
        <p:nvSpPr>
          <p:cNvPr id="8" name="Oval 6">
            <a:extLst>
              <a:ext uri="{FF2B5EF4-FFF2-40B4-BE49-F238E27FC236}">
                <a16:creationId xmlns:a16="http://schemas.microsoft.com/office/drawing/2014/main" id="{8407D8E1-B5F0-1083-8037-0021C9FC34E5}"/>
              </a:ext>
            </a:extLst>
          </p:cNvPr>
          <p:cNvSpPr>
            <a:spLocks noGrp="1"/>
          </p:cNvSpPr>
          <p:nvPr/>
        </p:nvSpPr>
        <p:spPr>
          <a:xfrm>
            <a:off x="1395033" y="4382015"/>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9" name="テキスト ボックス 10">
            <a:extLst>
              <a:ext uri="{FF2B5EF4-FFF2-40B4-BE49-F238E27FC236}">
                <a16:creationId xmlns:a16="http://schemas.microsoft.com/office/drawing/2014/main" id="{A1302200-DFE7-6867-46E0-B6B74A66711D}"/>
              </a:ext>
            </a:extLst>
          </p:cNvPr>
          <p:cNvSpPr>
            <a:spLocks noGrp="1"/>
          </p:cNvSpPr>
          <p:nvPr/>
        </p:nvSpPr>
        <p:spPr>
          <a:xfrm>
            <a:off x="1400707" y="4554777"/>
            <a:ext cx="655431" cy="251706"/>
          </a:xfrm>
          <a:prstGeom prst="rect">
            <a:avLst/>
          </a:prstGeom>
          <a:noFill/>
        </p:spPr>
        <p:txBody>
          <a:bodyPr wrap="square">
            <a:spAutoFit/>
          </a:bodyPr>
          <a:lstStyle/>
          <a:p>
            <a:r>
              <a:rPr lang="ja-JP" altLang="en-US" sz="1050"/>
              <a:t>敷地</a:t>
            </a:r>
            <a:endParaRPr sz="1050"/>
          </a:p>
        </p:txBody>
      </p:sp>
      <p:sp>
        <p:nvSpPr>
          <p:cNvPr id="10" name="Oval 6">
            <a:extLst>
              <a:ext uri="{FF2B5EF4-FFF2-40B4-BE49-F238E27FC236}">
                <a16:creationId xmlns:a16="http://schemas.microsoft.com/office/drawing/2014/main" id="{9E589D0A-F2E2-57BE-95FC-80022FB9B7A8}"/>
              </a:ext>
            </a:extLst>
          </p:cNvPr>
          <p:cNvSpPr>
            <a:spLocks noGrp="1"/>
          </p:cNvSpPr>
          <p:nvPr/>
        </p:nvSpPr>
        <p:spPr>
          <a:xfrm>
            <a:off x="1018087" y="5150799"/>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26" name="正方形/長方形 25">
            <a:extLst>
              <a:ext uri="{FF2B5EF4-FFF2-40B4-BE49-F238E27FC236}">
                <a16:creationId xmlns:a16="http://schemas.microsoft.com/office/drawing/2014/main" id="{9395D404-CF72-CD5B-8E9E-34EE15660C2A}"/>
              </a:ext>
            </a:extLst>
          </p:cNvPr>
          <p:cNvSpPr>
            <a:spLocks noGrp="1"/>
          </p:cNvSpPr>
          <p:nvPr/>
        </p:nvSpPr>
        <p:spPr>
          <a:xfrm rot="21007099">
            <a:off x="1578926" y="3688029"/>
            <a:ext cx="371235" cy="512737"/>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正方形/長方形 246">
            <a:extLst>
              <a:ext uri="{FF2B5EF4-FFF2-40B4-BE49-F238E27FC236}">
                <a16:creationId xmlns:a16="http://schemas.microsoft.com/office/drawing/2014/main" id="{89AC7BE7-C11E-3793-40BB-1E1D8717D485}"/>
              </a:ext>
            </a:extLst>
          </p:cNvPr>
          <p:cNvSpPr>
            <a:spLocks noGrp="1"/>
          </p:cNvSpPr>
          <p:nvPr/>
        </p:nvSpPr>
        <p:spPr>
          <a:xfrm rot="21007099">
            <a:off x="1410302" y="3733828"/>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正方形/長方形 246">
            <a:extLst>
              <a:ext uri="{FF2B5EF4-FFF2-40B4-BE49-F238E27FC236}">
                <a16:creationId xmlns:a16="http://schemas.microsoft.com/office/drawing/2014/main" id="{8B3CE626-598C-F3A6-0982-6EAA1CE84DD0}"/>
              </a:ext>
            </a:extLst>
          </p:cNvPr>
          <p:cNvSpPr>
            <a:spLocks noGrp="1"/>
          </p:cNvSpPr>
          <p:nvPr/>
        </p:nvSpPr>
        <p:spPr>
          <a:xfrm rot="21007099">
            <a:off x="1774866" y="3667733"/>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正方形/長方形 252">
            <a:extLst>
              <a:ext uri="{FF2B5EF4-FFF2-40B4-BE49-F238E27FC236}">
                <a16:creationId xmlns:a16="http://schemas.microsoft.com/office/drawing/2014/main" id="{52D41A24-35D9-DD90-F38F-3F1AE39B75EF}"/>
              </a:ext>
            </a:extLst>
          </p:cNvPr>
          <p:cNvSpPr>
            <a:spLocks noGrp="1"/>
          </p:cNvSpPr>
          <p:nvPr/>
        </p:nvSpPr>
        <p:spPr>
          <a:xfrm rot="21007099">
            <a:off x="1451219" y="4213172"/>
            <a:ext cx="602839" cy="690150"/>
          </a:xfrm>
          <a:custGeom>
            <a:avLst/>
            <a:gdLst/>
            <a:ahLst/>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1" name="テキスト ボックス 17">
            <a:extLst>
              <a:ext uri="{FF2B5EF4-FFF2-40B4-BE49-F238E27FC236}">
                <a16:creationId xmlns:a16="http://schemas.microsoft.com/office/drawing/2014/main" id="{2DB0D663-C2CF-AA6F-8272-06E7D3F97BB4}"/>
              </a:ext>
            </a:extLst>
          </p:cNvPr>
          <p:cNvSpPr>
            <a:spLocks noGrp="1"/>
          </p:cNvSpPr>
          <p:nvPr/>
        </p:nvSpPr>
        <p:spPr>
          <a:xfrm>
            <a:off x="1553469" y="3830384"/>
            <a:ext cx="497963" cy="274587"/>
          </a:xfrm>
          <a:prstGeom prst="rect">
            <a:avLst/>
          </a:prstGeom>
          <a:noFill/>
        </p:spPr>
        <p:txBody>
          <a:bodyPr wrap="none">
            <a:spAutoFit/>
          </a:bodyPr>
          <a:lstStyle/>
          <a:p>
            <a:r>
              <a:rPr sz="1200"/>
              <a:t>対象</a:t>
            </a:r>
          </a:p>
        </p:txBody>
      </p:sp>
      <p:sp>
        <p:nvSpPr>
          <p:cNvPr id="46" name="Oval 6">
            <a:extLst>
              <a:ext uri="{FF2B5EF4-FFF2-40B4-BE49-F238E27FC236}">
                <a16:creationId xmlns:a16="http://schemas.microsoft.com/office/drawing/2014/main" id="{5579B802-F150-10B9-434E-DA5AAB0A4DA6}"/>
              </a:ext>
            </a:extLst>
          </p:cNvPr>
          <p:cNvSpPr>
            <a:spLocks noGrp="1"/>
          </p:cNvSpPr>
          <p:nvPr/>
        </p:nvSpPr>
        <p:spPr>
          <a:xfrm>
            <a:off x="1553469" y="3640661"/>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47" name="フリーフォーム 46">
            <a:extLst>
              <a:ext uri="{FF2B5EF4-FFF2-40B4-BE49-F238E27FC236}">
                <a16:creationId xmlns:a16="http://schemas.microsoft.com/office/drawing/2014/main" id="{A5CC046E-02A8-53DB-0C05-0CEE1E89E276}"/>
              </a:ext>
            </a:extLst>
          </p:cNvPr>
          <p:cNvSpPr>
            <a:spLocks noGrp="1"/>
          </p:cNvSpPr>
          <p:nvPr/>
        </p:nvSpPr>
        <p:spPr>
          <a:xfrm>
            <a:off x="1698692" y="4155437"/>
            <a:ext cx="570695" cy="771818"/>
          </a:xfrm>
          <a:custGeom>
            <a:avLst/>
            <a:gdLst/>
            <a:ahLst/>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8" name="フリーフォーム 47">
            <a:extLst>
              <a:ext uri="{FF2B5EF4-FFF2-40B4-BE49-F238E27FC236}">
                <a16:creationId xmlns:a16="http://schemas.microsoft.com/office/drawing/2014/main" id="{06ECF849-B856-8454-2325-A12ED22AA99E}"/>
              </a:ext>
            </a:extLst>
          </p:cNvPr>
          <p:cNvSpPr>
            <a:spLocks noGrp="1"/>
          </p:cNvSpPr>
          <p:nvPr/>
        </p:nvSpPr>
        <p:spPr>
          <a:xfrm>
            <a:off x="1788588" y="4313710"/>
            <a:ext cx="781489" cy="719445"/>
          </a:xfrm>
          <a:custGeom>
            <a:avLst/>
            <a:gdLst/>
            <a:ahLst/>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9" name="フリーフォーム 48">
            <a:extLst>
              <a:ext uri="{FF2B5EF4-FFF2-40B4-BE49-F238E27FC236}">
                <a16:creationId xmlns:a16="http://schemas.microsoft.com/office/drawing/2014/main" id="{25F33D08-8B5F-38BD-1773-DFE2A97BC694}"/>
              </a:ext>
            </a:extLst>
          </p:cNvPr>
          <p:cNvSpPr>
            <a:spLocks noGrp="1"/>
          </p:cNvSpPr>
          <p:nvPr/>
        </p:nvSpPr>
        <p:spPr>
          <a:xfrm>
            <a:off x="943046" y="4259019"/>
            <a:ext cx="738288" cy="265557"/>
          </a:xfrm>
          <a:custGeom>
            <a:avLst/>
            <a:gdLst/>
            <a:ahLst/>
            <a:cxnLst/>
            <a:rect l="l" t="t" r="r" b="b"/>
            <a:pathLst>
              <a:path w="838200" h="311150">
                <a:moveTo>
                  <a:pt x="838200" y="0"/>
                </a:moveTo>
                <a:lnTo>
                  <a:pt x="415925" y="82550"/>
                </a:lnTo>
                <a:lnTo>
                  <a:pt x="0" y="311150"/>
                </a:lnTo>
              </a:path>
            </a:pathLst>
          </a:custGeom>
          <a:noFill/>
          <a:ln w="38100">
            <a:solidFill>
              <a:srgbClr val="F2B3ED"/>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6" name="Oval 6">
            <a:extLst>
              <a:ext uri="{FF2B5EF4-FFF2-40B4-BE49-F238E27FC236}">
                <a16:creationId xmlns:a16="http://schemas.microsoft.com/office/drawing/2014/main" id="{108F3602-7700-DCEE-6ECB-1EAC5540CBF2}"/>
              </a:ext>
            </a:extLst>
          </p:cNvPr>
          <p:cNvSpPr>
            <a:spLocks noGrp="1"/>
          </p:cNvSpPr>
          <p:nvPr/>
        </p:nvSpPr>
        <p:spPr>
          <a:xfrm>
            <a:off x="2362973" y="4873938"/>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57" name="コンテンツ プレースホルダー 2">
            <a:extLst>
              <a:ext uri="{FF2B5EF4-FFF2-40B4-BE49-F238E27FC236}">
                <a16:creationId xmlns:a16="http://schemas.microsoft.com/office/drawing/2014/main" id="{B91242C1-48A2-B4EE-8CF5-9CE286E5AE48}"/>
              </a:ext>
            </a:extLst>
          </p:cNvPr>
          <p:cNvSpPr>
            <a:spLocks noGrp="1"/>
          </p:cNvSpPr>
          <p:nvPr/>
        </p:nvSpPr>
        <p:spPr>
          <a:xfrm>
            <a:off x="53218" y="1931532"/>
            <a:ext cx="3996544"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solidFill>
                  <a:schemeClr val="tx2">
                    <a:lumMod val="90000"/>
                    <a:lumOff val="10000"/>
                  </a:schemeClr>
                </a:solidFill>
                <a:latin typeface="HGMinchoE"/>
                <a:ea typeface="HGMinchoE"/>
                <a:cs typeface="HGMinchoE"/>
              </a:rPr>
              <a:t>例：</a:t>
            </a:r>
            <a:r>
              <a:rPr lang="ja-JP" altLang="en-US" sz="1600" b="1">
                <a:solidFill>
                  <a:schemeClr val="tx2">
                    <a:lumMod val="90000"/>
                    <a:lumOff val="10000"/>
                  </a:schemeClr>
                </a:solidFill>
                <a:latin typeface="HGMinchoE"/>
                <a:ea typeface="HGMinchoE"/>
                <a:cs typeface="HGMinchoE"/>
              </a:rPr>
              <a:t>旧・</a:t>
            </a:r>
            <a:r>
              <a:rPr sz="1600" b="1">
                <a:solidFill>
                  <a:schemeClr val="tx2">
                    <a:lumMod val="90000"/>
                    <a:lumOff val="10000"/>
                  </a:schemeClr>
                </a:solidFill>
                <a:latin typeface="HGMinchoE"/>
                <a:ea typeface="HGMinchoE"/>
                <a:cs typeface="HGMinchoE"/>
              </a:rPr>
              <a:t>名鉄百貨店本店周辺</a:t>
            </a:r>
          </a:p>
        </p:txBody>
      </p:sp>
      <p:graphicFrame>
        <p:nvGraphicFramePr>
          <p:cNvPr id="517" name="表 214"/>
          <p:cNvGraphicFramePr/>
          <p:nvPr>
            <p:extLst>
              <p:ext uri="{D42A27DB-BD31-4B8C-83A1-F6EECF244321}">
                <p14:modId xmlns:p14="http://schemas.microsoft.com/office/powerpoint/2010/main" val="3971196501"/>
              </p:ext>
            </p:extLst>
          </p:nvPr>
        </p:nvGraphicFramePr>
        <p:xfrm>
          <a:off x="610833" y="5383070"/>
          <a:ext cx="2980346" cy="594969"/>
        </p:xfrm>
        <a:graphic>
          <a:graphicData uri="http://schemas.openxmlformats.org/drawingml/2006/table">
            <a:tbl>
              <a:tblPr firstRow="1" firstCol="1" bandRow="1">
                <a:tableStyleId>{5C22544A-7EE6-4342-B048-85BDC9FD1C3A}</a:tableStyleId>
              </a:tblPr>
              <a:tblGrid>
                <a:gridCol w="1153892">
                  <a:extLst>
                    <a:ext uri="{9D8B030D-6E8A-4147-A177-3AD203B41FA5}">
                      <a16:colId xmlns:a16="http://schemas.microsoft.com/office/drawing/2014/main" val="20000"/>
                    </a:ext>
                  </a:extLst>
                </a:gridCol>
                <a:gridCol w="685870">
                  <a:extLst>
                    <a:ext uri="{9D8B030D-6E8A-4147-A177-3AD203B41FA5}">
                      <a16:colId xmlns:a16="http://schemas.microsoft.com/office/drawing/2014/main" val="20001"/>
                    </a:ext>
                  </a:extLst>
                </a:gridCol>
                <a:gridCol w="1140584">
                  <a:extLst>
                    <a:ext uri="{9D8B030D-6E8A-4147-A177-3AD203B41FA5}">
                      <a16:colId xmlns:a16="http://schemas.microsoft.com/office/drawing/2014/main" val="20002"/>
                    </a:ext>
                  </a:extLst>
                </a:gridCol>
              </a:tblGrid>
              <a:tr h="365759">
                <a:tc>
                  <a:txBody>
                    <a:bodyPr/>
                    <a:lstStyle/>
                    <a:p>
                      <a:pPr algn="ctr">
                        <a:buNone/>
                      </a:pPr>
                      <a:r>
                        <a:rPr sz="900">
                          <a:solidFill>
                            <a:schemeClr val="tx2">
                              <a:lumMod val="90000"/>
                              <a:lumOff val="10000"/>
                            </a:schemeClr>
                          </a:solidFill>
                        </a:rPr>
                        <a:t>対象範囲</a:t>
                      </a:r>
                    </a:p>
                  </a:txBody>
                  <a:tcPr anchor="ctr">
                    <a:solidFill>
                      <a:srgbClr val="BACCEC"/>
                    </a:solidFill>
                  </a:tcPr>
                </a:tc>
                <a:tc>
                  <a:txBody>
                    <a:bodyPr/>
                    <a:lstStyle/>
                    <a:p>
                      <a:pPr algn="ctr">
                        <a:buNone/>
                      </a:pPr>
                      <a:r>
                        <a:rPr lang="ja-JP" altLang="en-US" sz="900">
                          <a:solidFill>
                            <a:schemeClr val="tx2">
                              <a:lumMod val="90000"/>
                              <a:lumOff val="10000"/>
                            </a:schemeClr>
                          </a:solidFill>
                        </a:rPr>
                        <a:t>営業時間</a:t>
                      </a:r>
                      <a:endParaRPr sz="900">
                        <a:solidFill>
                          <a:schemeClr val="tx2">
                            <a:lumMod val="90000"/>
                            <a:lumOff val="10000"/>
                          </a:schemeClr>
                        </a:solidFill>
                      </a:endParaRPr>
                    </a:p>
                  </a:txBody>
                  <a:tcPr anchor="ctr">
                    <a:solidFill>
                      <a:srgbClr val="BACCEC"/>
                    </a:solidFill>
                  </a:tcPr>
                </a:tc>
                <a:tc>
                  <a:txBody>
                    <a:bodyPr/>
                    <a:lstStyle/>
                    <a:p>
                      <a:pPr algn="ctr">
                        <a:buNone/>
                      </a:pPr>
                      <a:r>
                        <a:rPr lang="ja-JP" altLang="en-US" sz="900">
                          <a:solidFill>
                            <a:schemeClr val="tx2">
                              <a:lumMod val="90000"/>
                              <a:lumOff val="10000"/>
                            </a:schemeClr>
                          </a:solidFill>
                        </a:rPr>
                        <a:t>施設割合</a:t>
                      </a:r>
                      <a:endParaRPr sz="900">
                        <a:solidFill>
                          <a:schemeClr val="tx2">
                            <a:lumMod val="90000"/>
                            <a:lumOff val="10000"/>
                          </a:schemeClr>
                        </a:solidFill>
                      </a:endParaRPr>
                    </a:p>
                  </a:txBody>
                  <a:tcPr anchor="ctr">
                    <a:solidFill>
                      <a:srgbClr val="BACCEC"/>
                    </a:solidFill>
                  </a:tcPr>
                </a:tc>
                <a:extLst>
                  <a:ext uri="{0D108BD9-81ED-4DB2-BD59-A6C34878D82A}">
                    <a16:rowId xmlns:a16="http://schemas.microsoft.com/office/drawing/2014/main" val="10000"/>
                  </a:ext>
                </a:extLst>
              </a:tr>
              <a:tr h="229210">
                <a:tc>
                  <a:txBody>
                    <a:bodyPr/>
                    <a:lstStyle/>
                    <a:p>
                      <a:pPr algn="ctr">
                        <a:buNone/>
                      </a:pPr>
                      <a:r>
                        <a:rPr lang="ja-JP" altLang="en-US" sz="900" b="0">
                          <a:solidFill>
                            <a:schemeClr val="tx1"/>
                          </a:solidFill>
                        </a:rPr>
                        <a:t>名鉄百貨店周辺</a:t>
                      </a:r>
                      <a:endParaRPr sz="900" b="0">
                        <a:solidFill>
                          <a:schemeClr val="tx1"/>
                        </a:solidFill>
                      </a:endParaRPr>
                    </a:p>
                  </a:txBody>
                  <a:tcPr anchor="ctr">
                    <a:solidFill>
                      <a:schemeClr val="bg2">
                        <a:lumMod val="90000"/>
                      </a:schemeClr>
                    </a:solidFill>
                  </a:tcPr>
                </a:tc>
                <a:tc>
                  <a:txBody>
                    <a:bodyPr/>
                    <a:lstStyle/>
                    <a:p>
                      <a:pPr algn="ctr">
                        <a:buNone/>
                      </a:pPr>
                      <a:r>
                        <a:rPr lang="en-US" sz="900" b="0"/>
                        <a:t>10〜18時</a:t>
                      </a:r>
                      <a:endParaRPr sz="900" b="0"/>
                    </a:p>
                  </a:txBody>
                  <a:tcPr anchor="ctr">
                    <a:solidFill>
                      <a:schemeClr val="bg2">
                        <a:lumMod val="90000"/>
                      </a:schemeClr>
                    </a:solidFill>
                  </a:tcPr>
                </a:tc>
                <a:tc>
                  <a:txBody>
                    <a:bodyPr/>
                    <a:lstStyle/>
                    <a:p>
                      <a:pPr algn="ctr">
                        <a:buNone/>
                      </a:pPr>
                      <a:r>
                        <a:rPr lang="ja-JP" altLang="en-US" sz="900" b="0"/>
                        <a:t>物販</a:t>
                      </a:r>
                      <a:r>
                        <a:rPr lang="en-US" altLang="ja-JP" sz="900" b="0"/>
                        <a:t>80%</a:t>
                      </a:r>
                      <a:r>
                        <a:rPr lang="ja-JP" altLang="en-US" sz="900" b="0"/>
                        <a:t>飲食</a:t>
                      </a:r>
                      <a:r>
                        <a:rPr lang="en-US" altLang="ja-JP" sz="900" b="0"/>
                        <a:t>20%</a:t>
                      </a:r>
                      <a:endParaRPr sz="900" b="0"/>
                    </a:p>
                  </a:txBody>
                  <a:tcPr anchor="ctr">
                    <a:solidFill>
                      <a:schemeClr val="bg2">
                        <a:lumMod val="90000"/>
                      </a:schemeClr>
                    </a:solidFill>
                  </a:tcPr>
                </a:tc>
                <a:extLst>
                  <a:ext uri="{0D108BD9-81ED-4DB2-BD59-A6C34878D82A}">
                    <a16:rowId xmlns:a16="http://schemas.microsoft.com/office/drawing/2014/main" val="10001"/>
                  </a:ext>
                </a:extLst>
              </a:tr>
            </a:tbl>
          </a:graphicData>
        </a:graphic>
      </p:graphicFrame>
      <p:sp>
        <p:nvSpPr>
          <p:cNvPr id="58" name="テキスト ボックス 57">
            <a:extLst>
              <a:ext uri="{FF2B5EF4-FFF2-40B4-BE49-F238E27FC236}">
                <a16:creationId xmlns:a16="http://schemas.microsoft.com/office/drawing/2014/main" id="{178328C2-4F3E-13AE-00BB-92B45B804EE8}"/>
              </a:ext>
            </a:extLst>
          </p:cNvPr>
          <p:cNvSpPr txBox="1"/>
          <p:nvPr/>
        </p:nvSpPr>
        <p:spPr>
          <a:xfrm>
            <a:off x="593976" y="1657334"/>
            <a:ext cx="2339102" cy="307777"/>
          </a:xfrm>
          <a:prstGeom prst="rect">
            <a:avLst/>
          </a:prstGeom>
          <a:noFill/>
        </p:spPr>
        <p:txBody>
          <a:bodyPr wrap="none" rtlCol="0">
            <a:spAutoFit/>
          </a:bodyPr>
          <a:lstStyle/>
          <a:p>
            <a:r>
              <a:rPr kumimoji="1" lang="en-US" altLang="ja-JP" sz="1400"/>
              <a:t>※</a:t>
            </a:r>
            <a:r>
              <a:rPr kumimoji="1" lang="ja-JP" altLang="en-US" sz="1400"/>
              <a:t>検証用の仮想計画ケース</a:t>
            </a:r>
          </a:p>
        </p:txBody>
      </p:sp>
    </p:spTree>
    <p:extLst>
      <p:ext uri="{BB962C8B-B14F-4D97-AF65-F5344CB8AC3E}">
        <p14:creationId xmlns:p14="http://schemas.microsoft.com/office/powerpoint/2010/main" val="141597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ounded Rectangle 5">
            <a:extLst>
              <a:ext uri="{FF2B5EF4-FFF2-40B4-BE49-F238E27FC236}">
                <a16:creationId xmlns:a16="http://schemas.microsoft.com/office/drawing/2014/main" id="{04534713-5FD4-E535-AF63-0AD42356738F}"/>
              </a:ext>
            </a:extLst>
          </p:cNvPr>
          <p:cNvSpPr>
            <a:spLocks noGrp="1"/>
          </p:cNvSpPr>
          <p:nvPr/>
        </p:nvSpPr>
        <p:spPr>
          <a:xfrm>
            <a:off x="4038600" y="5013346"/>
            <a:ext cx="4278823" cy="1359230"/>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3B63DA6A-2541-AA53-4C4A-D8D3A7CC69B4}"/>
              </a:ext>
            </a:extLst>
          </p:cNvPr>
          <p:cNvSpPr>
            <a:spLocks noGrp="1"/>
          </p:cNvSpPr>
          <p:nvPr>
            <p:ph type="title"/>
          </p:nvPr>
        </p:nvSpPr>
        <p:spPr>
          <a:xfrm>
            <a:off x="200344" y="1"/>
            <a:ext cx="11798035" cy="908719"/>
          </a:xfrm>
        </p:spPr>
        <p:txBody>
          <a:bodyPr/>
          <a:lstStyle/>
          <a:p>
            <a:r>
              <a:t>最初の3か月（2Q：7-9月）の取組イメージ：名鉄百貨店周辺の</a:t>
            </a:r>
            <a:r>
              <a:rPr lang="ja-JP" altLang="en-US"/>
              <a:t>人流</a:t>
            </a:r>
            <a:r>
              <a:t>分析</a:t>
            </a:r>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idx="10"/>
          </p:nvPr>
        </p:nvSpPr>
        <p:spPr/>
        <p:txBody>
          <a:bodyPr/>
          <a:lstStyle/>
          <a:p>
            <a:r>
              <a:t>2026/7</a:t>
            </a:r>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idx="11"/>
          </p:nvPr>
        </p:nvSpPr>
        <p:spPr/>
        <p:txBody>
          <a:bodyPr/>
          <a:lstStyle/>
          <a:p>
            <a:r>
              <a:t>関本・中居研究室</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idx="12"/>
          </p:nvPr>
        </p:nvSpPr>
        <p:spPr/>
        <p:txBody>
          <a:bodyPr/>
          <a:lstStyle/>
          <a:p>
            <a:fld id="{6539E37A-E522-3D47-AAB7-DDF67C94A05D}" type="slidenum">
              <a:rPr/>
              <a:t>3</a:t>
            </a:fld>
            <a:endParaRPr/>
          </a:p>
        </p:txBody>
      </p:sp>
      <p:sp>
        <p:nvSpPr>
          <p:cNvPr id="120" name="Rounded Rectangle 16">
            <a:extLst>
              <a:ext uri="{FF2B5EF4-FFF2-40B4-BE49-F238E27FC236}">
                <a16:creationId xmlns:a16="http://schemas.microsoft.com/office/drawing/2014/main" id="{0C214181-2DAE-B023-2CC2-43398DEAD776}"/>
              </a:ext>
            </a:extLst>
          </p:cNvPr>
          <p:cNvSpPr>
            <a:spLocks noGrp="1"/>
          </p:cNvSpPr>
          <p:nvPr/>
        </p:nvSpPr>
        <p:spPr>
          <a:xfrm>
            <a:off x="4291411" y="1986186"/>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1" name="TextBox 17">
            <a:extLst>
              <a:ext uri="{FF2B5EF4-FFF2-40B4-BE49-F238E27FC236}">
                <a16:creationId xmlns:a16="http://schemas.microsoft.com/office/drawing/2014/main" id="{579DFA51-9248-DE3F-2A60-EC202A49DC80}"/>
              </a:ext>
            </a:extLst>
          </p:cNvPr>
          <p:cNvSpPr>
            <a:spLocks noGrp="1"/>
          </p:cNvSpPr>
          <p:nvPr/>
        </p:nvSpPr>
        <p:spPr>
          <a:xfrm>
            <a:off x="4611451" y="1980090"/>
            <a:ext cx="676656" cy="286512"/>
          </a:xfrm>
          <a:prstGeom prst="rect">
            <a:avLst/>
          </a:prstGeom>
          <a:noFill/>
          <a:ln>
            <a:noFill/>
          </a:ln>
        </p:spPr>
        <p:txBody>
          <a:bodyPr wrap="square" lIns="36576" tIns="36576" rIns="36576" bIns="36576" anchor="t">
            <a:spAutoFit/>
          </a:bodyPr>
          <a:lstStyle/>
          <a:p>
            <a:pPr algn="ctr">
              <a:buNone/>
            </a:pPr>
            <a:r>
              <a:rPr lang="en-US" sz="1400" b="1">
                <a:solidFill>
                  <a:srgbClr val="FFFFFF"/>
                </a:solidFill>
                <a:latin typeface="Noto Sans CJK JP"/>
                <a:ea typeface="Noto Sans CJK JP"/>
                <a:cs typeface="Noto Sans CJK JP"/>
              </a:rPr>
              <a:t>before</a:t>
            </a:r>
            <a:endParaRPr sz="1400" b="1">
              <a:solidFill>
                <a:srgbClr val="FFFFFF"/>
              </a:solidFill>
              <a:latin typeface="Noto Sans CJK JP"/>
              <a:ea typeface="Noto Sans CJK JP"/>
              <a:cs typeface="Noto Sans CJK JP"/>
            </a:endParaRPr>
          </a:p>
        </p:txBody>
      </p:sp>
      <p:sp>
        <p:nvSpPr>
          <p:cNvPr id="123" name="Rounded Rectangle 18">
            <a:extLst>
              <a:ext uri="{FF2B5EF4-FFF2-40B4-BE49-F238E27FC236}">
                <a16:creationId xmlns:a16="http://schemas.microsoft.com/office/drawing/2014/main" id="{DAB5462A-7B90-F602-155A-8C83691DE7C7}"/>
              </a:ext>
            </a:extLst>
          </p:cNvPr>
          <p:cNvSpPr>
            <a:spLocks noGrp="1"/>
          </p:cNvSpPr>
          <p:nvPr/>
        </p:nvSpPr>
        <p:spPr>
          <a:xfrm>
            <a:off x="6728883" y="1989978"/>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4" name="TextBox 19">
            <a:extLst>
              <a:ext uri="{FF2B5EF4-FFF2-40B4-BE49-F238E27FC236}">
                <a16:creationId xmlns:a16="http://schemas.microsoft.com/office/drawing/2014/main" id="{FE33D435-3BA5-5651-ED20-032CFEA48A03}"/>
              </a:ext>
            </a:extLst>
          </p:cNvPr>
          <p:cNvSpPr>
            <a:spLocks noGrp="1"/>
          </p:cNvSpPr>
          <p:nvPr/>
        </p:nvSpPr>
        <p:spPr>
          <a:xfrm>
            <a:off x="7076355" y="1980834"/>
            <a:ext cx="640080" cy="286512"/>
          </a:xfrm>
          <a:prstGeom prst="rect">
            <a:avLst/>
          </a:prstGeom>
          <a:noFill/>
          <a:ln>
            <a:noFill/>
          </a:ln>
        </p:spPr>
        <p:txBody>
          <a:bodyPr wrap="square" lIns="36576" tIns="36576" rIns="36576" bIns="36576" anchor="t">
            <a:spAutoFit/>
          </a:bodyPr>
          <a:lstStyle/>
          <a:p>
            <a:pPr algn="ctr">
              <a:buNone/>
            </a:pPr>
            <a:r>
              <a:rPr lang="en-US" sz="1400" b="1">
                <a:solidFill>
                  <a:srgbClr val="FFFFFF"/>
                </a:solidFill>
                <a:latin typeface="Noto Sans CJK JP"/>
                <a:ea typeface="Noto Sans CJK JP"/>
                <a:cs typeface="Noto Sans CJK JP"/>
              </a:rPr>
              <a:t>after</a:t>
            </a:r>
            <a:endParaRPr sz="1400" b="1">
              <a:solidFill>
                <a:srgbClr val="FFFFFF"/>
              </a:solidFill>
              <a:latin typeface="Noto Sans CJK JP"/>
              <a:ea typeface="Noto Sans CJK JP"/>
              <a:cs typeface="Noto Sans CJK JP"/>
            </a:endParaRPr>
          </a:p>
        </p:txBody>
      </p:sp>
      <p:sp>
        <p:nvSpPr>
          <p:cNvPr id="127" name="Rounded Rectangle 5">
            <a:extLst>
              <a:ext uri="{FF2B5EF4-FFF2-40B4-BE49-F238E27FC236}">
                <a16:creationId xmlns:a16="http://schemas.microsoft.com/office/drawing/2014/main" id="{5D72920D-2AA5-C468-7F6C-70244EC9B407}"/>
              </a:ext>
            </a:extLst>
          </p:cNvPr>
          <p:cNvSpPr>
            <a:spLocks noGrp="1"/>
          </p:cNvSpPr>
          <p:nvPr/>
        </p:nvSpPr>
        <p:spPr>
          <a:xfrm>
            <a:off x="8603487" y="2270138"/>
            <a:ext cx="3369872" cy="124657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9" name="TextBox 7">
            <a:extLst>
              <a:ext uri="{FF2B5EF4-FFF2-40B4-BE49-F238E27FC236}">
                <a16:creationId xmlns:a16="http://schemas.microsoft.com/office/drawing/2014/main" id="{9CD89372-741A-0D06-04DB-0F42B6DF20B4}"/>
              </a:ext>
            </a:extLst>
          </p:cNvPr>
          <p:cNvSpPr>
            <a:spLocks noGrp="1"/>
          </p:cNvSpPr>
          <p:nvPr/>
        </p:nvSpPr>
        <p:spPr>
          <a:xfrm>
            <a:off x="9448726" y="2297151"/>
            <a:ext cx="1466165"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例1：</a:t>
            </a:r>
            <a:r>
              <a:rPr lang="ja-JP" altLang="en-US" sz="1200" b="1">
                <a:solidFill>
                  <a:srgbClr val="0B2B5B"/>
                </a:solidFill>
                <a:latin typeface="Noto Sans CJK JP"/>
                <a:ea typeface="Noto Sans CJK JP"/>
                <a:cs typeface="Noto Sans CJK JP"/>
              </a:rPr>
              <a:t>計画の変更</a:t>
            </a:r>
            <a:endParaRPr sz="1200" b="1">
              <a:solidFill>
                <a:srgbClr val="0B2B5B"/>
              </a:solidFill>
              <a:latin typeface="Noto Sans CJK JP"/>
              <a:ea typeface="Noto Sans CJK JP"/>
              <a:cs typeface="Noto Sans CJK JP"/>
            </a:endParaRPr>
          </a:p>
        </p:txBody>
      </p:sp>
      <p:sp>
        <p:nvSpPr>
          <p:cNvPr id="132" name="Rounded Rectangle 5">
            <a:extLst>
              <a:ext uri="{FF2B5EF4-FFF2-40B4-BE49-F238E27FC236}">
                <a16:creationId xmlns:a16="http://schemas.microsoft.com/office/drawing/2014/main" id="{BE80DE9F-DFD9-28A1-13B5-28A18107182F}"/>
              </a:ext>
            </a:extLst>
          </p:cNvPr>
          <p:cNvSpPr>
            <a:spLocks noGrp="1"/>
          </p:cNvSpPr>
          <p:nvPr/>
        </p:nvSpPr>
        <p:spPr>
          <a:xfrm>
            <a:off x="8615273" y="3555465"/>
            <a:ext cx="3369872" cy="1173569"/>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3" name="TextBox 7">
            <a:extLst>
              <a:ext uri="{FF2B5EF4-FFF2-40B4-BE49-F238E27FC236}">
                <a16:creationId xmlns:a16="http://schemas.microsoft.com/office/drawing/2014/main" id="{370A8F6C-0E05-4F01-0270-11721816DAD6}"/>
              </a:ext>
            </a:extLst>
          </p:cNvPr>
          <p:cNvSpPr>
            <a:spLocks noGrp="1"/>
          </p:cNvSpPr>
          <p:nvPr/>
        </p:nvSpPr>
        <p:spPr>
          <a:xfrm>
            <a:off x="9105728" y="3565279"/>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例2：工事・迂回</a:t>
            </a:r>
          </a:p>
        </p:txBody>
      </p:sp>
      <p:sp>
        <p:nvSpPr>
          <p:cNvPr id="135" name="Rounded Rectangle 5">
            <a:extLst>
              <a:ext uri="{FF2B5EF4-FFF2-40B4-BE49-F238E27FC236}">
                <a16:creationId xmlns:a16="http://schemas.microsoft.com/office/drawing/2014/main" id="{DC19770B-343B-23B1-97C1-541A66451B07}"/>
              </a:ext>
            </a:extLst>
          </p:cNvPr>
          <p:cNvSpPr>
            <a:spLocks noGrp="1"/>
          </p:cNvSpPr>
          <p:nvPr/>
        </p:nvSpPr>
        <p:spPr>
          <a:xfrm>
            <a:off x="8628508" y="4779552"/>
            <a:ext cx="3369872" cy="159302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6" name="TextBox 7">
            <a:extLst>
              <a:ext uri="{FF2B5EF4-FFF2-40B4-BE49-F238E27FC236}">
                <a16:creationId xmlns:a16="http://schemas.microsoft.com/office/drawing/2014/main" id="{D7085D2D-45D2-43BF-CEF4-A39AC8E3B3C3}"/>
              </a:ext>
            </a:extLst>
          </p:cNvPr>
          <p:cNvSpPr>
            <a:spLocks noGrp="1"/>
          </p:cNvSpPr>
          <p:nvPr/>
        </p:nvSpPr>
        <p:spPr>
          <a:xfrm>
            <a:off x="9108420" y="4805593"/>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例3：需要の上下</a:t>
            </a:r>
          </a:p>
        </p:txBody>
      </p:sp>
      <p:sp>
        <p:nvSpPr>
          <p:cNvPr id="138" name="コンテンツ プレースホルダー 2">
            <a:extLst>
              <a:ext uri="{FF2B5EF4-FFF2-40B4-BE49-F238E27FC236}">
                <a16:creationId xmlns:a16="http://schemas.microsoft.com/office/drawing/2014/main" id="{F934E9E5-4E99-6839-09C5-25FC5181C9AB}"/>
              </a:ext>
            </a:extLst>
          </p:cNvPr>
          <p:cNvSpPr>
            <a:spLocks noGrp="1"/>
          </p:cNvSpPr>
          <p:nvPr/>
        </p:nvSpPr>
        <p:spPr>
          <a:xfrm>
            <a:off x="8867956" y="1980090"/>
            <a:ext cx="2821695"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t>条件ごとの人流比較</a:t>
            </a:r>
          </a:p>
        </p:txBody>
      </p:sp>
      <p:pic>
        <p:nvPicPr>
          <p:cNvPr id="303" name="図 124"/>
          <p:cNvPicPr>
            <a:picLocks noChangeAspect="1"/>
          </p:cNvPicPr>
          <p:nvPr/>
        </p:nvPicPr>
        <p:blipFill>
          <a:blip r:embed="rId3"/>
          <a:srcRect l="17000" r="17000"/>
          <a:stretch/>
        </p:blipFill>
        <p:spPr>
          <a:xfrm>
            <a:off x="4065224" y="2300786"/>
            <a:ext cx="1866616" cy="2650684"/>
          </a:xfrm>
          <a:prstGeom prst="rect">
            <a:avLst/>
          </a:prstGeom>
        </p:spPr>
      </p:pic>
      <p:cxnSp>
        <p:nvCxnSpPr>
          <p:cNvPr id="304" name="直線矢印コネクタ 14"/>
          <p:cNvCxnSpPr/>
          <p:nvPr/>
        </p:nvCxnSpPr>
        <p:spPr>
          <a:xfrm flipV="1">
            <a:off x="4273014" y="3421964"/>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05" name="直線矢印コネクタ 18"/>
          <p:cNvCxnSpPr/>
          <p:nvPr/>
        </p:nvCxnSpPr>
        <p:spPr>
          <a:xfrm flipV="1">
            <a:off x="4382472" y="4338992"/>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06" name="直線矢印コネクタ 21"/>
          <p:cNvCxnSpPr/>
          <p:nvPr/>
        </p:nvCxnSpPr>
        <p:spPr>
          <a:xfrm>
            <a:off x="4850625" y="3421964"/>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07" name="直線矢印コネクタ 24"/>
          <p:cNvCxnSpPr/>
          <p:nvPr/>
        </p:nvCxnSpPr>
        <p:spPr>
          <a:xfrm flipV="1">
            <a:off x="5057779" y="4361464"/>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08" name="直線矢印コネクタ 25"/>
          <p:cNvCxnSpPr/>
          <p:nvPr/>
        </p:nvCxnSpPr>
        <p:spPr>
          <a:xfrm>
            <a:off x="4693090" y="2763817"/>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09" name="直線矢印コネクタ 28"/>
          <p:cNvCxnSpPr/>
          <p:nvPr/>
        </p:nvCxnSpPr>
        <p:spPr>
          <a:xfrm>
            <a:off x="4509360" y="3957351"/>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10" name="図 125"/>
          <p:cNvPicPr>
            <a:picLocks noChangeAspect="1"/>
          </p:cNvPicPr>
          <p:nvPr/>
        </p:nvPicPr>
        <p:blipFill>
          <a:blip r:embed="rId3"/>
          <a:srcRect l="17000" r="17000"/>
          <a:stretch/>
        </p:blipFill>
        <p:spPr>
          <a:xfrm>
            <a:off x="6439776" y="2308393"/>
            <a:ext cx="1871071" cy="2650684"/>
          </a:xfrm>
          <a:prstGeom prst="rect">
            <a:avLst/>
          </a:prstGeom>
        </p:spPr>
      </p:pic>
      <p:pic>
        <p:nvPicPr>
          <p:cNvPr id="311" name="図 30"/>
          <p:cNvPicPr>
            <a:picLocks noChangeAspect="1"/>
          </p:cNvPicPr>
          <p:nvPr/>
        </p:nvPicPr>
        <p:blipFill>
          <a:blip r:embed="rId3"/>
          <a:srcRect l="17000" r="17000"/>
          <a:stretch/>
        </p:blipFill>
        <p:spPr>
          <a:xfrm>
            <a:off x="6449821" y="2315306"/>
            <a:ext cx="1866616" cy="2650684"/>
          </a:xfrm>
          <a:prstGeom prst="rect">
            <a:avLst/>
          </a:prstGeom>
        </p:spPr>
      </p:pic>
      <p:cxnSp>
        <p:nvCxnSpPr>
          <p:cNvPr id="312" name="直線矢印コネクタ 31"/>
          <p:cNvCxnSpPr/>
          <p:nvPr/>
        </p:nvCxnSpPr>
        <p:spPr>
          <a:xfrm flipV="1">
            <a:off x="6657611" y="3436484"/>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13" name="直線矢印コネクタ 33"/>
          <p:cNvCxnSpPr/>
          <p:nvPr/>
        </p:nvCxnSpPr>
        <p:spPr>
          <a:xfrm flipV="1">
            <a:off x="6767069" y="4353512"/>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14" name="直線矢印コネクタ 34"/>
          <p:cNvCxnSpPr/>
          <p:nvPr/>
        </p:nvCxnSpPr>
        <p:spPr>
          <a:xfrm>
            <a:off x="7235222" y="3436484"/>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15" name="直線矢印コネクタ 35"/>
          <p:cNvCxnSpPr/>
          <p:nvPr/>
        </p:nvCxnSpPr>
        <p:spPr>
          <a:xfrm flipV="1">
            <a:off x="7442376" y="4375984"/>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16" name="直線矢印コネクタ 36"/>
          <p:cNvCxnSpPr/>
          <p:nvPr/>
        </p:nvCxnSpPr>
        <p:spPr>
          <a:xfrm>
            <a:off x="7077687" y="2778337"/>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17" name="直線矢印コネクタ 37"/>
          <p:cNvCxnSpPr/>
          <p:nvPr/>
        </p:nvCxnSpPr>
        <p:spPr>
          <a:xfrm>
            <a:off x="6893957" y="3971871"/>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18" name="直線矢印コネクタ 38"/>
          <p:cNvCxnSpPr/>
          <p:nvPr/>
        </p:nvCxnSpPr>
        <p:spPr>
          <a:xfrm>
            <a:off x="7001183" y="3512174"/>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pic>
        <p:nvPicPr>
          <p:cNvPr id="319" name="図 8"/>
          <p:cNvPicPr>
            <a:picLocks noChangeAspect="1"/>
          </p:cNvPicPr>
          <p:nvPr/>
        </p:nvPicPr>
        <p:blipFill>
          <a:blip r:embed="rId3"/>
          <a:srcRect l="17000" r="17000"/>
          <a:stretch/>
        </p:blipFill>
        <p:spPr>
          <a:xfrm>
            <a:off x="610833" y="2229703"/>
            <a:ext cx="2980346" cy="4100906"/>
          </a:xfrm>
          <a:prstGeom prst="rect">
            <a:avLst/>
          </a:prstGeom>
        </p:spPr>
      </p:pic>
      <p:sp>
        <p:nvSpPr>
          <p:cNvPr id="10" name="Oval 6">
            <a:extLst>
              <a:ext uri="{FF2B5EF4-FFF2-40B4-BE49-F238E27FC236}">
                <a16:creationId xmlns:a16="http://schemas.microsoft.com/office/drawing/2014/main" id="{5D1A83C5-59F3-44F6-5B47-C7C4D9801C58}"/>
              </a:ext>
            </a:extLst>
          </p:cNvPr>
          <p:cNvSpPr>
            <a:spLocks noGrp="1"/>
          </p:cNvSpPr>
          <p:nvPr/>
        </p:nvSpPr>
        <p:spPr>
          <a:xfrm>
            <a:off x="1395033" y="4382015"/>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11" name="テキスト ボックス 10">
            <a:extLst>
              <a:ext uri="{FF2B5EF4-FFF2-40B4-BE49-F238E27FC236}">
                <a16:creationId xmlns:a16="http://schemas.microsoft.com/office/drawing/2014/main" id="{15092849-D5CB-7341-0B7A-8F9D35914DBF}"/>
              </a:ext>
            </a:extLst>
          </p:cNvPr>
          <p:cNvSpPr>
            <a:spLocks noGrp="1"/>
          </p:cNvSpPr>
          <p:nvPr/>
        </p:nvSpPr>
        <p:spPr>
          <a:xfrm>
            <a:off x="1400707" y="4554777"/>
            <a:ext cx="655431" cy="251706"/>
          </a:xfrm>
          <a:prstGeom prst="rect">
            <a:avLst/>
          </a:prstGeom>
          <a:noFill/>
        </p:spPr>
        <p:txBody>
          <a:bodyPr wrap="square">
            <a:spAutoFit/>
          </a:bodyPr>
          <a:lstStyle/>
          <a:p>
            <a:r>
              <a:rPr lang="ja-JP" altLang="en-US" sz="1050"/>
              <a:t>敷地</a:t>
            </a:r>
            <a:endParaRPr sz="1050"/>
          </a:p>
        </p:txBody>
      </p:sp>
      <p:sp>
        <p:nvSpPr>
          <p:cNvPr id="12" name="Oval 6">
            <a:extLst>
              <a:ext uri="{FF2B5EF4-FFF2-40B4-BE49-F238E27FC236}">
                <a16:creationId xmlns:a16="http://schemas.microsoft.com/office/drawing/2014/main" id="{3FCDAB7A-32FB-B4C7-4E85-8C25F7034447}"/>
              </a:ext>
            </a:extLst>
          </p:cNvPr>
          <p:cNvSpPr>
            <a:spLocks noGrp="1"/>
          </p:cNvSpPr>
          <p:nvPr/>
        </p:nvSpPr>
        <p:spPr>
          <a:xfrm>
            <a:off x="1018087" y="5150799"/>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13" name="正方形/長方形 12">
            <a:extLst>
              <a:ext uri="{FF2B5EF4-FFF2-40B4-BE49-F238E27FC236}">
                <a16:creationId xmlns:a16="http://schemas.microsoft.com/office/drawing/2014/main" id="{7A165BEE-F2B5-388C-B581-015D837B3E5B}"/>
              </a:ext>
            </a:extLst>
          </p:cNvPr>
          <p:cNvSpPr>
            <a:spLocks noGrp="1"/>
          </p:cNvSpPr>
          <p:nvPr/>
        </p:nvSpPr>
        <p:spPr>
          <a:xfrm rot="21007099">
            <a:off x="1578926" y="3688029"/>
            <a:ext cx="371235" cy="512737"/>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正方形/長方形 246">
            <a:extLst>
              <a:ext uri="{FF2B5EF4-FFF2-40B4-BE49-F238E27FC236}">
                <a16:creationId xmlns:a16="http://schemas.microsoft.com/office/drawing/2014/main" id="{870CFBE2-C0E5-F294-4005-31FFEDC8EAB5}"/>
              </a:ext>
            </a:extLst>
          </p:cNvPr>
          <p:cNvSpPr>
            <a:spLocks noGrp="1"/>
          </p:cNvSpPr>
          <p:nvPr/>
        </p:nvSpPr>
        <p:spPr>
          <a:xfrm rot="21007099">
            <a:off x="1410302" y="3733828"/>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正方形/長方形 246">
            <a:extLst>
              <a:ext uri="{FF2B5EF4-FFF2-40B4-BE49-F238E27FC236}">
                <a16:creationId xmlns:a16="http://schemas.microsoft.com/office/drawing/2014/main" id="{BE26C57B-C5C4-A4CE-446F-0B9995C2D464}"/>
              </a:ext>
            </a:extLst>
          </p:cNvPr>
          <p:cNvSpPr>
            <a:spLocks noGrp="1"/>
          </p:cNvSpPr>
          <p:nvPr/>
        </p:nvSpPr>
        <p:spPr>
          <a:xfrm rot="21007099">
            <a:off x="1774866" y="3667733"/>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正方形/長方形 252">
            <a:extLst>
              <a:ext uri="{FF2B5EF4-FFF2-40B4-BE49-F238E27FC236}">
                <a16:creationId xmlns:a16="http://schemas.microsoft.com/office/drawing/2014/main" id="{4D391F1C-1322-2E29-F4D7-214D80D17B20}"/>
              </a:ext>
            </a:extLst>
          </p:cNvPr>
          <p:cNvSpPr>
            <a:spLocks noGrp="1"/>
          </p:cNvSpPr>
          <p:nvPr/>
        </p:nvSpPr>
        <p:spPr>
          <a:xfrm rot="21007099">
            <a:off x="1451219" y="4213172"/>
            <a:ext cx="602839" cy="690150"/>
          </a:xfrm>
          <a:custGeom>
            <a:avLst/>
            <a:gdLst/>
            <a:ahLst/>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テキスト ボックス 17">
            <a:extLst>
              <a:ext uri="{FF2B5EF4-FFF2-40B4-BE49-F238E27FC236}">
                <a16:creationId xmlns:a16="http://schemas.microsoft.com/office/drawing/2014/main" id="{6690BCFF-4990-1486-2DEE-06D0784E2ABC}"/>
              </a:ext>
            </a:extLst>
          </p:cNvPr>
          <p:cNvSpPr>
            <a:spLocks noGrp="1"/>
          </p:cNvSpPr>
          <p:nvPr/>
        </p:nvSpPr>
        <p:spPr>
          <a:xfrm>
            <a:off x="1553469" y="3830384"/>
            <a:ext cx="497963" cy="274587"/>
          </a:xfrm>
          <a:prstGeom prst="rect">
            <a:avLst/>
          </a:prstGeom>
          <a:noFill/>
        </p:spPr>
        <p:txBody>
          <a:bodyPr wrap="none">
            <a:spAutoFit/>
          </a:bodyPr>
          <a:lstStyle/>
          <a:p>
            <a:r>
              <a:rPr sz="1200"/>
              <a:t>対象</a:t>
            </a:r>
          </a:p>
        </p:txBody>
      </p:sp>
      <p:sp>
        <p:nvSpPr>
          <p:cNvPr id="20" name="Oval 6">
            <a:extLst>
              <a:ext uri="{FF2B5EF4-FFF2-40B4-BE49-F238E27FC236}">
                <a16:creationId xmlns:a16="http://schemas.microsoft.com/office/drawing/2014/main" id="{CBC782B0-21D0-D49F-1622-01F8402A7C04}"/>
              </a:ext>
            </a:extLst>
          </p:cNvPr>
          <p:cNvSpPr>
            <a:spLocks noGrp="1"/>
          </p:cNvSpPr>
          <p:nvPr/>
        </p:nvSpPr>
        <p:spPr>
          <a:xfrm>
            <a:off x="1553469" y="3640661"/>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21" name="フリーフォーム 20">
            <a:extLst>
              <a:ext uri="{FF2B5EF4-FFF2-40B4-BE49-F238E27FC236}">
                <a16:creationId xmlns:a16="http://schemas.microsoft.com/office/drawing/2014/main" id="{0405FCF0-F2F0-04F0-4BE8-E9891B3CF3C2}"/>
              </a:ext>
            </a:extLst>
          </p:cNvPr>
          <p:cNvSpPr>
            <a:spLocks noGrp="1"/>
          </p:cNvSpPr>
          <p:nvPr/>
        </p:nvSpPr>
        <p:spPr>
          <a:xfrm>
            <a:off x="1698692" y="4155437"/>
            <a:ext cx="570695" cy="771818"/>
          </a:xfrm>
          <a:custGeom>
            <a:avLst/>
            <a:gdLst/>
            <a:ahLst/>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フリーフォーム 22">
            <a:extLst>
              <a:ext uri="{FF2B5EF4-FFF2-40B4-BE49-F238E27FC236}">
                <a16:creationId xmlns:a16="http://schemas.microsoft.com/office/drawing/2014/main" id="{3A2981C2-7FF5-6404-C3E7-519E195F6556}"/>
              </a:ext>
            </a:extLst>
          </p:cNvPr>
          <p:cNvSpPr>
            <a:spLocks noGrp="1"/>
          </p:cNvSpPr>
          <p:nvPr/>
        </p:nvSpPr>
        <p:spPr>
          <a:xfrm>
            <a:off x="1788588" y="4313710"/>
            <a:ext cx="781489" cy="719445"/>
          </a:xfrm>
          <a:custGeom>
            <a:avLst/>
            <a:gdLst/>
            <a:ahLst/>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フリーフォーム 23">
            <a:extLst>
              <a:ext uri="{FF2B5EF4-FFF2-40B4-BE49-F238E27FC236}">
                <a16:creationId xmlns:a16="http://schemas.microsoft.com/office/drawing/2014/main" id="{0700D77A-66BD-45B8-37F4-51C3E7FED2C5}"/>
              </a:ext>
            </a:extLst>
          </p:cNvPr>
          <p:cNvSpPr>
            <a:spLocks noGrp="1"/>
          </p:cNvSpPr>
          <p:nvPr/>
        </p:nvSpPr>
        <p:spPr>
          <a:xfrm>
            <a:off x="943046" y="4259019"/>
            <a:ext cx="738288" cy="265557"/>
          </a:xfrm>
          <a:custGeom>
            <a:avLst/>
            <a:gdLst/>
            <a:ahLst/>
            <a:cxnLst/>
            <a:rect l="l" t="t" r="r" b="b"/>
            <a:pathLst>
              <a:path w="838200" h="311150">
                <a:moveTo>
                  <a:pt x="838200" y="0"/>
                </a:moveTo>
                <a:lnTo>
                  <a:pt x="415925" y="82550"/>
                </a:lnTo>
                <a:lnTo>
                  <a:pt x="0" y="311150"/>
                </a:lnTo>
              </a:path>
            </a:pathLst>
          </a:custGeom>
          <a:noFill/>
          <a:ln w="38100">
            <a:solidFill>
              <a:srgbClr val="F2B3ED"/>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6">
            <a:extLst>
              <a:ext uri="{FF2B5EF4-FFF2-40B4-BE49-F238E27FC236}">
                <a16:creationId xmlns:a16="http://schemas.microsoft.com/office/drawing/2014/main" id="{A5BC62E2-32EC-9C1E-18C7-ECBE4CAB3D55}"/>
              </a:ext>
            </a:extLst>
          </p:cNvPr>
          <p:cNvSpPr>
            <a:spLocks noGrp="1"/>
          </p:cNvSpPr>
          <p:nvPr/>
        </p:nvSpPr>
        <p:spPr>
          <a:xfrm>
            <a:off x="2362973" y="4873938"/>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28" name="コンテンツ プレースホルダー 2">
            <a:extLst>
              <a:ext uri="{FF2B5EF4-FFF2-40B4-BE49-F238E27FC236}">
                <a16:creationId xmlns:a16="http://schemas.microsoft.com/office/drawing/2014/main" id="{6A8F459F-7F1D-F5A0-92CF-B834E940EBE0}"/>
              </a:ext>
            </a:extLst>
          </p:cNvPr>
          <p:cNvSpPr>
            <a:spLocks noGrp="1"/>
          </p:cNvSpPr>
          <p:nvPr/>
        </p:nvSpPr>
        <p:spPr>
          <a:xfrm>
            <a:off x="335360" y="1089140"/>
            <a:ext cx="10944470" cy="404645"/>
          </a:xfrm>
          <a:prstGeom prst="rect">
            <a:avLst/>
          </a:prstGeom>
        </p:spPr>
        <p:txBody>
          <a:bodyPr vert="horz" lIns="91440" tIns="45720" rIns="91440" bIns="45720">
            <a:normAutofit fontScale="97921"/>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lang="ja-JP" altLang="en-US" sz="1800" b="1" dirty="0">
                <a:solidFill>
                  <a:schemeClr val="bg2">
                    <a:lumMod val="10000"/>
                  </a:schemeClr>
                </a:solidFill>
                <a:latin typeface="Noto Sans CJK JP"/>
              </a:rPr>
              <a:t>さまざまなシナリオに応じた人流</a:t>
            </a:r>
            <a:r>
              <a:rPr lang="en" altLang="ja-JP" sz="1800" b="1" dirty="0">
                <a:solidFill>
                  <a:schemeClr val="bg2">
                    <a:lumMod val="10000"/>
                  </a:schemeClr>
                </a:solidFill>
                <a:latin typeface="Noto Sans CJK JP"/>
              </a:rPr>
              <a:t>シミュレーションを行</a:t>
            </a:r>
            <a:r>
              <a:rPr lang="ja-JP" altLang="en-US" sz="1800" b="1" dirty="0">
                <a:solidFill>
                  <a:schemeClr val="bg2">
                    <a:lumMod val="10000"/>
                  </a:schemeClr>
                </a:solidFill>
                <a:latin typeface="Noto Sans CJK JP"/>
              </a:rPr>
              <a:t>い、変動範囲を予測する。</a:t>
            </a:r>
            <a:endParaRPr lang="ja-JP" altLang="en-US" sz="1800" dirty="0"/>
          </a:p>
        </p:txBody>
      </p:sp>
      <p:sp>
        <p:nvSpPr>
          <p:cNvPr id="33" name="コンテンツ プレースホルダー 2">
            <a:extLst>
              <a:ext uri="{FF2B5EF4-FFF2-40B4-BE49-F238E27FC236}">
                <a16:creationId xmlns:a16="http://schemas.microsoft.com/office/drawing/2014/main" id="{5F4DCE42-8D84-2C1C-1086-D00EE3C581C4}"/>
              </a:ext>
            </a:extLst>
          </p:cNvPr>
          <p:cNvSpPr>
            <a:spLocks noGrp="1"/>
          </p:cNvSpPr>
          <p:nvPr/>
        </p:nvSpPr>
        <p:spPr>
          <a:xfrm>
            <a:off x="53218" y="1931532"/>
            <a:ext cx="3996544"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solidFill>
                  <a:schemeClr val="tx2">
                    <a:lumMod val="90000"/>
                    <a:lumOff val="10000"/>
                  </a:schemeClr>
                </a:solidFill>
                <a:latin typeface="HGMinchoE"/>
                <a:ea typeface="HGMinchoE"/>
                <a:cs typeface="HGMinchoE"/>
              </a:rPr>
              <a:t>例：旧・名鉄百貨店本店周辺</a:t>
            </a:r>
          </a:p>
        </p:txBody>
      </p:sp>
      <p:sp>
        <p:nvSpPr>
          <p:cNvPr id="42" name="右矢印 41">
            <a:extLst>
              <a:ext uri="{FF2B5EF4-FFF2-40B4-BE49-F238E27FC236}">
                <a16:creationId xmlns:a16="http://schemas.microsoft.com/office/drawing/2014/main" id="{BBEFE5E3-4DE9-D477-98D5-BDBE1A541782}"/>
              </a:ext>
            </a:extLst>
          </p:cNvPr>
          <p:cNvSpPr>
            <a:spLocks noGrp="1"/>
          </p:cNvSpPr>
          <p:nvPr/>
        </p:nvSpPr>
        <p:spPr>
          <a:xfrm>
            <a:off x="6033379" y="3579260"/>
            <a:ext cx="355895" cy="182778"/>
          </a:xfrm>
          <a:prstGeom prst="rightArrow">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Rounded Rectangle 5">
            <a:extLst>
              <a:ext uri="{FF2B5EF4-FFF2-40B4-BE49-F238E27FC236}">
                <a16:creationId xmlns:a16="http://schemas.microsoft.com/office/drawing/2014/main" id="{0B2913D3-BD74-6D36-DB85-7FEB8E595874}"/>
              </a:ext>
            </a:extLst>
          </p:cNvPr>
          <p:cNvSpPr>
            <a:spLocks noGrp="1"/>
          </p:cNvSpPr>
          <p:nvPr/>
        </p:nvSpPr>
        <p:spPr>
          <a:xfrm>
            <a:off x="5712201" y="5084871"/>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人流を</a:t>
            </a:r>
            <a:r>
              <a:rPr lang="ja-JP" altLang="en-US" sz="1050">
                <a:solidFill>
                  <a:schemeClr val="tx1"/>
                </a:solidFill>
              </a:rPr>
              <a:t>予測</a:t>
            </a:r>
            <a:r>
              <a:rPr sz="1050">
                <a:solidFill>
                  <a:schemeClr val="tx1"/>
                </a:solidFill>
              </a:rPr>
              <a:t>してください。</a:t>
            </a:r>
          </a:p>
        </p:txBody>
      </p:sp>
      <p:sp>
        <p:nvSpPr>
          <p:cNvPr id="44" name="Rounded Rectangle 5">
            <a:extLst>
              <a:ext uri="{FF2B5EF4-FFF2-40B4-BE49-F238E27FC236}">
                <a16:creationId xmlns:a16="http://schemas.microsoft.com/office/drawing/2014/main" id="{83E3009E-5B3A-5D07-E2DE-F61DA4CBCAB0}"/>
              </a:ext>
            </a:extLst>
          </p:cNvPr>
          <p:cNvSpPr>
            <a:spLocks noGrp="1"/>
          </p:cNvSpPr>
          <p:nvPr/>
        </p:nvSpPr>
        <p:spPr>
          <a:xfrm>
            <a:off x="4187952" y="5400133"/>
            <a:ext cx="2888402" cy="880236"/>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ja-JP" altLang="en-US" sz="1200">
                <a:solidFill>
                  <a:schemeClr val="tx1"/>
                </a:solidFill>
              </a:rPr>
              <a:t>こちらの図が人流予測結果です。</a:t>
            </a:r>
            <a:endParaRPr lang="en-US" altLang="ja-JP" sz="1200">
              <a:solidFill>
                <a:schemeClr val="tx1"/>
              </a:solidFill>
            </a:endParaRPr>
          </a:p>
          <a:p>
            <a:pPr algn="ctr"/>
            <a:r>
              <a:rPr lang="ja-JP" altLang="en-US" sz="1200">
                <a:solidFill>
                  <a:schemeClr val="tx1"/>
                </a:solidFill>
              </a:rPr>
              <a:t>平日の来訪者：〇〇万人</a:t>
            </a:r>
          </a:p>
          <a:p>
            <a:pPr algn="ctr"/>
            <a:r>
              <a:rPr lang="ja-JP" altLang="en-US" sz="1200">
                <a:solidFill>
                  <a:schemeClr val="tx1"/>
                </a:solidFill>
              </a:rPr>
              <a:t>休日の来訪者：△△万人</a:t>
            </a:r>
          </a:p>
          <a:p>
            <a:pPr algn="ctr"/>
            <a:r>
              <a:rPr lang="ja-JP" altLang="ja-JP" sz="1200">
                <a:solidFill>
                  <a:schemeClr val="tx1"/>
                </a:solidFill>
              </a:rPr>
              <a:t>動線</a:t>
            </a:r>
            <a:r>
              <a:rPr lang="en-US" altLang="ja-JP" sz="1200">
                <a:solidFill>
                  <a:schemeClr val="tx1"/>
                </a:solidFill>
              </a:rPr>
              <a:t>~~</a:t>
            </a:r>
            <a:r>
              <a:rPr lang="ja-JP" altLang="ja-JP" sz="1200">
                <a:solidFill>
                  <a:schemeClr val="tx1"/>
                </a:solidFill>
              </a:rPr>
              <a:t>の通行量が特に増加しました</a:t>
            </a:r>
            <a:endParaRPr lang="ja-JP" altLang="en-US" sz="1200">
              <a:solidFill>
                <a:schemeClr val="tx1"/>
              </a:solidFill>
            </a:endParaRPr>
          </a:p>
        </p:txBody>
      </p:sp>
      <p:sp>
        <p:nvSpPr>
          <p:cNvPr id="45" name="Rounded Rectangle 5">
            <a:extLst>
              <a:ext uri="{FF2B5EF4-FFF2-40B4-BE49-F238E27FC236}">
                <a16:creationId xmlns:a16="http://schemas.microsoft.com/office/drawing/2014/main" id="{F0CCA1F7-8CD5-D722-83A8-30F14043783A}"/>
              </a:ext>
            </a:extLst>
          </p:cNvPr>
          <p:cNvSpPr>
            <a:spLocks noGrp="1"/>
          </p:cNvSpPr>
          <p:nvPr/>
        </p:nvSpPr>
        <p:spPr>
          <a:xfrm>
            <a:off x="9386433" y="2583187"/>
            <a:ext cx="2483144" cy="4046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latin typeface="+mn-ea"/>
              </a:rPr>
              <a:t>物販・イベント区画を設けた場合</a:t>
            </a:r>
            <a:r>
              <a:rPr lang="ja-JP" altLang="en-US" sz="1050">
                <a:solidFill>
                  <a:schemeClr val="tx1"/>
                </a:solidFill>
                <a:latin typeface="+mn-ea"/>
              </a:rPr>
              <a:t>と</a:t>
            </a:r>
            <a:r>
              <a:rPr sz="1050">
                <a:solidFill>
                  <a:schemeClr val="tx1"/>
                </a:solidFill>
                <a:latin typeface="+mn-ea"/>
              </a:rPr>
              <a:t>比較したい。</a:t>
            </a:r>
          </a:p>
        </p:txBody>
      </p:sp>
      <p:sp>
        <p:nvSpPr>
          <p:cNvPr id="46" name="Rounded Rectangle 5">
            <a:extLst>
              <a:ext uri="{FF2B5EF4-FFF2-40B4-BE49-F238E27FC236}">
                <a16:creationId xmlns:a16="http://schemas.microsoft.com/office/drawing/2014/main" id="{E0DFFC78-6EC4-F509-0351-A0A555716C26}"/>
              </a:ext>
            </a:extLst>
          </p:cNvPr>
          <p:cNvSpPr>
            <a:spLocks noGrp="1"/>
          </p:cNvSpPr>
          <p:nvPr/>
        </p:nvSpPr>
        <p:spPr>
          <a:xfrm>
            <a:off x="8733515" y="3040582"/>
            <a:ext cx="2483144" cy="425581"/>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kumimoji="1" lang="ja-JP" altLang="en-US" sz="1050">
                <a:solidFill>
                  <a:schemeClr val="tx1"/>
                </a:solidFill>
              </a:rPr>
              <a:t>その場合、来訪者は</a:t>
            </a:r>
            <a:r>
              <a:rPr lang="ja-JP" altLang="en-US" sz="1050">
                <a:solidFill>
                  <a:schemeClr val="tx1"/>
                </a:solidFill>
              </a:rPr>
              <a:t>〇〇万人に変化します。</a:t>
            </a:r>
            <a:endParaRPr kumimoji="1" lang="ja-JP" altLang="en-US" sz="1050">
              <a:solidFill>
                <a:schemeClr val="tx1"/>
              </a:solidFill>
            </a:endParaRPr>
          </a:p>
        </p:txBody>
      </p:sp>
      <p:sp>
        <p:nvSpPr>
          <p:cNvPr id="47" name="Rounded Rectangle 5">
            <a:extLst>
              <a:ext uri="{FF2B5EF4-FFF2-40B4-BE49-F238E27FC236}">
                <a16:creationId xmlns:a16="http://schemas.microsoft.com/office/drawing/2014/main" id="{B367B70A-7657-6858-F488-6094574F0AFD}"/>
              </a:ext>
            </a:extLst>
          </p:cNvPr>
          <p:cNvSpPr>
            <a:spLocks noGrp="1"/>
          </p:cNvSpPr>
          <p:nvPr/>
        </p:nvSpPr>
        <p:spPr>
          <a:xfrm>
            <a:off x="9376647" y="3861407"/>
            <a:ext cx="2483144" cy="286036"/>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pPr>
            <a:r>
              <a:rPr kumimoji="1" lang="ja-JP" altLang="en-US" sz="1050">
                <a:solidFill>
                  <a:schemeClr val="tx1"/>
                </a:solidFill>
                <a:latin typeface="+mn-ea"/>
              </a:rPr>
              <a:t>一日中雨の場合の減少状況を見たいな。</a:t>
            </a:r>
          </a:p>
        </p:txBody>
      </p:sp>
      <p:sp>
        <p:nvSpPr>
          <p:cNvPr id="48" name="Rounded Rectangle 5">
            <a:extLst>
              <a:ext uri="{FF2B5EF4-FFF2-40B4-BE49-F238E27FC236}">
                <a16:creationId xmlns:a16="http://schemas.microsoft.com/office/drawing/2014/main" id="{2CD80D3E-3C3C-04C1-BF3C-183F3AB00014}"/>
              </a:ext>
            </a:extLst>
          </p:cNvPr>
          <p:cNvSpPr>
            <a:spLocks noGrp="1"/>
          </p:cNvSpPr>
          <p:nvPr/>
        </p:nvSpPr>
        <p:spPr>
          <a:xfrm>
            <a:off x="9379339" y="5091629"/>
            <a:ext cx="2483144" cy="7202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None/>
            </a:pPr>
            <a:r>
              <a:rPr kumimoji="1" lang="ja-JP" altLang="en-US" sz="1050">
                <a:solidFill>
                  <a:schemeClr val="tx1"/>
                </a:solidFill>
                <a:latin typeface="+mn-ea"/>
              </a:rPr>
              <a:t>一年間でヒットしうまく行った場合の上方シナリオと下方シナリオを知りたいな。</a:t>
            </a:r>
            <a:endParaRPr sz="1050">
              <a:solidFill>
                <a:schemeClr val="tx1"/>
              </a:solidFill>
              <a:latin typeface="+mn-ea"/>
              <a:ea typeface="+mn-ea"/>
              <a:cs typeface="+mn-ea"/>
            </a:endParaRPr>
          </a:p>
        </p:txBody>
      </p:sp>
      <p:sp>
        <p:nvSpPr>
          <p:cNvPr id="53" name="Rounded Rectangle 5">
            <a:extLst>
              <a:ext uri="{FF2B5EF4-FFF2-40B4-BE49-F238E27FC236}">
                <a16:creationId xmlns:a16="http://schemas.microsoft.com/office/drawing/2014/main" id="{58C384DB-13FB-5358-95F8-C14FC57C28FD}"/>
              </a:ext>
            </a:extLst>
          </p:cNvPr>
          <p:cNvSpPr>
            <a:spLocks noGrp="1"/>
          </p:cNvSpPr>
          <p:nvPr/>
        </p:nvSpPr>
        <p:spPr>
          <a:xfrm>
            <a:off x="8713947" y="421131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kumimoji="1" lang="ja-JP" altLang="en-US" sz="1050">
                <a:solidFill>
                  <a:schemeClr val="tx1"/>
                </a:solidFill>
              </a:rPr>
              <a:t>雨の場合、平日の来訪者は</a:t>
            </a:r>
            <a:r>
              <a:rPr lang="ja-JP" altLang="en-US" sz="1050">
                <a:solidFill>
                  <a:schemeClr val="tx1"/>
                </a:solidFill>
              </a:rPr>
              <a:t>〇〇万人に、休日の来訪者は△△万人に減少します。</a:t>
            </a:r>
            <a:endParaRPr kumimoji="1" lang="ja-JP" altLang="en-US" sz="1050">
              <a:solidFill>
                <a:schemeClr val="tx1"/>
              </a:solidFill>
            </a:endParaRPr>
          </a:p>
        </p:txBody>
      </p:sp>
      <p:sp>
        <p:nvSpPr>
          <p:cNvPr id="54" name="Rounded Rectangle 5">
            <a:extLst>
              <a:ext uri="{FF2B5EF4-FFF2-40B4-BE49-F238E27FC236}">
                <a16:creationId xmlns:a16="http://schemas.microsoft.com/office/drawing/2014/main" id="{E1F9C3E9-68EF-687E-C527-D1AE17B96561}"/>
              </a:ext>
            </a:extLst>
          </p:cNvPr>
          <p:cNvSpPr>
            <a:spLocks noGrp="1"/>
          </p:cNvSpPr>
          <p:nvPr/>
        </p:nvSpPr>
        <p:spPr>
          <a:xfrm>
            <a:off x="8727150" y="586239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lang="ja-JP" altLang="ja-JP" sz="1050">
                <a:solidFill>
                  <a:schemeClr val="tx1"/>
                </a:solidFill>
              </a:rPr>
              <a:t>上方シナリオ／下方シナリオの2パターンを</a:t>
            </a:r>
            <a:r>
              <a:rPr lang="ja-JP" altLang="en-US" sz="1050">
                <a:solidFill>
                  <a:schemeClr val="tx1"/>
                </a:solidFill>
              </a:rPr>
              <a:t>作成し比較します。</a:t>
            </a:r>
            <a:endParaRPr kumimoji="1" lang="ja-JP" altLang="en-US" sz="1050">
              <a:solidFill>
                <a:schemeClr val="tx1"/>
              </a:solidFill>
            </a:endParaRPr>
          </a:p>
        </p:txBody>
      </p:sp>
      <p:sp>
        <p:nvSpPr>
          <p:cNvPr id="3" name="テキスト ボックス 2">
            <a:extLst>
              <a:ext uri="{FF2B5EF4-FFF2-40B4-BE49-F238E27FC236}">
                <a16:creationId xmlns:a16="http://schemas.microsoft.com/office/drawing/2014/main" id="{C49AE73C-4ECE-44E4-3F72-03D7AA436B6D}"/>
              </a:ext>
            </a:extLst>
          </p:cNvPr>
          <p:cNvSpPr txBox="1"/>
          <p:nvPr/>
        </p:nvSpPr>
        <p:spPr>
          <a:xfrm>
            <a:off x="593976" y="1657334"/>
            <a:ext cx="2339102" cy="307777"/>
          </a:xfrm>
          <a:prstGeom prst="rect">
            <a:avLst/>
          </a:prstGeom>
          <a:noFill/>
        </p:spPr>
        <p:txBody>
          <a:bodyPr wrap="none" rtlCol="0">
            <a:spAutoFit/>
          </a:bodyPr>
          <a:lstStyle/>
          <a:p>
            <a:r>
              <a:rPr kumimoji="1" lang="en-US" altLang="ja-JP" sz="1400"/>
              <a:t>※</a:t>
            </a:r>
            <a:r>
              <a:rPr kumimoji="1" lang="ja-JP" altLang="en-US" sz="1400"/>
              <a:t>検証用の仮想計画ケース</a:t>
            </a:r>
          </a:p>
        </p:txBody>
      </p:sp>
    </p:spTree>
    <p:extLst>
      <p:ext uri="{BB962C8B-B14F-4D97-AF65-F5344CB8AC3E}">
        <p14:creationId xmlns:p14="http://schemas.microsoft.com/office/powerpoint/2010/main" val="2708325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rPr kumimoji="1" lang="ja-JP" altLang="en-US" dirty="0"/>
              <a:t>本研究の立ち位置</a:t>
            </a:r>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sz="quarter" idx="12"/>
          </p:nvPr>
        </p:nvSpPr>
        <p:spPr/>
        <p:txBody>
          <a:bodyPr/>
          <a:lstStyle/>
          <a:p>
            <a:fld id="{6539E37A-E522-3D47-AAB7-DDF67C94A05D}" type="slidenum">
              <a:rPr lang="en-US" altLang="ja-JP"/>
              <a:t>4</a:t>
            </a:fld>
            <a:endParaRPr kumimoji="1" lang="ja-JP" altLang="en-US"/>
          </a:p>
        </p:txBody>
      </p:sp>
      <p:sp>
        <p:nvSpPr>
          <p:cNvPr id="22" name="コンテンツ プレースホルダー 2">
            <a:extLst>
              <a:ext uri="{FF2B5EF4-FFF2-40B4-BE49-F238E27FC236}">
                <a16:creationId xmlns:a16="http://schemas.microsoft.com/office/drawing/2014/main" id="{37CAFBFB-CBC4-5813-B1BF-5950CD11BF53}"/>
              </a:ext>
            </a:extLst>
          </p:cNvPr>
          <p:cNvSpPr txBox="1">
            <a:spLocks/>
          </p:cNvSpPr>
          <p:nvPr/>
        </p:nvSpPr>
        <p:spPr>
          <a:xfrm>
            <a:off x="425370" y="1041383"/>
            <a:ext cx="11594864" cy="112747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b="1" dirty="0"/>
              <a:t>LLM</a:t>
            </a:r>
            <a:r>
              <a:rPr lang="ja-JP" altLang="en-US" sz="1800" b="1" dirty="0"/>
              <a:t>を活用した都市開発計画支援研究は構想整理に有効だが、人流評価との接続は限定的</a:t>
            </a:r>
            <a:endParaRPr lang="en-US" altLang="ja-JP" sz="1800" b="1" dirty="0"/>
          </a:p>
          <a:p>
            <a:r>
              <a:rPr lang="ja-JP" altLang="en-US" sz="1800" b="1" dirty="0"/>
              <a:t>人流予測研究は施設配置や施策の効果評価に有効だが、自然言語の計画意図を直接扱いにくい</a:t>
            </a:r>
            <a:endParaRPr lang="en-US" altLang="ja-JP" sz="1800" b="1" dirty="0"/>
          </a:p>
          <a:p>
            <a:r>
              <a:rPr lang="ja-JP" altLang="en-US" sz="1800" b="1" dirty="0"/>
              <a:t>本研究は、</a:t>
            </a:r>
            <a:r>
              <a:rPr lang="en-US" altLang="ja-JP" sz="1800" b="1" dirty="0"/>
              <a:t>LLM</a:t>
            </a:r>
            <a:r>
              <a:rPr lang="ja-JP" altLang="en-US" sz="1800" b="1" dirty="0"/>
              <a:t>による開発計画の具体化と人流予測の双方をシームレスに接続し、初期構想の評価を可能にする</a:t>
            </a:r>
            <a:endParaRPr lang="en-US" altLang="ja-JP" sz="1800" b="1" dirty="0"/>
          </a:p>
          <a:p>
            <a:endParaRPr lang="ja-JP" altLang="en-US" sz="1800" dirty="0"/>
          </a:p>
        </p:txBody>
      </p:sp>
      <p:grpSp>
        <p:nvGrpSpPr>
          <p:cNvPr id="28" name="グループ化 27">
            <a:extLst>
              <a:ext uri="{FF2B5EF4-FFF2-40B4-BE49-F238E27FC236}">
                <a16:creationId xmlns:a16="http://schemas.microsoft.com/office/drawing/2014/main" id="{6BAE53AC-D060-6226-44E1-EAF436AB3683}"/>
              </a:ext>
            </a:extLst>
          </p:cNvPr>
          <p:cNvGrpSpPr/>
          <p:nvPr/>
        </p:nvGrpSpPr>
        <p:grpSpPr>
          <a:xfrm>
            <a:off x="618220" y="2306227"/>
            <a:ext cx="3420380" cy="3778068"/>
            <a:chOff x="1235460" y="2511315"/>
            <a:chExt cx="3420380" cy="3510390"/>
          </a:xfrm>
          <a:effectLst/>
        </p:grpSpPr>
        <p:grpSp>
          <p:nvGrpSpPr>
            <p:cNvPr id="26" name="グループ化 25">
              <a:extLst>
                <a:ext uri="{FF2B5EF4-FFF2-40B4-BE49-F238E27FC236}">
                  <a16:creationId xmlns:a16="http://schemas.microsoft.com/office/drawing/2014/main" id="{AC9FF0E6-393E-13DD-554E-C70174F65199}"/>
                </a:ext>
              </a:extLst>
            </p:cNvPr>
            <p:cNvGrpSpPr/>
            <p:nvPr/>
          </p:nvGrpSpPr>
          <p:grpSpPr>
            <a:xfrm>
              <a:off x="1235460" y="2511315"/>
              <a:ext cx="3420380" cy="3510390"/>
              <a:chOff x="833099" y="2578989"/>
              <a:chExt cx="2888402" cy="3510390"/>
            </a:xfrm>
          </p:grpSpPr>
          <p:sp>
            <p:nvSpPr>
              <p:cNvPr id="23" name="Rounded Rectangle 5">
                <a:extLst>
                  <a:ext uri="{FF2B5EF4-FFF2-40B4-BE49-F238E27FC236}">
                    <a16:creationId xmlns:a16="http://schemas.microsoft.com/office/drawing/2014/main" id="{C43EEF9F-8FED-7BFA-2237-7E54BB5AC069}"/>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25" name="片側の 2 つの角を丸めた四角形 24">
                <a:extLst>
                  <a:ext uri="{FF2B5EF4-FFF2-40B4-BE49-F238E27FC236}">
                    <a16:creationId xmlns:a16="http://schemas.microsoft.com/office/drawing/2014/main" id="{9DE9E5CF-2253-6B56-FF3E-D828592A5EFC}"/>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1E22F820-3F64-C1A8-3BE1-4F4AEB548CBA}"/>
                </a:ext>
              </a:extLst>
            </p:cNvPr>
            <p:cNvSpPr txBox="1"/>
            <p:nvPr/>
          </p:nvSpPr>
          <p:spPr>
            <a:xfrm>
              <a:off x="1343288" y="2663911"/>
              <a:ext cx="3199915" cy="314567"/>
            </a:xfrm>
            <a:prstGeom prst="rect">
              <a:avLst/>
            </a:prstGeom>
            <a:noFill/>
          </p:spPr>
          <p:txBody>
            <a:bodyPr wrap="none" rtlCol="0">
              <a:spAutoFit/>
            </a:bodyPr>
            <a:lstStyle/>
            <a:p>
              <a:r>
                <a:rPr lang="ja-JP" altLang="ja-JP" sz="1600" b="1">
                  <a:solidFill>
                    <a:schemeClr val="bg1"/>
                  </a:solidFill>
                </a:rPr>
                <a:t>LLMを活用した</a:t>
              </a:r>
              <a:r>
                <a:rPr lang="ja-JP" altLang="en-US" sz="1600" b="1">
                  <a:solidFill>
                    <a:schemeClr val="bg1"/>
                  </a:solidFill>
                </a:rPr>
                <a:t>都市</a:t>
              </a:r>
              <a:r>
                <a:rPr lang="ja-JP" altLang="ja-JP" sz="1600" b="1">
                  <a:solidFill>
                    <a:schemeClr val="bg1"/>
                  </a:solidFill>
                </a:rPr>
                <a:t>計画</a:t>
              </a:r>
              <a:r>
                <a:rPr lang="ja-JP" altLang="en-US" sz="1600" b="1">
                  <a:solidFill>
                    <a:schemeClr val="bg1"/>
                  </a:solidFill>
                </a:rPr>
                <a:t>の</a:t>
              </a:r>
              <a:r>
                <a:rPr lang="ja-JP" altLang="ja-JP" sz="1600" b="1">
                  <a:solidFill>
                    <a:schemeClr val="bg1"/>
                  </a:solidFill>
                </a:rPr>
                <a:t>具体化</a:t>
              </a:r>
              <a:endParaRPr kumimoji="1" lang="ja-JP" altLang="en-US" sz="1600" b="1">
                <a:solidFill>
                  <a:schemeClr val="bg1"/>
                </a:solidFill>
              </a:endParaRPr>
            </a:p>
          </p:txBody>
        </p:sp>
      </p:grpSp>
      <p:grpSp>
        <p:nvGrpSpPr>
          <p:cNvPr id="29" name="グループ化 28">
            <a:extLst>
              <a:ext uri="{FF2B5EF4-FFF2-40B4-BE49-F238E27FC236}">
                <a16:creationId xmlns:a16="http://schemas.microsoft.com/office/drawing/2014/main" id="{3D850FA2-3337-D956-B209-4C07B1636237}"/>
              </a:ext>
            </a:extLst>
          </p:cNvPr>
          <p:cNvGrpSpPr/>
          <p:nvPr/>
        </p:nvGrpSpPr>
        <p:grpSpPr>
          <a:xfrm>
            <a:off x="4293062" y="2318330"/>
            <a:ext cx="3420380" cy="3778068"/>
            <a:chOff x="1235460" y="2511315"/>
            <a:chExt cx="3420380" cy="3510390"/>
          </a:xfrm>
          <a:effectLst/>
        </p:grpSpPr>
        <p:grpSp>
          <p:nvGrpSpPr>
            <p:cNvPr id="30" name="グループ化 29">
              <a:extLst>
                <a:ext uri="{FF2B5EF4-FFF2-40B4-BE49-F238E27FC236}">
                  <a16:creationId xmlns:a16="http://schemas.microsoft.com/office/drawing/2014/main" id="{6D262424-F6E8-E1D9-242A-A273D486C4A5}"/>
                </a:ext>
              </a:extLst>
            </p:cNvPr>
            <p:cNvGrpSpPr/>
            <p:nvPr/>
          </p:nvGrpSpPr>
          <p:grpSpPr>
            <a:xfrm>
              <a:off x="1235460" y="2511315"/>
              <a:ext cx="3420380" cy="3510390"/>
              <a:chOff x="833099" y="2578989"/>
              <a:chExt cx="2888402" cy="3510390"/>
            </a:xfrm>
          </p:grpSpPr>
          <p:sp>
            <p:nvSpPr>
              <p:cNvPr id="32" name="Rounded Rectangle 5">
                <a:extLst>
                  <a:ext uri="{FF2B5EF4-FFF2-40B4-BE49-F238E27FC236}">
                    <a16:creationId xmlns:a16="http://schemas.microsoft.com/office/drawing/2014/main" id="{1DDBA576-D84B-C769-F1F4-317B8F416E9A}"/>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3" name="片側の 2 つの角を丸めた四角形 32">
                <a:extLst>
                  <a:ext uri="{FF2B5EF4-FFF2-40B4-BE49-F238E27FC236}">
                    <a16:creationId xmlns:a16="http://schemas.microsoft.com/office/drawing/2014/main" id="{74203617-3F6A-216D-834B-C6FAA31E59F3}"/>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14247868-FCAF-015B-E2F5-AF6927669688}"/>
                </a:ext>
              </a:extLst>
            </p:cNvPr>
            <p:cNvSpPr txBox="1"/>
            <p:nvPr/>
          </p:nvSpPr>
          <p:spPr>
            <a:xfrm>
              <a:off x="2240655" y="2664659"/>
              <a:ext cx="1415772" cy="314567"/>
            </a:xfrm>
            <a:prstGeom prst="rect">
              <a:avLst/>
            </a:prstGeom>
            <a:noFill/>
          </p:spPr>
          <p:txBody>
            <a:bodyPr wrap="none" rtlCol="0">
              <a:spAutoFit/>
            </a:bodyPr>
            <a:lstStyle/>
            <a:p>
              <a:r>
                <a:rPr lang="ja-JP" altLang="en-US" sz="1600" b="1">
                  <a:solidFill>
                    <a:schemeClr val="bg1"/>
                  </a:solidFill>
                </a:rPr>
                <a:t>人流予測研究</a:t>
              </a:r>
              <a:endParaRPr kumimoji="1" lang="ja-JP" altLang="en-US" sz="1600">
                <a:solidFill>
                  <a:schemeClr val="bg1"/>
                </a:solidFill>
              </a:endParaRPr>
            </a:p>
          </p:txBody>
        </p:sp>
      </p:grpSp>
      <p:grpSp>
        <p:nvGrpSpPr>
          <p:cNvPr id="34" name="グループ化 33">
            <a:extLst>
              <a:ext uri="{FF2B5EF4-FFF2-40B4-BE49-F238E27FC236}">
                <a16:creationId xmlns:a16="http://schemas.microsoft.com/office/drawing/2014/main" id="{E423460B-2572-0244-5C46-3BCEBD492064}"/>
              </a:ext>
            </a:extLst>
          </p:cNvPr>
          <p:cNvGrpSpPr/>
          <p:nvPr/>
        </p:nvGrpSpPr>
        <p:grpSpPr>
          <a:xfrm>
            <a:off x="7973686" y="2306227"/>
            <a:ext cx="3504790" cy="3778068"/>
            <a:chOff x="1235460" y="2511315"/>
            <a:chExt cx="3504790" cy="3510390"/>
          </a:xfrm>
          <a:effectLst/>
        </p:grpSpPr>
        <p:grpSp>
          <p:nvGrpSpPr>
            <p:cNvPr id="35" name="グループ化 34">
              <a:extLst>
                <a:ext uri="{FF2B5EF4-FFF2-40B4-BE49-F238E27FC236}">
                  <a16:creationId xmlns:a16="http://schemas.microsoft.com/office/drawing/2014/main" id="{00DC4BA9-D8C1-3C22-6BBE-F130B12A2B95}"/>
                </a:ext>
              </a:extLst>
            </p:cNvPr>
            <p:cNvGrpSpPr/>
            <p:nvPr/>
          </p:nvGrpSpPr>
          <p:grpSpPr>
            <a:xfrm>
              <a:off x="1235460" y="2511315"/>
              <a:ext cx="3420380" cy="3510390"/>
              <a:chOff x="833099" y="2578989"/>
              <a:chExt cx="2888402" cy="3510390"/>
            </a:xfrm>
          </p:grpSpPr>
          <p:sp>
            <p:nvSpPr>
              <p:cNvPr id="37" name="Rounded Rectangle 5">
                <a:extLst>
                  <a:ext uri="{FF2B5EF4-FFF2-40B4-BE49-F238E27FC236}">
                    <a16:creationId xmlns:a16="http://schemas.microsoft.com/office/drawing/2014/main" id="{901A5644-BA38-148B-2FBF-117266FDACE1}"/>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8" name="片側の 2 つの角を丸めた四角形 37">
                <a:extLst>
                  <a:ext uri="{FF2B5EF4-FFF2-40B4-BE49-F238E27FC236}">
                    <a16:creationId xmlns:a16="http://schemas.microsoft.com/office/drawing/2014/main" id="{54EDACB5-AFA3-E0EB-D685-67D7B83C2BEE}"/>
                  </a:ext>
                </a:extLst>
              </p:cNvPr>
              <p:cNvSpPr/>
              <p:nvPr/>
            </p:nvSpPr>
            <p:spPr>
              <a:xfrm>
                <a:off x="833099" y="2578990"/>
                <a:ext cx="2888402" cy="540060"/>
              </a:xfrm>
              <a:prstGeom prst="round2SameRect">
                <a:avLst>
                  <a:gd name="adj1" fmla="val 50000"/>
                  <a:gd name="adj2"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テキスト ボックス 35">
              <a:extLst>
                <a:ext uri="{FF2B5EF4-FFF2-40B4-BE49-F238E27FC236}">
                  <a16:creationId xmlns:a16="http://schemas.microsoft.com/office/drawing/2014/main" id="{C3B59545-2608-E897-EFF8-1E716E321E6B}"/>
                </a:ext>
              </a:extLst>
            </p:cNvPr>
            <p:cNvSpPr txBox="1"/>
            <p:nvPr/>
          </p:nvSpPr>
          <p:spPr>
            <a:xfrm>
              <a:off x="1247984" y="2663911"/>
              <a:ext cx="3492266" cy="314567"/>
            </a:xfrm>
            <a:prstGeom prst="rect">
              <a:avLst/>
            </a:prstGeom>
            <a:noFill/>
          </p:spPr>
          <p:txBody>
            <a:bodyPr wrap="square" rtlCol="0">
              <a:spAutoFit/>
            </a:bodyPr>
            <a:lstStyle/>
            <a:p>
              <a:pPr algn="ctr"/>
              <a:r>
                <a:rPr lang="ja-JP" altLang="en-US" sz="1600" b="1" dirty="0">
                  <a:solidFill>
                    <a:schemeClr val="bg1"/>
                  </a:solidFill>
                </a:rPr>
                <a:t>本研究（双方をシームレスに接続）</a:t>
              </a:r>
              <a:endParaRPr kumimoji="1" lang="ja-JP" altLang="en-US" sz="1600" dirty="0">
                <a:solidFill>
                  <a:schemeClr val="bg1"/>
                </a:solidFill>
              </a:endParaRPr>
            </a:p>
          </p:txBody>
        </p:sp>
      </p:grpSp>
      <p:sp>
        <p:nvSpPr>
          <p:cNvPr id="39" name="テキスト ボックス 38">
            <a:extLst>
              <a:ext uri="{FF2B5EF4-FFF2-40B4-BE49-F238E27FC236}">
                <a16:creationId xmlns:a16="http://schemas.microsoft.com/office/drawing/2014/main" id="{F37AE888-B8AF-0F52-700A-F3F84ED9DBCF}"/>
              </a:ext>
            </a:extLst>
          </p:cNvPr>
          <p:cNvSpPr txBox="1"/>
          <p:nvPr/>
        </p:nvSpPr>
        <p:spPr>
          <a:xfrm>
            <a:off x="931005" y="2999060"/>
            <a:ext cx="2893150" cy="584775"/>
          </a:xfrm>
          <a:prstGeom prst="rect">
            <a:avLst/>
          </a:prstGeom>
          <a:noFill/>
        </p:spPr>
        <p:txBody>
          <a:bodyPr wrap="square" rtlCol="0">
            <a:spAutoFit/>
          </a:bodyPr>
          <a:lstStyle/>
          <a:p>
            <a:r>
              <a:rPr lang="ja-JP" altLang="ja-JP" sz="1600"/>
              <a:t>自然言語から計画案・土地利用案を整理</a:t>
            </a:r>
            <a:endParaRPr kumimoji="1" lang="ja-JP" altLang="en-US" sz="1600"/>
          </a:p>
        </p:txBody>
      </p:sp>
      <p:sp>
        <p:nvSpPr>
          <p:cNvPr id="40" name="テキスト ボックス 39">
            <a:extLst>
              <a:ext uri="{FF2B5EF4-FFF2-40B4-BE49-F238E27FC236}">
                <a16:creationId xmlns:a16="http://schemas.microsoft.com/office/drawing/2014/main" id="{8C184932-869C-6A94-B380-98B79A7F7A16}"/>
              </a:ext>
            </a:extLst>
          </p:cNvPr>
          <p:cNvSpPr txBox="1"/>
          <p:nvPr/>
        </p:nvSpPr>
        <p:spPr>
          <a:xfrm>
            <a:off x="931005" y="3583835"/>
            <a:ext cx="2892486" cy="584775"/>
          </a:xfrm>
          <a:prstGeom prst="rect">
            <a:avLst/>
          </a:prstGeom>
          <a:noFill/>
        </p:spPr>
        <p:txBody>
          <a:bodyPr wrap="square" rtlCol="0">
            <a:spAutoFit/>
          </a:bodyPr>
          <a:lstStyle/>
          <a:p>
            <a:r>
              <a:rPr lang="ja-JP" altLang="ja-JP" sz="1600"/>
              <a:t>対話を通じた要件整理やシナリオ生成</a:t>
            </a:r>
            <a:endParaRPr kumimoji="1" lang="ja-JP" altLang="en-US" sz="1600"/>
          </a:p>
        </p:txBody>
      </p:sp>
      <p:sp>
        <p:nvSpPr>
          <p:cNvPr id="41" name="テキスト ボックス 40">
            <a:extLst>
              <a:ext uri="{FF2B5EF4-FFF2-40B4-BE49-F238E27FC236}">
                <a16:creationId xmlns:a16="http://schemas.microsoft.com/office/drawing/2014/main" id="{02802972-72DE-69D5-C8C9-BA51A3B0CC6D}"/>
              </a:ext>
            </a:extLst>
          </p:cNvPr>
          <p:cNvSpPr txBox="1"/>
          <p:nvPr/>
        </p:nvSpPr>
        <p:spPr>
          <a:xfrm>
            <a:off x="930341" y="4156245"/>
            <a:ext cx="2880149" cy="584775"/>
          </a:xfrm>
          <a:prstGeom prst="rect">
            <a:avLst/>
          </a:prstGeom>
          <a:noFill/>
        </p:spPr>
        <p:txBody>
          <a:bodyPr wrap="square" rtlCol="0">
            <a:spAutoFit/>
          </a:bodyPr>
          <a:lstStyle/>
          <a:p>
            <a:r>
              <a:rPr lang="ja-JP" altLang="ja-JP" sz="1600"/>
              <a:t>人流予測モデルへの入力形式に未接続</a:t>
            </a:r>
            <a:endParaRPr kumimoji="1" lang="ja-JP" altLang="en-US" sz="1600"/>
          </a:p>
        </p:txBody>
      </p:sp>
      <p:sp>
        <p:nvSpPr>
          <p:cNvPr id="42" name="テキスト ボックス 41">
            <a:extLst>
              <a:ext uri="{FF2B5EF4-FFF2-40B4-BE49-F238E27FC236}">
                <a16:creationId xmlns:a16="http://schemas.microsoft.com/office/drawing/2014/main" id="{B6BC8E3A-0B14-9897-B6E6-C86284DDA489}"/>
              </a:ext>
            </a:extLst>
          </p:cNvPr>
          <p:cNvSpPr txBox="1"/>
          <p:nvPr/>
        </p:nvSpPr>
        <p:spPr>
          <a:xfrm>
            <a:off x="930341" y="4753385"/>
            <a:ext cx="2880149" cy="584775"/>
          </a:xfrm>
          <a:prstGeom prst="rect">
            <a:avLst/>
          </a:prstGeom>
          <a:noFill/>
        </p:spPr>
        <p:txBody>
          <a:bodyPr wrap="square" rtlCol="0">
            <a:spAutoFit/>
          </a:bodyPr>
          <a:lstStyle/>
          <a:p>
            <a:r>
              <a:rPr lang="ja-JP" altLang="ja-JP" sz="1600"/>
              <a:t>効果検証が定性的に留まりやすい</a:t>
            </a:r>
            <a:endParaRPr kumimoji="1" lang="ja-JP" altLang="en-US" sz="1600"/>
          </a:p>
        </p:txBody>
      </p:sp>
      <p:sp>
        <p:nvSpPr>
          <p:cNvPr id="44" name="テキスト ボックス 43">
            <a:extLst>
              <a:ext uri="{FF2B5EF4-FFF2-40B4-BE49-F238E27FC236}">
                <a16:creationId xmlns:a16="http://schemas.microsoft.com/office/drawing/2014/main" id="{22BDF1C2-2B45-BE08-BF47-DF5166742286}"/>
              </a:ext>
            </a:extLst>
          </p:cNvPr>
          <p:cNvSpPr txBox="1"/>
          <p:nvPr/>
        </p:nvSpPr>
        <p:spPr>
          <a:xfrm>
            <a:off x="642578"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45" name="テキスト ボックス 44">
            <a:extLst>
              <a:ext uri="{FF2B5EF4-FFF2-40B4-BE49-F238E27FC236}">
                <a16:creationId xmlns:a16="http://schemas.microsoft.com/office/drawing/2014/main" id="{FAE73F34-F6EF-C339-747F-925F795D0348}"/>
              </a:ext>
            </a:extLst>
          </p:cNvPr>
          <p:cNvSpPr txBox="1"/>
          <p:nvPr/>
        </p:nvSpPr>
        <p:spPr>
          <a:xfrm>
            <a:off x="642578"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46" name="テキスト ボックス 45">
            <a:extLst>
              <a:ext uri="{FF2B5EF4-FFF2-40B4-BE49-F238E27FC236}">
                <a16:creationId xmlns:a16="http://schemas.microsoft.com/office/drawing/2014/main" id="{13DA31AB-3A75-02E3-3AEF-48C8A0F4C9FD}"/>
              </a:ext>
            </a:extLst>
          </p:cNvPr>
          <p:cNvSpPr txBox="1"/>
          <p:nvPr/>
        </p:nvSpPr>
        <p:spPr>
          <a:xfrm>
            <a:off x="661814" y="427599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7" name="テキスト ボックス 46">
            <a:extLst>
              <a:ext uri="{FF2B5EF4-FFF2-40B4-BE49-F238E27FC236}">
                <a16:creationId xmlns:a16="http://schemas.microsoft.com/office/drawing/2014/main" id="{8CB71F67-AEF7-4394-2087-747BB5E777D6}"/>
              </a:ext>
            </a:extLst>
          </p:cNvPr>
          <p:cNvSpPr txBox="1"/>
          <p:nvPr/>
        </p:nvSpPr>
        <p:spPr>
          <a:xfrm>
            <a:off x="661814" y="485350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8" name="テキスト ボックス 47">
            <a:extLst>
              <a:ext uri="{FF2B5EF4-FFF2-40B4-BE49-F238E27FC236}">
                <a16:creationId xmlns:a16="http://schemas.microsoft.com/office/drawing/2014/main" id="{E74E280A-A690-513F-CDBD-E6412CC7188D}"/>
              </a:ext>
            </a:extLst>
          </p:cNvPr>
          <p:cNvSpPr txBox="1"/>
          <p:nvPr/>
        </p:nvSpPr>
        <p:spPr>
          <a:xfrm>
            <a:off x="726048" y="5354952"/>
            <a:ext cx="3204723" cy="523220"/>
          </a:xfrm>
          <a:prstGeom prst="rect">
            <a:avLst/>
          </a:prstGeom>
          <a:noFill/>
        </p:spPr>
        <p:txBody>
          <a:bodyPr wrap="square" rtlCol="0">
            <a:spAutoFit/>
          </a:bodyPr>
          <a:lstStyle/>
          <a:p>
            <a:r>
              <a:rPr kumimoji="1" lang="en-US" altLang="ja-JP" sz="1400"/>
              <a:t>Ex. PlanGPT, Large language model empowered participatory urban planning</a:t>
            </a:r>
            <a:endParaRPr kumimoji="1" lang="ja-JP" altLang="en-US" sz="1400"/>
          </a:p>
        </p:txBody>
      </p:sp>
      <p:sp>
        <p:nvSpPr>
          <p:cNvPr id="49" name="テキスト ボックス 48">
            <a:extLst>
              <a:ext uri="{FF2B5EF4-FFF2-40B4-BE49-F238E27FC236}">
                <a16:creationId xmlns:a16="http://schemas.microsoft.com/office/drawing/2014/main" id="{2A9C890E-6F5B-2745-F214-6150E50C5210}"/>
              </a:ext>
            </a:extLst>
          </p:cNvPr>
          <p:cNvSpPr txBox="1"/>
          <p:nvPr/>
        </p:nvSpPr>
        <p:spPr>
          <a:xfrm>
            <a:off x="4603583" y="2999060"/>
            <a:ext cx="2893150" cy="584775"/>
          </a:xfrm>
          <a:prstGeom prst="rect">
            <a:avLst/>
          </a:prstGeom>
          <a:noFill/>
        </p:spPr>
        <p:txBody>
          <a:bodyPr wrap="square" rtlCol="0">
            <a:spAutoFit/>
          </a:bodyPr>
          <a:lstStyle/>
          <a:p>
            <a:r>
              <a:rPr lang="ja-JP" altLang="ja-JP" sz="1600"/>
              <a:t>施設配置や施策変更の影響を評価</a:t>
            </a:r>
            <a:endParaRPr kumimoji="1" lang="ja-JP" altLang="en-US" sz="1600"/>
          </a:p>
        </p:txBody>
      </p:sp>
      <p:sp>
        <p:nvSpPr>
          <p:cNvPr id="50" name="テキスト ボックス 49">
            <a:extLst>
              <a:ext uri="{FF2B5EF4-FFF2-40B4-BE49-F238E27FC236}">
                <a16:creationId xmlns:a16="http://schemas.microsoft.com/office/drawing/2014/main" id="{FB47F317-B7CF-8500-1F8D-127123FA82C4}"/>
              </a:ext>
            </a:extLst>
          </p:cNvPr>
          <p:cNvSpPr txBox="1"/>
          <p:nvPr/>
        </p:nvSpPr>
        <p:spPr>
          <a:xfrm>
            <a:off x="4603583" y="3583835"/>
            <a:ext cx="2892486" cy="584775"/>
          </a:xfrm>
          <a:prstGeom prst="rect">
            <a:avLst/>
          </a:prstGeom>
          <a:noFill/>
        </p:spPr>
        <p:txBody>
          <a:bodyPr wrap="square" rtlCol="0">
            <a:spAutoFit/>
          </a:bodyPr>
          <a:lstStyle/>
          <a:p>
            <a:r>
              <a:rPr lang="ja-JP" altLang="ja-JP" sz="1600"/>
              <a:t>来訪者数・混雑・滞在の変化を推定</a:t>
            </a:r>
            <a:endParaRPr kumimoji="1" lang="ja-JP" altLang="en-US" sz="1600"/>
          </a:p>
        </p:txBody>
      </p:sp>
      <p:sp>
        <p:nvSpPr>
          <p:cNvPr id="51" name="テキスト ボックス 50">
            <a:extLst>
              <a:ext uri="{FF2B5EF4-FFF2-40B4-BE49-F238E27FC236}">
                <a16:creationId xmlns:a16="http://schemas.microsoft.com/office/drawing/2014/main" id="{07632B67-AA4B-2FB6-77CD-FCC60D902BDB}"/>
              </a:ext>
            </a:extLst>
          </p:cNvPr>
          <p:cNvSpPr txBox="1"/>
          <p:nvPr/>
        </p:nvSpPr>
        <p:spPr>
          <a:xfrm>
            <a:off x="4602919" y="4156245"/>
            <a:ext cx="2880149" cy="584775"/>
          </a:xfrm>
          <a:prstGeom prst="rect">
            <a:avLst/>
          </a:prstGeom>
          <a:noFill/>
        </p:spPr>
        <p:txBody>
          <a:bodyPr wrap="square" rtlCol="0">
            <a:spAutoFit/>
          </a:bodyPr>
          <a:lstStyle/>
          <a:p>
            <a:r>
              <a:rPr lang="ja-JP" altLang="ja-JP" sz="1600"/>
              <a:t>計画意図の曖昧さを直接扱いにくい</a:t>
            </a:r>
            <a:endParaRPr kumimoji="1" lang="ja-JP" altLang="en-US" sz="1600"/>
          </a:p>
        </p:txBody>
      </p:sp>
      <p:sp>
        <p:nvSpPr>
          <p:cNvPr id="52" name="テキスト ボックス 51">
            <a:extLst>
              <a:ext uri="{FF2B5EF4-FFF2-40B4-BE49-F238E27FC236}">
                <a16:creationId xmlns:a16="http://schemas.microsoft.com/office/drawing/2014/main" id="{5EC0B909-01CD-57AD-F085-EFF8DBA719AD}"/>
              </a:ext>
            </a:extLst>
          </p:cNvPr>
          <p:cNvSpPr txBox="1"/>
          <p:nvPr/>
        </p:nvSpPr>
        <p:spPr>
          <a:xfrm>
            <a:off x="4602919" y="4753385"/>
            <a:ext cx="2880149" cy="584775"/>
          </a:xfrm>
          <a:prstGeom prst="rect">
            <a:avLst/>
          </a:prstGeom>
          <a:noFill/>
        </p:spPr>
        <p:txBody>
          <a:bodyPr wrap="square" rtlCol="0">
            <a:spAutoFit/>
          </a:bodyPr>
          <a:lstStyle/>
          <a:p>
            <a:r>
              <a:rPr lang="ja-JP" altLang="ja-JP" sz="1600"/>
              <a:t>初期構想からのシナリオ具体化は対象外</a:t>
            </a:r>
            <a:endParaRPr kumimoji="1" lang="ja-JP" altLang="en-US" sz="1600"/>
          </a:p>
        </p:txBody>
      </p:sp>
      <p:sp>
        <p:nvSpPr>
          <p:cNvPr id="53" name="テキスト ボックス 52">
            <a:extLst>
              <a:ext uri="{FF2B5EF4-FFF2-40B4-BE49-F238E27FC236}">
                <a16:creationId xmlns:a16="http://schemas.microsoft.com/office/drawing/2014/main" id="{0A1CF332-8B3C-7B7A-9099-C72E1956ED72}"/>
              </a:ext>
            </a:extLst>
          </p:cNvPr>
          <p:cNvSpPr txBox="1"/>
          <p:nvPr/>
        </p:nvSpPr>
        <p:spPr>
          <a:xfrm>
            <a:off x="4315156"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54" name="テキスト ボックス 53">
            <a:extLst>
              <a:ext uri="{FF2B5EF4-FFF2-40B4-BE49-F238E27FC236}">
                <a16:creationId xmlns:a16="http://schemas.microsoft.com/office/drawing/2014/main" id="{CB7C5CD4-DD52-731C-AC6A-746DFA2F1B6A}"/>
              </a:ext>
            </a:extLst>
          </p:cNvPr>
          <p:cNvSpPr txBox="1"/>
          <p:nvPr/>
        </p:nvSpPr>
        <p:spPr>
          <a:xfrm>
            <a:off x="4315156"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55" name="テキスト ボックス 54">
            <a:extLst>
              <a:ext uri="{FF2B5EF4-FFF2-40B4-BE49-F238E27FC236}">
                <a16:creationId xmlns:a16="http://schemas.microsoft.com/office/drawing/2014/main" id="{26EFA40C-0F9B-DB5C-CE78-A287761B62C2}"/>
              </a:ext>
            </a:extLst>
          </p:cNvPr>
          <p:cNvSpPr txBox="1"/>
          <p:nvPr/>
        </p:nvSpPr>
        <p:spPr>
          <a:xfrm>
            <a:off x="4315156" y="426128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6" name="テキスト ボックス 55">
            <a:extLst>
              <a:ext uri="{FF2B5EF4-FFF2-40B4-BE49-F238E27FC236}">
                <a16:creationId xmlns:a16="http://schemas.microsoft.com/office/drawing/2014/main" id="{6E429E77-67E6-5B7A-0297-EBEE4AC7328A}"/>
              </a:ext>
            </a:extLst>
          </p:cNvPr>
          <p:cNvSpPr txBox="1"/>
          <p:nvPr/>
        </p:nvSpPr>
        <p:spPr>
          <a:xfrm>
            <a:off x="4315156" y="483879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7" name="テキスト ボックス 56">
            <a:extLst>
              <a:ext uri="{FF2B5EF4-FFF2-40B4-BE49-F238E27FC236}">
                <a16:creationId xmlns:a16="http://schemas.microsoft.com/office/drawing/2014/main" id="{1F43922B-AB00-1438-9225-6FD1E733A61D}"/>
              </a:ext>
            </a:extLst>
          </p:cNvPr>
          <p:cNvSpPr txBox="1"/>
          <p:nvPr/>
        </p:nvSpPr>
        <p:spPr>
          <a:xfrm>
            <a:off x="4451019" y="5354952"/>
            <a:ext cx="3204723" cy="307777"/>
          </a:xfrm>
          <a:prstGeom prst="rect">
            <a:avLst/>
          </a:prstGeom>
          <a:noFill/>
        </p:spPr>
        <p:txBody>
          <a:bodyPr wrap="square" rtlCol="0">
            <a:spAutoFit/>
          </a:bodyPr>
          <a:lstStyle/>
          <a:p>
            <a:r>
              <a:rPr kumimoji="1" lang="en-US" altLang="ja-JP" sz="1400"/>
              <a:t>Ex.</a:t>
            </a:r>
            <a:r>
              <a:rPr lang="ja-JP" altLang="ja-JP" sz="1400"/>
              <a:t> CausalPOI</a:t>
            </a:r>
            <a:r>
              <a:rPr lang="en-US" altLang="ja-JP" sz="1400"/>
              <a:t>, </a:t>
            </a:r>
            <a:r>
              <a:rPr lang="ja-JP" altLang="ja-JP" sz="1400"/>
              <a:t>SeMob</a:t>
            </a:r>
            <a:endParaRPr kumimoji="1" lang="ja-JP" altLang="en-US" sz="1400"/>
          </a:p>
        </p:txBody>
      </p:sp>
      <p:sp>
        <p:nvSpPr>
          <p:cNvPr id="62" name="テキスト ボックス 61">
            <a:extLst>
              <a:ext uri="{FF2B5EF4-FFF2-40B4-BE49-F238E27FC236}">
                <a16:creationId xmlns:a16="http://schemas.microsoft.com/office/drawing/2014/main" id="{547BAB07-8676-EEA1-1FCD-05A8BA70B92E}"/>
              </a:ext>
            </a:extLst>
          </p:cNvPr>
          <p:cNvSpPr txBox="1"/>
          <p:nvPr/>
        </p:nvSpPr>
        <p:spPr>
          <a:xfrm>
            <a:off x="7994951"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63" name="テキスト ボックス 62">
            <a:extLst>
              <a:ext uri="{FF2B5EF4-FFF2-40B4-BE49-F238E27FC236}">
                <a16:creationId xmlns:a16="http://schemas.microsoft.com/office/drawing/2014/main" id="{7B423202-A49D-2522-A6B0-F25CF2A95344}"/>
              </a:ext>
            </a:extLst>
          </p:cNvPr>
          <p:cNvSpPr txBox="1"/>
          <p:nvPr/>
        </p:nvSpPr>
        <p:spPr>
          <a:xfrm>
            <a:off x="7994951"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76" name="テキスト ボックス 75">
            <a:extLst>
              <a:ext uri="{FF2B5EF4-FFF2-40B4-BE49-F238E27FC236}">
                <a16:creationId xmlns:a16="http://schemas.microsoft.com/office/drawing/2014/main" id="{B2F6402B-E88E-4D3E-467F-38D375476016}"/>
              </a:ext>
            </a:extLst>
          </p:cNvPr>
          <p:cNvSpPr txBox="1"/>
          <p:nvPr/>
        </p:nvSpPr>
        <p:spPr>
          <a:xfrm>
            <a:off x="8381510" y="2999060"/>
            <a:ext cx="2893150" cy="584775"/>
          </a:xfrm>
          <a:prstGeom prst="rect">
            <a:avLst/>
          </a:prstGeom>
          <a:noFill/>
        </p:spPr>
        <p:txBody>
          <a:bodyPr wrap="square" rtlCol="0">
            <a:spAutoFit/>
          </a:bodyPr>
          <a:lstStyle/>
          <a:p>
            <a:r>
              <a:rPr lang="ja-JP" altLang="ja-JP" sz="1600"/>
              <a:t>LLMとの対話で低粒度の開発構想を具体化</a:t>
            </a:r>
            <a:endParaRPr kumimoji="1" lang="ja-JP" altLang="en-US" sz="1600"/>
          </a:p>
        </p:txBody>
      </p:sp>
      <p:sp>
        <p:nvSpPr>
          <p:cNvPr id="77" name="テキスト ボックス 76">
            <a:extLst>
              <a:ext uri="{FF2B5EF4-FFF2-40B4-BE49-F238E27FC236}">
                <a16:creationId xmlns:a16="http://schemas.microsoft.com/office/drawing/2014/main" id="{31150009-7B97-A334-D7CC-1F128CDD5E9A}"/>
              </a:ext>
            </a:extLst>
          </p:cNvPr>
          <p:cNvSpPr txBox="1"/>
          <p:nvPr/>
        </p:nvSpPr>
        <p:spPr>
          <a:xfrm>
            <a:off x="8381510" y="3583835"/>
            <a:ext cx="2892486" cy="584775"/>
          </a:xfrm>
          <a:prstGeom prst="rect">
            <a:avLst/>
          </a:prstGeom>
          <a:noFill/>
        </p:spPr>
        <p:txBody>
          <a:bodyPr wrap="square" rtlCol="0">
            <a:spAutoFit/>
          </a:bodyPr>
          <a:lstStyle/>
          <a:p>
            <a:r>
              <a:rPr lang="ja-JP" altLang="ja-JP" sz="1600"/>
              <a:t>人流予測可能なパラメータへ構造化変換</a:t>
            </a:r>
            <a:endParaRPr kumimoji="1" lang="ja-JP" altLang="en-US" sz="1600"/>
          </a:p>
        </p:txBody>
      </p:sp>
      <p:sp>
        <p:nvSpPr>
          <p:cNvPr id="78" name="テキスト ボックス 77">
            <a:extLst>
              <a:ext uri="{FF2B5EF4-FFF2-40B4-BE49-F238E27FC236}">
                <a16:creationId xmlns:a16="http://schemas.microsoft.com/office/drawing/2014/main" id="{59950C45-E8C2-9444-4857-EAC7326D66F4}"/>
              </a:ext>
            </a:extLst>
          </p:cNvPr>
          <p:cNvSpPr txBox="1"/>
          <p:nvPr/>
        </p:nvSpPr>
        <p:spPr>
          <a:xfrm>
            <a:off x="8380846" y="4156245"/>
            <a:ext cx="2880149" cy="584775"/>
          </a:xfrm>
          <a:prstGeom prst="rect">
            <a:avLst/>
          </a:prstGeom>
          <a:noFill/>
        </p:spPr>
        <p:txBody>
          <a:bodyPr wrap="square" rtlCol="0">
            <a:spAutoFit/>
          </a:bodyPr>
          <a:lstStyle/>
          <a:p>
            <a:r>
              <a:rPr lang="ja-JP" altLang="ja-JP" sz="1600"/>
              <a:t>具体化した複数シナリオを人流面から比較評価</a:t>
            </a:r>
            <a:endParaRPr kumimoji="1" lang="ja-JP" altLang="en-US" sz="1600"/>
          </a:p>
        </p:txBody>
      </p:sp>
      <p:sp>
        <p:nvSpPr>
          <p:cNvPr id="79" name="テキスト ボックス 78">
            <a:extLst>
              <a:ext uri="{FF2B5EF4-FFF2-40B4-BE49-F238E27FC236}">
                <a16:creationId xmlns:a16="http://schemas.microsoft.com/office/drawing/2014/main" id="{D28E2104-AC83-F9C5-4B1B-4232200C731F}"/>
              </a:ext>
            </a:extLst>
          </p:cNvPr>
          <p:cNvSpPr txBox="1"/>
          <p:nvPr/>
        </p:nvSpPr>
        <p:spPr>
          <a:xfrm>
            <a:off x="8380846" y="4753385"/>
            <a:ext cx="2880149" cy="584775"/>
          </a:xfrm>
          <a:prstGeom prst="rect">
            <a:avLst/>
          </a:prstGeom>
          <a:noFill/>
        </p:spPr>
        <p:txBody>
          <a:bodyPr wrap="square" rtlCol="0">
            <a:spAutoFit/>
          </a:bodyPr>
          <a:lstStyle/>
          <a:p>
            <a:r>
              <a:rPr lang="ja-JP" altLang="ja-JP" sz="1600"/>
              <a:t>計画具体化と人流評価を統合したワークフロー</a:t>
            </a:r>
            <a:endParaRPr kumimoji="1" lang="ja-JP" altLang="en-US" sz="1600"/>
          </a:p>
        </p:txBody>
      </p:sp>
      <p:sp>
        <p:nvSpPr>
          <p:cNvPr id="85" name="テキスト ボックス 84">
            <a:extLst>
              <a:ext uri="{FF2B5EF4-FFF2-40B4-BE49-F238E27FC236}">
                <a16:creationId xmlns:a16="http://schemas.microsoft.com/office/drawing/2014/main" id="{71FACC7C-FB81-3B6A-BCBE-FE609F70F2CB}"/>
              </a:ext>
            </a:extLst>
          </p:cNvPr>
          <p:cNvSpPr txBox="1"/>
          <p:nvPr/>
        </p:nvSpPr>
        <p:spPr>
          <a:xfrm>
            <a:off x="8001205" y="4243896"/>
            <a:ext cx="415498" cy="369332"/>
          </a:xfrm>
          <a:prstGeom prst="rect">
            <a:avLst/>
          </a:prstGeom>
          <a:noFill/>
        </p:spPr>
        <p:txBody>
          <a:bodyPr wrap="none" rtlCol="0">
            <a:spAutoFit/>
          </a:bodyPr>
          <a:lstStyle/>
          <a:p>
            <a:r>
              <a:rPr kumimoji="1" lang="ja-JP" altLang="en-US" b="1">
                <a:solidFill>
                  <a:srgbClr val="FF0000"/>
                </a:solidFill>
              </a:rPr>
              <a:t>○</a:t>
            </a:r>
          </a:p>
        </p:txBody>
      </p:sp>
      <p:sp>
        <p:nvSpPr>
          <p:cNvPr id="86" name="テキスト ボックス 85">
            <a:extLst>
              <a:ext uri="{FF2B5EF4-FFF2-40B4-BE49-F238E27FC236}">
                <a16:creationId xmlns:a16="http://schemas.microsoft.com/office/drawing/2014/main" id="{C4E65F0F-CC50-2057-2504-519D8B4705CF}"/>
              </a:ext>
            </a:extLst>
          </p:cNvPr>
          <p:cNvSpPr txBox="1"/>
          <p:nvPr/>
        </p:nvSpPr>
        <p:spPr>
          <a:xfrm>
            <a:off x="8001205" y="4818055"/>
            <a:ext cx="415498" cy="369332"/>
          </a:xfrm>
          <a:prstGeom prst="rect">
            <a:avLst/>
          </a:prstGeom>
          <a:noFill/>
        </p:spPr>
        <p:txBody>
          <a:bodyPr wrap="none" rtlCol="0">
            <a:spAutoFit/>
          </a:bodyPr>
          <a:lstStyle/>
          <a:p>
            <a:r>
              <a:rPr kumimoji="1" lang="ja-JP" altLang="en-US" b="1">
                <a:solidFill>
                  <a:srgbClr val="FF0000"/>
                </a:solidFill>
              </a:rPr>
              <a:t>○</a:t>
            </a:r>
          </a:p>
        </p:txBody>
      </p:sp>
    </p:spTree>
    <p:extLst>
      <p:ext uri="{BB962C8B-B14F-4D97-AF65-F5344CB8AC3E}">
        <p14:creationId xmlns:p14="http://schemas.microsoft.com/office/powerpoint/2010/main" val="296801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lang="ja-JP" altLang="ja-JP">
                <a:latin typeface="HGMinchoE" panose="02020909000000000000" pitchFamily="49" charset="-128"/>
                <a:ea typeface="HGMinchoE" panose="02020909000000000000" pitchFamily="49" charset="-128"/>
              </a:rPr>
              <a:t>その後の年度内（3-4Q</a:t>
            </a:r>
            <a:r>
              <a:rPr lang="en-US" altLang="ja-JP">
                <a:latin typeface="HGMinchoE" panose="02020909000000000000" pitchFamily="49" charset="-128"/>
                <a:ea typeface="HGMinchoE" panose="02020909000000000000" pitchFamily="49" charset="-128"/>
              </a:rPr>
              <a:t>:10-3</a:t>
            </a:r>
            <a:r>
              <a:rPr lang="ja-JP" altLang="en-US">
                <a:latin typeface="HGMinchoE" panose="02020909000000000000" pitchFamily="49" charset="-128"/>
                <a:ea typeface="HGMinchoE" panose="02020909000000000000" pitchFamily="49" charset="-128"/>
              </a:rPr>
              <a:t>月</a:t>
            </a:r>
            <a:r>
              <a:rPr lang="ja-JP" altLang="ja-JP">
                <a:latin typeface="HGMinchoE" panose="02020909000000000000" pitchFamily="49" charset="-128"/>
                <a:ea typeface="HGMinchoE" panose="02020909000000000000" pitchFamily="49" charset="-128"/>
              </a:rPr>
              <a:t>）の取組イメージ</a:t>
            </a:r>
            <a:endParaRPr kumimoji="1" lang="ja-JP" altLang="en-US">
              <a:latin typeface="HGMinchoE" panose="02020909000000000000" pitchFamily="49" charset="-128"/>
              <a:ea typeface="HGMinchoE" panose="02020909000000000000" pitchFamily="49" charset="-128"/>
            </a:endParaRP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sz="half" idx="10"/>
          </p:nvPr>
        </p:nvSpPr>
        <p:spPr/>
        <p:txBody>
          <a:bodyPr/>
          <a:lstStyle/>
          <a:p>
            <a:r>
              <a:rPr lang="en-US" altLang="ja-JP"/>
              <a:t>2026/6</a:t>
            </a:r>
            <a:endParaRPr kumimoji="1" lang="ja-JP" altLang="en-US"/>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sz="quarter" idx="11"/>
          </p:nvPr>
        </p:nvSpPr>
        <p:spPr/>
        <p:txBody>
          <a:bodyPr/>
          <a:lstStyle/>
          <a:p>
            <a:r>
              <a:rPr kumimoji="1" lang="ja-JP" altLang="en-US"/>
              <a:t>関本・中居研究室</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sz="quarter" idx="12"/>
          </p:nvPr>
        </p:nvSpPr>
        <p:spPr/>
        <p:txBody>
          <a:bodyPr/>
          <a:lstStyle/>
          <a:p>
            <a:fld id="{6539E37A-E522-3D47-AAB7-DDF67C94A05D}" type="slidenum">
              <a:rPr lang="en-US" altLang="ja-JP"/>
              <a:t>5</a:t>
            </a:fld>
            <a:endParaRPr kumimoji="1" lang="ja-JP" altLang="en-US"/>
          </a:p>
        </p:txBody>
      </p:sp>
      <p:graphicFrame>
        <p:nvGraphicFramePr>
          <p:cNvPr id="6" name="表 5">
            <a:extLst>
              <a:ext uri="{FF2B5EF4-FFF2-40B4-BE49-F238E27FC236}">
                <a16:creationId xmlns:a16="http://schemas.microsoft.com/office/drawing/2014/main" id="{EA352AE2-742B-3D72-FDC5-97CE91A432B2}"/>
              </a:ext>
            </a:extLst>
          </p:cNvPr>
          <p:cNvGraphicFramePr>
            <a:graphicFrameLocks noGrp="1"/>
          </p:cNvGraphicFramePr>
          <p:nvPr/>
        </p:nvGraphicFramePr>
        <p:xfrm>
          <a:off x="850556" y="2438890"/>
          <a:ext cx="10515600" cy="3024149"/>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3505200">
                  <a:extLst>
                    <a:ext uri="{9D8B030D-6E8A-4147-A177-3AD203B41FA5}">
                      <a16:colId xmlns:a16="http://schemas.microsoft.com/office/drawing/2014/main" val="3531872289"/>
                    </a:ext>
                  </a:extLst>
                </a:gridCol>
                <a:gridCol w="3505200">
                  <a:extLst>
                    <a:ext uri="{9D8B030D-6E8A-4147-A177-3AD203B41FA5}">
                      <a16:colId xmlns:a16="http://schemas.microsoft.com/office/drawing/2014/main" val="3092549854"/>
                    </a:ext>
                  </a:extLst>
                </a:gridCol>
                <a:gridCol w="3505200">
                  <a:extLst>
                    <a:ext uri="{9D8B030D-6E8A-4147-A177-3AD203B41FA5}">
                      <a16:colId xmlns:a16="http://schemas.microsoft.com/office/drawing/2014/main" val="3137149798"/>
                    </a:ext>
                  </a:extLst>
                </a:gridCol>
              </a:tblGrid>
              <a:tr h="450050">
                <a:tc>
                  <a:txBody>
                    <a:bodyPr/>
                    <a:lstStyle/>
                    <a:p>
                      <a:pPr algn="ctr"/>
                      <a:r>
                        <a:rPr kumimoji="1" lang="ja-JP" altLang="en-US" sz="1600"/>
                        <a:t>期間</a:t>
                      </a:r>
                    </a:p>
                  </a:txBody>
                  <a:tcPr anchor="ctr">
                    <a:solidFill>
                      <a:srgbClr val="0E2741"/>
                    </a:solidFill>
                  </a:tcPr>
                </a:tc>
                <a:tc>
                  <a:txBody>
                    <a:bodyPr/>
                    <a:lstStyle/>
                    <a:p>
                      <a:pPr algn="ctr"/>
                      <a:r>
                        <a:rPr kumimoji="1" lang="ja-JP" altLang="en-US" sz="1600"/>
                        <a:t>概要</a:t>
                      </a:r>
                    </a:p>
                  </a:txBody>
                  <a:tcPr anchor="ctr">
                    <a:solidFill>
                      <a:srgbClr val="0E2741"/>
                    </a:solidFill>
                  </a:tcPr>
                </a:tc>
                <a:tc>
                  <a:txBody>
                    <a:bodyPr/>
                    <a:lstStyle/>
                    <a:p>
                      <a:pPr algn="ctr"/>
                      <a:r>
                        <a:rPr kumimoji="1" lang="ja-JP" altLang="en-US" sz="1600"/>
                        <a:t>詳細</a:t>
                      </a:r>
                    </a:p>
                  </a:txBody>
                  <a:tcPr anchor="ctr">
                    <a:solidFill>
                      <a:srgbClr val="0E2741"/>
                    </a:solidFill>
                  </a:tcPr>
                </a:tc>
                <a:extLst>
                  <a:ext uri="{0D108BD9-81ED-4DB2-BD59-A6C34878D82A}">
                    <a16:rowId xmlns:a16="http://schemas.microsoft.com/office/drawing/2014/main" val="2757490642"/>
                  </a:ext>
                </a:extLst>
              </a:tr>
              <a:tr h="858033">
                <a:tc>
                  <a:txBody>
                    <a:bodyPr/>
                    <a:lstStyle/>
                    <a:p>
                      <a:pPr algn="l"/>
                      <a:r>
                        <a:rPr kumimoji="1" lang="en-US" altLang="ja-JP" b="0"/>
                        <a:t> 2Q(7-9</a:t>
                      </a:r>
                      <a:r>
                        <a:rPr kumimoji="1" lang="ja-JP" altLang="en-US" b="0"/>
                        <a:t>月</a:t>
                      </a:r>
                      <a:r>
                        <a:rPr kumimoji="1" lang="en-US" altLang="ja-JP" b="0"/>
                        <a:t>)</a:t>
                      </a:r>
                      <a:endParaRPr kumimoji="1" lang="ja-JP" altLang="en-US" b="0"/>
                    </a:p>
                  </a:txBody>
                  <a:tcPr anchor="ctr"/>
                </a:tc>
                <a:tc>
                  <a:txBody>
                    <a:bodyPr/>
                    <a:lstStyle/>
                    <a:p>
                      <a:r>
                        <a:rPr lang="ja-JP" altLang="ja-JP" sz="1400" b="0"/>
                        <a:t>典型的な1シナリオにおける計画具体化から人流予測までの実装</a:t>
                      </a:r>
                    </a:p>
                  </a:txBody>
                  <a:tcPr anchor="ctr"/>
                </a:tc>
                <a:tc>
                  <a:txBody>
                    <a:bodyPr/>
                    <a:lstStyle/>
                    <a:p>
                      <a:r>
                        <a:rPr lang="en-US" altLang="ja-JP" sz="1400" b="0"/>
                        <a:t>LLM</a:t>
                      </a:r>
                      <a:r>
                        <a:rPr lang="ja-JP" altLang="en-US" sz="1400" b="0"/>
                        <a:t>との対話の中で計画案を具体化していき、人流予測を行う。</a:t>
                      </a:r>
                      <a:endParaRPr lang="en-US" altLang="ja-JP" sz="1400" b="0"/>
                    </a:p>
                    <a:p>
                      <a:pPr algn="l"/>
                      <a:r>
                        <a:rPr kumimoji="1" lang="ja-JP" altLang="en-US" sz="1400" b="0"/>
                        <a:t>特定の</a:t>
                      </a:r>
                      <a:r>
                        <a:rPr kumimoji="1" lang="en-US" altLang="ja-JP" sz="1400" b="0"/>
                        <a:t>1</a:t>
                      </a:r>
                      <a:r>
                        <a:rPr kumimoji="1" lang="ja-JP" altLang="en-US" sz="1400" b="0"/>
                        <a:t>シナリオで実現する。</a:t>
                      </a:r>
                    </a:p>
                  </a:txBody>
                  <a:tcPr anchor="ctr"/>
                </a:tc>
                <a:extLst>
                  <a:ext uri="{0D108BD9-81ED-4DB2-BD59-A6C34878D82A}">
                    <a16:rowId xmlns:a16="http://schemas.microsoft.com/office/drawing/2014/main" val="2358868952"/>
                  </a:ext>
                </a:extLst>
              </a:tr>
              <a:tr h="858033">
                <a:tc>
                  <a:txBody>
                    <a:bodyPr/>
                    <a:lstStyle/>
                    <a:p>
                      <a:pPr algn="l"/>
                      <a:r>
                        <a:rPr kumimoji="1" lang="en-US" altLang="ja-JP"/>
                        <a:t> 3Q(10-12</a:t>
                      </a:r>
                      <a:r>
                        <a:rPr kumimoji="1" lang="ja-JP" altLang="en-US"/>
                        <a:t>月</a:t>
                      </a:r>
                      <a:r>
                        <a:rPr kumimoji="1" lang="en-US" altLang="ja-JP"/>
                        <a:t>)</a:t>
                      </a:r>
                      <a:endParaRPr kumimoji="1" lang="ja-JP" altLang="en-US"/>
                    </a:p>
                  </a:txBody>
                  <a:tcPr anchor="ctr"/>
                </a:tc>
                <a:tc>
                  <a:txBody>
                    <a:bodyPr/>
                    <a:lstStyle/>
                    <a:p>
                      <a:r>
                        <a:rPr kumimoji="1" lang="ja-JP" altLang="en-US" sz="1400"/>
                        <a:t>他のシナリオへの応用</a:t>
                      </a:r>
                    </a:p>
                  </a:txBody>
                  <a:tcPr anchor="ctr"/>
                </a:tc>
                <a:tc>
                  <a:txBody>
                    <a:bodyPr/>
                    <a:lstStyle/>
                    <a:p>
                      <a:r>
                        <a:rPr kumimoji="1" lang="en-US" altLang="ja-JP" sz="1400"/>
                        <a:t>2Q</a:t>
                      </a:r>
                      <a:r>
                        <a:rPr kumimoji="1" lang="ja-JP" altLang="en-US" sz="1400"/>
                        <a:t>で完成させたフローを応用させ、別のシナリオにも対応可能にする。</a:t>
                      </a:r>
                    </a:p>
                  </a:txBody>
                  <a:tcPr anchor="ctr"/>
                </a:tc>
                <a:extLst>
                  <a:ext uri="{0D108BD9-81ED-4DB2-BD59-A6C34878D82A}">
                    <a16:rowId xmlns:a16="http://schemas.microsoft.com/office/drawing/2014/main" val="4201957"/>
                  </a:ext>
                </a:extLst>
              </a:tr>
              <a:tr h="858033">
                <a:tc>
                  <a:txBody>
                    <a:bodyPr/>
                    <a:lstStyle/>
                    <a:p>
                      <a:pPr algn="l"/>
                      <a:r>
                        <a:rPr kumimoji="1" lang="en-US" altLang="ja-JP"/>
                        <a:t> 4Q(1-3</a:t>
                      </a:r>
                      <a:r>
                        <a:rPr kumimoji="1" lang="ja-JP" altLang="en-US"/>
                        <a:t>月</a:t>
                      </a:r>
                      <a:r>
                        <a:rPr kumimoji="1" lang="en-US" altLang="ja-JP"/>
                        <a:t>)</a:t>
                      </a:r>
                      <a:endParaRPr kumimoji="1" lang="ja-JP" altLang="en-US"/>
                    </a:p>
                  </a:txBody>
                  <a:tcPr anchor="ctr"/>
                </a:tc>
                <a:tc>
                  <a:txBody>
                    <a:bodyPr/>
                    <a:lstStyle/>
                    <a:p>
                      <a:r>
                        <a:rPr lang="ja-JP" altLang="ja-JP" sz="1400" b="0"/>
                        <a:t>典型的な5シナリオへの適用と、生成結果の妥当性評価</a:t>
                      </a:r>
                    </a:p>
                  </a:txBody>
                  <a:tcPr anchor="ctr"/>
                </a:tc>
                <a:tc>
                  <a:txBody>
                    <a:bodyPr/>
                    <a:lstStyle/>
                    <a:p>
                      <a:r>
                        <a:rPr lang="ja-JP" altLang="ja-JP" sz="1400"/>
                        <a:t>典型的な5シナリオとそれぞれのバリエーションを抑え、</a:t>
                      </a:r>
                      <a:r>
                        <a:rPr lang="ja-JP" altLang="en-US" sz="1400"/>
                        <a:t>生成結果の妥当性を評価する。</a:t>
                      </a:r>
                      <a:endParaRPr kumimoji="1" lang="ja-JP" altLang="en-US" sz="1400"/>
                    </a:p>
                  </a:txBody>
                  <a:tcPr anchor="ctr"/>
                </a:tc>
                <a:extLst>
                  <a:ext uri="{0D108BD9-81ED-4DB2-BD59-A6C34878D82A}">
                    <a16:rowId xmlns:a16="http://schemas.microsoft.com/office/drawing/2014/main" val="378628186"/>
                  </a:ext>
                </a:extLst>
              </a:tr>
            </a:tbl>
          </a:graphicData>
        </a:graphic>
      </p:graphicFrame>
      <p:sp>
        <p:nvSpPr>
          <p:cNvPr id="7" name="テキスト ボックス 6">
            <a:extLst>
              <a:ext uri="{FF2B5EF4-FFF2-40B4-BE49-F238E27FC236}">
                <a16:creationId xmlns:a16="http://schemas.microsoft.com/office/drawing/2014/main" id="{6263B8DF-571D-45A7-6AE0-08068847513A}"/>
              </a:ext>
            </a:extLst>
          </p:cNvPr>
          <p:cNvSpPr txBox="1"/>
          <p:nvPr/>
        </p:nvSpPr>
        <p:spPr>
          <a:xfrm>
            <a:off x="838200" y="1345903"/>
            <a:ext cx="10326470" cy="646331"/>
          </a:xfrm>
          <a:prstGeom prst="rect">
            <a:avLst/>
          </a:prstGeom>
          <a:noFill/>
        </p:spPr>
        <p:txBody>
          <a:bodyPr wrap="square" rtlCol="0">
            <a:spAutoFit/>
          </a:bodyPr>
          <a:lstStyle/>
          <a:p>
            <a:r>
              <a:rPr lang="ja-JP" altLang="ja-JP" b="1"/>
              <a:t>年度内は、LLMとの対話を通じて開発計画を人流予測可能なシナリオへ具体化するワークフローを構築し、1シナリオでの実装から複数シナリオへの適用・評価へ段階的に拡張する。</a:t>
            </a:r>
            <a:endParaRPr kumimoji="1" lang="ja-JP" altLang="en-US" b="1"/>
          </a:p>
        </p:txBody>
      </p:sp>
    </p:spTree>
    <p:extLst>
      <p:ext uri="{BB962C8B-B14F-4D97-AF65-F5344CB8AC3E}">
        <p14:creationId xmlns:p14="http://schemas.microsoft.com/office/powerpoint/2010/main" val="358715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A4EF6B-B512-E957-743C-82DA5DE94E34}"/>
              </a:ext>
            </a:extLst>
          </p:cNvPr>
          <p:cNvSpPr>
            <a:spLocks noGrp="1"/>
          </p:cNvSpPr>
          <p:nvPr>
            <p:ph type="title"/>
          </p:nvPr>
        </p:nvSpPr>
        <p:spPr/>
        <p:txBody>
          <a:bodyPr/>
          <a:lstStyle/>
          <a:p>
            <a:r>
              <a:rPr lang="ja-JP" altLang="ja-JP">
                <a:effectLst/>
              </a:rPr>
              <a:t>開発事業者様にとっての</a:t>
            </a:r>
            <a:r>
              <a:rPr lang="ja-JP" altLang="ja-JP"/>
              <a:t>本アプリケーション活用メリット</a:t>
            </a:r>
            <a:endParaRPr kumimoji="1" lang="ja-JP" altLang="en-US"/>
          </a:p>
        </p:txBody>
      </p:sp>
      <p:sp>
        <p:nvSpPr>
          <p:cNvPr id="4" name="日付プレースホルダー 3">
            <a:extLst>
              <a:ext uri="{FF2B5EF4-FFF2-40B4-BE49-F238E27FC236}">
                <a16:creationId xmlns:a16="http://schemas.microsoft.com/office/drawing/2014/main" id="{DEAC2C02-6A43-455F-816A-C0CD36050948}"/>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0BEC8B07-CCEA-591D-35C2-1603ED422298}"/>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DEA47CD3-D3DD-69C8-46D2-BEAA2391E6C8}"/>
              </a:ext>
            </a:extLst>
          </p:cNvPr>
          <p:cNvSpPr>
            <a:spLocks noGrp="1"/>
          </p:cNvSpPr>
          <p:nvPr>
            <p:ph type="sldNum" sz="quarter" idx="12"/>
          </p:nvPr>
        </p:nvSpPr>
        <p:spPr/>
        <p:txBody>
          <a:bodyPr/>
          <a:lstStyle/>
          <a:p>
            <a:fld id="{6539E37A-E522-3D47-AAB7-DDF67C94A05D}" type="slidenum">
              <a:rPr lang="en-US" altLang="ja-JP"/>
              <a:t>6</a:t>
            </a:fld>
            <a:endParaRPr kumimoji="1" lang="ja-JP" altLang="en-US"/>
          </a:p>
        </p:txBody>
      </p:sp>
      <p:sp>
        <p:nvSpPr>
          <p:cNvPr id="7" name="テキスト ボックス 6">
            <a:extLst>
              <a:ext uri="{FF2B5EF4-FFF2-40B4-BE49-F238E27FC236}">
                <a16:creationId xmlns:a16="http://schemas.microsoft.com/office/drawing/2014/main" id="{DA0DF16B-B2CB-1C9F-9313-C4CBA8E6C891}"/>
              </a:ext>
            </a:extLst>
          </p:cNvPr>
          <p:cNvSpPr txBox="1"/>
          <p:nvPr/>
        </p:nvSpPr>
        <p:spPr>
          <a:xfrm>
            <a:off x="838200" y="1223755"/>
            <a:ext cx="10326470" cy="1200329"/>
          </a:xfrm>
          <a:prstGeom prst="rect">
            <a:avLst/>
          </a:prstGeom>
          <a:noFill/>
        </p:spPr>
        <p:txBody>
          <a:bodyPr wrap="square" rtlCol="0">
            <a:spAutoFit/>
          </a:bodyPr>
          <a:lstStyle/>
          <a:p>
            <a:r>
              <a:rPr lang="ja-JP" altLang="ja-JP" b="1"/>
              <a:t>本研究では、自然言語で記述された開発構想を、LLMとの対話を通じて人流予測可能な開発シナリオへ具体化し、複数案の人流影響を比較評価できるアプリケーション</a:t>
            </a:r>
            <a:r>
              <a:rPr lang="ja-JP" altLang="en-US" b="1"/>
              <a:t>の開発を目指しています。</a:t>
            </a:r>
            <a:br>
              <a:rPr lang="ja-JP" altLang="ja-JP" b="1"/>
            </a:br>
            <a:r>
              <a:rPr lang="ja-JP" altLang="en-US" b="1"/>
              <a:t>本</a:t>
            </a:r>
            <a:r>
              <a:rPr lang="ja-JP" altLang="ja-JP" b="1"/>
              <a:t>アプリケーション</a:t>
            </a:r>
            <a:r>
              <a:rPr lang="ja-JP" altLang="en-US" b="1"/>
              <a:t>は</a:t>
            </a:r>
            <a:r>
              <a:rPr lang="ja-JP" altLang="ja-JP" b="1"/>
              <a:t>、計画検討の効率化、定量的な判断材料の提供、代替案の発見、将来案件への応用といった</a:t>
            </a:r>
            <a:r>
              <a:rPr lang="ja-JP" altLang="ja-JP" b="1">
                <a:effectLst/>
              </a:rPr>
              <a:t>開発事業者様の計画業務に寄与できるものと考えています</a:t>
            </a:r>
            <a:r>
              <a:rPr lang="ja-JP" altLang="ja-JP" b="1"/>
              <a:t>。</a:t>
            </a:r>
            <a:endParaRPr kumimoji="1" lang="ja-JP" altLang="en-US" b="1"/>
          </a:p>
        </p:txBody>
      </p:sp>
      <p:graphicFrame>
        <p:nvGraphicFramePr>
          <p:cNvPr id="8" name="表 7">
            <a:extLst>
              <a:ext uri="{FF2B5EF4-FFF2-40B4-BE49-F238E27FC236}">
                <a16:creationId xmlns:a16="http://schemas.microsoft.com/office/drawing/2014/main" id="{9991E133-78C9-D901-A47E-7FFFD0D405D9}"/>
              </a:ext>
            </a:extLst>
          </p:cNvPr>
          <p:cNvGraphicFramePr>
            <a:graphicFrameLocks noGrp="1"/>
          </p:cNvGraphicFramePr>
          <p:nvPr/>
        </p:nvGraphicFramePr>
        <p:xfrm>
          <a:off x="838200" y="2571075"/>
          <a:ext cx="10326470" cy="3638283"/>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2287470">
                  <a:extLst>
                    <a:ext uri="{9D8B030D-6E8A-4147-A177-3AD203B41FA5}">
                      <a16:colId xmlns:a16="http://schemas.microsoft.com/office/drawing/2014/main" val="3531872289"/>
                    </a:ext>
                  </a:extLst>
                </a:gridCol>
                <a:gridCol w="8039000">
                  <a:extLst>
                    <a:ext uri="{9D8B030D-6E8A-4147-A177-3AD203B41FA5}">
                      <a16:colId xmlns:a16="http://schemas.microsoft.com/office/drawing/2014/main" val="3092549854"/>
                    </a:ext>
                  </a:extLst>
                </a:gridCol>
              </a:tblGrid>
              <a:tr h="495055">
                <a:tc>
                  <a:txBody>
                    <a:bodyPr/>
                    <a:lstStyle/>
                    <a:p>
                      <a:pPr algn="ctr">
                        <a:buNone/>
                      </a:pPr>
                      <a:r>
                        <a:rPr lang="ja-JP" b="0"/>
                        <a:t>観点</a:t>
                      </a:r>
                    </a:p>
                  </a:txBody>
                  <a:tcPr anchor="ctr">
                    <a:solidFill>
                      <a:srgbClr val="0E2741"/>
                    </a:solidFill>
                  </a:tcPr>
                </a:tc>
                <a:tc>
                  <a:txBody>
                    <a:bodyPr/>
                    <a:lstStyle/>
                    <a:p>
                      <a:pPr algn="ctr"/>
                      <a:r>
                        <a:rPr lang="ja-JP" altLang="ja-JP" sz="1800" b="0"/>
                        <a:t>メリット</a:t>
                      </a:r>
                      <a:endParaRPr kumimoji="1" lang="ja-JP" altLang="en-US" sz="1800" b="0"/>
                    </a:p>
                  </a:txBody>
                  <a:tcPr anchor="ctr">
                    <a:solidFill>
                      <a:srgbClr val="0E2741"/>
                    </a:solidFill>
                  </a:tcPr>
                </a:tc>
                <a:extLst>
                  <a:ext uri="{0D108BD9-81ED-4DB2-BD59-A6C34878D82A}">
                    <a16:rowId xmlns:a16="http://schemas.microsoft.com/office/drawing/2014/main" val="2757490642"/>
                  </a:ext>
                </a:extLst>
              </a:tr>
              <a:tr h="785807">
                <a:tc>
                  <a:txBody>
                    <a:bodyPr/>
                    <a:lstStyle/>
                    <a:p>
                      <a:pPr algn="ctr"/>
                      <a:r>
                        <a:rPr lang="ja-JP" altLang="ja-JP" sz="1600" b="0"/>
                        <a:t>計画検討の効率化</a:t>
                      </a:r>
                      <a:endParaRPr kumimoji="1" lang="ja-JP" altLang="en-US" sz="1600" b="0"/>
                    </a:p>
                  </a:txBody>
                  <a:tcPr anchor="ctr"/>
                </a:tc>
                <a:tc>
                  <a:txBody>
                    <a:bodyPr/>
                    <a:lstStyle/>
                    <a:p>
                      <a:r>
                        <a:rPr lang="ja-JP" altLang="ja-JP" sz="1400"/>
                        <a:t>通常数か月かかる初期検討を、粗い条件入力から数日〜数週間で比較可能な形に整理できる</a:t>
                      </a:r>
                      <a:endParaRPr lang="ja-JP" altLang="ja-JP" sz="1400" b="0"/>
                    </a:p>
                  </a:txBody>
                  <a:tcPr anchor="ctr"/>
                </a:tc>
                <a:extLst>
                  <a:ext uri="{0D108BD9-81ED-4DB2-BD59-A6C34878D82A}">
                    <a16:rowId xmlns:a16="http://schemas.microsoft.com/office/drawing/2014/main" val="2358868952"/>
                  </a:ext>
                </a:extLst>
              </a:tr>
              <a:tr h="785807">
                <a:tc>
                  <a:txBody>
                    <a:bodyPr/>
                    <a:lstStyle/>
                    <a:p>
                      <a:pPr algn="ctr"/>
                      <a:r>
                        <a:rPr lang="ja-JP" altLang="ja-JP" sz="1600" b="0"/>
                        <a:t>定量的な判断材料</a:t>
                      </a:r>
                      <a:endParaRPr kumimoji="1" lang="ja-JP" altLang="en-US" sz="1600" b="0"/>
                    </a:p>
                  </a:txBody>
                  <a:tcPr anchor="ctr"/>
                </a:tc>
                <a:tc>
                  <a:txBody>
                    <a:bodyPr/>
                    <a:lstStyle/>
                    <a:p>
                      <a:pPr>
                        <a:buNone/>
                      </a:pPr>
                      <a:r>
                        <a:rPr lang="ja-JP" altLang="en-US" sz="1400"/>
                        <a:t>訪問客</a:t>
                      </a:r>
                      <a:r>
                        <a:rPr lang="ja-JP" altLang="ja-JP" sz="1400"/>
                        <a:t>数、混雑箇所、周辺施設への波及などを</a:t>
                      </a:r>
                      <a:r>
                        <a:rPr lang="ja-JP" altLang="en-US" sz="1400" u="none"/>
                        <a:t>数値</a:t>
                      </a:r>
                      <a:r>
                        <a:rPr lang="ja-JP" altLang="ja-JP" sz="1400" u="none"/>
                        <a:t>で比較</a:t>
                      </a:r>
                      <a:r>
                        <a:rPr lang="ja-JP" altLang="ja-JP" sz="1400"/>
                        <a:t>できる</a:t>
                      </a:r>
                      <a:endParaRPr lang="ja-JP" sz="1400"/>
                    </a:p>
                  </a:txBody>
                  <a:tcPr anchor="ctr"/>
                </a:tc>
                <a:extLst>
                  <a:ext uri="{0D108BD9-81ED-4DB2-BD59-A6C34878D82A}">
                    <a16:rowId xmlns:a16="http://schemas.microsoft.com/office/drawing/2014/main" val="4201957"/>
                  </a:ext>
                </a:extLst>
              </a:tr>
              <a:tr h="785807">
                <a:tc>
                  <a:txBody>
                    <a:bodyPr/>
                    <a:lstStyle/>
                    <a:p>
                      <a:pPr algn="ctr"/>
                      <a:r>
                        <a:rPr lang="ja-JP" altLang="ja-JP" sz="1600" b="0"/>
                        <a:t>代替案の発見</a:t>
                      </a:r>
                      <a:endParaRPr kumimoji="1" lang="ja-JP" altLang="en-US" sz="1600" b="0"/>
                    </a:p>
                  </a:txBody>
                  <a:tcPr anchor="ctr"/>
                </a:tc>
                <a:tc>
                  <a:txBody>
                    <a:bodyPr/>
                    <a:lstStyle/>
                    <a:p>
                      <a:r>
                        <a:rPr lang="ja-JP" altLang="ja-JP" sz="1400"/>
                        <a:t>計画側が想定していない用途構成・動線・配置案を、LLMとの対話から提示できる可能性がある</a:t>
                      </a:r>
                      <a:endParaRPr lang="ja-JP" altLang="ja-JP" sz="1400" b="0"/>
                    </a:p>
                  </a:txBody>
                  <a:tcPr anchor="ctr"/>
                </a:tc>
                <a:extLst>
                  <a:ext uri="{0D108BD9-81ED-4DB2-BD59-A6C34878D82A}">
                    <a16:rowId xmlns:a16="http://schemas.microsoft.com/office/drawing/2014/main" val="378628186"/>
                  </a:ext>
                </a:extLst>
              </a:tr>
              <a:tr h="785807">
                <a:tc>
                  <a:txBody>
                    <a:bodyPr/>
                    <a:lstStyle/>
                    <a:p>
                      <a:pPr algn="ctr"/>
                      <a:r>
                        <a:rPr lang="ja-JP" altLang="ja-JP" sz="1600" b="0"/>
                        <a:t>将来案件への応用</a:t>
                      </a:r>
                      <a:endParaRPr kumimoji="1" lang="ja-JP" altLang="en-US" sz="1600" b="0"/>
                    </a:p>
                  </a:txBody>
                  <a:tcPr anchor="ctr"/>
                </a:tc>
                <a:tc>
                  <a:txBody>
                    <a:bodyPr/>
                    <a:lstStyle/>
                    <a:p>
                      <a:r>
                        <a:rPr lang="ja-JP" altLang="ja-JP" sz="1400"/>
                        <a:t>特定の対象地に限らず、他の再開発・駅前開発にも応用可能な検討ワークフローとして蓄積できる</a:t>
                      </a:r>
                      <a:endParaRPr lang="ja-JP" altLang="ja-JP" sz="1400" b="0"/>
                    </a:p>
                  </a:txBody>
                  <a:tcPr anchor="ctr"/>
                </a:tc>
                <a:extLst>
                  <a:ext uri="{0D108BD9-81ED-4DB2-BD59-A6C34878D82A}">
                    <a16:rowId xmlns:a16="http://schemas.microsoft.com/office/drawing/2014/main" val="1809346974"/>
                  </a:ext>
                </a:extLst>
              </a:tr>
            </a:tbl>
          </a:graphicData>
        </a:graphic>
      </p:graphicFrame>
    </p:spTree>
    <p:extLst>
      <p:ext uri="{BB962C8B-B14F-4D97-AF65-F5344CB8AC3E}">
        <p14:creationId xmlns:p14="http://schemas.microsoft.com/office/powerpoint/2010/main" val="3031591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12059-E259-5B9A-96D8-E48A2C29B4D9}"/>
              </a:ext>
            </a:extLst>
          </p:cNvPr>
          <p:cNvSpPr>
            <a:spLocks noGrp="1"/>
          </p:cNvSpPr>
          <p:nvPr>
            <p:ph type="title"/>
          </p:nvPr>
        </p:nvSpPr>
        <p:spPr/>
        <p:txBody>
          <a:bodyPr/>
          <a:lstStyle/>
          <a:p>
            <a:r>
              <a:rPr lang="ja-JP" altLang="ja-JP"/>
              <a:t>開発事業者様に</a:t>
            </a:r>
            <a:r>
              <a:rPr kumimoji="1" lang="ja-JP" altLang="en-US"/>
              <a:t>ご協力いただきたいこと</a:t>
            </a:r>
          </a:p>
        </p:txBody>
      </p:sp>
      <p:sp>
        <p:nvSpPr>
          <p:cNvPr id="3" name="コンテンツ プレースホルダー 2">
            <a:extLst>
              <a:ext uri="{FF2B5EF4-FFF2-40B4-BE49-F238E27FC236}">
                <a16:creationId xmlns:a16="http://schemas.microsoft.com/office/drawing/2014/main" id="{D6FC56F0-A53D-D0DA-50EC-C84A9EC253D9}"/>
              </a:ext>
            </a:extLst>
          </p:cNvPr>
          <p:cNvSpPr>
            <a:spLocks noGrp="1"/>
          </p:cNvSpPr>
          <p:nvPr>
            <p:ph idx="1"/>
          </p:nvPr>
        </p:nvSpPr>
        <p:spPr>
          <a:xfrm>
            <a:off x="605390" y="1073631"/>
            <a:ext cx="10515600" cy="2415482"/>
          </a:xfrm>
        </p:spPr>
        <p:txBody>
          <a:bodyPr>
            <a:normAutofit/>
          </a:bodyPr>
          <a:lstStyle/>
          <a:p>
            <a:pPr marL="0" indent="0">
              <a:buNone/>
            </a:pPr>
            <a:r>
              <a:rPr lang="ja-JP" altLang="ja-JP" b="1"/>
              <a:t>1. 開発構想に関する基本情報の共有</a:t>
            </a:r>
          </a:p>
          <a:p>
            <a:pPr marL="0" indent="0">
              <a:buNone/>
            </a:pPr>
            <a:r>
              <a:rPr lang="ja-JP" altLang="ja-JP" sz="1800"/>
              <a:t>以下のような情報を、テキストベースで</a:t>
            </a:r>
            <a:r>
              <a:rPr lang="ja-JP" altLang="en-US" sz="1800"/>
              <a:t>可能な範囲で</a:t>
            </a:r>
            <a:r>
              <a:rPr lang="ja-JP" altLang="ja-JP" sz="1800"/>
              <a:t>ご共有いただ</a:t>
            </a:r>
            <a:r>
              <a:rPr lang="ja-JP" altLang="en-US" sz="1800"/>
              <a:t>きたいと考えています</a:t>
            </a:r>
            <a:r>
              <a:rPr lang="ja-JP" altLang="ja-JP" sz="1800"/>
              <a:t>。</a:t>
            </a:r>
          </a:p>
          <a:p>
            <a:r>
              <a:rPr lang="ja-JP" altLang="ja-JP" sz="1800"/>
              <a:t>対象敷地の範囲</a:t>
            </a:r>
          </a:p>
          <a:p>
            <a:r>
              <a:rPr lang="ja-JP" altLang="ja-JP" sz="1800"/>
              <a:t>想定している用途構成</a:t>
            </a:r>
            <a:r>
              <a:rPr lang="ja-JP" altLang="en-US" sz="1800"/>
              <a:t>　（</a:t>
            </a:r>
            <a:r>
              <a:rPr lang="ja-JP" altLang="ja-JP" sz="1800"/>
              <a:t>例</a:t>
            </a:r>
            <a:r>
              <a:rPr lang="ja-JP" altLang="en-US" sz="1800"/>
              <a:t>）</a:t>
            </a:r>
            <a:r>
              <a:rPr lang="ja-JP" altLang="ja-JP" sz="1800"/>
              <a:t>：商業、ホテル、オフィス、広場、通路</a:t>
            </a:r>
            <a:r>
              <a:rPr lang="en-US" altLang="ja-JP" sz="1800"/>
              <a:t> </a:t>
            </a:r>
            <a:r>
              <a:rPr lang="ja-JP" altLang="ja-JP" sz="1800"/>
              <a:t>など </a:t>
            </a:r>
          </a:p>
          <a:p>
            <a:r>
              <a:rPr lang="ja-JP" altLang="ja-JP" sz="1800"/>
              <a:t>大まかな規模</a:t>
            </a:r>
            <a:r>
              <a:rPr lang="ja-JP" altLang="en-US" sz="1800"/>
              <a:t>　（</a:t>
            </a:r>
            <a:r>
              <a:rPr lang="ja-JP" altLang="ja-JP" sz="1800"/>
              <a:t>例</a:t>
            </a:r>
            <a:r>
              <a:rPr lang="ja-JP" altLang="en-US" sz="1800"/>
              <a:t>）</a:t>
            </a:r>
            <a:r>
              <a:rPr lang="ja-JP" altLang="ja-JP" sz="1800"/>
              <a:t>：階数、延床面積、低層部・高層部の使い分け </a:t>
            </a:r>
            <a:r>
              <a:rPr lang="ja-JP" altLang="en-US" sz="1800"/>
              <a:t>など</a:t>
            </a:r>
            <a:endParaRPr lang="ja-JP" altLang="ja-JP" sz="1800"/>
          </a:p>
          <a:p>
            <a:r>
              <a:rPr lang="ja-JP" altLang="ja-JP" sz="1800"/>
              <a:t>比較したい計画案・検討したいシナリオ</a:t>
            </a:r>
            <a:r>
              <a:rPr lang="ja-JP" altLang="en-US" sz="1800"/>
              <a:t>　（</a:t>
            </a:r>
            <a:r>
              <a:rPr lang="ja-JP" altLang="ja-JP" sz="1800"/>
              <a:t>例</a:t>
            </a:r>
            <a:r>
              <a:rPr lang="ja-JP" altLang="en-US" sz="1800"/>
              <a:t>）</a:t>
            </a:r>
            <a:r>
              <a:rPr lang="ja-JP" altLang="ja-JP" sz="1800"/>
              <a:t>：</a:t>
            </a:r>
            <a:r>
              <a:rPr lang="ja-JP" altLang="en-US" sz="1800">
                <a:latin typeface="Noto Sans CJK JP"/>
              </a:rPr>
              <a:t>上方・下方シナリオ</a:t>
            </a:r>
            <a:r>
              <a:rPr lang="ja-JP" altLang="en-US" sz="1800"/>
              <a:t>を見たい、</a:t>
            </a:r>
            <a:r>
              <a:rPr lang="ja-JP" altLang="ja-JP" sz="1800"/>
              <a:t>など </a:t>
            </a:r>
          </a:p>
        </p:txBody>
      </p:sp>
      <p:sp>
        <p:nvSpPr>
          <p:cNvPr id="4" name="日付プレースホルダー 3">
            <a:extLst>
              <a:ext uri="{FF2B5EF4-FFF2-40B4-BE49-F238E27FC236}">
                <a16:creationId xmlns:a16="http://schemas.microsoft.com/office/drawing/2014/main" id="{0166E489-ABEF-3DB4-D103-3C6414CA1C23}"/>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EBC257F6-25F9-A94A-1F77-076D81BDE7F7}"/>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73A8431F-510D-3CE6-EFAE-63960607DC0D}"/>
              </a:ext>
            </a:extLst>
          </p:cNvPr>
          <p:cNvSpPr>
            <a:spLocks noGrp="1"/>
          </p:cNvSpPr>
          <p:nvPr>
            <p:ph type="sldNum" sz="quarter" idx="12"/>
          </p:nvPr>
        </p:nvSpPr>
        <p:spPr/>
        <p:txBody>
          <a:bodyPr/>
          <a:lstStyle/>
          <a:p>
            <a:fld id="{6539E37A-E522-3D47-AAB7-DDF67C94A05D}" type="slidenum">
              <a:rPr lang="en-US" altLang="ja-JP"/>
              <a:t>7</a:t>
            </a:fld>
            <a:endParaRPr kumimoji="1" lang="ja-JP" altLang="en-US"/>
          </a:p>
        </p:txBody>
      </p:sp>
      <p:sp>
        <p:nvSpPr>
          <p:cNvPr id="9" name="コンテンツ プレースホルダー 2">
            <a:extLst>
              <a:ext uri="{FF2B5EF4-FFF2-40B4-BE49-F238E27FC236}">
                <a16:creationId xmlns:a16="http://schemas.microsoft.com/office/drawing/2014/main" id="{C1539116-3C6B-D7F6-C066-17644665B23E}"/>
              </a:ext>
            </a:extLst>
          </p:cNvPr>
          <p:cNvSpPr txBox="1">
            <a:spLocks/>
          </p:cNvSpPr>
          <p:nvPr/>
        </p:nvSpPr>
        <p:spPr>
          <a:xfrm>
            <a:off x="605390" y="3654025"/>
            <a:ext cx="10515600" cy="25698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b="1"/>
              <a:t>2. 生成されたシナリオ・試算結果へのフィードバック</a:t>
            </a:r>
          </a:p>
          <a:p>
            <a:pPr marL="0" indent="0">
              <a:buNone/>
            </a:pPr>
            <a:r>
              <a:rPr lang="ja-JP" altLang="ja-JP" sz="1800"/>
              <a:t>作成した開発シナリオや人流試算結果について、以下の観点からフィードバックをいただ</a:t>
            </a:r>
            <a:r>
              <a:rPr lang="ja-JP" altLang="en-US" sz="1800"/>
              <a:t>きたいです</a:t>
            </a:r>
            <a:r>
              <a:rPr lang="ja-JP" altLang="ja-JP" sz="1800"/>
              <a:t>。</a:t>
            </a:r>
          </a:p>
          <a:p>
            <a:r>
              <a:rPr lang="ja-JP" altLang="ja-JP" sz="1800"/>
              <a:t>計画側の想定と大きく異なる点がないか </a:t>
            </a:r>
          </a:p>
          <a:p>
            <a:r>
              <a:rPr lang="ja-JP" altLang="ja-JP" sz="1800"/>
              <a:t>用途構成・規模の仮定が妥当か </a:t>
            </a:r>
          </a:p>
          <a:p>
            <a:r>
              <a:rPr lang="ja-JP" altLang="en-US" sz="1800"/>
              <a:t>訪問客</a:t>
            </a:r>
            <a:r>
              <a:rPr lang="ja-JP" altLang="ja-JP" sz="1800"/>
              <a:t>数、混雑箇所などの試算結果に違和感がないか </a:t>
            </a:r>
          </a:p>
          <a:p>
            <a:r>
              <a:rPr lang="ja-JP" altLang="ja-JP" sz="1800"/>
              <a:t>追加で検討すべき条件・代替案があるか </a:t>
            </a:r>
          </a:p>
          <a:p>
            <a:pPr marL="0" indent="0">
              <a:buNone/>
            </a:pPr>
            <a:r>
              <a:rPr lang="ja-JP" altLang="ja-JP" sz="1800" b="1"/>
              <a:t>フィードバックを反映し、計画条件・シナリオ・人流予測結果を反復的に更新</a:t>
            </a:r>
            <a:r>
              <a:rPr lang="ja-JP" altLang="en-US" sz="1800" b="1"/>
              <a:t>します</a:t>
            </a:r>
            <a:r>
              <a:rPr lang="ja-JP" altLang="ja-JP" sz="1800" b="1"/>
              <a:t>。</a:t>
            </a:r>
            <a:endParaRPr lang="ja-JP" altLang="ja-JP" sz="1800"/>
          </a:p>
        </p:txBody>
      </p:sp>
    </p:spTree>
    <p:extLst>
      <p:ext uri="{BB962C8B-B14F-4D97-AF65-F5344CB8AC3E}">
        <p14:creationId xmlns:p14="http://schemas.microsoft.com/office/powerpoint/2010/main" val="1165167113"/>
      </p:ext>
    </p:extLst>
  </p:cSld>
  <p:clrMapOvr>
    <a:masterClrMapping/>
  </p:clrMapOvr>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1427</Words>
  <Application>Microsoft Macintosh PowerPoint</Application>
  <DocSecurity>0</DocSecurity>
  <PresentationFormat>ワイド画面</PresentationFormat>
  <Paragraphs>170</Paragraphs>
  <Slides>7</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HGMinchoE</vt:lpstr>
      <vt:lpstr>Noto Sans CJK JP</vt:lpstr>
      <vt:lpstr>Calibri</vt:lpstr>
      <vt:lpstr>標準スライド</vt:lpstr>
      <vt:lpstr>自然言語から人流シナリオを生成 複数条件の影響を比較評価 ～名鉄名古屋駅を対象に</vt:lpstr>
      <vt:lpstr>最初の3か月（2Q：7-9月）の取組イメージ：周辺の条件整理</vt:lpstr>
      <vt:lpstr>最初の3か月（2Q：7-9月）の取組イメージ：名鉄百貨店周辺の人流分析</vt:lpstr>
      <vt:lpstr>本研究の立ち位置</vt:lpstr>
      <vt:lpstr>その後の年度内（3-4Q:10-3月）の取組イメージ</vt:lpstr>
      <vt:lpstr>開発事業者様にとっての本アプリケーション活用メリット</vt:lpstr>
      <vt:lpstr>開発事業者様にご協力いただきたいこと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渡辺　悠生</cp:lastModifiedBy>
  <cp:revision>6</cp:revision>
  <dcterms:created xsi:type="dcterms:W3CDTF">2026-07-14T16:30:17Z</dcterms:created>
  <dcterms:modified xsi:type="dcterms:W3CDTF">2026-07-15T01:38:57Z</dcterms:modified>
</cp:coreProperties>
</file>