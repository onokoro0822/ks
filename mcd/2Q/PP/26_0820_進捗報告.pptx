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65" r:id="rId4"/>
    <p:sldId id="258" r:id="rId5"/>
    <p:sldId id="263" r:id="rId6"/>
    <p:sldId id="262" r:id="rId7"/>
    <p:sldId id="259" r:id="rId8"/>
    <p:sldId id="260" r:id="rId9"/>
    <p:sldId id="261" r:id="rId10"/>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D6C5EB5-B125-E782-B8C1-726CF45149BC}" name="関本　義秀" initials="義関" userId="S::4300617000@utac.u-tokyo.ac.jp::58197656-eaaa-4c42-a35f-aab39240ca32" providerId="AD"/>
  <p188:author id="{5AA7D6E4-D81E-CF32-42CA-661684C67DD7}" name="渡辺　悠生" initials="悠渡" userId="S::5317704775@utac.u-tokyo.ac.jp::6bac083b-911a-4d96-88e0-5ba3986ff10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03447BB-5D67-496B-8E87-E561075AD55C}" styleName="濃色スタイル 1 - アクセント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564"/>
  </p:normalViewPr>
  <p:slideViewPr>
    <p:cSldViewPr>
      <p:cViewPr>
        <p:scale>
          <a:sx n="81" d="100"/>
          <a:sy n="81" d="100"/>
        </p:scale>
        <p:origin x="448" y="904"/>
      </p:cViewPr>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C55205D-1BEA-5E5D-5B92-8C3331D1DC79}"/>
              </a:ext>
            </a:extLst>
          </p:cNvPr>
          <p:cNvSpPr>
            <a:spLocks noGrp="1"/>
          </p:cNvSpPr>
          <p:nvPr/>
        </p:nvSpPr>
        <p:spPr>
          <a:xfrm>
            <a:off x="0" y="1"/>
            <a:ext cx="12192000" cy="685799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正方形/長方形 7">
            <a:extLst>
              <a:ext uri="{FF2B5EF4-FFF2-40B4-BE49-F238E27FC236}">
                <a16:creationId xmlns:a16="http://schemas.microsoft.com/office/drawing/2014/main" id="{011358BB-C83D-DC73-90A9-FD099D231007}"/>
              </a:ext>
            </a:extLst>
          </p:cNvPr>
          <p:cNvSpPr>
            <a:spLocks noGrp="1"/>
          </p:cNvSpPr>
          <p:nvPr/>
        </p:nvSpPr>
        <p:spPr>
          <a:xfrm>
            <a:off x="627893" y="1718810"/>
            <a:ext cx="10936214" cy="364540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buNone/>
            </a:pPr>
            <a:endParaRPr/>
          </a:p>
        </p:txBody>
      </p:sp>
      <p:sp>
        <p:nvSpPr>
          <p:cNvPr id="2" name="Title 1">
            <a:extLst>
              <a:ext uri="{FF2B5EF4-FFF2-40B4-BE49-F238E27FC236}">
                <a16:creationId xmlns:a16="http://schemas.microsoft.com/office/drawing/2014/main" id="{CEDFCFD7-5669-4CDF-8196-80F00CD0B63E}"/>
              </a:ext>
            </a:extLst>
          </p:cNvPr>
          <p:cNvSpPr>
            <a:spLocks noGrp="1"/>
          </p:cNvSpPr>
          <p:nvPr>
            <p:ph type="ctrTitle"/>
          </p:nvPr>
        </p:nvSpPr>
        <p:spPr>
          <a:xfrm>
            <a:off x="815698" y="1822519"/>
            <a:ext cx="8981594" cy="1800200"/>
          </a:xfrm>
        </p:spPr>
        <p:txBody>
          <a:bodyPr anchor="b"/>
          <a:lstStyle>
            <a:lvl1pPr algn="ctr">
              <a:buNone/>
              <a:defRPr sz="6000">
                <a:latin typeface="HGMinchoE"/>
                <a:ea typeface="HGMinchoE"/>
                <a:cs typeface="HGMinchoE"/>
              </a:defRPr>
            </a:lvl1pPr>
          </a:lstStyle>
          <a:p>
            <a:r>
              <a:t>マスター タイトルの書式設定</a:t>
            </a:r>
          </a:p>
        </p:txBody>
      </p:sp>
      <p:sp>
        <p:nvSpPr>
          <p:cNvPr id="4" name="Date Placeholder 3">
            <a:extLst>
              <a:ext uri="{FF2B5EF4-FFF2-40B4-BE49-F238E27FC236}">
                <a16:creationId xmlns:a16="http://schemas.microsoft.com/office/drawing/2014/main" id="{19A3B0E2-4A38-456C-B93E-BB195C4A3BEA}"/>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A66CE179-1185-4294-A28B-2AEC71217739}"/>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3BD2C87E-7E69-49BC-9873-83346CBBCDC3}"/>
              </a:ext>
            </a:extLst>
          </p:cNvPr>
          <p:cNvSpPr>
            <a:spLocks noGrp="1"/>
          </p:cNvSpPr>
          <p:nvPr>
            <p:ph type="sldNum" idx="12"/>
          </p:nvPr>
        </p:nvSpPr>
        <p:spPr/>
        <p:txBody>
          <a:bodyPr/>
          <a:lstStyle/>
          <a:p>
            <a:fld id="{6539E37A-E522-3D47-AAB7-DDF67C94A05D}" type="slidenum">
              <a:t>‹#›</a:t>
            </a:fld>
            <a:endParaRPr/>
          </a:p>
        </p:txBody>
      </p:sp>
      <p:sp>
        <p:nvSpPr>
          <p:cNvPr id="10" name="正方形/長方形 9">
            <a:extLst>
              <a:ext uri="{FF2B5EF4-FFF2-40B4-BE49-F238E27FC236}">
                <a16:creationId xmlns:a16="http://schemas.microsoft.com/office/drawing/2014/main" id="{4CD3B0C5-05CC-6CD8-19D9-83A04040DEB5}"/>
              </a:ext>
            </a:extLst>
          </p:cNvPr>
          <p:cNvSpPr>
            <a:spLocks noGrp="1"/>
          </p:cNvSpPr>
          <p:nvPr/>
        </p:nvSpPr>
        <p:spPr>
          <a:xfrm>
            <a:off x="815696" y="3900233"/>
            <a:ext cx="3915435" cy="45719"/>
          </a:xfrm>
          <a:prstGeom prst="rect">
            <a:avLst/>
          </a:prstGeom>
          <a:solidFill>
            <a:schemeClr val="tx2">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Subtitle 2">
            <a:extLst>
              <a:ext uri="{FF2B5EF4-FFF2-40B4-BE49-F238E27FC236}">
                <a16:creationId xmlns:a16="http://schemas.microsoft.com/office/drawing/2014/main" id="{1EA00032-B280-9C70-9D60-577AEB1A3456}"/>
              </a:ext>
            </a:extLst>
          </p:cNvPr>
          <p:cNvSpPr>
            <a:spLocks noGrp="1"/>
          </p:cNvSpPr>
          <p:nvPr/>
        </p:nvSpPr>
        <p:spPr>
          <a:xfrm>
            <a:off x="815695" y="4494532"/>
            <a:ext cx="5032775" cy="398632"/>
          </a:xfrm>
          <a:prstGeom prst="rect">
            <a:avLst/>
          </a:prstGeom>
        </p:spPr>
        <p:txBody>
          <a:bodyPr vert="horz" lIns="91440" tIns="45720" rIns="91440" bIns="45720">
            <a:normAutofit/>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r>
              <a:rPr sz="1800">
                <a:solidFill>
                  <a:schemeClr val="bg2">
                    <a:lumMod val="50000"/>
                  </a:schemeClr>
                </a:solidFill>
              </a:rPr>
              <a:t>2026年</a:t>
            </a:r>
            <a:r>
              <a:rPr lang="en-US" sz="1800">
                <a:solidFill>
                  <a:schemeClr val="bg2">
                    <a:lumMod val="50000"/>
                  </a:schemeClr>
                </a:solidFill>
              </a:rPr>
              <a:t>8</a:t>
            </a:r>
            <a:r>
              <a:rPr sz="1800">
                <a:solidFill>
                  <a:schemeClr val="bg2">
                    <a:lumMod val="50000"/>
                  </a:schemeClr>
                </a:solidFill>
              </a:rPr>
              <a:t>月　関本・中居研究室</a:t>
            </a:r>
          </a:p>
        </p:txBody>
      </p:sp>
      <p:sp>
        <p:nvSpPr>
          <p:cNvPr id="12" name="Subtitle 2">
            <a:extLst>
              <a:ext uri="{FF2B5EF4-FFF2-40B4-BE49-F238E27FC236}">
                <a16:creationId xmlns:a16="http://schemas.microsoft.com/office/drawing/2014/main" id="{8C5479DB-FB15-2DE2-02DC-3F41B6BAA47D}"/>
              </a:ext>
            </a:extLst>
          </p:cNvPr>
          <p:cNvSpPr>
            <a:spLocks noGrp="1"/>
          </p:cNvSpPr>
          <p:nvPr/>
        </p:nvSpPr>
        <p:spPr>
          <a:xfrm>
            <a:off x="815696" y="4636415"/>
            <a:ext cx="5032775" cy="398632"/>
          </a:xfrm>
          <a:prstGeom prst="rect">
            <a:avLst/>
          </a:prstGeom>
        </p:spPr>
        <p:txBody>
          <a:bodyPr vert="horz" lIns="91440" tIns="45720" rIns="91440" bIns="45720">
            <a:normAutofit lnSpcReduction="10000"/>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endParaRPr/>
          </a:p>
        </p:txBody>
      </p:sp>
      <p:sp>
        <p:nvSpPr>
          <p:cNvPr id="13" name="Subtitle 2">
            <a:extLst>
              <a:ext uri="{FF2B5EF4-FFF2-40B4-BE49-F238E27FC236}">
                <a16:creationId xmlns:a16="http://schemas.microsoft.com/office/drawing/2014/main" id="{265B0414-1E04-19AB-89FC-B267F02CDFAF}"/>
              </a:ext>
            </a:extLst>
          </p:cNvPr>
          <p:cNvSpPr>
            <a:spLocks noGrp="1"/>
          </p:cNvSpPr>
          <p:nvPr/>
        </p:nvSpPr>
        <p:spPr>
          <a:xfrm>
            <a:off x="834852" y="4095900"/>
            <a:ext cx="5032775" cy="398632"/>
          </a:xfrm>
          <a:prstGeom prst="rect">
            <a:avLst/>
          </a:prstGeom>
        </p:spPr>
        <p:txBody>
          <a:bodyPr vert="horz" lIns="91440" tIns="45720" rIns="91440" bIns="45720">
            <a:normAutofit/>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r>
              <a:rPr lang="ja-JP" altLang="en-US" sz="1800">
                <a:solidFill>
                  <a:schemeClr val="bg2">
                    <a:lumMod val="50000"/>
                  </a:schemeClr>
                </a:solidFill>
              </a:rPr>
              <a:t>名鉄名古屋駅　</a:t>
            </a:r>
            <a:r>
              <a:rPr sz="1800">
                <a:solidFill>
                  <a:schemeClr val="bg2">
                    <a:lumMod val="50000"/>
                  </a:schemeClr>
                </a:solidFill>
              </a:rPr>
              <a:t>取組計画</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44EDEF3-5F82-A47A-BCEE-E6EA44217C62}"/>
              </a:ext>
            </a:extLst>
          </p:cNvPr>
          <p:cNvSpPr>
            <a:spLocks noGrp="1"/>
          </p:cNvSpPr>
          <p:nvPr/>
        </p:nvSpPr>
        <p:spPr>
          <a:xfrm>
            <a:off x="0" y="1"/>
            <a:ext cx="12192000" cy="9087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DA1E3CCA-3CE2-4EF4-BFE4-6B77DD98DA0A}"/>
              </a:ext>
            </a:extLst>
          </p:cNvPr>
          <p:cNvSpPr>
            <a:spLocks noGrp="1"/>
          </p:cNvSpPr>
          <p:nvPr>
            <p:ph type="title"/>
          </p:nvPr>
        </p:nvSpPr>
        <p:spPr>
          <a:xfrm>
            <a:off x="200345" y="1"/>
            <a:ext cx="10326470" cy="908719"/>
          </a:xfrm>
        </p:spPr>
        <p:txBody>
          <a:bodyPr/>
          <a:lstStyle>
            <a:lvl1pPr>
              <a:buNone/>
              <a:defRPr sz="2400">
                <a:solidFill>
                  <a:schemeClr val="bg1"/>
                </a:solidFill>
                <a:latin typeface="HGMinchoE"/>
                <a:ea typeface="HGMinchoE"/>
                <a:cs typeface="HGMinchoE"/>
              </a:defRPr>
            </a:lvl1pPr>
          </a:lstStyle>
          <a:p>
            <a:r>
              <a:t>マスター タイトルの書式設定</a:t>
            </a:r>
          </a:p>
        </p:txBody>
      </p:sp>
      <p:sp>
        <p:nvSpPr>
          <p:cNvPr id="3" name="Content Placeholder 2">
            <a:extLst>
              <a:ext uri="{FF2B5EF4-FFF2-40B4-BE49-F238E27FC236}">
                <a16:creationId xmlns:a16="http://schemas.microsoft.com/office/drawing/2014/main" id="{87D4FA2F-8A80-41C3-9F59-4C73C819572F}"/>
              </a:ext>
            </a:extLst>
          </p:cNvPr>
          <p:cNvSpPr>
            <a:spLocks noGrp="1"/>
          </p:cNvSpPr>
          <p:nvPr>
            <p:ph idx="1"/>
          </p:nvPr>
        </p:nvSpPr>
        <p:spPr>
          <a:xfrm>
            <a:off x="838200" y="1253331"/>
            <a:ext cx="10515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2EA041E9-C94D-4B63-BBAA-0B9F65B110DD}"/>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287330EF-AB4F-4F03-8F9C-0E6D2B9592BB}"/>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0BBF9B4E-8BDC-4E75-AAE6-DAE6C9DC1777}"/>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AF7F3-377B-475B-91B7-063425BBE96D}"/>
              </a:ext>
            </a:extLst>
          </p:cNvPr>
          <p:cNvSpPr>
            <a:spLocks noGrp="1"/>
          </p:cNvSpPr>
          <p:nvPr>
            <p:ph type="title"/>
          </p:nvPr>
        </p:nvSpPr>
        <p:spPr>
          <a:xfrm>
            <a:off x="831850" y="1709738"/>
            <a:ext cx="10515600" cy="2852737"/>
          </a:xfrm>
        </p:spPr>
        <p:txBody>
          <a:bodyPr anchor="b"/>
          <a:lstStyle>
            <a:lvl1pPr>
              <a:buNone/>
              <a:defRPr sz="6000"/>
            </a:lvl1pPr>
          </a:lstStyle>
          <a:p>
            <a:r>
              <a:t>マスター タイトルの書式設定</a:t>
            </a:r>
          </a:p>
        </p:txBody>
      </p:sp>
      <p:sp>
        <p:nvSpPr>
          <p:cNvPr id="3" name="Text Placeholder 2">
            <a:extLst>
              <a:ext uri="{FF2B5EF4-FFF2-40B4-BE49-F238E27FC236}">
                <a16:creationId xmlns:a16="http://schemas.microsoft.com/office/drawing/2014/main" id="{50E73A06-3141-48B6-A85B-CB93002ABA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a:buNone/>
            </a:pPr>
            <a:r>
              <a:t>マスター テキストの書式設定</a:t>
            </a:r>
          </a:p>
        </p:txBody>
      </p:sp>
      <p:sp>
        <p:nvSpPr>
          <p:cNvPr id="4" name="Date Placeholder 3">
            <a:extLst>
              <a:ext uri="{FF2B5EF4-FFF2-40B4-BE49-F238E27FC236}">
                <a16:creationId xmlns:a16="http://schemas.microsoft.com/office/drawing/2014/main" id="{B9F7F693-4881-4542-A0CE-9AA9D053ABE3}"/>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1DC2734C-C497-44EF-90F6-46E8EFB4883F}"/>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BEEC4A9B-F0E6-4FD5-9339-90855013E2C1}"/>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06F6E-3655-4748-A453-8930F3D83902}"/>
              </a:ext>
            </a:extLst>
          </p:cNvPr>
          <p:cNvSpPr>
            <a:spLocks noGrp="1"/>
          </p:cNvSpPr>
          <p:nvPr>
            <p:ph type="title"/>
          </p:nvPr>
        </p:nvSpPr>
        <p:spPr/>
        <p:txBody>
          <a:bodyPr/>
          <a:lstStyle/>
          <a:p>
            <a:r>
              <a:t>マスター タイトルの書式設定</a:t>
            </a:r>
          </a:p>
        </p:txBody>
      </p:sp>
      <p:sp>
        <p:nvSpPr>
          <p:cNvPr id="3" name="Content Placeholder 2">
            <a:extLst>
              <a:ext uri="{FF2B5EF4-FFF2-40B4-BE49-F238E27FC236}">
                <a16:creationId xmlns:a16="http://schemas.microsoft.com/office/drawing/2014/main" id="{BB727C32-D46B-4D07-AB2D-8DF1F1D41285}"/>
              </a:ext>
            </a:extLst>
          </p:cNvPr>
          <p:cNvSpPr>
            <a:spLocks noGrp="1"/>
          </p:cNvSpPr>
          <p:nvPr>
            <p:ph idx="1"/>
          </p:nvPr>
        </p:nvSpPr>
        <p:spPr>
          <a:xfrm>
            <a:off x="838200" y="1825625"/>
            <a:ext cx="5181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Content Placeholder 3">
            <a:extLst>
              <a:ext uri="{FF2B5EF4-FFF2-40B4-BE49-F238E27FC236}">
                <a16:creationId xmlns:a16="http://schemas.microsoft.com/office/drawing/2014/main" id="{6EF9CCD7-C78B-4429-A230-3159A6EC020B}"/>
              </a:ext>
            </a:extLst>
          </p:cNvPr>
          <p:cNvSpPr>
            <a:spLocks noGrp="1"/>
          </p:cNvSpPr>
          <p:nvPr>
            <p:ph idx="2"/>
          </p:nvPr>
        </p:nvSpPr>
        <p:spPr>
          <a:xfrm>
            <a:off x="6172200" y="1825625"/>
            <a:ext cx="5181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5" name="Date Placeholder 4">
            <a:extLst>
              <a:ext uri="{FF2B5EF4-FFF2-40B4-BE49-F238E27FC236}">
                <a16:creationId xmlns:a16="http://schemas.microsoft.com/office/drawing/2014/main" id="{36B516ED-1404-4EF0-82FE-5106E9919356}"/>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4F52E344-6EEF-402F-9845-3676F7F61512}"/>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29EFDA9F-D047-42EA-814B-EDC23052F2F2}"/>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03DD0-E642-476B-872F-E09CB857DC7C}"/>
              </a:ext>
            </a:extLst>
          </p:cNvPr>
          <p:cNvSpPr>
            <a:spLocks noGrp="1"/>
          </p:cNvSpPr>
          <p:nvPr>
            <p:ph type="title"/>
          </p:nvPr>
        </p:nvSpPr>
        <p:spPr>
          <a:xfrm>
            <a:off x="839788" y="365125"/>
            <a:ext cx="10515600" cy="1325563"/>
          </a:xfrm>
        </p:spPr>
        <p:txBody>
          <a:bodyPr/>
          <a:lstStyle/>
          <a:p>
            <a:r>
              <a:t>マスター タイトルの書式設定</a:t>
            </a:r>
          </a:p>
        </p:txBody>
      </p:sp>
      <p:sp>
        <p:nvSpPr>
          <p:cNvPr id="3" name="Text Placeholder 2">
            <a:extLst>
              <a:ext uri="{FF2B5EF4-FFF2-40B4-BE49-F238E27FC236}">
                <a16:creationId xmlns:a16="http://schemas.microsoft.com/office/drawing/2014/main" id="{2891B65A-99A7-4EA1-A222-682E206514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マスター テキストの書式設定</a:t>
            </a:r>
          </a:p>
        </p:txBody>
      </p:sp>
      <p:sp>
        <p:nvSpPr>
          <p:cNvPr id="4" name="Content Placeholder 3">
            <a:extLst>
              <a:ext uri="{FF2B5EF4-FFF2-40B4-BE49-F238E27FC236}">
                <a16:creationId xmlns:a16="http://schemas.microsoft.com/office/drawing/2014/main" id="{5D47DDF4-4110-4513-9553-9FDC19587D10}"/>
              </a:ext>
            </a:extLst>
          </p:cNvPr>
          <p:cNvSpPr>
            <a:spLocks noGrp="1"/>
          </p:cNvSpPr>
          <p:nvPr>
            <p:ph idx="2"/>
          </p:nvPr>
        </p:nvSpPr>
        <p:spPr>
          <a:xfrm>
            <a:off x="839788" y="2505075"/>
            <a:ext cx="5157787" cy="368458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5" name="Text Placeholder 4">
            <a:extLst>
              <a:ext uri="{FF2B5EF4-FFF2-40B4-BE49-F238E27FC236}">
                <a16:creationId xmlns:a16="http://schemas.microsoft.com/office/drawing/2014/main" id="{7668D606-2281-43EA-9BAD-4161F6D2D61E}"/>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マスター テキストの書式設定</a:t>
            </a:r>
          </a:p>
        </p:txBody>
      </p:sp>
      <p:sp>
        <p:nvSpPr>
          <p:cNvPr id="6" name="Content Placeholder 5">
            <a:extLst>
              <a:ext uri="{FF2B5EF4-FFF2-40B4-BE49-F238E27FC236}">
                <a16:creationId xmlns:a16="http://schemas.microsoft.com/office/drawing/2014/main" id="{9C202E1D-D386-4F1E-B6BD-2E2449666C77}"/>
              </a:ext>
            </a:extLst>
          </p:cNvPr>
          <p:cNvSpPr>
            <a:spLocks noGrp="1"/>
          </p:cNvSpPr>
          <p:nvPr>
            <p:ph idx="4"/>
          </p:nvPr>
        </p:nvSpPr>
        <p:spPr>
          <a:xfrm>
            <a:off x="6172200" y="2505075"/>
            <a:ext cx="5183188" cy="368458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7" name="Date Placeholder 6">
            <a:extLst>
              <a:ext uri="{FF2B5EF4-FFF2-40B4-BE49-F238E27FC236}">
                <a16:creationId xmlns:a16="http://schemas.microsoft.com/office/drawing/2014/main" id="{FB90A48D-D04A-4857-A71D-A3D0C1B1600E}"/>
              </a:ext>
            </a:extLst>
          </p:cNvPr>
          <p:cNvSpPr>
            <a:spLocks noGrp="1"/>
          </p:cNvSpPr>
          <p:nvPr>
            <p:ph type="dt" idx="10"/>
          </p:nvPr>
        </p:nvSpPr>
        <p:spPr/>
        <p:txBody>
          <a:bodyPr/>
          <a:lstStyle/>
          <a:p>
            <a:r>
              <a:t>2026/7</a:t>
            </a:r>
          </a:p>
        </p:txBody>
      </p:sp>
      <p:sp>
        <p:nvSpPr>
          <p:cNvPr id="8" name="Footer Placeholder 7">
            <a:extLst>
              <a:ext uri="{FF2B5EF4-FFF2-40B4-BE49-F238E27FC236}">
                <a16:creationId xmlns:a16="http://schemas.microsoft.com/office/drawing/2014/main" id="{BD6249F3-4443-45E3-A8C2-0290F8208D4B}"/>
              </a:ext>
            </a:extLst>
          </p:cNvPr>
          <p:cNvSpPr>
            <a:spLocks noGrp="1"/>
          </p:cNvSpPr>
          <p:nvPr>
            <p:ph type="ftr" idx="11"/>
          </p:nvPr>
        </p:nvSpPr>
        <p:spPr/>
        <p:txBody>
          <a:bodyPr/>
          <a:lstStyle/>
          <a:p>
            <a:r>
              <a:t>関本・中居研究室</a:t>
            </a:r>
          </a:p>
        </p:txBody>
      </p:sp>
      <p:sp>
        <p:nvSpPr>
          <p:cNvPr id="9" name="Slide Number Placeholder 8">
            <a:extLst>
              <a:ext uri="{FF2B5EF4-FFF2-40B4-BE49-F238E27FC236}">
                <a16:creationId xmlns:a16="http://schemas.microsoft.com/office/drawing/2014/main" id="{82BA9647-FFBF-4123-955A-CBA4F7BFD5EC}"/>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322B-481D-47DA-B7D6-0BDD07D77BF5}"/>
              </a:ext>
            </a:extLst>
          </p:cNvPr>
          <p:cNvSpPr>
            <a:spLocks noGrp="1"/>
          </p:cNvSpPr>
          <p:nvPr>
            <p:ph type="title"/>
          </p:nvPr>
        </p:nvSpPr>
        <p:spPr/>
        <p:txBody>
          <a:bodyPr/>
          <a:lstStyle/>
          <a:p>
            <a:r>
              <a:t>マスター タイトルの書式設定</a:t>
            </a:r>
          </a:p>
        </p:txBody>
      </p:sp>
      <p:sp>
        <p:nvSpPr>
          <p:cNvPr id="3" name="Date Placeholder 2">
            <a:extLst>
              <a:ext uri="{FF2B5EF4-FFF2-40B4-BE49-F238E27FC236}">
                <a16:creationId xmlns:a16="http://schemas.microsoft.com/office/drawing/2014/main" id="{1854686E-548C-416B-B0B5-081AF327D575}"/>
              </a:ext>
            </a:extLst>
          </p:cNvPr>
          <p:cNvSpPr>
            <a:spLocks noGrp="1"/>
          </p:cNvSpPr>
          <p:nvPr>
            <p:ph type="dt" idx="10"/>
          </p:nvPr>
        </p:nvSpPr>
        <p:spPr/>
        <p:txBody>
          <a:bodyPr/>
          <a:lstStyle/>
          <a:p>
            <a:r>
              <a:t>2026/7</a:t>
            </a:r>
          </a:p>
        </p:txBody>
      </p:sp>
      <p:sp>
        <p:nvSpPr>
          <p:cNvPr id="4" name="Footer Placeholder 3">
            <a:extLst>
              <a:ext uri="{FF2B5EF4-FFF2-40B4-BE49-F238E27FC236}">
                <a16:creationId xmlns:a16="http://schemas.microsoft.com/office/drawing/2014/main" id="{46931CEE-0658-466D-AF43-DAAB564DD98E}"/>
              </a:ext>
            </a:extLst>
          </p:cNvPr>
          <p:cNvSpPr>
            <a:spLocks noGrp="1"/>
          </p:cNvSpPr>
          <p:nvPr>
            <p:ph type="ftr" idx="11"/>
          </p:nvPr>
        </p:nvSpPr>
        <p:spPr/>
        <p:txBody>
          <a:bodyPr/>
          <a:lstStyle/>
          <a:p>
            <a:r>
              <a:t>関本・中居研究室</a:t>
            </a:r>
          </a:p>
        </p:txBody>
      </p:sp>
      <p:sp>
        <p:nvSpPr>
          <p:cNvPr id="5" name="Slide Number Placeholder 4">
            <a:extLst>
              <a:ext uri="{FF2B5EF4-FFF2-40B4-BE49-F238E27FC236}">
                <a16:creationId xmlns:a16="http://schemas.microsoft.com/office/drawing/2014/main" id="{41945100-E454-435E-8219-2C3DAC4D2D85}"/>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6623E9-4E44-413B-955F-3E0FF9C2B6DB}"/>
              </a:ext>
            </a:extLst>
          </p:cNvPr>
          <p:cNvSpPr>
            <a:spLocks noGrp="1"/>
          </p:cNvSpPr>
          <p:nvPr>
            <p:ph type="dt" idx="10"/>
          </p:nvPr>
        </p:nvSpPr>
        <p:spPr/>
        <p:txBody>
          <a:bodyPr/>
          <a:lstStyle/>
          <a:p>
            <a:r>
              <a:t>2026/7</a:t>
            </a:r>
          </a:p>
        </p:txBody>
      </p:sp>
      <p:sp>
        <p:nvSpPr>
          <p:cNvPr id="3" name="Footer Placeholder 2">
            <a:extLst>
              <a:ext uri="{FF2B5EF4-FFF2-40B4-BE49-F238E27FC236}">
                <a16:creationId xmlns:a16="http://schemas.microsoft.com/office/drawing/2014/main" id="{102589D5-2DBD-4E83-9876-681024BF0598}"/>
              </a:ext>
            </a:extLst>
          </p:cNvPr>
          <p:cNvSpPr>
            <a:spLocks noGrp="1"/>
          </p:cNvSpPr>
          <p:nvPr>
            <p:ph type="ftr" idx="11"/>
          </p:nvPr>
        </p:nvSpPr>
        <p:spPr/>
        <p:txBody>
          <a:bodyPr/>
          <a:lstStyle/>
          <a:p>
            <a:r>
              <a:t>関本・中居研究室</a:t>
            </a:r>
          </a:p>
        </p:txBody>
      </p:sp>
      <p:sp>
        <p:nvSpPr>
          <p:cNvPr id="4" name="Slide Number Placeholder 3">
            <a:extLst>
              <a:ext uri="{FF2B5EF4-FFF2-40B4-BE49-F238E27FC236}">
                <a16:creationId xmlns:a16="http://schemas.microsoft.com/office/drawing/2014/main" id="{90810C24-2CB2-4AC5-B789-140AF074A213}"/>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06B6-EA1E-4BA2-BE52-8C6AB9518569}"/>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Content Placeholder 2">
            <a:extLst>
              <a:ext uri="{FF2B5EF4-FFF2-40B4-BE49-F238E27FC236}">
                <a16:creationId xmlns:a16="http://schemas.microsoft.com/office/drawing/2014/main" id="{88A979AE-5C53-431A-B6E7-9B54FC1ED04D}"/>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Text Placeholder 3">
            <a:extLst>
              <a:ext uri="{FF2B5EF4-FFF2-40B4-BE49-F238E27FC236}">
                <a16:creationId xmlns:a16="http://schemas.microsoft.com/office/drawing/2014/main" id="{5FF83870-6770-45DD-864D-F017A14734E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マスター テキストの書式設定</a:t>
            </a:r>
          </a:p>
        </p:txBody>
      </p:sp>
      <p:sp>
        <p:nvSpPr>
          <p:cNvPr id="5" name="Date Placeholder 4">
            <a:extLst>
              <a:ext uri="{FF2B5EF4-FFF2-40B4-BE49-F238E27FC236}">
                <a16:creationId xmlns:a16="http://schemas.microsoft.com/office/drawing/2014/main" id="{99EC0FA4-175F-437E-9E81-CCDACEF0D6D2}"/>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114EACAE-EE30-431E-9CE0-DAA6DA536777}"/>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349AB41A-647F-496C-A49D-E23B2DED7CC5}"/>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4244B-E99F-4AC2-B099-9682354B432A}"/>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Picture Placeholder 2">
            <a:extLst>
              <a:ext uri="{FF2B5EF4-FFF2-40B4-BE49-F238E27FC236}">
                <a16:creationId xmlns:a16="http://schemas.microsoft.com/office/drawing/2014/main" id="{963A81B6-6650-43EB-BB80-C375C62C2914}"/>
              </a:ext>
            </a:extLst>
          </p:cNvPr>
          <p:cNvSpPr>
            <a:spLocks noGrp="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アイコンをクリックして図を追加</a:t>
            </a:r>
          </a:p>
        </p:txBody>
      </p:sp>
      <p:sp>
        <p:nvSpPr>
          <p:cNvPr id="4" name="Text Placeholder 3">
            <a:extLst>
              <a:ext uri="{FF2B5EF4-FFF2-40B4-BE49-F238E27FC236}">
                <a16:creationId xmlns:a16="http://schemas.microsoft.com/office/drawing/2014/main" id="{EAC36610-C1E4-49AF-9BFC-6D4157EAC10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マスター テキストの書式設定</a:t>
            </a:r>
          </a:p>
        </p:txBody>
      </p:sp>
      <p:sp>
        <p:nvSpPr>
          <p:cNvPr id="5" name="Date Placeholder 4">
            <a:extLst>
              <a:ext uri="{FF2B5EF4-FFF2-40B4-BE49-F238E27FC236}">
                <a16:creationId xmlns:a16="http://schemas.microsoft.com/office/drawing/2014/main" id="{97F4E133-A85B-4961-9121-704167E5B808}"/>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7D5D966E-55B1-4A84-B9BF-9AEB608FD361}"/>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E22389C8-A8EB-43B6-8B92-8E02CC63EE52}"/>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01D9-F485-45CE-87D1-876B7795C8F0}"/>
              </a:ext>
            </a:extLst>
          </p:cNvPr>
          <p:cNvSpPr>
            <a:spLocks noGrp="1"/>
          </p:cNvSpPr>
          <p:nvPr>
            <p:ph type="title"/>
          </p:nvPr>
        </p:nvSpPr>
        <p:spPr/>
        <p:txBody>
          <a:bodyPr/>
          <a:lstStyle/>
          <a:p>
            <a:r>
              <a:t>マスター タイトルの書式設定</a:t>
            </a:r>
          </a:p>
        </p:txBody>
      </p:sp>
      <p:sp>
        <p:nvSpPr>
          <p:cNvPr id="3" name="Vertical Text Placeholder 2">
            <a:extLst>
              <a:ext uri="{FF2B5EF4-FFF2-40B4-BE49-F238E27FC236}">
                <a16:creationId xmlns:a16="http://schemas.microsoft.com/office/drawing/2014/main" id="{02254D58-BE4F-493D-98C5-10197B975F6B}"/>
              </a:ext>
            </a:extLst>
          </p:cNvPr>
          <p:cNvSpPr>
            <a:spLocks noGrp="1"/>
          </p:cNvSpPr>
          <p:nvPr>
            <p:ph type="body" idx="1"/>
          </p:nvPr>
        </p:nvSpPr>
        <p:spPr/>
        <p:txBody>
          <a:bodyPr vert="eaVert"/>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CB62F91B-685F-4019-B664-2D6F8918AEF8}"/>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B30F2381-605F-4E62-B860-7CAE72BEB046}"/>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4F32440B-13F8-43EB-B94E-B46B4E3D4884}"/>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66B44E-FEE5-48D1-B2FB-9E0E6BDB4298}"/>
              </a:ext>
            </a:extLst>
          </p:cNvPr>
          <p:cNvSpPr>
            <a:spLocks noGrp="1"/>
          </p:cNvSpPr>
          <p:nvPr>
            <p:ph type="title"/>
          </p:nvPr>
        </p:nvSpPr>
        <p:spPr>
          <a:xfrm>
            <a:off x="8724900" y="365125"/>
            <a:ext cx="2628900" cy="5811838"/>
          </a:xfrm>
        </p:spPr>
        <p:txBody>
          <a:bodyPr vert="eaVert"/>
          <a:lstStyle/>
          <a:p>
            <a:r>
              <a:t>マスター タイトルの書式設定</a:t>
            </a:r>
          </a:p>
        </p:txBody>
      </p:sp>
      <p:sp>
        <p:nvSpPr>
          <p:cNvPr id="3" name="Vertical Text Placeholder 2">
            <a:extLst>
              <a:ext uri="{FF2B5EF4-FFF2-40B4-BE49-F238E27FC236}">
                <a16:creationId xmlns:a16="http://schemas.microsoft.com/office/drawing/2014/main" id="{A64556AC-3DA3-4710-B807-44BA00E3A34D}"/>
              </a:ext>
            </a:extLst>
          </p:cNvPr>
          <p:cNvSpPr>
            <a:spLocks noGrp="1"/>
          </p:cNvSpPr>
          <p:nvPr>
            <p:ph type="body" idx="1"/>
          </p:nvPr>
        </p:nvSpPr>
        <p:spPr>
          <a:xfrm>
            <a:off x="838200" y="365125"/>
            <a:ext cx="7734300" cy="5811838"/>
          </a:xfrm>
        </p:spPr>
        <p:txBody>
          <a:bodyPr vert="eaVert"/>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E4CB5CF4-76FC-4853-92D8-F85E32F658F6}"/>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FDE59F42-5E58-4864-AEE7-FC380CBB6596}"/>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01C118CC-2896-49A8-9726-5B00656C0ABD}"/>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B393A8-A998-4454-9BA1-BFD181C693A2}"/>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マスター タイトルの書式設定</a:t>
            </a:r>
          </a:p>
        </p:txBody>
      </p:sp>
      <p:sp>
        <p:nvSpPr>
          <p:cNvPr id="3" name="Text Placeholder 2">
            <a:extLst>
              <a:ext uri="{FF2B5EF4-FFF2-40B4-BE49-F238E27FC236}">
                <a16:creationId xmlns:a16="http://schemas.microsoft.com/office/drawing/2014/main" id="{AE372BF0-6647-47D2-B9AA-AC5A00DE359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8F2B3B02-7345-4A51-AA40-AF7DD2FFC21A}"/>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r>
              <a:t>2026/7</a:t>
            </a:r>
          </a:p>
        </p:txBody>
      </p:sp>
      <p:sp>
        <p:nvSpPr>
          <p:cNvPr id="5" name="Footer Placeholder 4">
            <a:extLst>
              <a:ext uri="{FF2B5EF4-FFF2-40B4-BE49-F238E27FC236}">
                <a16:creationId xmlns:a16="http://schemas.microsoft.com/office/drawing/2014/main" id="{998EC7DB-3D6E-4E0D-9CDC-795F99ABA397}"/>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r>
              <a:t>関本・中居研究室</a:t>
            </a:r>
          </a:p>
        </p:txBody>
      </p:sp>
      <p:sp>
        <p:nvSpPr>
          <p:cNvPr id="6" name="Slide Number Placeholder 5">
            <a:extLst>
              <a:ext uri="{FF2B5EF4-FFF2-40B4-BE49-F238E27FC236}">
                <a16:creationId xmlns:a16="http://schemas.microsoft.com/office/drawing/2014/main" id="{04B37C9F-FF12-45FE-A77A-2E247A44814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b="1">
                <a:solidFill>
                  <a:schemeClr val="tx1">
                    <a:tint val="82000"/>
                  </a:schemeClr>
                </a:solidFill>
              </a:defRPr>
            </a:lvl1pPr>
          </a:lstStyle>
          <a:p>
            <a:fld id="{6539E37A-E522-3D47-AAB7-DDF67C94A05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a:lnSpc>
          <a:spcPct val="90000"/>
        </a:lnSpc>
        <a:buNone/>
        <a:defRPr sz="2800">
          <a:solidFill>
            <a:schemeClr val="tx1"/>
          </a:solidFill>
          <a:latin typeface="+mj-lt"/>
          <a:ea typeface="+mj-lt"/>
          <a:cs typeface="+mj-lt"/>
        </a:defRPr>
      </a:lvl1pPr>
    </p:titleStyle>
    <p:body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B55DF-5A51-4866-F273-38E181C764D2}"/>
              </a:ext>
            </a:extLst>
          </p:cNvPr>
          <p:cNvSpPr>
            <a:spLocks noGrp="1"/>
          </p:cNvSpPr>
          <p:nvPr>
            <p:ph type="ctrTitle"/>
          </p:nvPr>
        </p:nvSpPr>
        <p:spPr>
          <a:xfrm>
            <a:off x="830414" y="1943835"/>
            <a:ext cx="7785865" cy="1665185"/>
          </a:xfrm>
        </p:spPr>
        <p:txBody>
          <a:bodyPr anchor="t">
            <a:noAutofit/>
          </a:bodyPr>
          <a:lstStyle/>
          <a:p>
            <a:pPr algn="l"/>
            <a:r>
              <a:rPr lang="ja-JP" altLang="ja-JP" sz="3200" b="1"/>
              <a:t>開発計画に応じた施設来訪人口・属性の推定手法の検討</a:t>
            </a:r>
            <a:br>
              <a:rPr lang="ja-JP" altLang="ja-JP" sz="3200"/>
            </a:br>
            <a:r>
              <a:rPr lang="en-US" altLang="ja-JP" sz="3200"/>
              <a:t>〜</a:t>
            </a:r>
            <a:r>
              <a:rPr lang="ja-JP" altLang="en-US" sz="3200"/>
              <a:t>名鉄名古屋を題材に</a:t>
            </a:r>
            <a:endParaRPr sz="3200"/>
          </a:p>
        </p:txBody>
      </p:sp>
    </p:spTree>
    <p:extLst>
      <p:ext uri="{BB962C8B-B14F-4D97-AF65-F5344CB8AC3E}">
        <p14:creationId xmlns:p14="http://schemas.microsoft.com/office/powerpoint/2010/main" val="3625556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498965-22ED-1CE9-9830-B7375A7A919B}"/>
              </a:ext>
            </a:extLst>
          </p:cNvPr>
          <p:cNvSpPr>
            <a:spLocks noGrp="1"/>
          </p:cNvSpPr>
          <p:nvPr>
            <p:ph type="title"/>
          </p:nvPr>
        </p:nvSpPr>
        <p:spPr/>
        <p:txBody>
          <a:bodyPr/>
          <a:lstStyle/>
          <a:p>
            <a:r>
              <a:rPr kumimoji="1" lang="ja-JP" altLang="en-US"/>
              <a:t>提案手法</a:t>
            </a:r>
          </a:p>
        </p:txBody>
      </p:sp>
      <p:sp>
        <p:nvSpPr>
          <p:cNvPr id="4" name="日付プレースホルダー 3">
            <a:extLst>
              <a:ext uri="{FF2B5EF4-FFF2-40B4-BE49-F238E27FC236}">
                <a16:creationId xmlns:a16="http://schemas.microsoft.com/office/drawing/2014/main" id="{3EEA8C66-6C6F-B508-D8B7-8B9DE9338AB2}"/>
              </a:ext>
            </a:extLst>
          </p:cNvPr>
          <p:cNvSpPr>
            <a:spLocks noGrp="1"/>
          </p:cNvSpPr>
          <p:nvPr>
            <p:ph type="dt" idx="10"/>
          </p:nvPr>
        </p:nvSpPr>
        <p:spPr/>
        <p:txBody>
          <a:bodyPr/>
          <a:lstStyle/>
          <a:p>
            <a:r>
              <a:rPr lang="en-US" altLang="ja-JP"/>
              <a:t>2026/7</a:t>
            </a:r>
          </a:p>
        </p:txBody>
      </p:sp>
      <p:sp>
        <p:nvSpPr>
          <p:cNvPr id="5" name="フッター プレースホルダー 4">
            <a:extLst>
              <a:ext uri="{FF2B5EF4-FFF2-40B4-BE49-F238E27FC236}">
                <a16:creationId xmlns:a16="http://schemas.microsoft.com/office/drawing/2014/main" id="{AFB27C6C-84BC-1D70-10C6-BF939A2A7220}"/>
              </a:ext>
            </a:extLst>
          </p:cNvPr>
          <p:cNvSpPr>
            <a:spLocks noGrp="1"/>
          </p:cNvSpPr>
          <p:nvPr>
            <p:ph type="ftr" idx="11"/>
          </p:nvPr>
        </p:nvSpPr>
        <p:spPr/>
        <p:txBody>
          <a:bodyPr/>
          <a:lstStyle/>
          <a:p>
            <a:r>
              <a:rPr lang="ja-JP" altLang="en-US"/>
              <a:t>関本・中居研究室</a:t>
            </a:r>
          </a:p>
        </p:txBody>
      </p:sp>
      <p:sp>
        <p:nvSpPr>
          <p:cNvPr id="6" name="スライド番号プレースホルダー 5">
            <a:extLst>
              <a:ext uri="{FF2B5EF4-FFF2-40B4-BE49-F238E27FC236}">
                <a16:creationId xmlns:a16="http://schemas.microsoft.com/office/drawing/2014/main" id="{0B9CA766-F943-C460-4F94-4344D20AFA8C}"/>
              </a:ext>
            </a:extLst>
          </p:cNvPr>
          <p:cNvSpPr>
            <a:spLocks noGrp="1"/>
          </p:cNvSpPr>
          <p:nvPr>
            <p:ph type="sldNum" idx="12"/>
          </p:nvPr>
        </p:nvSpPr>
        <p:spPr/>
        <p:txBody>
          <a:bodyPr/>
          <a:lstStyle/>
          <a:p>
            <a:fld id="{6539E37A-E522-3D47-AAB7-DDF67C94A05D}" type="slidenum">
              <a:rPr lang="en-US" altLang="ja-JP"/>
              <a:t>2</a:t>
            </a:fld>
            <a:endParaRPr lang="ja-JP" altLang="en-US"/>
          </a:p>
        </p:txBody>
      </p:sp>
      <p:sp>
        <p:nvSpPr>
          <p:cNvPr id="7" name="テキスト ボックス 6">
            <a:extLst>
              <a:ext uri="{FF2B5EF4-FFF2-40B4-BE49-F238E27FC236}">
                <a16:creationId xmlns:a16="http://schemas.microsoft.com/office/drawing/2014/main" id="{650E1331-3401-277F-F34B-FEA459878703}"/>
              </a:ext>
            </a:extLst>
          </p:cNvPr>
          <p:cNvSpPr txBox="1"/>
          <p:nvPr/>
        </p:nvSpPr>
        <p:spPr>
          <a:xfrm>
            <a:off x="1090845" y="3796371"/>
            <a:ext cx="1107996" cy="369332"/>
          </a:xfrm>
          <a:prstGeom prst="rect">
            <a:avLst/>
          </a:prstGeom>
          <a:noFill/>
        </p:spPr>
        <p:txBody>
          <a:bodyPr wrap="none" rtlCol="0">
            <a:spAutoFit/>
          </a:bodyPr>
          <a:lstStyle/>
          <a:p>
            <a:r>
              <a:rPr kumimoji="1" lang="ja-JP" altLang="en-US"/>
              <a:t>開発計画</a:t>
            </a:r>
          </a:p>
        </p:txBody>
      </p:sp>
      <p:sp>
        <p:nvSpPr>
          <p:cNvPr id="9" name="テキスト ボックス 8">
            <a:extLst>
              <a:ext uri="{FF2B5EF4-FFF2-40B4-BE49-F238E27FC236}">
                <a16:creationId xmlns:a16="http://schemas.microsoft.com/office/drawing/2014/main" id="{4DA2D11F-F3F2-92D8-F2F9-23185C63D071}"/>
              </a:ext>
            </a:extLst>
          </p:cNvPr>
          <p:cNvSpPr txBox="1"/>
          <p:nvPr/>
        </p:nvSpPr>
        <p:spPr>
          <a:xfrm>
            <a:off x="2513817" y="3796371"/>
            <a:ext cx="1800493" cy="369332"/>
          </a:xfrm>
          <a:prstGeom prst="rect">
            <a:avLst/>
          </a:prstGeom>
          <a:noFill/>
        </p:spPr>
        <p:txBody>
          <a:bodyPr wrap="none" rtlCol="0">
            <a:spAutoFit/>
          </a:bodyPr>
          <a:lstStyle/>
          <a:p>
            <a:r>
              <a:rPr kumimoji="1" lang="ja-JP" altLang="en-US"/>
              <a:t>用途別延床面積</a:t>
            </a:r>
          </a:p>
        </p:txBody>
      </p:sp>
      <p:cxnSp>
        <p:nvCxnSpPr>
          <p:cNvPr id="11" name="直線矢印コネクタ 10">
            <a:extLst>
              <a:ext uri="{FF2B5EF4-FFF2-40B4-BE49-F238E27FC236}">
                <a16:creationId xmlns:a16="http://schemas.microsoft.com/office/drawing/2014/main" id="{0CAE60AC-0D2D-8E54-A2C1-E2BA06795F06}"/>
              </a:ext>
            </a:extLst>
          </p:cNvPr>
          <p:cNvCxnSpPr>
            <a:cxnSpLocks/>
            <a:stCxn id="7" idx="3"/>
            <a:endCxn id="9" idx="1"/>
          </p:cNvCxnSpPr>
          <p:nvPr/>
        </p:nvCxnSpPr>
        <p:spPr>
          <a:xfrm>
            <a:off x="2198841" y="3981037"/>
            <a:ext cx="3149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6DC9ED35-4811-EA50-6DB0-FCCFF845F301}"/>
              </a:ext>
            </a:extLst>
          </p:cNvPr>
          <p:cNvSpPr txBox="1"/>
          <p:nvPr/>
        </p:nvSpPr>
        <p:spPr>
          <a:xfrm>
            <a:off x="4606763" y="3796371"/>
            <a:ext cx="1800493" cy="369332"/>
          </a:xfrm>
          <a:prstGeom prst="rect">
            <a:avLst/>
          </a:prstGeom>
          <a:noFill/>
        </p:spPr>
        <p:txBody>
          <a:bodyPr wrap="square" rtlCol="0">
            <a:spAutoFit/>
          </a:bodyPr>
          <a:lstStyle/>
          <a:p>
            <a:r>
              <a:rPr kumimoji="1" lang="ja-JP" altLang="en-US"/>
              <a:t>発生集中原単位</a:t>
            </a:r>
          </a:p>
        </p:txBody>
      </p:sp>
      <p:cxnSp>
        <p:nvCxnSpPr>
          <p:cNvPr id="16" name="直線矢印コネクタ 15">
            <a:extLst>
              <a:ext uri="{FF2B5EF4-FFF2-40B4-BE49-F238E27FC236}">
                <a16:creationId xmlns:a16="http://schemas.microsoft.com/office/drawing/2014/main" id="{51179887-D04E-B257-B932-9C3AC81D7890}"/>
              </a:ext>
            </a:extLst>
          </p:cNvPr>
          <p:cNvCxnSpPr>
            <a:cxnSpLocks/>
            <a:stCxn id="9" idx="3"/>
            <a:endCxn id="15" idx="1"/>
          </p:cNvCxnSpPr>
          <p:nvPr/>
        </p:nvCxnSpPr>
        <p:spPr>
          <a:xfrm>
            <a:off x="4314310" y="3981037"/>
            <a:ext cx="2924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21D231F7-670D-E57C-3D13-44E1CE4E8DC3}"/>
              </a:ext>
            </a:extLst>
          </p:cNvPr>
          <p:cNvSpPr txBox="1"/>
          <p:nvPr/>
        </p:nvSpPr>
        <p:spPr>
          <a:xfrm>
            <a:off x="1923365" y="4611662"/>
            <a:ext cx="5032147"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kumimoji="1" lang="en-US" altLang="ja-JP"/>
              <a:t>①</a:t>
            </a:r>
            <a:r>
              <a:rPr kumimoji="1" lang="ja-JP" altLang="en-US"/>
              <a:t>「</a:t>
            </a:r>
            <a:r>
              <a:rPr lang="ja-JP" altLang="ja-JP"/>
              <a:t>大規模開発地区関連交通計画マニュアル</a:t>
            </a:r>
            <a:r>
              <a:rPr lang="ja-JP" altLang="en-US"/>
              <a:t>」</a:t>
            </a:r>
            <a:endParaRPr lang="en-US" altLang="ja-JP"/>
          </a:p>
          <a:p>
            <a:r>
              <a:rPr kumimoji="1" lang="ja-JP" altLang="en-US"/>
              <a:t>（国土交通省）の利用</a:t>
            </a:r>
            <a:endParaRPr lang="en-US" altLang="ja-JP"/>
          </a:p>
        </p:txBody>
      </p:sp>
      <p:cxnSp>
        <p:nvCxnSpPr>
          <p:cNvPr id="21" name="直線矢印コネクタ 20">
            <a:extLst>
              <a:ext uri="{FF2B5EF4-FFF2-40B4-BE49-F238E27FC236}">
                <a16:creationId xmlns:a16="http://schemas.microsoft.com/office/drawing/2014/main" id="{66A7CB87-43B2-742A-2669-C492E360A8CB}"/>
              </a:ext>
            </a:extLst>
          </p:cNvPr>
          <p:cNvCxnSpPr>
            <a:cxnSpLocks/>
            <a:stCxn id="20" idx="0"/>
          </p:cNvCxnSpPr>
          <p:nvPr/>
        </p:nvCxnSpPr>
        <p:spPr>
          <a:xfrm flipH="1" flipV="1">
            <a:off x="4439438" y="4250196"/>
            <a:ext cx="1" cy="361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556688E1-D227-0332-9B53-EF5CB78E12CF}"/>
              </a:ext>
            </a:extLst>
          </p:cNvPr>
          <p:cNvSpPr txBox="1"/>
          <p:nvPr/>
        </p:nvSpPr>
        <p:spPr>
          <a:xfrm>
            <a:off x="6699709" y="3796371"/>
            <a:ext cx="1800493" cy="369332"/>
          </a:xfrm>
          <a:prstGeom prst="rect">
            <a:avLst/>
          </a:prstGeom>
          <a:noFill/>
        </p:spPr>
        <p:txBody>
          <a:bodyPr wrap="square" rtlCol="0">
            <a:spAutoFit/>
          </a:bodyPr>
          <a:lstStyle/>
          <a:p>
            <a:r>
              <a:rPr kumimoji="1" lang="ja-JP" altLang="en-US"/>
              <a:t>属性の割り振り</a:t>
            </a:r>
          </a:p>
        </p:txBody>
      </p:sp>
      <p:cxnSp>
        <p:nvCxnSpPr>
          <p:cNvPr id="28" name="直線矢印コネクタ 27">
            <a:extLst>
              <a:ext uri="{FF2B5EF4-FFF2-40B4-BE49-F238E27FC236}">
                <a16:creationId xmlns:a16="http://schemas.microsoft.com/office/drawing/2014/main" id="{BAFCBCFB-CE87-A4D3-81E0-A65722950944}"/>
              </a:ext>
            </a:extLst>
          </p:cNvPr>
          <p:cNvCxnSpPr>
            <a:cxnSpLocks/>
            <a:stCxn id="15" idx="3"/>
            <a:endCxn id="27" idx="1"/>
          </p:cNvCxnSpPr>
          <p:nvPr/>
        </p:nvCxnSpPr>
        <p:spPr>
          <a:xfrm>
            <a:off x="6407256" y="3981037"/>
            <a:ext cx="2924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E42E2763-0A4B-6922-0283-4520DCCEBB51}"/>
              </a:ext>
            </a:extLst>
          </p:cNvPr>
          <p:cNvSpPr txBox="1"/>
          <p:nvPr/>
        </p:nvSpPr>
        <p:spPr>
          <a:xfrm>
            <a:off x="8792655" y="3796371"/>
            <a:ext cx="2041696" cy="369332"/>
          </a:xfrm>
          <a:prstGeom prst="rect">
            <a:avLst/>
          </a:prstGeom>
          <a:noFill/>
        </p:spPr>
        <p:txBody>
          <a:bodyPr wrap="square" rtlCol="0">
            <a:spAutoFit/>
          </a:bodyPr>
          <a:lstStyle/>
          <a:p>
            <a:r>
              <a:rPr kumimoji="1" lang="en-US" altLang="ja-JP"/>
              <a:t>OD</a:t>
            </a:r>
            <a:r>
              <a:rPr kumimoji="1" lang="ja-JP" altLang="en-US"/>
              <a:t>データの変更</a:t>
            </a:r>
          </a:p>
        </p:txBody>
      </p:sp>
      <p:cxnSp>
        <p:nvCxnSpPr>
          <p:cNvPr id="30" name="直線矢印コネクタ 29">
            <a:extLst>
              <a:ext uri="{FF2B5EF4-FFF2-40B4-BE49-F238E27FC236}">
                <a16:creationId xmlns:a16="http://schemas.microsoft.com/office/drawing/2014/main" id="{DDDD68B3-863E-E098-8C79-42276ADA7D84}"/>
              </a:ext>
            </a:extLst>
          </p:cNvPr>
          <p:cNvCxnSpPr>
            <a:cxnSpLocks/>
            <a:stCxn id="27" idx="3"/>
            <a:endCxn id="29" idx="1"/>
          </p:cNvCxnSpPr>
          <p:nvPr/>
        </p:nvCxnSpPr>
        <p:spPr>
          <a:xfrm>
            <a:off x="8500202" y="3981037"/>
            <a:ext cx="2924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3ABC3B08-6BA1-76DB-EA05-3D72E33166BE}"/>
              </a:ext>
            </a:extLst>
          </p:cNvPr>
          <p:cNvSpPr txBox="1"/>
          <p:nvPr/>
        </p:nvSpPr>
        <p:spPr>
          <a:xfrm>
            <a:off x="4038600" y="2782669"/>
            <a:ext cx="5032147"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kumimoji="1" lang="en-US" altLang="ja-JP"/>
              <a:t>②</a:t>
            </a:r>
            <a:r>
              <a:rPr kumimoji="1" lang="ja-JP" altLang="en-US"/>
              <a:t>「</a:t>
            </a:r>
            <a:r>
              <a:rPr lang="ja-JP" altLang="en-US"/>
              <a:t>中京都市圏</a:t>
            </a:r>
            <a:r>
              <a:rPr lang="en" altLang="ja-JP"/>
              <a:t>PT</a:t>
            </a:r>
            <a:r>
              <a:rPr lang="ja-JP" altLang="en-US"/>
              <a:t>調査」</a:t>
            </a:r>
            <a:endParaRPr lang="en-US" altLang="ja-JP"/>
          </a:p>
          <a:p>
            <a:r>
              <a:rPr kumimoji="1" lang="ja-JP" altLang="en-US"/>
              <a:t>（</a:t>
            </a:r>
            <a:r>
              <a:rPr lang="ja-JP" altLang="ja-JP"/>
              <a:t>中京都市圏総合都市交通計画協議会</a:t>
            </a:r>
            <a:r>
              <a:rPr kumimoji="1" lang="ja-JP" altLang="en-US"/>
              <a:t>）の利用</a:t>
            </a:r>
            <a:endParaRPr lang="en-US" altLang="ja-JP"/>
          </a:p>
        </p:txBody>
      </p:sp>
      <p:cxnSp>
        <p:nvCxnSpPr>
          <p:cNvPr id="35" name="直線矢印コネクタ 34">
            <a:extLst>
              <a:ext uri="{FF2B5EF4-FFF2-40B4-BE49-F238E27FC236}">
                <a16:creationId xmlns:a16="http://schemas.microsoft.com/office/drawing/2014/main" id="{4C783DEA-6505-8AEC-8983-D5E4BC95A1F2}"/>
              </a:ext>
            </a:extLst>
          </p:cNvPr>
          <p:cNvCxnSpPr>
            <a:cxnSpLocks/>
            <a:stCxn id="34" idx="2"/>
          </p:cNvCxnSpPr>
          <p:nvPr/>
        </p:nvCxnSpPr>
        <p:spPr>
          <a:xfrm>
            <a:off x="6554674" y="3429000"/>
            <a:ext cx="0" cy="361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20AFBEF0-DF21-85B0-347E-D577DB7E6196}"/>
              </a:ext>
            </a:extLst>
          </p:cNvPr>
          <p:cNvSpPr txBox="1"/>
          <p:nvPr/>
        </p:nvSpPr>
        <p:spPr>
          <a:xfrm>
            <a:off x="553453" y="1287379"/>
            <a:ext cx="10326470" cy="646331"/>
          </a:xfrm>
          <a:prstGeom prst="rect">
            <a:avLst/>
          </a:prstGeom>
          <a:noFill/>
        </p:spPr>
        <p:txBody>
          <a:bodyPr wrap="square" rtlCol="0">
            <a:spAutoFit/>
          </a:bodyPr>
          <a:lstStyle/>
          <a:p>
            <a:r>
              <a:rPr lang="ja-JP" altLang="ja-JP"/>
              <a:t>用途別延床面積から施設来訪者数を推定し、統計データに基づく年齢・性別分布を付与することで、施設の特性を考慮したODデータを生成・更新する手法を提案する。</a:t>
            </a:r>
            <a:endParaRPr kumimoji="1" lang="en-US" altLang="ja-JP"/>
          </a:p>
        </p:txBody>
      </p:sp>
      <p:cxnSp>
        <p:nvCxnSpPr>
          <p:cNvPr id="41" name="直線コネクタ 40">
            <a:extLst>
              <a:ext uri="{FF2B5EF4-FFF2-40B4-BE49-F238E27FC236}">
                <a16:creationId xmlns:a16="http://schemas.microsoft.com/office/drawing/2014/main" id="{181DB8DE-4F16-BC71-D0A9-A3790137D0AD}"/>
              </a:ext>
            </a:extLst>
          </p:cNvPr>
          <p:cNvCxnSpPr>
            <a:cxnSpLocks/>
          </p:cNvCxnSpPr>
          <p:nvPr/>
        </p:nvCxnSpPr>
        <p:spPr>
          <a:xfrm>
            <a:off x="553453" y="1933710"/>
            <a:ext cx="10326470"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71563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5E0715-403D-E41D-8AFB-542F216206FA}"/>
              </a:ext>
            </a:extLst>
          </p:cNvPr>
          <p:cNvSpPr>
            <a:spLocks noGrp="1"/>
          </p:cNvSpPr>
          <p:nvPr>
            <p:ph type="title"/>
          </p:nvPr>
        </p:nvSpPr>
        <p:spPr/>
        <p:txBody>
          <a:bodyPr/>
          <a:lstStyle/>
          <a:p>
            <a:r>
              <a:rPr kumimoji="1" lang="ja-JP" altLang="en-US"/>
              <a:t>提案手法　</a:t>
            </a:r>
            <a:r>
              <a:rPr kumimoji="1" lang="en-US" altLang="ja-JP"/>
              <a:t>①</a:t>
            </a:r>
            <a:r>
              <a:rPr kumimoji="1" lang="ja-JP" altLang="en-US"/>
              <a:t>発生集中原単位の予測</a:t>
            </a:r>
          </a:p>
        </p:txBody>
      </p:sp>
      <p:sp>
        <p:nvSpPr>
          <p:cNvPr id="4" name="日付プレースホルダー 3">
            <a:extLst>
              <a:ext uri="{FF2B5EF4-FFF2-40B4-BE49-F238E27FC236}">
                <a16:creationId xmlns:a16="http://schemas.microsoft.com/office/drawing/2014/main" id="{E8DFEB05-44FC-09F8-7D7B-30EA9D43CF64}"/>
              </a:ext>
            </a:extLst>
          </p:cNvPr>
          <p:cNvSpPr>
            <a:spLocks noGrp="1"/>
          </p:cNvSpPr>
          <p:nvPr>
            <p:ph type="dt" idx="10"/>
          </p:nvPr>
        </p:nvSpPr>
        <p:spPr/>
        <p:txBody>
          <a:bodyPr/>
          <a:lstStyle/>
          <a:p>
            <a:r>
              <a:rPr lang="en-US" altLang="ja-JP"/>
              <a:t>2026/7</a:t>
            </a:r>
          </a:p>
        </p:txBody>
      </p:sp>
      <p:sp>
        <p:nvSpPr>
          <p:cNvPr id="5" name="フッター プレースホルダー 4">
            <a:extLst>
              <a:ext uri="{FF2B5EF4-FFF2-40B4-BE49-F238E27FC236}">
                <a16:creationId xmlns:a16="http://schemas.microsoft.com/office/drawing/2014/main" id="{0241FDA2-637D-548D-3F92-C9EF5C04AE1F}"/>
              </a:ext>
            </a:extLst>
          </p:cNvPr>
          <p:cNvSpPr>
            <a:spLocks noGrp="1"/>
          </p:cNvSpPr>
          <p:nvPr>
            <p:ph type="ftr" idx="11"/>
          </p:nvPr>
        </p:nvSpPr>
        <p:spPr/>
        <p:txBody>
          <a:bodyPr/>
          <a:lstStyle/>
          <a:p>
            <a:r>
              <a:rPr lang="ja-JP" altLang="en-US"/>
              <a:t>関本・中居研究室</a:t>
            </a:r>
          </a:p>
        </p:txBody>
      </p:sp>
      <p:sp>
        <p:nvSpPr>
          <p:cNvPr id="6" name="スライド番号プレースホルダー 5">
            <a:extLst>
              <a:ext uri="{FF2B5EF4-FFF2-40B4-BE49-F238E27FC236}">
                <a16:creationId xmlns:a16="http://schemas.microsoft.com/office/drawing/2014/main" id="{4EB09777-329C-3385-6195-14CFDB4B1D02}"/>
              </a:ext>
            </a:extLst>
          </p:cNvPr>
          <p:cNvSpPr>
            <a:spLocks noGrp="1"/>
          </p:cNvSpPr>
          <p:nvPr>
            <p:ph type="sldNum" idx="12"/>
          </p:nvPr>
        </p:nvSpPr>
        <p:spPr/>
        <p:txBody>
          <a:bodyPr/>
          <a:lstStyle/>
          <a:p>
            <a:fld id="{6539E37A-E522-3D47-AAB7-DDF67C94A05D}" type="slidenum">
              <a:rPr lang="en-US" altLang="ja-JP"/>
              <a:t>3</a:t>
            </a:fld>
            <a:endParaRPr lang="ja-JP" altLang="en-US"/>
          </a:p>
        </p:txBody>
      </p:sp>
      <p:sp>
        <p:nvSpPr>
          <p:cNvPr id="7" name="テキスト ボックス 6">
            <a:extLst>
              <a:ext uri="{FF2B5EF4-FFF2-40B4-BE49-F238E27FC236}">
                <a16:creationId xmlns:a16="http://schemas.microsoft.com/office/drawing/2014/main" id="{5D64E90E-7E81-4ACA-1320-75F72C286EBF}"/>
              </a:ext>
            </a:extLst>
          </p:cNvPr>
          <p:cNvSpPr txBox="1"/>
          <p:nvPr/>
        </p:nvSpPr>
        <p:spPr>
          <a:xfrm>
            <a:off x="200345" y="1178750"/>
            <a:ext cx="7740860" cy="2031325"/>
          </a:xfrm>
          <a:prstGeom prst="rect">
            <a:avLst/>
          </a:prstGeom>
          <a:noFill/>
        </p:spPr>
        <p:txBody>
          <a:bodyPr wrap="square" rtlCol="0">
            <a:spAutoFit/>
          </a:bodyPr>
          <a:lstStyle/>
          <a:p>
            <a:r>
              <a:rPr lang="ja-JP" altLang="ja-JP"/>
              <a:t>商業施設およびオフィスについては大規模開発地区関連交通計画マニュアルに基づく用途別発生集中原単位を用いる。ホテルについては十分な計量分析に基づく標準原単位が示されていないため、同マニュアルに掲載された参考値1,300人TE/ha・日を用いる。</a:t>
            </a:r>
            <a:endParaRPr lang="en-US" altLang="ja-JP"/>
          </a:p>
          <a:p>
            <a:endParaRPr lang="en-US" altLang="ja-JP"/>
          </a:p>
          <a:p>
            <a:r>
              <a:rPr lang="ja-JP" altLang="ja-JP"/>
              <a:t>ホテルの原単位は施設規模、客室数、宿泊形態等によって変動するため、今後は客室数や稼働率を考慮した推定方法の検討が必要である。</a:t>
            </a:r>
            <a:endParaRPr lang="en-US" altLang="ja-JP"/>
          </a:p>
        </p:txBody>
      </p:sp>
      <p:pic>
        <p:nvPicPr>
          <p:cNvPr id="8" name="図 7">
            <a:extLst>
              <a:ext uri="{FF2B5EF4-FFF2-40B4-BE49-F238E27FC236}">
                <a16:creationId xmlns:a16="http://schemas.microsoft.com/office/drawing/2014/main" id="{A78F8203-F245-862E-AF66-CA11381B13F9}"/>
              </a:ext>
            </a:extLst>
          </p:cNvPr>
          <p:cNvPicPr>
            <a:picLocks noChangeAspect="1"/>
          </p:cNvPicPr>
          <p:nvPr/>
        </p:nvPicPr>
        <p:blipFill>
          <a:blip r:embed="rId2"/>
          <a:stretch>
            <a:fillRect/>
          </a:stretch>
        </p:blipFill>
        <p:spPr>
          <a:xfrm>
            <a:off x="8119540" y="1017308"/>
            <a:ext cx="3522404" cy="5339042"/>
          </a:xfrm>
          <a:prstGeom prst="rect">
            <a:avLst/>
          </a:prstGeom>
        </p:spPr>
      </p:pic>
      <p:sp>
        <p:nvSpPr>
          <p:cNvPr id="9" name="テキスト ボックス 8">
            <a:extLst>
              <a:ext uri="{FF2B5EF4-FFF2-40B4-BE49-F238E27FC236}">
                <a16:creationId xmlns:a16="http://schemas.microsoft.com/office/drawing/2014/main" id="{A07EF2AD-D02D-90ED-ADFB-DFC47F02D90D}"/>
              </a:ext>
            </a:extLst>
          </p:cNvPr>
          <p:cNvSpPr txBox="1"/>
          <p:nvPr/>
        </p:nvSpPr>
        <p:spPr>
          <a:xfrm>
            <a:off x="8060840" y="6334133"/>
            <a:ext cx="3842719" cy="261610"/>
          </a:xfrm>
          <a:prstGeom prst="rect">
            <a:avLst/>
          </a:prstGeom>
          <a:noFill/>
        </p:spPr>
        <p:txBody>
          <a:bodyPr wrap="none" rtlCol="0">
            <a:spAutoFit/>
          </a:bodyPr>
          <a:lstStyle/>
          <a:p>
            <a:r>
              <a:rPr kumimoji="1" lang="en" altLang="ja-JP" sz="1100"/>
              <a:t>https://www.mlit.go.jp/toshi/city_plan/content/001480895.pdf</a:t>
            </a:r>
            <a:endParaRPr kumimoji="1" lang="ja-JP" altLang="en-US" sz="1100"/>
          </a:p>
        </p:txBody>
      </p:sp>
    </p:spTree>
    <p:extLst>
      <p:ext uri="{BB962C8B-B14F-4D97-AF65-F5344CB8AC3E}">
        <p14:creationId xmlns:p14="http://schemas.microsoft.com/office/powerpoint/2010/main" val="3566213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58F31A-D811-5C0D-676E-F2E42B8DBDD9}"/>
              </a:ext>
            </a:extLst>
          </p:cNvPr>
          <p:cNvSpPr>
            <a:spLocks noGrp="1"/>
          </p:cNvSpPr>
          <p:nvPr>
            <p:ph type="title"/>
          </p:nvPr>
        </p:nvSpPr>
        <p:spPr/>
        <p:txBody>
          <a:bodyPr/>
          <a:lstStyle/>
          <a:p>
            <a:r>
              <a:rPr kumimoji="1" lang="ja-JP" altLang="en-US"/>
              <a:t>提案手法　</a:t>
            </a:r>
            <a:r>
              <a:rPr kumimoji="1" lang="en-US" altLang="ja-JP"/>
              <a:t>①</a:t>
            </a:r>
            <a:r>
              <a:rPr kumimoji="1" lang="ja-JP" altLang="en-US"/>
              <a:t>発生集中原単位の予測（事務所）</a:t>
            </a:r>
          </a:p>
        </p:txBody>
      </p:sp>
      <p:sp>
        <p:nvSpPr>
          <p:cNvPr id="4" name="日付プレースホルダー 3">
            <a:extLst>
              <a:ext uri="{FF2B5EF4-FFF2-40B4-BE49-F238E27FC236}">
                <a16:creationId xmlns:a16="http://schemas.microsoft.com/office/drawing/2014/main" id="{B2FDC0C8-A1E9-05BD-0135-B332D40F965F}"/>
              </a:ext>
            </a:extLst>
          </p:cNvPr>
          <p:cNvSpPr>
            <a:spLocks noGrp="1"/>
          </p:cNvSpPr>
          <p:nvPr>
            <p:ph type="dt" idx="10"/>
          </p:nvPr>
        </p:nvSpPr>
        <p:spPr/>
        <p:txBody>
          <a:bodyPr/>
          <a:lstStyle/>
          <a:p>
            <a:r>
              <a:rPr lang="en-US" altLang="ja-JP"/>
              <a:t>2026/7</a:t>
            </a:r>
          </a:p>
        </p:txBody>
      </p:sp>
      <p:sp>
        <p:nvSpPr>
          <p:cNvPr id="5" name="フッター プレースホルダー 4">
            <a:extLst>
              <a:ext uri="{FF2B5EF4-FFF2-40B4-BE49-F238E27FC236}">
                <a16:creationId xmlns:a16="http://schemas.microsoft.com/office/drawing/2014/main" id="{A8830DFE-020E-DD40-2033-5D022511B7F2}"/>
              </a:ext>
            </a:extLst>
          </p:cNvPr>
          <p:cNvSpPr>
            <a:spLocks noGrp="1"/>
          </p:cNvSpPr>
          <p:nvPr>
            <p:ph type="ftr" idx="11"/>
          </p:nvPr>
        </p:nvSpPr>
        <p:spPr/>
        <p:txBody>
          <a:bodyPr/>
          <a:lstStyle/>
          <a:p>
            <a:r>
              <a:rPr lang="ja-JP" altLang="en-US"/>
              <a:t>関本・中居研究室</a:t>
            </a:r>
          </a:p>
        </p:txBody>
      </p:sp>
      <p:sp>
        <p:nvSpPr>
          <p:cNvPr id="6" name="スライド番号プレースホルダー 5">
            <a:extLst>
              <a:ext uri="{FF2B5EF4-FFF2-40B4-BE49-F238E27FC236}">
                <a16:creationId xmlns:a16="http://schemas.microsoft.com/office/drawing/2014/main" id="{C6327D50-F9E7-75E6-7745-065E0BA48BE3}"/>
              </a:ext>
            </a:extLst>
          </p:cNvPr>
          <p:cNvSpPr>
            <a:spLocks noGrp="1"/>
          </p:cNvSpPr>
          <p:nvPr>
            <p:ph type="sldNum" idx="12"/>
          </p:nvPr>
        </p:nvSpPr>
        <p:spPr/>
        <p:txBody>
          <a:bodyPr/>
          <a:lstStyle/>
          <a:p>
            <a:fld id="{6539E37A-E522-3D47-AAB7-DDF67C94A05D}" type="slidenum">
              <a:rPr lang="en-US" altLang="ja-JP"/>
              <a:t>4</a:t>
            </a:fld>
            <a:endParaRPr lang="ja-JP" altLang="en-US"/>
          </a:p>
        </p:txBody>
      </p:sp>
      <p:pic>
        <p:nvPicPr>
          <p:cNvPr id="13" name="図 12">
            <a:extLst>
              <a:ext uri="{FF2B5EF4-FFF2-40B4-BE49-F238E27FC236}">
                <a16:creationId xmlns:a16="http://schemas.microsoft.com/office/drawing/2014/main" id="{2C73FF38-4DDE-51BE-8123-3C8498D3B2F3}"/>
              </a:ext>
            </a:extLst>
          </p:cNvPr>
          <p:cNvPicPr>
            <a:picLocks noChangeAspect="1"/>
          </p:cNvPicPr>
          <p:nvPr/>
        </p:nvPicPr>
        <p:blipFill>
          <a:blip r:embed="rId2"/>
          <a:stretch>
            <a:fillRect/>
          </a:stretch>
        </p:blipFill>
        <p:spPr>
          <a:xfrm>
            <a:off x="471161" y="1093687"/>
            <a:ext cx="5043940" cy="5188053"/>
          </a:xfrm>
          <a:prstGeom prst="rect">
            <a:avLst/>
          </a:prstGeom>
        </p:spPr>
      </p:pic>
      <p:pic>
        <p:nvPicPr>
          <p:cNvPr id="14" name="図 13">
            <a:extLst>
              <a:ext uri="{FF2B5EF4-FFF2-40B4-BE49-F238E27FC236}">
                <a16:creationId xmlns:a16="http://schemas.microsoft.com/office/drawing/2014/main" id="{79396DC1-B7E1-2540-0E26-5A9279FE0533}"/>
              </a:ext>
            </a:extLst>
          </p:cNvPr>
          <p:cNvPicPr>
            <a:picLocks noChangeAspect="1"/>
          </p:cNvPicPr>
          <p:nvPr/>
        </p:nvPicPr>
        <p:blipFill>
          <a:blip r:embed="rId3"/>
          <a:stretch>
            <a:fillRect/>
          </a:stretch>
        </p:blipFill>
        <p:spPr>
          <a:xfrm>
            <a:off x="5515880" y="1886119"/>
            <a:ext cx="2785365" cy="1794082"/>
          </a:xfrm>
          <a:prstGeom prst="rect">
            <a:avLst/>
          </a:prstGeom>
        </p:spPr>
      </p:pic>
      <p:pic>
        <p:nvPicPr>
          <p:cNvPr id="15" name="図 14">
            <a:extLst>
              <a:ext uri="{FF2B5EF4-FFF2-40B4-BE49-F238E27FC236}">
                <a16:creationId xmlns:a16="http://schemas.microsoft.com/office/drawing/2014/main" id="{B9F6872E-4D85-02A7-33CB-158CD31C3FA5}"/>
              </a:ext>
            </a:extLst>
          </p:cNvPr>
          <p:cNvPicPr>
            <a:picLocks noChangeAspect="1"/>
          </p:cNvPicPr>
          <p:nvPr/>
        </p:nvPicPr>
        <p:blipFill>
          <a:blip r:embed="rId4"/>
          <a:stretch>
            <a:fillRect/>
          </a:stretch>
        </p:blipFill>
        <p:spPr>
          <a:xfrm>
            <a:off x="5564586" y="3926983"/>
            <a:ext cx="2791563" cy="1794082"/>
          </a:xfrm>
          <a:prstGeom prst="rect">
            <a:avLst/>
          </a:prstGeom>
        </p:spPr>
      </p:pic>
      <p:pic>
        <p:nvPicPr>
          <p:cNvPr id="16" name="図 15">
            <a:extLst>
              <a:ext uri="{FF2B5EF4-FFF2-40B4-BE49-F238E27FC236}">
                <a16:creationId xmlns:a16="http://schemas.microsoft.com/office/drawing/2014/main" id="{9DA694A3-5551-C005-F693-C434F7441E75}"/>
              </a:ext>
            </a:extLst>
          </p:cNvPr>
          <p:cNvPicPr>
            <a:picLocks noChangeAspect="1"/>
          </p:cNvPicPr>
          <p:nvPr/>
        </p:nvPicPr>
        <p:blipFill>
          <a:blip r:embed="rId5"/>
          <a:stretch>
            <a:fillRect/>
          </a:stretch>
        </p:blipFill>
        <p:spPr>
          <a:xfrm>
            <a:off x="8301245" y="1886119"/>
            <a:ext cx="3412452" cy="3834946"/>
          </a:xfrm>
          <a:prstGeom prst="rect">
            <a:avLst/>
          </a:prstGeom>
        </p:spPr>
      </p:pic>
      <p:sp>
        <p:nvSpPr>
          <p:cNvPr id="17" name="テキスト ボックス 16">
            <a:extLst>
              <a:ext uri="{FF2B5EF4-FFF2-40B4-BE49-F238E27FC236}">
                <a16:creationId xmlns:a16="http://schemas.microsoft.com/office/drawing/2014/main" id="{9AA8798B-B309-6454-EDD9-5980A704BB54}"/>
              </a:ext>
            </a:extLst>
          </p:cNvPr>
          <p:cNvSpPr txBox="1"/>
          <p:nvPr/>
        </p:nvSpPr>
        <p:spPr>
          <a:xfrm>
            <a:off x="8301245" y="5850853"/>
            <a:ext cx="3429144" cy="430887"/>
          </a:xfrm>
          <a:prstGeom prst="rect">
            <a:avLst/>
          </a:prstGeom>
          <a:noFill/>
        </p:spPr>
        <p:txBody>
          <a:bodyPr wrap="none" rtlCol="0">
            <a:spAutoFit/>
          </a:bodyPr>
          <a:lstStyle/>
          <a:p>
            <a:r>
              <a:rPr kumimoji="1" lang="ja-JP" altLang="en-US" sz="1100"/>
              <a:t>出典：「</a:t>
            </a:r>
            <a:r>
              <a:rPr lang="ja-JP" altLang="ja-JP" sz="1100"/>
              <a:t>大規模開発地区関連交通計画マニュアル</a:t>
            </a:r>
            <a:r>
              <a:rPr lang="ja-JP" altLang="en-US" sz="1100"/>
              <a:t>」</a:t>
            </a:r>
            <a:endParaRPr lang="en-US" altLang="ja-JP" sz="1100"/>
          </a:p>
          <a:p>
            <a:r>
              <a:rPr kumimoji="1" lang="ja-JP" altLang="en-US" sz="1100"/>
              <a:t>（国土交通省）</a:t>
            </a:r>
          </a:p>
        </p:txBody>
      </p:sp>
    </p:spTree>
    <p:extLst>
      <p:ext uri="{BB962C8B-B14F-4D97-AF65-F5344CB8AC3E}">
        <p14:creationId xmlns:p14="http://schemas.microsoft.com/office/powerpoint/2010/main" val="2402374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3AE3FE-D814-3448-9AA6-79F420CDE3D3}"/>
              </a:ext>
            </a:extLst>
          </p:cNvPr>
          <p:cNvSpPr>
            <a:spLocks noGrp="1"/>
          </p:cNvSpPr>
          <p:nvPr>
            <p:ph type="title"/>
          </p:nvPr>
        </p:nvSpPr>
        <p:spPr/>
        <p:txBody>
          <a:bodyPr/>
          <a:lstStyle/>
          <a:p>
            <a:r>
              <a:rPr kumimoji="1" lang="ja-JP" altLang="en-US"/>
              <a:t>提案手法　</a:t>
            </a:r>
            <a:r>
              <a:rPr kumimoji="1" lang="en-US" altLang="ja-JP"/>
              <a:t>①</a:t>
            </a:r>
            <a:r>
              <a:rPr kumimoji="1" lang="ja-JP" altLang="en-US"/>
              <a:t>発生集中原単位の予測（商業施設、ホテル）</a:t>
            </a:r>
          </a:p>
        </p:txBody>
      </p:sp>
      <p:sp>
        <p:nvSpPr>
          <p:cNvPr id="4" name="日付プレースホルダー 3">
            <a:extLst>
              <a:ext uri="{FF2B5EF4-FFF2-40B4-BE49-F238E27FC236}">
                <a16:creationId xmlns:a16="http://schemas.microsoft.com/office/drawing/2014/main" id="{70B4A551-D4DB-CCF7-A705-6D0CA10A000E}"/>
              </a:ext>
            </a:extLst>
          </p:cNvPr>
          <p:cNvSpPr>
            <a:spLocks noGrp="1"/>
          </p:cNvSpPr>
          <p:nvPr>
            <p:ph type="dt" idx="10"/>
          </p:nvPr>
        </p:nvSpPr>
        <p:spPr/>
        <p:txBody>
          <a:bodyPr/>
          <a:lstStyle/>
          <a:p>
            <a:r>
              <a:rPr lang="en-US" altLang="ja-JP"/>
              <a:t>2026/7</a:t>
            </a:r>
          </a:p>
        </p:txBody>
      </p:sp>
      <p:sp>
        <p:nvSpPr>
          <p:cNvPr id="5" name="フッター プレースホルダー 4">
            <a:extLst>
              <a:ext uri="{FF2B5EF4-FFF2-40B4-BE49-F238E27FC236}">
                <a16:creationId xmlns:a16="http://schemas.microsoft.com/office/drawing/2014/main" id="{429AA941-016E-D814-1353-C8B153EBDE43}"/>
              </a:ext>
            </a:extLst>
          </p:cNvPr>
          <p:cNvSpPr>
            <a:spLocks noGrp="1"/>
          </p:cNvSpPr>
          <p:nvPr>
            <p:ph type="ftr" idx="11"/>
          </p:nvPr>
        </p:nvSpPr>
        <p:spPr/>
        <p:txBody>
          <a:bodyPr/>
          <a:lstStyle/>
          <a:p>
            <a:r>
              <a:rPr lang="ja-JP" altLang="en-US"/>
              <a:t>関本・中居研究室</a:t>
            </a:r>
          </a:p>
        </p:txBody>
      </p:sp>
      <p:sp>
        <p:nvSpPr>
          <p:cNvPr id="6" name="スライド番号プレースホルダー 5">
            <a:extLst>
              <a:ext uri="{FF2B5EF4-FFF2-40B4-BE49-F238E27FC236}">
                <a16:creationId xmlns:a16="http://schemas.microsoft.com/office/drawing/2014/main" id="{0C980C20-F255-4E98-A4D0-BF0C0010E330}"/>
              </a:ext>
            </a:extLst>
          </p:cNvPr>
          <p:cNvSpPr>
            <a:spLocks noGrp="1"/>
          </p:cNvSpPr>
          <p:nvPr>
            <p:ph type="sldNum" idx="12"/>
          </p:nvPr>
        </p:nvSpPr>
        <p:spPr/>
        <p:txBody>
          <a:bodyPr/>
          <a:lstStyle/>
          <a:p>
            <a:fld id="{6539E37A-E522-3D47-AAB7-DDF67C94A05D}" type="slidenum">
              <a:rPr lang="en-US" altLang="ja-JP"/>
              <a:t>5</a:t>
            </a:fld>
            <a:endParaRPr lang="ja-JP" altLang="en-US"/>
          </a:p>
        </p:txBody>
      </p:sp>
      <p:pic>
        <p:nvPicPr>
          <p:cNvPr id="7" name="図 6">
            <a:extLst>
              <a:ext uri="{FF2B5EF4-FFF2-40B4-BE49-F238E27FC236}">
                <a16:creationId xmlns:a16="http://schemas.microsoft.com/office/drawing/2014/main" id="{B12BD987-F353-4811-96DD-ACE73EB69FEC}"/>
              </a:ext>
            </a:extLst>
          </p:cNvPr>
          <p:cNvPicPr>
            <a:picLocks noChangeAspect="1"/>
          </p:cNvPicPr>
          <p:nvPr/>
        </p:nvPicPr>
        <p:blipFill>
          <a:blip r:embed="rId2"/>
          <a:stretch>
            <a:fillRect/>
          </a:stretch>
        </p:blipFill>
        <p:spPr>
          <a:xfrm>
            <a:off x="1055440" y="1202836"/>
            <a:ext cx="5715635" cy="1554252"/>
          </a:xfrm>
          <a:prstGeom prst="rect">
            <a:avLst/>
          </a:prstGeom>
        </p:spPr>
      </p:pic>
      <p:pic>
        <p:nvPicPr>
          <p:cNvPr id="10" name="図 9">
            <a:extLst>
              <a:ext uri="{FF2B5EF4-FFF2-40B4-BE49-F238E27FC236}">
                <a16:creationId xmlns:a16="http://schemas.microsoft.com/office/drawing/2014/main" id="{BC197840-334D-E9CD-0C42-8EFF0C3DF27F}"/>
              </a:ext>
            </a:extLst>
          </p:cNvPr>
          <p:cNvPicPr>
            <a:picLocks noChangeAspect="1"/>
          </p:cNvPicPr>
          <p:nvPr/>
        </p:nvPicPr>
        <p:blipFill>
          <a:blip r:embed="rId3"/>
          <a:stretch>
            <a:fillRect/>
          </a:stretch>
        </p:blipFill>
        <p:spPr>
          <a:xfrm>
            <a:off x="1077169" y="2946399"/>
            <a:ext cx="5529861" cy="1554251"/>
          </a:xfrm>
          <a:prstGeom prst="rect">
            <a:avLst/>
          </a:prstGeom>
        </p:spPr>
      </p:pic>
      <p:pic>
        <p:nvPicPr>
          <p:cNvPr id="11" name="図 10">
            <a:extLst>
              <a:ext uri="{FF2B5EF4-FFF2-40B4-BE49-F238E27FC236}">
                <a16:creationId xmlns:a16="http://schemas.microsoft.com/office/drawing/2014/main" id="{BB2950DE-11C1-335E-8ADF-D68155436513}"/>
              </a:ext>
            </a:extLst>
          </p:cNvPr>
          <p:cNvPicPr>
            <a:picLocks noChangeAspect="1"/>
          </p:cNvPicPr>
          <p:nvPr/>
        </p:nvPicPr>
        <p:blipFill>
          <a:blip r:embed="rId4"/>
          <a:stretch>
            <a:fillRect/>
          </a:stretch>
        </p:blipFill>
        <p:spPr>
          <a:xfrm>
            <a:off x="1077169" y="4699165"/>
            <a:ext cx="7514169" cy="1035115"/>
          </a:xfrm>
          <a:prstGeom prst="rect">
            <a:avLst/>
          </a:prstGeom>
        </p:spPr>
      </p:pic>
      <p:sp>
        <p:nvSpPr>
          <p:cNvPr id="12" name="テキスト ボックス 11">
            <a:extLst>
              <a:ext uri="{FF2B5EF4-FFF2-40B4-BE49-F238E27FC236}">
                <a16:creationId xmlns:a16="http://schemas.microsoft.com/office/drawing/2014/main" id="{7D13796C-9B57-539F-80CC-18D3954B79A0}"/>
              </a:ext>
            </a:extLst>
          </p:cNvPr>
          <p:cNvSpPr txBox="1"/>
          <p:nvPr/>
        </p:nvSpPr>
        <p:spPr>
          <a:xfrm>
            <a:off x="8591338" y="5734280"/>
            <a:ext cx="3429144" cy="430887"/>
          </a:xfrm>
          <a:prstGeom prst="rect">
            <a:avLst/>
          </a:prstGeom>
          <a:noFill/>
        </p:spPr>
        <p:txBody>
          <a:bodyPr wrap="none" rtlCol="0">
            <a:spAutoFit/>
          </a:bodyPr>
          <a:lstStyle/>
          <a:p>
            <a:r>
              <a:rPr kumimoji="1" lang="ja-JP" altLang="en-US" sz="1100"/>
              <a:t>出典：「</a:t>
            </a:r>
            <a:r>
              <a:rPr lang="ja-JP" altLang="ja-JP" sz="1100"/>
              <a:t>大規模開発地区関連交通計画マニュアル</a:t>
            </a:r>
            <a:r>
              <a:rPr lang="ja-JP" altLang="en-US" sz="1100"/>
              <a:t>」</a:t>
            </a:r>
            <a:endParaRPr lang="en-US" altLang="ja-JP" sz="1100"/>
          </a:p>
          <a:p>
            <a:r>
              <a:rPr kumimoji="1" lang="ja-JP" altLang="en-US" sz="1100"/>
              <a:t>（国土交通省）</a:t>
            </a:r>
          </a:p>
        </p:txBody>
      </p:sp>
      <p:cxnSp>
        <p:nvCxnSpPr>
          <p:cNvPr id="13" name="直線コネクタ 12">
            <a:extLst>
              <a:ext uri="{FF2B5EF4-FFF2-40B4-BE49-F238E27FC236}">
                <a16:creationId xmlns:a16="http://schemas.microsoft.com/office/drawing/2014/main" id="{922BDE6F-F1D6-BEF7-A9C4-AB4F523FADD4}"/>
              </a:ext>
            </a:extLst>
          </p:cNvPr>
          <p:cNvCxnSpPr>
            <a:cxnSpLocks/>
          </p:cNvCxnSpPr>
          <p:nvPr/>
        </p:nvCxnSpPr>
        <p:spPr>
          <a:xfrm>
            <a:off x="932765" y="4510967"/>
            <a:ext cx="813356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263740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C7D86B-4B5E-1030-895E-08BF73218D52}"/>
              </a:ext>
            </a:extLst>
          </p:cNvPr>
          <p:cNvSpPr>
            <a:spLocks noGrp="1"/>
          </p:cNvSpPr>
          <p:nvPr>
            <p:ph type="title"/>
          </p:nvPr>
        </p:nvSpPr>
        <p:spPr/>
        <p:txBody>
          <a:bodyPr/>
          <a:lstStyle/>
          <a:p>
            <a:r>
              <a:rPr kumimoji="1" lang="ja-JP" altLang="en-US"/>
              <a:t>提案手法　</a:t>
            </a:r>
            <a:r>
              <a:rPr kumimoji="1" lang="en-US" altLang="ja-JP"/>
              <a:t>②</a:t>
            </a:r>
            <a:r>
              <a:rPr kumimoji="1" lang="ja-JP" altLang="en-US"/>
              <a:t>来訪者属性分布の推定　</a:t>
            </a:r>
          </a:p>
        </p:txBody>
      </p:sp>
      <p:sp>
        <p:nvSpPr>
          <p:cNvPr id="4" name="日付プレースホルダー 3">
            <a:extLst>
              <a:ext uri="{FF2B5EF4-FFF2-40B4-BE49-F238E27FC236}">
                <a16:creationId xmlns:a16="http://schemas.microsoft.com/office/drawing/2014/main" id="{1E137330-7B67-776D-23B7-AE2C57F5C807}"/>
              </a:ext>
            </a:extLst>
          </p:cNvPr>
          <p:cNvSpPr>
            <a:spLocks noGrp="1"/>
          </p:cNvSpPr>
          <p:nvPr>
            <p:ph type="dt" idx="10"/>
          </p:nvPr>
        </p:nvSpPr>
        <p:spPr/>
        <p:txBody>
          <a:bodyPr/>
          <a:lstStyle/>
          <a:p>
            <a:r>
              <a:rPr lang="en-US" altLang="ja-JP"/>
              <a:t>2026/7</a:t>
            </a:r>
          </a:p>
        </p:txBody>
      </p:sp>
      <p:sp>
        <p:nvSpPr>
          <p:cNvPr id="5" name="フッター プレースホルダー 4">
            <a:extLst>
              <a:ext uri="{FF2B5EF4-FFF2-40B4-BE49-F238E27FC236}">
                <a16:creationId xmlns:a16="http://schemas.microsoft.com/office/drawing/2014/main" id="{EB63B579-A523-F9F5-F9EB-6A3161F14201}"/>
              </a:ext>
            </a:extLst>
          </p:cNvPr>
          <p:cNvSpPr>
            <a:spLocks noGrp="1"/>
          </p:cNvSpPr>
          <p:nvPr>
            <p:ph type="ftr" idx="11"/>
          </p:nvPr>
        </p:nvSpPr>
        <p:spPr/>
        <p:txBody>
          <a:bodyPr/>
          <a:lstStyle/>
          <a:p>
            <a:r>
              <a:rPr lang="ja-JP" altLang="en-US"/>
              <a:t>関本・中居研究室</a:t>
            </a:r>
          </a:p>
        </p:txBody>
      </p:sp>
      <p:sp>
        <p:nvSpPr>
          <p:cNvPr id="6" name="スライド番号プレースホルダー 5">
            <a:extLst>
              <a:ext uri="{FF2B5EF4-FFF2-40B4-BE49-F238E27FC236}">
                <a16:creationId xmlns:a16="http://schemas.microsoft.com/office/drawing/2014/main" id="{7A0FE05B-B336-1461-C45C-00DE7A8567B0}"/>
              </a:ext>
            </a:extLst>
          </p:cNvPr>
          <p:cNvSpPr>
            <a:spLocks noGrp="1"/>
          </p:cNvSpPr>
          <p:nvPr>
            <p:ph type="sldNum" idx="12"/>
          </p:nvPr>
        </p:nvSpPr>
        <p:spPr/>
        <p:txBody>
          <a:bodyPr/>
          <a:lstStyle/>
          <a:p>
            <a:fld id="{6539E37A-E522-3D47-AAB7-DDF67C94A05D}" type="slidenum">
              <a:rPr lang="en-US" altLang="ja-JP"/>
              <a:t>6</a:t>
            </a:fld>
            <a:endParaRPr lang="ja-JP" altLang="en-US"/>
          </a:p>
        </p:txBody>
      </p:sp>
      <p:sp>
        <p:nvSpPr>
          <p:cNvPr id="7" name="テキスト ボックス 6">
            <a:extLst>
              <a:ext uri="{FF2B5EF4-FFF2-40B4-BE49-F238E27FC236}">
                <a16:creationId xmlns:a16="http://schemas.microsoft.com/office/drawing/2014/main" id="{55738B58-E7BC-C78B-2911-8048D6FD2DF3}"/>
              </a:ext>
            </a:extLst>
          </p:cNvPr>
          <p:cNvSpPr txBox="1"/>
          <p:nvPr/>
        </p:nvSpPr>
        <p:spPr>
          <a:xfrm>
            <a:off x="7175680" y="5606871"/>
            <a:ext cx="4206601" cy="430887"/>
          </a:xfrm>
          <a:prstGeom prst="rect">
            <a:avLst/>
          </a:prstGeom>
          <a:noFill/>
        </p:spPr>
        <p:txBody>
          <a:bodyPr wrap="none" rtlCol="0">
            <a:spAutoFit/>
          </a:bodyPr>
          <a:lstStyle/>
          <a:p>
            <a:r>
              <a:rPr kumimoji="1" lang="ja-JP" altLang="en-US" sz="1100"/>
              <a:t>「</a:t>
            </a:r>
            <a:r>
              <a:rPr lang="ja-JP" altLang="ja-JP" sz="1100"/>
              <a:t>中京都市圏パーソントリップ調査 集計システム</a:t>
            </a:r>
            <a:r>
              <a:rPr lang="ja-JP" altLang="en-US" sz="1100"/>
              <a:t>」 </a:t>
            </a:r>
            <a:endParaRPr lang="en-US" altLang="ja-JP" sz="1100"/>
          </a:p>
          <a:p>
            <a:r>
              <a:rPr kumimoji="1" lang="en" altLang="ja-JP" sz="1100"/>
              <a:t>https://www.cbr.mlit.go.jp/kikaku/chukyo-pt/offer/pt_system/public/</a:t>
            </a:r>
            <a:endParaRPr kumimoji="1" lang="ja-JP" altLang="en-US" sz="1100"/>
          </a:p>
        </p:txBody>
      </p:sp>
      <p:sp>
        <p:nvSpPr>
          <p:cNvPr id="8" name="テキスト ボックス 7">
            <a:extLst>
              <a:ext uri="{FF2B5EF4-FFF2-40B4-BE49-F238E27FC236}">
                <a16:creationId xmlns:a16="http://schemas.microsoft.com/office/drawing/2014/main" id="{A1DE957E-0431-1A87-D5A6-9F38FA79C986}"/>
              </a:ext>
            </a:extLst>
          </p:cNvPr>
          <p:cNvSpPr txBox="1"/>
          <p:nvPr/>
        </p:nvSpPr>
        <p:spPr>
          <a:xfrm>
            <a:off x="200345" y="1236262"/>
            <a:ext cx="11604716" cy="1200329"/>
          </a:xfrm>
          <a:prstGeom prst="rect">
            <a:avLst/>
          </a:prstGeom>
          <a:noFill/>
        </p:spPr>
        <p:txBody>
          <a:bodyPr wrap="square" rtlCol="0">
            <a:spAutoFit/>
          </a:bodyPr>
          <a:lstStyle/>
          <a:p>
            <a:r>
              <a:rPr lang="ja-JP" altLang="en-US"/>
              <a:t>「</a:t>
            </a:r>
            <a:r>
              <a:rPr lang="ja-JP" altLang="ja-JP"/>
              <a:t>中京都市圏PT調査」（中京都市圏総合都市交通計画協議会）をもとに作成された「中京都市圏パーソントリップ調査 集計システム」を用いて，到着施設・目的・年齢ごとのトリップエンド数を取得した。さらに，施設用途ごとに来訪者として妥当な目的を設定し，オフィス，商業施設，ホテルそれぞれについて対象トリップを抽出した。</a:t>
            </a:r>
          </a:p>
        </p:txBody>
      </p:sp>
      <p:pic>
        <p:nvPicPr>
          <p:cNvPr id="9" name="図 8">
            <a:extLst>
              <a:ext uri="{FF2B5EF4-FFF2-40B4-BE49-F238E27FC236}">
                <a16:creationId xmlns:a16="http://schemas.microsoft.com/office/drawing/2014/main" id="{BA5522A4-81ED-8F8C-1DE3-A2D56FC3FC68}"/>
              </a:ext>
            </a:extLst>
          </p:cNvPr>
          <p:cNvPicPr>
            <a:picLocks noChangeAspect="1"/>
          </p:cNvPicPr>
          <p:nvPr/>
        </p:nvPicPr>
        <p:blipFill>
          <a:blip r:embed="rId2"/>
          <a:stretch>
            <a:fillRect/>
          </a:stretch>
        </p:blipFill>
        <p:spPr>
          <a:xfrm>
            <a:off x="380365" y="2595887"/>
            <a:ext cx="6652955" cy="3448996"/>
          </a:xfrm>
          <a:prstGeom prst="rect">
            <a:avLst/>
          </a:prstGeom>
        </p:spPr>
      </p:pic>
    </p:spTree>
    <p:extLst>
      <p:ext uri="{BB962C8B-B14F-4D97-AF65-F5344CB8AC3E}">
        <p14:creationId xmlns:p14="http://schemas.microsoft.com/office/powerpoint/2010/main" val="252534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908389-35A9-E87C-7333-435ED8530803}"/>
              </a:ext>
            </a:extLst>
          </p:cNvPr>
          <p:cNvSpPr>
            <a:spLocks noGrp="1"/>
          </p:cNvSpPr>
          <p:nvPr>
            <p:ph type="title"/>
          </p:nvPr>
        </p:nvSpPr>
        <p:spPr/>
        <p:txBody>
          <a:bodyPr/>
          <a:lstStyle/>
          <a:p>
            <a:r>
              <a:rPr kumimoji="1" lang="ja-JP" altLang="en-US"/>
              <a:t>提案手法　</a:t>
            </a:r>
            <a:r>
              <a:rPr kumimoji="1" lang="en-US" altLang="ja-JP"/>
              <a:t>②</a:t>
            </a:r>
            <a:r>
              <a:rPr kumimoji="1" lang="ja-JP" altLang="en-US"/>
              <a:t>来訪者属性分布の推定　オフィスの来訪者分布</a:t>
            </a:r>
          </a:p>
        </p:txBody>
      </p:sp>
      <p:sp>
        <p:nvSpPr>
          <p:cNvPr id="4" name="日付プレースホルダー 3">
            <a:extLst>
              <a:ext uri="{FF2B5EF4-FFF2-40B4-BE49-F238E27FC236}">
                <a16:creationId xmlns:a16="http://schemas.microsoft.com/office/drawing/2014/main" id="{53039060-2D87-21C7-BC15-A75391F1A67C}"/>
              </a:ext>
            </a:extLst>
          </p:cNvPr>
          <p:cNvSpPr>
            <a:spLocks noGrp="1"/>
          </p:cNvSpPr>
          <p:nvPr>
            <p:ph type="dt" idx="10"/>
          </p:nvPr>
        </p:nvSpPr>
        <p:spPr/>
        <p:txBody>
          <a:bodyPr/>
          <a:lstStyle/>
          <a:p>
            <a:r>
              <a:rPr lang="en-US" altLang="ja-JP"/>
              <a:t>2026/7</a:t>
            </a:r>
          </a:p>
        </p:txBody>
      </p:sp>
      <p:sp>
        <p:nvSpPr>
          <p:cNvPr id="5" name="フッター プレースホルダー 4">
            <a:extLst>
              <a:ext uri="{FF2B5EF4-FFF2-40B4-BE49-F238E27FC236}">
                <a16:creationId xmlns:a16="http://schemas.microsoft.com/office/drawing/2014/main" id="{12904C45-5EA4-4296-D9EB-8A903674CA00}"/>
              </a:ext>
            </a:extLst>
          </p:cNvPr>
          <p:cNvSpPr>
            <a:spLocks noGrp="1"/>
          </p:cNvSpPr>
          <p:nvPr>
            <p:ph type="ftr" idx="11"/>
          </p:nvPr>
        </p:nvSpPr>
        <p:spPr/>
        <p:txBody>
          <a:bodyPr/>
          <a:lstStyle/>
          <a:p>
            <a:r>
              <a:rPr lang="ja-JP" altLang="en-US"/>
              <a:t>関本・中居研究室</a:t>
            </a:r>
          </a:p>
        </p:txBody>
      </p:sp>
      <p:sp>
        <p:nvSpPr>
          <p:cNvPr id="6" name="スライド番号プレースホルダー 5">
            <a:extLst>
              <a:ext uri="{FF2B5EF4-FFF2-40B4-BE49-F238E27FC236}">
                <a16:creationId xmlns:a16="http://schemas.microsoft.com/office/drawing/2014/main" id="{C705664B-5C74-238C-01DD-A00221EA9924}"/>
              </a:ext>
            </a:extLst>
          </p:cNvPr>
          <p:cNvSpPr>
            <a:spLocks noGrp="1"/>
          </p:cNvSpPr>
          <p:nvPr>
            <p:ph type="sldNum" idx="12"/>
          </p:nvPr>
        </p:nvSpPr>
        <p:spPr/>
        <p:txBody>
          <a:bodyPr/>
          <a:lstStyle/>
          <a:p>
            <a:fld id="{6539E37A-E522-3D47-AAB7-DDF67C94A05D}" type="slidenum">
              <a:rPr lang="en-US" altLang="ja-JP"/>
              <a:t>7</a:t>
            </a:fld>
            <a:endParaRPr lang="ja-JP" altLang="en-US"/>
          </a:p>
        </p:txBody>
      </p:sp>
      <p:pic>
        <p:nvPicPr>
          <p:cNvPr id="18" name="図 17">
            <a:extLst>
              <a:ext uri="{FF2B5EF4-FFF2-40B4-BE49-F238E27FC236}">
                <a16:creationId xmlns:a16="http://schemas.microsoft.com/office/drawing/2014/main" id="{DD3A0C27-8085-39AA-9976-9B9ECD71DE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2321" y="1853773"/>
            <a:ext cx="7067355" cy="4553816"/>
          </a:xfrm>
          <a:prstGeom prst="rect">
            <a:avLst/>
          </a:prstGeom>
        </p:spPr>
      </p:pic>
      <p:sp>
        <p:nvSpPr>
          <p:cNvPr id="21" name="テキスト ボックス 20">
            <a:extLst>
              <a:ext uri="{FF2B5EF4-FFF2-40B4-BE49-F238E27FC236}">
                <a16:creationId xmlns:a16="http://schemas.microsoft.com/office/drawing/2014/main" id="{397E9FCD-DF13-DC3A-4DD8-A0235A73EAC1}"/>
              </a:ext>
            </a:extLst>
          </p:cNvPr>
          <p:cNvSpPr txBox="1"/>
          <p:nvPr/>
        </p:nvSpPr>
        <p:spPr>
          <a:xfrm>
            <a:off x="464502" y="1022776"/>
            <a:ext cx="11262992" cy="830997"/>
          </a:xfrm>
          <a:prstGeom prst="rect">
            <a:avLst/>
          </a:prstGeom>
          <a:noFill/>
        </p:spPr>
        <p:txBody>
          <a:bodyPr wrap="square" rtlCol="0">
            <a:spAutoFit/>
          </a:bodyPr>
          <a:lstStyle/>
          <a:p>
            <a:r>
              <a:rPr lang="ja-JP" altLang="ja-JP" sz="1600"/>
              <a:t>オフィスについては，到着施設を『事務所・会社・銀行・郵便局』とし，目的を『出勤（勤務先へ）』『打合せ・会議・仕事』『書類持参・受領・集金』『販売・配達・仕入れ・購入』『作業・修理』『その他の業務目的』『帰社・帰校(会社や学校へ帰る)』として抽出した。</a:t>
            </a:r>
            <a:endParaRPr kumimoji="1" lang="ja-JP" altLang="en-US" sz="1600"/>
          </a:p>
        </p:txBody>
      </p:sp>
    </p:spTree>
    <p:extLst>
      <p:ext uri="{BB962C8B-B14F-4D97-AF65-F5344CB8AC3E}">
        <p14:creationId xmlns:p14="http://schemas.microsoft.com/office/powerpoint/2010/main" val="3407446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CD1AEA-831E-DAA9-2113-8842AECFC254}"/>
              </a:ext>
            </a:extLst>
          </p:cNvPr>
          <p:cNvSpPr>
            <a:spLocks noGrp="1"/>
          </p:cNvSpPr>
          <p:nvPr>
            <p:ph type="title"/>
          </p:nvPr>
        </p:nvSpPr>
        <p:spPr/>
        <p:txBody>
          <a:bodyPr/>
          <a:lstStyle/>
          <a:p>
            <a:r>
              <a:rPr kumimoji="1" lang="ja-JP" altLang="en-US"/>
              <a:t>提案手法　</a:t>
            </a:r>
            <a:r>
              <a:rPr kumimoji="1" lang="en-US" altLang="ja-JP"/>
              <a:t>②</a:t>
            </a:r>
            <a:r>
              <a:rPr kumimoji="1" lang="ja-JP" altLang="en-US"/>
              <a:t>来訪者属性分布の推定　ホテルの来訪者分布</a:t>
            </a:r>
          </a:p>
        </p:txBody>
      </p:sp>
      <p:sp>
        <p:nvSpPr>
          <p:cNvPr id="4" name="日付プレースホルダー 3">
            <a:extLst>
              <a:ext uri="{FF2B5EF4-FFF2-40B4-BE49-F238E27FC236}">
                <a16:creationId xmlns:a16="http://schemas.microsoft.com/office/drawing/2014/main" id="{BF700180-C816-0A00-CE30-B0ACB836596C}"/>
              </a:ext>
            </a:extLst>
          </p:cNvPr>
          <p:cNvSpPr>
            <a:spLocks noGrp="1"/>
          </p:cNvSpPr>
          <p:nvPr>
            <p:ph type="dt" idx="10"/>
          </p:nvPr>
        </p:nvSpPr>
        <p:spPr/>
        <p:txBody>
          <a:bodyPr/>
          <a:lstStyle/>
          <a:p>
            <a:r>
              <a:rPr lang="en-US" altLang="ja-JP"/>
              <a:t>2026/7</a:t>
            </a:r>
          </a:p>
        </p:txBody>
      </p:sp>
      <p:sp>
        <p:nvSpPr>
          <p:cNvPr id="5" name="フッター プレースホルダー 4">
            <a:extLst>
              <a:ext uri="{FF2B5EF4-FFF2-40B4-BE49-F238E27FC236}">
                <a16:creationId xmlns:a16="http://schemas.microsoft.com/office/drawing/2014/main" id="{CCB29735-C67E-C29F-ED49-12347FEA12A8}"/>
              </a:ext>
            </a:extLst>
          </p:cNvPr>
          <p:cNvSpPr>
            <a:spLocks noGrp="1"/>
          </p:cNvSpPr>
          <p:nvPr>
            <p:ph type="ftr" idx="11"/>
          </p:nvPr>
        </p:nvSpPr>
        <p:spPr/>
        <p:txBody>
          <a:bodyPr/>
          <a:lstStyle/>
          <a:p>
            <a:r>
              <a:rPr lang="ja-JP" altLang="en-US"/>
              <a:t>関本・中居研究室</a:t>
            </a:r>
          </a:p>
        </p:txBody>
      </p:sp>
      <p:sp>
        <p:nvSpPr>
          <p:cNvPr id="6" name="スライド番号プレースホルダー 5">
            <a:extLst>
              <a:ext uri="{FF2B5EF4-FFF2-40B4-BE49-F238E27FC236}">
                <a16:creationId xmlns:a16="http://schemas.microsoft.com/office/drawing/2014/main" id="{84951ECD-8669-C3E4-9BA0-C4E0CD5E4127}"/>
              </a:ext>
            </a:extLst>
          </p:cNvPr>
          <p:cNvSpPr>
            <a:spLocks noGrp="1"/>
          </p:cNvSpPr>
          <p:nvPr>
            <p:ph type="sldNum" idx="12"/>
          </p:nvPr>
        </p:nvSpPr>
        <p:spPr/>
        <p:txBody>
          <a:bodyPr/>
          <a:lstStyle/>
          <a:p>
            <a:fld id="{6539E37A-E522-3D47-AAB7-DDF67C94A05D}" type="slidenum">
              <a:rPr lang="en-US" altLang="ja-JP"/>
              <a:t>8</a:t>
            </a:fld>
            <a:endParaRPr lang="ja-JP" altLang="en-US"/>
          </a:p>
        </p:txBody>
      </p:sp>
      <p:pic>
        <p:nvPicPr>
          <p:cNvPr id="8" name="図 7">
            <a:extLst>
              <a:ext uri="{FF2B5EF4-FFF2-40B4-BE49-F238E27FC236}">
                <a16:creationId xmlns:a16="http://schemas.microsoft.com/office/drawing/2014/main" id="{67116370-4070-77EB-B864-E81CC05DF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2322" y="2152696"/>
            <a:ext cx="7067355" cy="4208649"/>
          </a:xfrm>
          <a:prstGeom prst="rect">
            <a:avLst/>
          </a:prstGeom>
        </p:spPr>
      </p:pic>
      <p:sp>
        <p:nvSpPr>
          <p:cNvPr id="10" name="テキスト ボックス 9">
            <a:extLst>
              <a:ext uri="{FF2B5EF4-FFF2-40B4-BE49-F238E27FC236}">
                <a16:creationId xmlns:a16="http://schemas.microsoft.com/office/drawing/2014/main" id="{D7F42B1D-B1A1-0566-7F2F-08274FC0490F}"/>
              </a:ext>
            </a:extLst>
          </p:cNvPr>
          <p:cNvSpPr txBox="1"/>
          <p:nvPr/>
        </p:nvSpPr>
        <p:spPr>
          <a:xfrm>
            <a:off x="464502" y="1022776"/>
            <a:ext cx="11262992" cy="584775"/>
          </a:xfrm>
          <a:prstGeom prst="rect">
            <a:avLst/>
          </a:prstGeom>
          <a:noFill/>
        </p:spPr>
        <p:txBody>
          <a:bodyPr wrap="square" rtlCol="0">
            <a:spAutoFit/>
          </a:bodyPr>
          <a:lstStyle/>
          <a:p>
            <a:r>
              <a:rPr lang="ja-JP" altLang="ja-JP" sz="1600"/>
              <a:t>ホテルについては，到着施設を『宿泊施設・ホテル』とし，目的を『観光・行楽・レジャー』『打合せ・会議・仕事』『食事・社交・喫茶』『その他の自由目的』『その他の業務目的』として抽出した。</a:t>
            </a:r>
            <a:endParaRPr kumimoji="1" lang="ja-JP" altLang="en-US" sz="1600"/>
          </a:p>
        </p:txBody>
      </p:sp>
    </p:spTree>
    <p:extLst>
      <p:ext uri="{BB962C8B-B14F-4D97-AF65-F5344CB8AC3E}">
        <p14:creationId xmlns:p14="http://schemas.microsoft.com/office/powerpoint/2010/main" val="3860061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0D95C0-88EE-3BC6-EC0C-24FE0BF0C832}"/>
              </a:ext>
            </a:extLst>
          </p:cNvPr>
          <p:cNvSpPr>
            <a:spLocks noGrp="1"/>
          </p:cNvSpPr>
          <p:nvPr>
            <p:ph type="title"/>
          </p:nvPr>
        </p:nvSpPr>
        <p:spPr/>
        <p:txBody>
          <a:bodyPr/>
          <a:lstStyle/>
          <a:p>
            <a:r>
              <a:rPr kumimoji="1" lang="ja-JP" altLang="en-US"/>
              <a:t>提案手法　</a:t>
            </a:r>
            <a:r>
              <a:rPr kumimoji="1" lang="en-US" altLang="ja-JP"/>
              <a:t>②</a:t>
            </a:r>
            <a:r>
              <a:rPr kumimoji="1" lang="ja-JP" altLang="en-US"/>
              <a:t>来訪者属性分布の推定　商業施設の来訪者分布</a:t>
            </a:r>
          </a:p>
        </p:txBody>
      </p:sp>
      <p:sp>
        <p:nvSpPr>
          <p:cNvPr id="4" name="日付プレースホルダー 3">
            <a:extLst>
              <a:ext uri="{FF2B5EF4-FFF2-40B4-BE49-F238E27FC236}">
                <a16:creationId xmlns:a16="http://schemas.microsoft.com/office/drawing/2014/main" id="{60CEB867-0141-DADE-E6EA-25540510B99F}"/>
              </a:ext>
            </a:extLst>
          </p:cNvPr>
          <p:cNvSpPr>
            <a:spLocks noGrp="1"/>
          </p:cNvSpPr>
          <p:nvPr>
            <p:ph type="dt" idx="10"/>
          </p:nvPr>
        </p:nvSpPr>
        <p:spPr/>
        <p:txBody>
          <a:bodyPr/>
          <a:lstStyle/>
          <a:p>
            <a:r>
              <a:rPr lang="en-US" altLang="ja-JP"/>
              <a:t>2026/7</a:t>
            </a:r>
          </a:p>
        </p:txBody>
      </p:sp>
      <p:sp>
        <p:nvSpPr>
          <p:cNvPr id="5" name="フッター プレースホルダー 4">
            <a:extLst>
              <a:ext uri="{FF2B5EF4-FFF2-40B4-BE49-F238E27FC236}">
                <a16:creationId xmlns:a16="http://schemas.microsoft.com/office/drawing/2014/main" id="{061683F2-F63F-626E-196E-558B94387397}"/>
              </a:ext>
            </a:extLst>
          </p:cNvPr>
          <p:cNvSpPr>
            <a:spLocks noGrp="1"/>
          </p:cNvSpPr>
          <p:nvPr>
            <p:ph type="ftr" idx="11"/>
          </p:nvPr>
        </p:nvSpPr>
        <p:spPr/>
        <p:txBody>
          <a:bodyPr/>
          <a:lstStyle/>
          <a:p>
            <a:r>
              <a:rPr lang="ja-JP" altLang="en-US"/>
              <a:t>関本・中居研究室</a:t>
            </a:r>
          </a:p>
        </p:txBody>
      </p:sp>
      <p:sp>
        <p:nvSpPr>
          <p:cNvPr id="6" name="スライド番号プレースホルダー 5">
            <a:extLst>
              <a:ext uri="{FF2B5EF4-FFF2-40B4-BE49-F238E27FC236}">
                <a16:creationId xmlns:a16="http://schemas.microsoft.com/office/drawing/2014/main" id="{4A464381-9B5A-5C47-504F-B4EE832EDF35}"/>
              </a:ext>
            </a:extLst>
          </p:cNvPr>
          <p:cNvSpPr>
            <a:spLocks noGrp="1"/>
          </p:cNvSpPr>
          <p:nvPr>
            <p:ph type="sldNum" idx="12"/>
          </p:nvPr>
        </p:nvSpPr>
        <p:spPr/>
        <p:txBody>
          <a:bodyPr/>
          <a:lstStyle/>
          <a:p>
            <a:fld id="{6539E37A-E522-3D47-AAB7-DDF67C94A05D}" type="slidenum">
              <a:rPr lang="en-US" altLang="ja-JP"/>
              <a:t>9</a:t>
            </a:fld>
            <a:endParaRPr lang="ja-JP" altLang="en-US"/>
          </a:p>
        </p:txBody>
      </p:sp>
      <p:pic>
        <p:nvPicPr>
          <p:cNvPr id="8" name="図 7">
            <a:extLst>
              <a:ext uri="{FF2B5EF4-FFF2-40B4-BE49-F238E27FC236}">
                <a16:creationId xmlns:a16="http://schemas.microsoft.com/office/drawing/2014/main" id="{29E1A7F0-E052-5F58-F627-E201BCFAE1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2322" y="2147701"/>
            <a:ext cx="7067355" cy="4208649"/>
          </a:xfrm>
          <a:prstGeom prst="rect">
            <a:avLst/>
          </a:prstGeom>
        </p:spPr>
      </p:pic>
      <p:sp>
        <p:nvSpPr>
          <p:cNvPr id="10" name="テキスト ボックス 9">
            <a:extLst>
              <a:ext uri="{FF2B5EF4-FFF2-40B4-BE49-F238E27FC236}">
                <a16:creationId xmlns:a16="http://schemas.microsoft.com/office/drawing/2014/main" id="{1495B198-DEF2-6861-3F32-F62F2F1BA3DE}"/>
              </a:ext>
            </a:extLst>
          </p:cNvPr>
          <p:cNvSpPr txBox="1"/>
          <p:nvPr/>
        </p:nvSpPr>
        <p:spPr>
          <a:xfrm>
            <a:off x="464502" y="1022776"/>
            <a:ext cx="11262992" cy="584775"/>
          </a:xfrm>
          <a:prstGeom prst="rect">
            <a:avLst/>
          </a:prstGeom>
          <a:noFill/>
        </p:spPr>
        <p:txBody>
          <a:bodyPr wrap="square" rtlCol="0">
            <a:spAutoFit/>
          </a:bodyPr>
          <a:lstStyle/>
          <a:p>
            <a:r>
              <a:rPr lang="ja-JP" altLang="ja-JP" sz="1600"/>
              <a:t>商業施設については，到着施設を『大型規模小売店』とし，目的を『日常的な家事・買物』『日常的でない買物』『食事・社交・喫茶』『娯楽・文化活動』『観光・行楽・レジャー』『その他の自由目的』として抽出した。</a:t>
            </a:r>
            <a:endParaRPr kumimoji="1" lang="ja-JP" altLang="en-US" sz="1600"/>
          </a:p>
        </p:txBody>
      </p:sp>
    </p:spTree>
    <p:extLst>
      <p:ext uri="{BB962C8B-B14F-4D97-AF65-F5344CB8AC3E}">
        <p14:creationId xmlns:p14="http://schemas.microsoft.com/office/powerpoint/2010/main" val="3760601400"/>
      </p:ext>
    </p:extLst>
  </p:cSld>
  <p:clrMapOvr>
    <a:masterClrMapping/>
  </p:clrMapOvr>
</p:sld>
</file>

<file path=ppt/theme/theme1.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708</TotalTime>
  <Words>689</Words>
  <Application>Microsoft Macintosh PowerPoint</Application>
  <DocSecurity>0</DocSecurity>
  <PresentationFormat>ワイド画面</PresentationFormat>
  <Paragraphs>57</Paragraphs>
  <Slides>9</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HGMinchoE</vt:lpstr>
      <vt:lpstr>Calibri</vt:lpstr>
      <vt:lpstr>標準スライド</vt:lpstr>
      <vt:lpstr>開発計画に応じた施設来訪人口・属性の推定手法の検討 〜名鉄名古屋を題材に</vt:lpstr>
      <vt:lpstr>提案手法</vt:lpstr>
      <vt:lpstr>提案手法　①発生集中原単位の予測</vt:lpstr>
      <vt:lpstr>提案手法　①発生集中原単位の予測（事務所）</vt:lpstr>
      <vt:lpstr>提案手法　①発生集中原単位の予測（商業施設、ホテル）</vt:lpstr>
      <vt:lpstr>提案手法　②来訪者属性分布の推定　</vt:lpstr>
      <vt:lpstr>提案手法　②来訪者属性分布の推定　オフィスの来訪者分布</vt:lpstr>
      <vt:lpstr>提案手法　②来訪者属性分布の推定　ホテルの来訪者分布</vt:lpstr>
      <vt:lpstr>提案手法　②来訪者属性分布の推定　商業施設の来訪者分布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渡辺　悠生</cp:lastModifiedBy>
  <cp:revision>7</cp:revision>
  <dcterms:created xsi:type="dcterms:W3CDTF">2026-07-14T16:30:17Z</dcterms:created>
  <dcterms:modified xsi:type="dcterms:W3CDTF">2026-08-20T12:55:05Z</dcterms:modified>
</cp:coreProperties>
</file>