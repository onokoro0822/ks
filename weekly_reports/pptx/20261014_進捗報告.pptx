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中京PT（参照）</c:v>
                </c:pt>
              </c:strCache>
            </c:strRef>
          </c:tx>
          <c:spPr>
            <a:solidFill>
              <a:srgbClr val="E3A21A"/>
            </a:solidFill>
            <a:effectLst/>
          </c:spPr>
          <c:invertIfNegative val="0"/>
          <c:dLbls>
            <c:numFmt formatCode="0" sourceLinked="0"/>
            <c:txPr>
              <a:bodyPr/>
              <a:lstStyle/>
              <a:p>
                <a:pPr>
                  <a:defRPr b="0" i="0" strike="noStrike" sz="900" u="none">
                    <a:solidFill>
                      <a:srgbClr val="000000"/>
                    </a:solidFill>
                    <a:latin typeface="游ゴシック"/>
                  </a:defRPr>
                </a:pPr>
              </a:p>
            </c:txPr>
            <c:showLegendKey val="0"/>
            <c:showVal val="1"/>
            <c:showCatName val="0"/>
            <c:showSerName val="0"/>
            <c:showPercent val="0"/>
            <c:showBubbleSize val="0"/>
            <c:showLeaderLines val="0"/>
          </c:dLbls>
          <c:cat>
            <c:multiLvlStrRef>
              <c:f>Sheet1!$A$2:$A$5</c:f>
              <c:multiLvlStrCache>
                <c:ptCount val="4"/>
                <c:lvl>
                  <c:pt idx="0">
                    <c:v>中村区内</c:v>
                  </c:pt>
                  <c:pt idx="1">
                    <c:v>名古屋市内の他区</c:v>
                  </c:pt>
                  <c:pt idx="2">
                    <c:v>愛知県の他市町村</c:v>
                  </c:pt>
                  <c:pt idx="3">
                    <c:v>愛知県外</c:v>
                  </c:pt>
                </c:lvl>
              </c:multiLvlStrCache>
            </c:multiLvlStrRef>
          </c:cat>
          <c:val>
            <c:numRef>
              <c:f>Sheet1!$B$2:$B$5</c:f>
              <c:numCache>
                <c:formatCode>General</c:formatCode>
                <c:ptCount val="4"/>
                <c:pt idx="0">
                  <c:v>34.1</c:v>
                </c:pt>
                <c:pt idx="1">
                  <c:v>41</c:v>
                </c:pt>
                <c:pt idx="2">
                  <c:v>18.7</c:v>
                </c:pt>
                <c:pt idx="3">
                  <c:v>6.3</c:v>
                </c:pt>
              </c:numCache>
            </c:numRef>
          </c:val>
        </c:ser>
        <c:ser>
          <c:idx val="1"/>
          <c:order val="1"/>
          <c:tx>
            <c:strRef>
              <c:f>Sheet1!$C$1</c:f>
              <c:strCache>
                <c:ptCount val="1"/>
                <c:pt idx="0">
                  <c:v>研究室モデル（2%）</c:v>
                </c:pt>
              </c:strCache>
            </c:strRef>
          </c:tx>
          <c:spPr>
            <a:solidFill>
              <a:srgbClr val="8C8C8C"/>
            </a:solidFill>
            <a:effectLst/>
          </c:spPr>
          <c:invertIfNegative val="0"/>
          <c:dLbls>
            <c:numFmt formatCode="0" sourceLinked="0"/>
            <c:txPr>
              <a:bodyPr/>
              <a:lstStyle/>
              <a:p>
                <a:pPr>
                  <a:defRPr b="0" i="0" strike="noStrike" sz="900" u="none">
                    <a:solidFill>
                      <a:srgbClr val="000000"/>
                    </a:solidFill>
                    <a:latin typeface="游ゴシック"/>
                  </a:defRPr>
                </a:pPr>
              </a:p>
            </c:txPr>
            <c:showLegendKey val="0"/>
            <c:showVal val="1"/>
            <c:showCatName val="0"/>
            <c:showSerName val="0"/>
            <c:showPercent val="0"/>
            <c:showBubbleSize val="0"/>
            <c:showLeaderLines val="0"/>
          </c:dLbls>
          <c:cat>
            <c:multiLvlStrRef>
              <c:f>Sheet1!$A$2:$A$5</c:f>
              <c:multiLvlStrCache>
                <c:ptCount val="4"/>
                <c:lvl>
                  <c:pt idx="0">
                    <c:v>中村区内</c:v>
                  </c:pt>
                  <c:pt idx="1">
                    <c:v>名古屋市内の他区</c:v>
                  </c:pt>
                  <c:pt idx="2">
                    <c:v>愛知県の他市町村</c:v>
                  </c:pt>
                  <c:pt idx="3">
                    <c:v>愛知県外</c:v>
                  </c:pt>
                </c:lvl>
              </c:multiLvlStrCache>
            </c:multiLvlStrRef>
          </c:cat>
          <c:val>
            <c:numRef>
              <c:f>Sheet1!$C$2:$C$5</c:f>
              <c:numCache>
                <c:formatCode>General</c:formatCode>
                <c:ptCount val="4"/>
                <c:pt idx="0">
                  <c:v>10.4</c:v>
                </c:pt>
                <c:pt idx="1">
                  <c:v>59.9</c:v>
                </c:pt>
                <c:pt idx="2">
                  <c:v>29.7</c:v>
                </c:pt>
                <c:pt idx="3">
                  <c:v>0</c:v>
                </c:pt>
              </c:numCache>
            </c:numRef>
          </c:val>
        </c:ser>
        <c:ser>
          <c:idx val="2"/>
          <c:order val="2"/>
          <c:tx>
            <c:strRef>
              <c:f>Sheet1!$D$1</c:f>
              <c:strCache>
                <c:ptCount val="1"/>
                <c:pt idx="0">
                  <c:v>今回のモデル（全数）</c:v>
                </c:pt>
              </c:strCache>
            </c:strRef>
          </c:tx>
          <c:spPr>
            <a:solidFill>
              <a:srgbClr val="1F6FB2"/>
            </a:solidFill>
            <a:effectLst/>
          </c:spPr>
          <c:invertIfNegative val="0"/>
          <c:dLbls>
            <c:numFmt formatCode="0" sourceLinked="0"/>
            <c:txPr>
              <a:bodyPr/>
              <a:lstStyle/>
              <a:p>
                <a:pPr>
                  <a:defRPr b="0" i="0" strike="noStrike" sz="900" u="none">
                    <a:solidFill>
                      <a:srgbClr val="000000"/>
                    </a:solidFill>
                    <a:latin typeface="游ゴシック"/>
                  </a:defRPr>
                </a:pPr>
              </a:p>
            </c:txPr>
            <c:showLegendKey val="0"/>
            <c:showVal val="1"/>
            <c:showCatName val="0"/>
            <c:showSerName val="0"/>
            <c:showPercent val="0"/>
            <c:showBubbleSize val="0"/>
            <c:showLeaderLines val="0"/>
          </c:dLbls>
          <c:cat>
            <c:multiLvlStrRef>
              <c:f>Sheet1!$A$2:$A$5</c:f>
              <c:multiLvlStrCache>
                <c:ptCount val="4"/>
                <c:lvl>
                  <c:pt idx="0">
                    <c:v>中村区内</c:v>
                  </c:pt>
                  <c:pt idx="1">
                    <c:v>名古屋市内の他区</c:v>
                  </c:pt>
                  <c:pt idx="2">
                    <c:v>愛知県の他市町村</c:v>
                  </c:pt>
                  <c:pt idx="3">
                    <c:v>愛知県外</c:v>
                  </c:pt>
                </c:lvl>
              </c:multiLvlStrCache>
            </c:multiLvlStrRef>
          </c:cat>
          <c:val>
            <c:numRef>
              <c:f>Sheet1!$D$2:$D$5</c:f>
              <c:numCache>
                <c:formatCode>General</c:formatCode>
                <c:ptCount val="4"/>
                <c:pt idx="0">
                  <c:v>44.7</c:v>
                </c:pt>
                <c:pt idx="1">
                  <c:v>41</c:v>
                </c:pt>
                <c:pt idx="2">
                  <c:v>14.2</c:v>
                </c:pt>
                <c:pt idx="3">
                  <c:v>0</c:v>
                </c:pt>
              </c:numCache>
            </c:numRef>
          </c:val>
        </c:ser>
        <c:dLbls>
          <c:numFmt formatCode="0" sourceLinked="0"/>
          <c:txPr>
            <a:bodyPr/>
            <a:lstStyle/>
            <a:p>
              <a:pPr>
                <a:defRPr b="0" i="0" strike="noStrike" sz="900" u="none">
                  <a:solidFill>
                    <a:srgbClr val="000000"/>
                  </a:solidFill>
                  <a:latin typeface="游ゴシック"/>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游ゴシック"/>
              </a:defRPr>
            </a:pPr>
            <a:endParaRPr lang="en-US"/>
          </a:p>
        </c:txPr>
        <c:crossAx val="2094734552"/>
        <c:crosses val="autoZero"/>
        <c:auto val="1"/>
        <c:lblAlgn val="ctr"/>
        <c:noMultiLvlLbl val="1"/>
      </c:catAx>
      <c:valAx>
        <c:axId val="2094734552"/>
        <c:scaling>
          <c:orientation val="minMax"/>
          <c:max val="70"/>
        </c:scaling>
        <c:delete val="0"/>
        <c:axPos val="l"/>
        <c:majorGridlines>
          <c:spPr>
            <a:ln w="6350" cap="flat">
              <a:solidFill>
                <a:srgbClr val="DDDDDD"/>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latin typeface="游ゴシック"/>
              <a:cs typeface="游ゴシック"/>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研究室モデル</c:v>
                </c:pt>
              </c:strCache>
            </c:strRef>
          </c:tx>
          <c:spPr>
            <a:solidFill>
              <a:srgbClr val="8C8C8C"/>
            </a:solidFill>
            <a:effectLst/>
          </c:spPr>
          <c:invertIfNegative val="0"/>
          <c:dLbls>
            <c:numFmt formatCode="0.00" sourceLinked="0"/>
            <c:txPr>
              <a:bodyPr/>
              <a:lstStyle/>
              <a:p>
                <a:pPr>
                  <a:defRPr b="0" i="0" strike="noStrike" sz="900" u="none">
                    <a:solidFill>
                      <a:srgbClr val="000000"/>
                    </a:solidFill>
                    <a:latin typeface="游ゴシック"/>
                  </a:defRPr>
                </a:pPr>
              </a:p>
            </c:txPr>
            <c:showLegendKey val="0"/>
            <c:showVal val="1"/>
            <c:showCatName val="0"/>
            <c:showSerName val="0"/>
            <c:showPercent val="0"/>
            <c:showBubbleSize val="0"/>
            <c:showLeaderLines val="0"/>
          </c:dLbls>
          <c:cat>
            <c:multiLvlStrRef>
              <c:f>Sheet1!$A$2:$A$5</c:f>
              <c:multiLvlStrCache>
                <c:ptCount val="4"/>
                <c:lvl>
                  <c:pt idx="0">
                    <c:v>seed42</c:v>
                  </c:pt>
                  <c:pt idx="1">
                    <c:v>seed43</c:v>
                  </c:pt>
                  <c:pt idx="2">
                    <c:v>seed44</c:v>
                  </c:pt>
                  <c:pt idx="3">
                    <c:v>seed45</c:v>
                  </c:pt>
                </c:lvl>
              </c:multiLvlStrCache>
            </c:multiLvlStrRef>
          </c:cat>
          <c:val>
            <c:numRef>
              <c:f>Sheet1!$B$2:$B$5</c:f>
              <c:numCache>
                <c:formatCode>General</c:formatCode>
                <c:ptCount val="4"/>
                <c:pt idx="0">
                  <c:v>0.569</c:v>
                </c:pt>
                <c:pt idx="1">
                  <c:v>0.539</c:v>
                </c:pt>
                <c:pt idx="2">
                  <c:v>0.523</c:v>
                </c:pt>
                <c:pt idx="3">
                  <c:v>0.597</c:v>
                </c:pt>
              </c:numCache>
            </c:numRef>
          </c:val>
        </c:ser>
        <c:ser>
          <c:idx val="1"/>
          <c:order val="1"/>
          <c:tx>
            <c:strRef>
              <c:f>Sheet1!$C$1</c:f>
              <c:strCache>
                <c:ptCount val="1"/>
                <c:pt idx="0">
                  <c:v>今回のモデル</c:v>
                </c:pt>
              </c:strCache>
            </c:strRef>
          </c:tx>
          <c:spPr>
            <a:solidFill>
              <a:srgbClr val="1F6FB2"/>
            </a:solidFill>
            <a:effectLst/>
          </c:spPr>
          <c:invertIfNegative val="0"/>
          <c:dLbls>
            <c:numFmt formatCode="0.00" sourceLinked="0"/>
            <c:txPr>
              <a:bodyPr/>
              <a:lstStyle/>
              <a:p>
                <a:pPr>
                  <a:defRPr b="0" i="0" strike="noStrike" sz="900" u="none">
                    <a:solidFill>
                      <a:srgbClr val="000000"/>
                    </a:solidFill>
                    <a:latin typeface="游ゴシック"/>
                  </a:defRPr>
                </a:pPr>
              </a:p>
            </c:txPr>
            <c:showLegendKey val="0"/>
            <c:showVal val="1"/>
            <c:showCatName val="0"/>
            <c:showSerName val="0"/>
            <c:showPercent val="0"/>
            <c:showBubbleSize val="0"/>
            <c:showLeaderLines val="0"/>
          </c:dLbls>
          <c:cat>
            <c:multiLvlStrRef>
              <c:f>Sheet1!$A$2:$A$5</c:f>
              <c:multiLvlStrCache>
                <c:ptCount val="4"/>
                <c:lvl>
                  <c:pt idx="0">
                    <c:v>seed42</c:v>
                  </c:pt>
                  <c:pt idx="1">
                    <c:v>seed43</c:v>
                  </c:pt>
                  <c:pt idx="2">
                    <c:v>seed44</c:v>
                  </c:pt>
                  <c:pt idx="3">
                    <c:v>seed45</c:v>
                  </c:pt>
                </c:lvl>
              </c:multiLvlStrCache>
            </c:multiLvlStrRef>
          </c:cat>
          <c:val>
            <c:numRef>
              <c:f>Sheet1!$C$2:$C$5</c:f>
              <c:numCache>
                <c:formatCode>General</c:formatCode>
                <c:ptCount val="4"/>
                <c:pt idx="0">
                  <c:v>0.349</c:v>
                </c:pt>
                <c:pt idx="1">
                  <c:v>0.351</c:v>
                </c:pt>
                <c:pt idx="2">
                  <c:v>0.379</c:v>
                </c:pt>
                <c:pt idx="3">
                  <c:v>0.339</c:v>
                </c:pt>
              </c:numCache>
            </c:numRef>
          </c:val>
        </c:ser>
        <c:dLbls>
          <c:numFmt formatCode="0.00" sourceLinked="0"/>
          <c:txPr>
            <a:bodyPr/>
            <a:lstStyle/>
            <a:p>
              <a:pPr>
                <a:defRPr b="0" i="0" strike="noStrike" sz="900" u="none">
                  <a:solidFill>
                    <a:srgbClr val="000000"/>
                  </a:solidFill>
                  <a:latin typeface="游ゴシック"/>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游ゴシック"/>
              </a:defRPr>
            </a:pPr>
            <a:endParaRPr lang="en-US"/>
          </a:p>
        </c:txPr>
        <c:crossAx val="2094734552"/>
        <c:crosses val="autoZero"/>
        <c:auto val="1"/>
        <c:lblAlgn val="ctr"/>
        <c:noMultiLvlLbl val="1"/>
      </c:catAx>
      <c:valAx>
        <c:axId val="2094734552"/>
        <c:scaling>
          <c:orientation val="minMax"/>
          <c:max val="0.7"/>
          <c:min val="0"/>
        </c:scaling>
        <c:delete val="0"/>
        <c:axPos val="l"/>
        <c:majorGridlines>
          <c:spPr>
            <a:ln w="6350" cap="flat">
              <a:solidFill>
                <a:srgbClr val="DDDDDD"/>
              </a:solidFill>
              <a:prstDash val="solid"/>
              <a:round/>
            </a:ln>
          </c:spPr>
        </c:majorGridlines>
        <c:title>
          <c:tx>
            <c:rich>
              <a:bodyPr/>
              <a:lstStyle/>
              <a:p>
                <a:pPr>
                  <a:defRPr sz="1000" b="0" i="0" u="none" strike="noStrike">
                    <a:solidFill>
                      <a:srgbClr val="000000"/>
                    </a:solidFill>
                    <a:latin typeface="游ゴシック"/>
                  </a:defRPr>
                </a:pPr>
                <a:r>
                  <a:rPr sz="1000" b="0" i="0" u="none" strike="noStrike">
                    <a:solidFill>
                      <a:srgbClr val="000000"/>
                    </a:solidFill>
                    <a:latin typeface="游ゴシック"/>
                  </a:rPr>
                  <a:t>出発地のずれ（TVD）</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latin typeface="游ゴシック"/>
              <a:cs typeface="游ゴシック"/>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00000"/>
                </a:solidFill>
                <a:latin typeface="游ゴシック"/>
              </a:defRPr>
            </a:pPr>
            <a:r>
              <a:rPr sz="1100" b="0" i="0" u="none" strike="noStrike">
                <a:solidFill>
                  <a:srgbClr val="000000"/>
                </a:solidFill>
                <a:latin typeface="游ゴシック"/>
              </a:rPr>
              <a:t>来訪者の出発地（%、愛知県内）</a:t>
            </a:r>
          </a:p>
        </c:rich>
      </c:tx>
      <c:layout/>
      <c:overlay val="0"/>
    </c:title>
    <c:autoTitleDeleted val="0"/>
    <c:plotArea>
      <c:layout/>
      <c:barChart>
        <c:barDir val="col"/>
        <c:grouping val="percentStacked"/>
        <c:varyColors val="0"/>
        <c:ser>
          <c:idx val="0"/>
          <c:order val="0"/>
          <c:tx>
            <c:strRef>
              <c:f>Sheet1!$B$1</c:f>
              <c:strCache>
                <c:ptCount val="1"/>
                <c:pt idx="0">
                  <c:v>中村区内</c:v>
                </c:pt>
              </c:strCache>
            </c:strRef>
          </c:tx>
          <c:spPr>
            <a:solidFill>
              <a:srgbClr val="1F6FB2"/>
            </a:solidFill>
            <a:effectLst/>
          </c:spPr>
          <c:invertIfNegative val="0"/>
          <c:dLbls>
            <c:numFmt formatCode="0.0" sourceLinked="0"/>
            <c:txPr>
              <a:bodyPr/>
              <a:lstStyle/>
              <a:p>
                <a:pPr>
                  <a:defRPr b="0" i="0" strike="noStrike" sz="1000" u="none">
                    <a:solidFill>
                      <a:srgbClr val="FFFFFF"/>
                    </a:solidFill>
                    <a:latin typeface="游ゴシック"/>
                  </a:defRPr>
                </a:pPr>
              </a:p>
            </c:txPr>
            <c:dLblPos val="ctr"/>
            <c:showLegendKey val="0"/>
            <c:showVal val="1"/>
            <c:showCatName val="0"/>
            <c:showSerName val="0"/>
            <c:showPercent val="0"/>
            <c:showBubbleSize val="0"/>
            <c:showLeaderLines val="0"/>
          </c:dLbls>
          <c:cat>
            <c:multiLvlStrRef>
              <c:f>Sheet1!$A$2:$A$4</c:f>
              <c:multiLvlStrCache>
                <c:ptCount val="3"/>
                <c:lvl>
                  <c:pt idx="0">
                    <c:v>中京PT</c:v>
                  </c:pt>
                  <c:pt idx="1">
                    <c:v>目標3,000</c:v>
                  </c:pt>
                  <c:pt idx="2">
                    <c:v>目標6,000</c:v>
                  </c:pt>
                </c:lvl>
              </c:multiLvlStrCache>
            </c:multiLvlStrRef>
          </c:cat>
          <c:val>
            <c:numRef>
              <c:f>Sheet1!$B$2:$B$4</c:f>
              <c:numCache>
                <c:formatCode>General</c:formatCode>
                <c:ptCount val="3"/>
                <c:pt idx="0">
                  <c:v>36.4</c:v>
                </c:pt>
                <c:pt idx="1">
                  <c:v>43.3</c:v>
                </c:pt>
                <c:pt idx="2">
                  <c:v>44.8</c:v>
                </c:pt>
              </c:numCache>
            </c:numRef>
          </c:val>
        </c:ser>
        <c:ser>
          <c:idx val="1"/>
          <c:order val="1"/>
          <c:tx>
            <c:strRef>
              <c:f>Sheet1!$C$1</c:f>
              <c:strCache>
                <c:ptCount val="1"/>
                <c:pt idx="0">
                  <c:v>名古屋市内の他区</c:v>
                </c:pt>
              </c:strCache>
            </c:strRef>
          </c:tx>
          <c:spPr>
            <a:solidFill>
              <a:srgbClr val="E3A21A"/>
            </a:solidFill>
            <a:effectLst/>
          </c:spPr>
          <c:invertIfNegative val="0"/>
          <c:dLbls>
            <c:numFmt formatCode="0.0" sourceLinked="0"/>
            <c:txPr>
              <a:bodyPr/>
              <a:lstStyle/>
              <a:p>
                <a:pPr>
                  <a:defRPr b="0" i="0" strike="noStrike" sz="1000" u="none">
                    <a:solidFill>
                      <a:srgbClr val="FFFFFF"/>
                    </a:solidFill>
                    <a:latin typeface="游ゴシック"/>
                  </a:defRPr>
                </a:pPr>
              </a:p>
            </c:txPr>
            <c:dLblPos val="ctr"/>
            <c:showLegendKey val="0"/>
            <c:showVal val="1"/>
            <c:showCatName val="0"/>
            <c:showSerName val="0"/>
            <c:showPercent val="0"/>
            <c:showBubbleSize val="0"/>
            <c:showLeaderLines val="0"/>
          </c:dLbls>
          <c:cat>
            <c:multiLvlStrRef>
              <c:f>Sheet1!$A$2:$A$4</c:f>
              <c:multiLvlStrCache>
                <c:ptCount val="3"/>
                <c:lvl>
                  <c:pt idx="0">
                    <c:v>中京PT</c:v>
                  </c:pt>
                  <c:pt idx="1">
                    <c:v>目標3,000</c:v>
                  </c:pt>
                  <c:pt idx="2">
                    <c:v>目標6,000</c:v>
                  </c:pt>
                </c:lvl>
              </c:multiLvlStrCache>
            </c:multiLvlStrRef>
          </c:cat>
          <c:val>
            <c:numRef>
              <c:f>Sheet1!$C$2:$C$4</c:f>
              <c:numCache>
                <c:formatCode>General</c:formatCode>
                <c:ptCount val="3"/>
                <c:pt idx="0">
                  <c:v>43.7</c:v>
                </c:pt>
                <c:pt idx="1">
                  <c:v>41.5</c:v>
                </c:pt>
                <c:pt idx="2">
                  <c:v>40.7</c:v>
                </c:pt>
              </c:numCache>
            </c:numRef>
          </c:val>
        </c:ser>
        <c:ser>
          <c:idx val="2"/>
          <c:order val="2"/>
          <c:tx>
            <c:strRef>
              <c:f>Sheet1!$D$1</c:f>
              <c:strCache>
                <c:ptCount val="1"/>
                <c:pt idx="0">
                  <c:v>愛知県の他市町村</c:v>
                </c:pt>
              </c:strCache>
            </c:strRef>
          </c:tx>
          <c:spPr>
            <a:solidFill>
              <a:srgbClr val="6AA84F"/>
            </a:solidFill>
            <a:effectLst/>
          </c:spPr>
          <c:invertIfNegative val="0"/>
          <c:dLbls>
            <c:numFmt formatCode="0.0" sourceLinked="0"/>
            <c:txPr>
              <a:bodyPr/>
              <a:lstStyle/>
              <a:p>
                <a:pPr>
                  <a:defRPr b="0" i="0" strike="noStrike" sz="1000" u="none">
                    <a:solidFill>
                      <a:srgbClr val="FFFFFF"/>
                    </a:solidFill>
                    <a:latin typeface="游ゴシック"/>
                  </a:defRPr>
                </a:pPr>
              </a:p>
            </c:txPr>
            <c:dLblPos val="ctr"/>
            <c:showLegendKey val="0"/>
            <c:showVal val="1"/>
            <c:showCatName val="0"/>
            <c:showSerName val="0"/>
            <c:showPercent val="0"/>
            <c:showBubbleSize val="0"/>
            <c:showLeaderLines val="0"/>
          </c:dLbls>
          <c:cat>
            <c:multiLvlStrRef>
              <c:f>Sheet1!$A$2:$A$4</c:f>
              <c:multiLvlStrCache>
                <c:ptCount val="3"/>
                <c:lvl>
                  <c:pt idx="0">
                    <c:v>中京PT</c:v>
                  </c:pt>
                  <c:pt idx="1">
                    <c:v>目標3,000</c:v>
                  </c:pt>
                  <c:pt idx="2">
                    <c:v>目標6,000</c:v>
                  </c:pt>
                </c:lvl>
              </c:multiLvlStrCache>
            </c:multiLvlStrRef>
          </c:cat>
          <c:val>
            <c:numRef>
              <c:f>Sheet1!$D$2:$D$4</c:f>
              <c:numCache>
                <c:formatCode>General</c:formatCode>
                <c:ptCount val="3"/>
                <c:pt idx="0">
                  <c:v>19.9</c:v>
                </c:pt>
                <c:pt idx="1">
                  <c:v>15.2</c:v>
                </c:pt>
                <c:pt idx="2">
                  <c:v>14.5</c:v>
                </c:pt>
              </c:numCache>
            </c:numRef>
          </c:val>
        </c:ser>
        <c:dLbls>
          <c:numFmt formatCode="0.0" sourceLinked="0"/>
          <c:txPr>
            <a:bodyPr/>
            <a:lstStyle/>
            <a:p>
              <a:pPr>
                <a:defRPr b="0" i="0" strike="noStrike" sz="1000" u="none">
                  <a:solidFill>
                    <a:srgbClr val="FFFFFF"/>
                  </a:solidFill>
                  <a:latin typeface="游ゴシック"/>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游ゴシック"/>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DDDDD"/>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latin typeface="游ゴシック"/>
              <a:cs typeface="游ゴシック"/>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同じ名駅メッシュの店</c:v>
                </c:pt>
              </c:strCache>
            </c:strRef>
          </c:tx>
          <c:spPr>
            <a:solidFill>
              <a:srgbClr val="8C8C8C"/>
            </a:solidFill>
            <a:effectLst/>
          </c:spPr>
          <c:invertIfNegative val="0"/>
          <c:dLbls>
            <c:numFmt formatCode="#,##0" sourceLinked="0"/>
            <c:txPr>
              <a:bodyPr/>
              <a:lstStyle/>
              <a:p>
                <a:pPr>
                  <a:defRPr b="0" i="0" strike="noStrike" sz="1000" u="none">
                    <a:solidFill>
                      <a:srgbClr val="FFFFFF"/>
                    </a:solidFill>
                    <a:latin typeface="游ゴシック"/>
                  </a:defRPr>
                </a:pPr>
              </a:p>
            </c:txPr>
            <c:dLblPos val="ctr"/>
            <c:showLegendKey val="0"/>
            <c:showVal val="0"/>
            <c:showCatName val="0"/>
            <c:showSerName val="0"/>
            <c:showPercent val="0"/>
            <c:showBubbleSize val="0"/>
            <c:showLeaderLines val="0"/>
          </c:dLbls>
          <c:cat>
            <c:multiLvlStrRef>
              <c:f>Sheet1!$A$2:$A$3</c:f>
              <c:multiLvlStrCache>
                <c:ptCount val="2"/>
                <c:lvl>
                  <c:pt idx="0">
                    <c:v>目標3,000</c:v>
                  </c:pt>
                  <c:pt idx="1">
                    <c:v>目標6,000</c:v>
                  </c:pt>
                </c:lvl>
              </c:multiLvlStrCache>
            </c:multiLvlStrRef>
          </c:cat>
          <c:val>
            <c:numRef>
              <c:f>Sheet1!$B$2:$B$3</c:f>
              <c:numCache>
                <c:formatCode>General</c:formatCode>
                <c:ptCount val="2"/>
                <c:pt idx="0">
                  <c:v>2431</c:v>
                </c:pt>
                <c:pt idx="1">
                  <c:v>5788</c:v>
                </c:pt>
              </c:numCache>
            </c:numRef>
          </c:val>
        </c:ser>
        <c:ser>
          <c:idx val="1"/>
          <c:order val="1"/>
          <c:tx>
            <c:strRef>
              <c:f>Sheet1!$C$1</c:f>
              <c:strCache>
                <c:ptCount val="1"/>
                <c:pt idx="0">
                  <c:v>中村区内の別メッシュの店</c:v>
                </c:pt>
              </c:strCache>
            </c:strRef>
          </c:tx>
          <c:spPr>
            <a:solidFill>
              <a:srgbClr val="E3A21A"/>
            </a:solidFill>
            <a:effectLst/>
          </c:spPr>
          <c:invertIfNegative val="0"/>
          <c:dLbls>
            <c:numFmt formatCode="#,##0" sourceLinked="0"/>
            <c:txPr>
              <a:bodyPr/>
              <a:lstStyle/>
              <a:p>
                <a:pPr>
                  <a:defRPr b="0" i="0" strike="noStrike" sz="1000" u="none">
                    <a:solidFill>
                      <a:srgbClr val="FFFFFF"/>
                    </a:solidFill>
                    <a:latin typeface="游ゴシック"/>
                  </a:defRPr>
                </a:pPr>
              </a:p>
            </c:txPr>
            <c:dLblPos val="ctr"/>
            <c:showLegendKey val="0"/>
            <c:showVal val="0"/>
            <c:showCatName val="0"/>
            <c:showSerName val="0"/>
            <c:showPercent val="0"/>
            <c:showBubbleSize val="0"/>
            <c:showLeaderLines val="0"/>
          </c:dLbls>
          <c:cat>
            <c:multiLvlStrRef>
              <c:f>Sheet1!$A$2:$A$3</c:f>
              <c:multiLvlStrCache>
                <c:ptCount val="2"/>
                <c:lvl>
                  <c:pt idx="0">
                    <c:v>目標3,000</c:v>
                  </c:pt>
                  <c:pt idx="1">
                    <c:v>目標6,000</c:v>
                  </c:pt>
                </c:lvl>
              </c:multiLvlStrCache>
            </c:multiLvlStrRef>
          </c:cat>
          <c:val>
            <c:numRef>
              <c:f>Sheet1!$C$2:$C$3</c:f>
              <c:numCache>
                <c:formatCode>General</c:formatCode>
                <c:ptCount val="2"/>
                <c:pt idx="0">
                  <c:v>378</c:v>
                </c:pt>
                <c:pt idx="1">
                  <c:v>134</c:v>
                </c:pt>
              </c:numCache>
            </c:numRef>
          </c:val>
        </c:ser>
        <c:ser>
          <c:idx val="2"/>
          <c:order val="2"/>
          <c:tx>
            <c:strRef>
              <c:f>Sheet1!$D$1</c:f>
              <c:strCache>
                <c:ptCount val="1"/>
                <c:pt idx="0">
                  <c:v>中村区外の店</c:v>
                </c:pt>
              </c:strCache>
            </c:strRef>
          </c:tx>
          <c:spPr>
            <a:solidFill>
              <a:srgbClr val="1F6FB2"/>
            </a:solidFill>
            <a:effectLst/>
          </c:spPr>
          <c:invertIfNegative val="0"/>
          <c:dLbls>
            <c:numFmt formatCode="#,##0" sourceLinked="0"/>
            <c:txPr>
              <a:bodyPr/>
              <a:lstStyle/>
              <a:p>
                <a:pPr>
                  <a:defRPr b="0" i="0" strike="noStrike" sz="1000" u="none">
                    <a:solidFill>
                      <a:srgbClr val="FFFFFF"/>
                    </a:solidFill>
                    <a:latin typeface="游ゴシック"/>
                  </a:defRPr>
                </a:pPr>
              </a:p>
            </c:txPr>
            <c:dLblPos val="ctr"/>
            <c:showLegendKey val="0"/>
            <c:showVal val="0"/>
            <c:showCatName val="0"/>
            <c:showSerName val="0"/>
            <c:showPercent val="0"/>
            <c:showBubbleSize val="0"/>
            <c:showLeaderLines val="0"/>
          </c:dLbls>
          <c:cat>
            <c:multiLvlStrRef>
              <c:f>Sheet1!$A$2:$A$3</c:f>
              <c:multiLvlStrCache>
                <c:ptCount val="2"/>
                <c:lvl>
                  <c:pt idx="0">
                    <c:v>目標3,000</c:v>
                  </c:pt>
                  <c:pt idx="1">
                    <c:v>目標6,000</c:v>
                  </c:pt>
                </c:lvl>
              </c:multiLvlStrCache>
            </c:multiLvlStrRef>
          </c:cat>
          <c:val>
            <c:numRef>
              <c:f>Sheet1!$D$2:$D$3</c:f>
              <c:numCache>
                <c:formatCode>General</c:formatCode>
                <c:ptCount val="2"/>
                <c:pt idx="0">
                  <c:v>183</c:v>
                </c:pt>
                <c:pt idx="1">
                  <c:v>54</c:v>
                </c:pt>
              </c:numCache>
            </c:numRef>
          </c:val>
        </c:ser>
        <c:dLbls>
          <c:numFmt formatCode="#,##0" sourceLinked="0"/>
          <c:txPr>
            <a:bodyPr/>
            <a:lstStyle/>
            <a:p>
              <a:pPr>
                <a:defRPr b="0" i="0" strike="noStrike" sz="1000" u="none">
                  <a:solidFill>
                    <a:srgbClr val="FFFFFF"/>
                  </a:solidFill>
                  <a:latin typeface="游ゴシック"/>
                </a:defRPr>
              </a:pPr>
            </a:p>
          </c:txPr>
          <c:dLblPos val="ct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游ゴシック"/>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DDDDD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latin typeface="游ゴシック"/>
              <a:cs typeface="游ゴシック"/>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365760" y="182880"/>
            <a:ext cx="8412480" cy="548640"/>
          </a:xfrm>
          <a:prstGeom prst="rect">
            <a:avLst/>
          </a:prstGeom>
          <a:noFill/>
          <a:ln/>
        </p:spPr>
        <p:txBody>
          <a:bodyPr wrap="square" lIns="0" tIns="0" rIns="0" bIns="0" rtlCol="0" anchor="ctr"/>
          <a:lstStyle/>
          <a:p>
            <a:pPr indent="0" marL="0">
              <a:buNone/>
            </a:pPr>
            <a:r>
              <a:rPr lang="en-US" sz="2800" b="1" dirty="0">
                <a:solidFill>
                  <a:srgbClr val="222222"/>
                </a:solidFill>
                <a:latin typeface="游ゴシック" pitchFamily="34" charset="0"/>
                <a:ea typeface="游ゴシック" pitchFamily="34" charset="-122"/>
                <a:cs typeface="游ゴシック" pitchFamily="34" charset="-120"/>
              </a:rPr>
              <a:t>今回の進捗：結論</a:t>
            </a:r>
            <a:endParaRPr lang="en-US" sz="2800" dirty="0"/>
          </a:p>
        </p:txBody>
      </p:sp>
      <p:sp>
        <p:nvSpPr>
          <p:cNvPr id="3" name="Shape 1"/>
          <p:cNvSpPr/>
          <p:nvPr/>
        </p:nvSpPr>
        <p:spPr>
          <a:xfrm>
            <a:off x="365760" y="1051560"/>
            <a:ext cx="411480" cy="411480"/>
          </a:xfrm>
          <a:prstGeom prst="ellipse">
            <a:avLst/>
          </a:prstGeom>
          <a:solidFill>
            <a:srgbClr val="1F6FB2"/>
          </a:solidFill>
          <a:ln w="12700">
            <a:solidFill>
              <a:srgbClr val="1F6FB2"/>
            </a:solidFill>
            <a:prstDash val="solid"/>
          </a:ln>
        </p:spPr>
      </p:sp>
      <p:sp>
        <p:nvSpPr>
          <p:cNvPr id="4" name="Text 2"/>
          <p:cNvSpPr txBox="1"/>
          <p:nvPr/>
        </p:nvSpPr>
        <p:spPr>
          <a:xfrm>
            <a:off x="365760" y="10515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游ゴシック" pitchFamily="34" charset="0"/>
                <a:ea typeface="游ゴシック" pitchFamily="34" charset="-122"/>
                <a:cs typeface="游ゴシック" pitchFamily="34" charset="-120"/>
              </a:rPr>
              <a:t>1</a:t>
            </a:r>
            <a:endParaRPr lang="en-US" sz="1400" dirty="0"/>
          </a:p>
        </p:txBody>
      </p:sp>
      <p:sp>
        <p:nvSpPr>
          <p:cNvPr id="5" name="Text 3"/>
          <p:cNvSpPr txBox="1"/>
          <p:nvPr/>
        </p:nvSpPr>
        <p:spPr>
          <a:xfrm>
            <a:off x="960120" y="868680"/>
            <a:ext cx="7818120" cy="868680"/>
          </a:xfrm>
          <a:prstGeom prst="rect">
            <a:avLst/>
          </a:prstGeom>
          <a:noFill/>
          <a:ln/>
        </p:spPr>
        <p:txBody>
          <a:bodyPr wrap="square" lIns="0" tIns="0" rIns="0" bIns="0" rtlCol="0" anchor="ctr"/>
          <a:lstStyle/>
          <a:p>
            <a:pPr indent="0" marL="0">
              <a:buNone/>
            </a:pPr>
            <a:r>
              <a:rPr lang="en-US" sz="1500" b="1" dirty="0">
                <a:solidFill>
                  <a:srgbClr val="222222"/>
                </a:solidFill>
                <a:latin typeface="游ゴシック" pitchFamily="34" charset="0"/>
                <a:ea typeface="游ゴシック" pitchFamily="34" charset="-122"/>
                <a:cs typeface="游ゴシック" pitchFamily="34" charset="-120"/>
              </a:rPr>
              <a:t>人数の自動校正は成立</a:t>
            </a:r>
            <a:endParaRPr lang="en-US" sz="15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仮想の新施設に3,000・6,000トリップ/日（買物）を目標にし、商業量とcapacityをコードで調整。全数で3,004件（+0.13%）・5,977件（−0.38%）</a:t>
            </a:r>
            <a:endParaRPr lang="en-US" sz="1500" dirty="0"/>
          </a:p>
        </p:txBody>
      </p:sp>
      <p:sp>
        <p:nvSpPr>
          <p:cNvPr id="6" name="Shape 4"/>
          <p:cNvSpPr/>
          <p:nvPr/>
        </p:nvSpPr>
        <p:spPr>
          <a:xfrm>
            <a:off x="365760" y="2011680"/>
            <a:ext cx="411480" cy="411480"/>
          </a:xfrm>
          <a:prstGeom prst="ellipse">
            <a:avLst/>
          </a:prstGeom>
          <a:solidFill>
            <a:srgbClr val="1F6FB2"/>
          </a:solidFill>
          <a:ln w="12700">
            <a:solidFill>
              <a:srgbClr val="1F6FB2"/>
            </a:solidFill>
            <a:prstDash val="solid"/>
          </a:ln>
        </p:spPr>
      </p:sp>
      <p:sp>
        <p:nvSpPr>
          <p:cNvPr id="7" name="Text 5"/>
          <p:cNvSpPr txBox="1"/>
          <p:nvPr/>
        </p:nvSpPr>
        <p:spPr>
          <a:xfrm>
            <a:off x="365760" y="20116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游ゴシック" pitchFamily="34" charset="0"/>
                <a:ea typeface="游ゴシック" pitchFamily="34" charset="-122"/>
                <a:cs typeface="游ゴシック" pitchFamily="34" charset="-120"/>
              </a:rPr>
              <a:t>2</a:t>
            </a:r>
            <a:endParaRPr lang="en-US" sz="1400" dirty="0"/>
          </a:p>
        </p:txBody>
      </p:sp>
      <p:sp>
        <p:nvSpPr>
          <p:cNvPr id="8" name="Text 6"/>
          <p:cNvSpPr txBox="1"/>
          <p:nvPr/>
        </p:nvSpPr>
        <p:spPr>
          <a:xfrm>
            <a:off x="960120" y="1828800"/>
            <a:ext cx="7818120" cy="868680"/>
          </a:xfrm>
          <a:prstGeom prst="rect">
            <a:avLst/>
          </a:prstGeom>
          <a:noFill/>
          <a:ln/>
        </p:spPr>
        <p:txBody>
          <a:bodyPr wrap="square" lIns="0" tIns="0" rIns="0" bIns="0" rtlCol="0" anchor="ctr"/>
          <a:lstStyle/>
          <a:p>
            <a:pPr indent="0" marL="0">
              <a:buNone/>
            </a:pPr>
            <a:r>
              <a:rPr lang="en-US" sz="1500" b="1" dirty="0">
                <a:solidFill>
                  <a:srgbClr val="222222"/>
                </a:solidFill>
                <a:latin typeface="游ゴシック" pitchFamily="34" charset="0"/>
                <a:ea typeface="游ゴシック" pitchFamily="34" charset="-122"/>
                <a:cs typeface="游ゴシック" pitchFamily="34" charset="-120"/>
              </a:rPr>
              <a:t>研究室モデルより来訪者の出発地は改善</a:t>
            </a:r>
            <a:endParaRPr lang="en-US" sz="15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同じ計画を入れた比較で、PTとのずれ（TVD）は0.557→0.354（2%・4seed平均）。研究室モデルは施設を足しても中村区の買物が増えない</a:t>
            </a:r>
            <a:endParaRPr lang="en-US" sz="1500" dirty="0"/>
          </a:p>
        </p:txBody>
      </p:sp>
      <p:sp>
        <p:nvSpPr>
          <p:cNvPr id="9" name="Shape 7"/>
          <p:cNvSpPr/>
          <p:nvPr/>
        </p:nvSpPr>
        <p:spPr>
          <a:xfrm>
            <a:off x="365760" y="2971800"/>
            <a:ext cx="411480" cy="411480"/>
          </a:xfrm>
          <a:prstGeom prst="ellipse">
            <a:avLst/>
          </a:prstGeom>
          <a:solidFill>
            <a:srgbClr val="C0504D"/>
          </a:solidFill>
          <a:ln w="12700">
            <a:solidFill>
              <a:srgbClr val="C0504D"/>
            </a:solidFill>
            <a:prstDash val="solid"/>
          </a:ln>
        </p:spPr>
      </p:sp>
      <p:sp>
        <p:nvSpPr>
          <p:cNvPr id="10" name="Text 8"/>
          <p:cNvSpPr txBox="1"/>
          <p:nvPr/>
        </p:nvSpPr>
        <p:spPr>
          <a:xfrm>
            <a:off x="365760" y="29718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游ゴシック" pitchFamily="34" charset="0"/>
                <a:ea typeface="游ゴシック" pitchFamily="34" charset="-122"/>
                <a:cs typeface="游ゴシック" pitchFamily="34" charset="-120"/>
              </a:rPr>
              <a:t>3</a:t>
            </a:r>
            <a:endParaRPr lang="en-US" sz="1400" dirty="0"/>
          </a:p>
        </p:txBody>
      </p:sp>
      <p:sp>
        <p:nvSpPr>
          <p:cNvPr id="11" name="Text 9"/>
          <p:cNvSpPr txBox="1"/>
          <p:nvPr/>
        </p:nvSpPr>
        <p:spPr>
          <a:xfrm>
            <a:off x="960120" y="2788920"/>
            <a:ext cx="7818120" cy="868680"/>
          </a:xfrm>
          <a:prstGeom prst="rect">
            <a:avLst/>
          </a:prstGeom>
          <a:noFill/>
          <a:ln/>
        </p:spPr>
        <p:txBody>
          <a:bodyPr wrap="square" lIns="0" tIns="0" rIns="0" bIns="0" rtlCol="0" anchor="ctr"/>
          <a:lstStyle/>
          <a:p>
            <a:pPr indent="0" marL="0">
              <a:buNone/>
            </a:pPr>
            <a:r>
              <a:rPr lang="en-US" sz="1500" b="1" dirty="0">
                <a:solidFill>
                  <a:srgbClr val="222222"/>
                </a:solidFill>
                <a:latin typeface="游ゴシック" pitchFamily="34" charset="0"/>
                <a:ea typeface="游ゴシック" pitchFamily="34" charset="-122"/>
                <a:cs typeface="游ゴシック" pitchFamily="34" charset="-120"/>
              </a:rPr>
              <a:t>出発地の分布はまだPTに合わない</a:t>
            </a:r>
            <a:endParaRPr lang="en-US" sz="15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3,000・6,000ケースのTVDは約0.30。中村区内からの来訪が多く（43〜45%、PT 36%）、市外からが少ない</a:t>
            </a:r>
            <a:endParaRPr lang="en-US" sz="1500" dirty="0"/>
          </a:p>
        </p:txBody>
      </p:sp>
      <p:sp>
        <p:nvSpPr>
          <p:cNvPr id="12" name="Shape 10"/>
          <p:cNvSpPr/>
          <p:nvPr/>
        </p:nvSpPr>
        <p:spPr>
          <a:xfrm>
            <a:off x="365760" y="3931920"/>
            <a:ext cx="411480" cy="411480"/>
          </a:xfrm>
          <a:prstGeom prst="ellipse">
            <a:avLst/>
          </a:prstGeom>
          <a:solidFill>
            <a:srgbClr val="C0504D"/>
          </a:solidFill>
          <a:ln w="12700">
            <a:solidFill>
              <a:srgbClr val="C0504D"/>
            </a:solidFill>
            <a:prstDash val="solid"/>
          </a:ln>
        </p:spPr>
      </p:sp>
      <p:sp>
        <p:nvSpPr>
          <p:cNvPr id="13" name="Text 11"/>
          <p:cNvSpPr txBox="1"/>
          <p:nvPr/>
        </p:nvSpPr>
        <p:spPr>
          <a:xfrm>
            <a:off x="365760" y="39319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游ゴシック" pitchFamily="34" charset="0"/>
                <a:ea typeface="游ゴシック" pitchFamily="34" charset="-122"/>
                <a:cs typeface="游ゴシック" pitchFamily="34" charset="-120"/>
              </a:rPr>
              <a:t>4</a:t>
            </a:r>
            <a:endParaRPr lang="en-US" sz="1400" dirty="0"/>
          </a:p>
        </p:txBody>
      </p:sp>
      <p:sp>
        <p:nvSpPr>
          <p:cNvPr id="14" name="Text 12"/>
          <p:cNvSpPr txBox="1"/>
          <p:nvPr/>
        </p:nvSpPr>
        <p:spPr>
          <a:xfrm>
            <a:off x="960120" y="3749040"/>
            <a:ext cx="7818120" cy="868680"/>
          </a:xfrm>
          <a:prstGeom prst="rect">
            <a:avLst/>
          </a:prstGeom>
          <a:noFill/>
          <a:ln/>
        </p:spPr>
        <p:txBody>
          <a:bodyPr wrap="square" lIns="0" tIns="0" rIns="0" bIns="0" rtlCol="0" anchor="ctr"/>
          <a:lstStyle/>
          <a:p>
            <a:pPr indent="0" marL="0">
              <a:buNone/>
            </a:pPr>
            <a:r>
              <a:rPr lang="en-US" sz="1500" b="1" dirty="0">
                <a:solidFill>
                  <a:srgbClr val="222222"/>
                </a:solidFill>
                <a:latin typeface="游ゴシック" pitchFamily="34" charset="0"/>
                <a:ea typeface="游ゴシック" pitchFamily="34" charset="-122"/>
                <a:cs typeface="游ゴシック" pitchFamily="34" charset="-120"/>
              </a:rPr>
              <a:t>来訪者の多くは周辺店からの転換</a:t>
            </a:r>
            <a:endParaRPr lang="en-US" sz="15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同じ名駅メッシュの店から81%（3,000）・97%（6,000）。中村区全体の買物は+3.3%・+0.4%</a:t>
            </a:r>
            <a:endParaRPr lang="en-US" sz="1500" dirty="0"/>
          </a:p>
        </p:txBody>
      </p:sp>
      <p:sp>
        <p:nvSpPr>
          <p:cNvPr id="15" name="Text 13"/>
          <p:cNvSpPr txBox="1"/>
          <p:nvPr/>
        </p:nvSpPr>
        <p:spPr>
          <a:xfrm>
            <a:off x="365760" y="4709160"/>
            <a:ext cx="8412480" cy="274320"/>
          </a:xfrm>
          <a:prstGeom prst="rect">
            <a:avLst/>
          </a:prstGeom>
          <a:noFill/>
          <a:ln/>
        </p:spPr>
        <p:txBody>
          <a:bodyPr wrap="square" lIns="0" tIns="0" rIns="0" bIns="0" rtlCol="0" anchor="ctr"/>
          <a:lstStyle/>
          <a:p>
            <a:pPr indent="0" marL="0">
              <a:buNone/>
            </a:pPr>
            <a:r>
              <a:rPr lang="en-US" sz="1000" dirty="0">
                <a:solidFill>
                  <a:srgbClr val="666666"/>
                </a:solidFill>
                <a:latin typeface="游ゴシック" pitchFamily="34" charset="0"/>
                <a:ea typeface="游ゴシック" pitchFamily="34" charset="-122"/>
                <a:cs typeface="游ゴシック" pitchFamily="34" charset="-120"/>
              </a:rPr>
              <a:t>いずれも愛知県・seed42中心の予備結果。Javaの実装に不具合が見つかっており、発表用には修正後の再実行が必要（最後のスライド）</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365760" y="182880"/>
            <a:ext cx="8412480" cy="548640"/>
          </a:xfrm>
          <a:prstGeom prst="rect">
            <a:avLst/>
          </a:prstGeom>
          <a:noFill/>
          <a:ln/>
        </p:spPr>
        <p:txBody>
          <a:bodyPr wrap="square" lIns="0" tIns="0" rIns="0" bIns="0" rtlCol="0" anchor="ctr"/>
          <a:lstStyle/>
          <a:p>
            <a:pPr indent="0" marL="0">
              <a:buNone/>
            </a:pPr>
            <a:r>
              <a:rPr lang="en-US" sz="2800" b="1" dirty="0">
                <a:solidFill>
                  <a:srgbClr val="222222"/>
                </a:solidFill>
                <a:latin typeface="游ゴシック" pitchFamily="34" charset="0"/>
                <a:ea typeface="游ゴシック" pitchFamily="34" charset="-122"/>
                <a:cs typeface="游ゴシック" pitchFamily="34" charset="-120"/>
              </a:rPr>
              <a:t>人流予測の流れ（Pseudo-PFLOW-v3を改良）</a:t>
            </a:r>
            <a:endParaRPr lang="en-US" sz="2800" dirty="0"/>
          </a:p>
        </p:txBody>
      </p:sp>
      <p:sp>
        <p:nvSpPr>
          <p:cNvPr id="3" name="Shape 1"/>
          <p:cNvSpPr/>
          <p:nvPr/>
        </p:nvSpPr>
        <p:spPr>
          <a:xfrm>
            <a:off x="365760" y="1005840"/>
            <a:ext cx="1517904" cy="1371600"/>
          </a:xfrm>
          <a:prstGeom prst="roundRect">
            <a:avLst>
              <a:gd name="adj" fmla="val 6667"/>
            </a:avLst>
          </a:prstGeom>
          <a:solidFill>
            <a:srgbClr val="EEF3F8"/>
          </a:solidFill>
          <a:ln w="12700">
            <a:solidFill>
              <a:srgbClr val="EEF3F8"/>
            </a:solidFill>
            <a:prstDash val="solid"/>
          </a:ln>
        </p:spPr>
      </p:sp>
      <p:sp>
        <p:nvSpPr>
          <p:cNvPr id="4" name="Text 2"/>
          <p:cNvSpPr txBox="1"/>
          <p:nvPr/>
        </p:nvSpPr>
        <p:spPr>
          <a:xfrm>
            <a:off x="438912" y="1051560"/>
            <a:ext cx="1371600" cy="1280160"/>
          </a:xfrm>
          <a:prstGeom prst="rect">
            <a:avLst/>
          </a:prstGeom>
          <a:noFill/>
          <a:ln/>
        </p:spPr>
        <p:txBody>
          <a:bodyPr wrap="square" lIns="0" tIns="0" rIns="0" bIns="0" rtlCol="0" anchor="ctr"/>
          <a:lstStyle/>
          <a:p>
            <a:pPr algn="ctr" indent="0" marL="0">
              <a:buNone/>
            </a:pPr>
            <a:r>
              <a:rPr lang="en-US" sz="1300" b="1" dirty="0">
                <a:solidFill>
                  <a:srgbClr val="222222"/>
                </a:solidFill>
                <a:latin typeface="游ゴシック" pitchFamily="34" charset="0"/>
                <a:ea typeface="游ゴシック" pitchFamily="34" charset="-122"/>
                <a:cs typeface="游ゴシック" pitchFamily="34" charset="-120"/>
              </a:rPr>
              <a:t>① 人</a:t>
            </a:r>
            <a:endParaRPr lang="en-US" sz="1300" dirty="0"/>
          </a:p>
          <a:p>
            <a:pPr algn="ctr" indent="0" marL="0">
              <a:buNone/>
            </a:pPr>
            <a:r>
              <a:rPr lang="en-US" sz="1100" dirty="0">
                <a:solidFill>
                  <a:srgbClr val="222222"/>
                </a:solidFill>
                <a:latin typeface="游ゴシック" pitchFamily="34" charset="0"/>
                <a:ea typeface="游ゴシック" pitchFamily="34" charset="-122"/>
                <a:cs typeface="游ゴシック" pitchFamily="34" charset="-120"/>
              </a:rPr>
              <a:t>国勢調査ベースの</a:t>
            </a:r>
            <a:endParaRPr lang="en-US" sz="1300" dirty="0"/>
          </a:p>
          <a:p>
            <a:pPr algn="ctr" indent="0" marL="0">
              <a:buNone/>
            </a:pPr>
            <a:r>
              <a:rPr lang="en-US" sz="1100" dirty="0">
                <a:solidFill>
                  <a:srgbClr val="222222"/>
                </a:solidFill>
                <a:latin typeface="游ゴシック" pitchFamily="34" charset="0"/>
                <a:ea typeface="游ゴシック" pitchFamily="34" charset="-122"/>
                <a:cs typeface="游ゴシック" pitchFamily="34" charset="-120"/>
              </a:rPr>
              <a:t>人・世帯</a:t>
            </a:r>
            <a:endParaRPr lang="en-US" sz="1300" dirty="0"/>
          </a:p>
        </p:txBody>
      </p:sp>
      <p:sp>
        <p:nvSpPr>
          <p:cNvPr id="5" name="Shape 3"/>
          <p:cNvSpPr/>
          <p:nvPr/>
        </p:nvSpPr>
        <p:spPr>
          <a:xfrm rot="5400000">
            <a:off x="1920240" y="1600200"/>
            <a:ext cx="109728" cy="182880"/>
          </a:xfrm>
          <a:prstGeom prst="rtTriangle">
            <a:avLst/>
          </a:prstGeom>
          <a:solidFill>
            <a:srgbClr val="666666"/>
          </a:solidFill>
          <a:ln w="12700">
            <a:solidFill>
              <a:srgbClr val="666666"/>
            </a:solidFill>
            <a:prstDash val="solid"/>
          </a:ln>
        </p:spPr>
      </p:sp>
      <p:sp>
        <p:nvSpPr>
          <p:cNvPr id="6" name="Shape 4"/>
          <p:cNvSpPr/>
          <p:nvPr/>
        </p:nvSpPr>
        <p:spPr>
          <a:xfrm>
            <a:off x="2066544" y="1005840"/>
            <a:ext cx="1517904" cy="1371600"/>
          </a:xfrm>
          <a:prstGeom prst="roundRect">
            <a:avLst>
              <a:gd name="adj" fmla="val 6667"/>
            </a:avLst>
          </a:prstGeom>
          <a:solidFill>
            <a:srgbClr val="EEF3F8"/>
          </a:solidFill>
          <a:ln w="12700">
            <a:solidFill>
              <a:srgbClr val="EEF3F8"/>
            </a:solidFill>
            <a:prstDash val="solid"/>
          </a:ln>
        </p:spPr>
      </p:sp>
      <p:sp>
        <p:nvSpPr>
          <p:cNvPr id="7" name="Text 5"/>
          <p:cNvSpPr txBox="1"/>
          <p:nvPr/>
        </p:nvSpPr>
        <p:spPr>
          <a:xfrm>
            <a:off x="2139696" y="1051560"/>
            <a:ext cx="1371600" cy="1280160"/>
          </a:xfrm>
          <a:prstGeom prst="rect">
            <a:avLst/>
          </a:prstGeom>
          <a:noFill/>
          <a:ln/>
        </p:spPr>
        <p:txBody>
          <a:bodyPr wrap="square" lIns="0" tIns="0" rIns="0" bIns="0" rtlCol="0" anchor="ctr"/>
          <a:lstStyle/>
          <a:p>
            <a:pPr algn="ctr" indent="0" marL="0">
              <a:buNone/>
            </a:pPr>
            <a:r>
              <a:rPr lang="en-US" sz="1300" b="1" dirty="0">
                <a:solidFill>
                  <a:srgbClr val="222222"/>
                </a:solidFill>
                <a:latin typeface="游ゴシック" pitchFamily="34" charset="0"/>
                <a:ea typeface="游ゴシック" pitchFamily="34" charset="-122"/>
                <a:cs typeface="游ゴシック" pitchFamily="34" charset="-120"/>
              </a:rPr>
              <a:t>② 1日の予定</a:t>
            </a:r>
            <a:endParaRPr lang="en-US" sz="1300" dirty="0"/>
          </a:p>
          <a:p>
            <a:pPr algn="ctr" indent="0" marL="0">
              <a:buNone/>
            </a:pPr>
            <a:r>
              <a:rPr lang="en-US" sz="1100" dirty="0">
                <a:solidFill>
                  <a:srgbClr val="222222"/>
                </a:solidFill>
                <a:latin typeface="游ゴシック" pitchFamily="34" charset="0"/>
                <a:ea typeface="游ゴシック" pitchFamily="34" charset="-122"/>
                <a:cs typeface="游ゴシック" pitchFamily="34" charset="-120"/>
              </a:rPr>
              <a:t>活動の順番</a:t>
            </a:r>
            <a:endParaRPr lang="en-US" sz="1300" dirty="0"/>
          </a:p>
          <a:p>
            <a:pPr algn="ctr" indent="0" marL="0">
              <a:buNone/>
            </a:pPr>
            <a:r>
              <a:rPr lang="en-US" sz="1100" dirty="0">
                <a:solidFill>
                  <a:srgbClr val="222222"/>
                </a:solidFill>
                <a:latin typeface="游ゴシック" pitchFamily="34" charset="0"/>
                <a:ea typeface="游ゴシック" pitchFamily="34" charset="-122"/>
                <a:cs typeface="游ゴシック" pitchFamily="34" charset="-120"/>
              </a:rPr>
              <a:t>（マルコフ連鎖）</a:t>
            </a:r>
            <a:endParaRPr lang="en-US" sz="1300" dirty="0"/>
          </a:p>
        </p:txBody>
      </p:sp>
      <p:sp>
        <p:nvSpPr>
          <p:cNvPr id="8" name="Shape 6"/>
          <p:cNvSpPr/>
          <p:nvPr/>
        </p:nvSpPr>
        <p:spPr>
          <a:xfrm rot="5400000">
            <a:off x="3621024" y="1600200"/>
            <a:ext cx="109728" cy="182880"/>
          </a:xfrm>
          <a:prstGeom prst="rtTriangle">
            <a:avLst/>
          </a:prstGeom>
          <a:solidFill>
            <a:srgbClr val="666666"/>
          </a:solidFill>
          <a:ln w="12700">
            <a:solidFill>
              <a:srgbClr val="666666"/>
            </a:solidFill>
            <a:prstDash val="solid"/>
          </a:ln>
        </p:spPr>
      </p:sp>
      <p:sp>
        <p:nvSpPr>
          <p:cNvPr id="9" name="Shape 7"/>
          <p:cNvSpPr/>
          <p:nvPr/>
        </p:nvSpPr>
        <p:spPr>
          <a:xfrm>
            <a:off x="3767328" y="1005840"/>
            <a:ext cx="1517904" cy="1371600"/>
          </a:xfrm>
          <a:prstGeom prst="roundRect">
            <a:avLst>
              <a:gd name="adj" fmla="val 6667"/>
            </a:avLst>
          </a:prstGeom>
          <a:solidFill>
            <a:srgbClr val="1F6FB2"/>
          </a:solidFill>
          <a:ln w="12700">
            <a:solidFill>
              <a:srgbClr val="1F6FB2"/>
            </a:solidFill>
            <a:prstDash val="solid"/>
          </a:ln>
        </p:spPr>
      </p:sp>
      <p:sp>
        <p:nvSpPr>
          <p:cNvPr id="10" name="Text 8"/>
          <p:cNvSpPr txBox="1"/>
          <p:nvPr/>
        </p:nvSpPr>
        <p:spPr>
          <a:xfrm>
            <a:off x="3840480" y="1051560"/>
            <a:ext cx="1371600" cy="1280160"/>
          </a:xfrm>
          <a:prstGeom prst="rect">
            <a:avLst/>
          </a:prstGeom>
          <a:noFill/>
          <a:ln/>
        </p:spPr>
        <p:txBody>
          <a:bodyPr wrap="square" lIns="0" tIns="0" rIns="0" bIns="0" rtlCol="0" anchor="ctr"/>
          <a:lstStyle/>
          <a:p>
            <a:pPr algn="ctr" indent="0" marL="0">
              <a:buNone/>
            </a:pPr>
            <a:r>
              <a:rPr lang="en-US" sz="1300" b="1" dirty="0">
                <a:solidFill>
                  <a:srgbClr val="FFFFFF"/>
                </a:solidFill>
                <a:latin typeface="游ゴシック" pitchFamily="34" charset="0"/>
                <a:ea typeface="游ゴシック" pitchFamily="34" charset="-122"/>
                <a:cs typeface="游ゴシック" pitchFamily="34" charset="-120"/>
              </a:rPr>
              <a:t>③ 行き先の市町村</a:t>
            </a:r>
            <a:endParaRPr lang="en-US" sz="1300" dirty="0"/>
          </a:p>
          <a:p>
            <a:pPr algn="ctr" indent="0" marL="0">
              <a:buNone/>
            </a:pPr>
            <a:r>
              <a:rPr lang="en-US" sz="1100" dirty="0">
                <a:solidFill>
                  <a:srgbClr val="FFFFFF"/>
                </a:solidFill>
                <a:latin typeface="游ゴシック" pitchFamily="34" charset="0"/>
                <a:ea typeface="游ゴシック" pitchFamily="34" charset="-122"/>
                <a:cs typeface="游ゴシック" pitchFamily="34" charset="-120"/>
              </a:rPr>
              <a:t>MNLで選ぶ</a:t>
            </a:r>
            <a:endParaRPr lang="en-US" sz="1300" dirty="0"/>
          </a:p>
          <a:p>
            <a:pPr algn="ctr" indent="0" marL="0">
              <a:buNone/>
            </a:pPr>
            <a:r>
              <a:rPr lang="en-US" sz="1100" dirty="0">
                <a:solidFill>
                  <a:srgbClr val="FFFFFF"/>
                </a:solidFill>
                <a:latin typeface="游ゴシック" pitchFamily="34" charset="0"/>
                <a:ea typeface="游ゴシック" pitchFamily="34" charset="-122"/>
                <a:cs typeface="游ゴシック" pitchFamily="34" charset="-120"/>
              </a:rPr>
              <a:t>★ここに項を追加</a:t>
            </a:r>
            <a:endParaRPr lang="en-US" sz="1300" dirty="0"/>
          </a:p>
        </p:txBody>
      </p:sp>
      <p:sp>
        <p:nvSpPr>
          <p:cNvPr id="11" name="Shape 9"/>
          <p:cNvSpPr/>
          <p:nvPr/>
        </p:nvSpPr>
        <p:spPr>
          <a:xfrm rot="5400000">
            <a:off x="5321808" y="1600200"/>
            <a:ext cx="109728" cy="182880"/>
          </a:xfrm>
          <a:prstGeom prst="rtTriangle">
            <a:avLst/>
          </a:prstGeom>
          <a:solidFill>
            <a:srgbClr val="666666"/>
          </a:solidFill>
          <a:ln w="12700">
            <a:solidFill>
              <a:srgbClr val="666666"/>
            </a:solidFill>
            <a:prstDash val="solid"/>
          </a:ln>
        </p:spPr>
      </p:sp>
      <p:sp>
        <p:nvSpPr>
          <p:cNvPr id="12" name="Shape 10"/>
          <p:cNvSpPr/>
          <p:nvPr/>
        </p:nvSpPr>
        <p:spPr>
          <a:xfrm>
            <a:off x="5468112" y="1005840"/>
            <a:ext cx="1517904" cy="1371600"/>
          </a:xfrm>
          <a:prstGeom prst="roundRect">
            <a:avLst>
              <a:gd name="adj" fmla="val 6667"/>
            </a:avLst>
          </a:prstGeom>
          <a:solidFill>
            <a:srgbClr val="EEF3F8"/>
          </a:solidFill>
          <a:ln w="12700">
            <a:solidFill>
              <a:srgbClr val="EEF3F8"/>
            </a:solidFill>
            <a:prstDash val="solid"/>
          </a:ln>
        </p:spPr>
      </p:sp>
      <p:sp>
        <p:nvSpPr>
          <p:cNvPr id="13" name="Text 11"/>
          <p:cNvSpPr txBox="1"/>
          <p:nvPr/>
        </p:nvSpPr>
        <p:spPr>
          <a:xfrm>
            <a:off x="5541264" y="1051560"/>
            <a:ext cx="1371600" cy="1280160"/>
          </a:xfrm>
          <a:prstGeom prst="rect">
            <a:avLst/>
          </a:prstGeom>
          <a:noFill/>
          <a:ln/>
        </p:spPr>
        <p:txBody>
          <a:bodyPr wrap="square" lIns="0" tIns="0" rIns="0" bIns="0" rtlCol="0" anchor="ctr"/>
          <a:lstStyle/>
          <a:p>
            <a:pPr algn="ctr" indent="0" marL="0">
              <a:buNone/>
            </a:pPr>
            <a:r>
              <a:rPr lang="en-US" sz="1300" b="1" dirty="0">
                <a:solidFill>
                  <a:srgbClr val="222222"/>
                </a:solidFill>
                <a:latin typeface="游ゴシック" pitchFamily="34" charset="0"/>
                <a:ea typeface="游ゴシック" pitchFamily="34" charset="-122"/>
                <a:cs typeface="游ゴシック" pitchFamily="34" charset="-120"/>
              </a:rPr>
              <a:t>④ 区内のメッシュ</a:t>
            </a:r>
            <a:endParaRPr lang="en-US" sz="1300" dirty="0"/>
          </a:p>
          <a:p>
            <a:pPr algn="ctr" indent="0" marL="0">
              <a:buNone/>
            </a:pPr>
            <a:r>
              <a:rPr lang="en-US" sz="1100" dirty="0">
                <a:solidFill>
                  <a:srgbClr val="222222"/>
                </a:solidFill>
                <a:latin typeface="游ゴシック" pitchFamily="34" charset="0"/>
                <a:ea typeface="游ゴシック" pitchFamily="34" charset="-122"/>
                <a:cs typeface="游ゴシック" pitchFamily="34" charset="-120"/>
              </a:rPr>
              <a:t>従業者数と</a:t>
            </a:r>
            <a:endParaRPr lang="en-US" sz="1300" dirty="0"/>
          </a:p>
          <a:p>
            <a:pPr algn="ctr" indent="0" marL="0">
              <a:buNone/>
            </a:pPr>
            <a:r>
              <a:rPr lang="en-US" sz="1100" dirty="0">
                <a:solidFill>
                  <a:srgbClr val="222222"/>
                </a:solidFill>
                <a:latin typeface="游ゴシック" pitchFamily="34" charset="0"/>
                <a:ea typeface="游ゴシック" pitchFamily="34" charset="-122"/>
                <a:cs typeface="游ゴシック" pitchFamily="34" charset="-120"/>
              </a:rPr>
              <a:t>距離で選ぶ</a:t>
            </a:r>
            <a:endParaRPr lang="en-US" sz="1300" dirty="0"/>
          </a:p>
        </p:txBody>
      </p:sp>
      <p:sp>
        <p:nvSpPr>
          <p:cNvPr id="14" name="Shape 12"/>
          <p:cNvSpPr/>
          <p:nvPr/>
        </p:nvSpPr>
        <p:spPr>
          <a:xfrm rot="5400000">
            <a:off x="7022592" y="1600200"/>
            <a:ext cx="109728" cy="182880"/>
          </a:xfrm>
          <a:prstGeom prst="rtTriangle">
            <a:avLst/>
          </a:prstGeom>
          <a:solidFill>
            <a:srgbClr val="666666"/>
          </a:solidFill>
          <a:ln w="12700">
            <a:solidFill>
              <a:srgbClr val="666666"/>
            </a:solidFill>
            <a:prstDash val="solid"/>
          </a:ln>
        </p:spPr>
      </p:sp>
      <p:sp>
        <p:nvSpPr>
          <p:cNvPr id="15" name="Shape 13"/>
          <p:cNvSpPr/>
          <p:nvPr/>
        </p:nvSpPr>
        <p:spPr>
          <a:xfrm>
            <a:off x="7168896" y="1005840"/>
            <a:ext cx="1517904" cy="1371600"/>
          </a:xfrm>
          <a:prstGeom prst="roundRect">
            <a:avLst>
              <a:gd name="adj" fmla="val 6667"/>
            </a:avLst>
          </a:prstGeom>
          <a:solidFill>
            <a:srgbClr val="1F6FB2"/>
          </a:solidFill>
          <a:ln w="12700">
            <a:solidFill>
              <a:srgbClr val="1F6FB2"/>
            </a:solidFill>
            <a:prstDash val="solid"/>
          </a:ln>
        </p:spPr>
      </p:sp>
      <p:sp>
        <p:nvSpPr>
          <p:cNvPr id="16" name="Text 14"/>
          <p:cNvSpPr txBox="1"/>
          <p:nvPr/>
        </p:nvSpPr>
        <p:spPr>
          <a:xfrm>
            <a:off x="7242048" y="1051560"/>
            <a:ext cx="1371600" cy="1280160"/>
          </a:xfrm>
          <a:prstGeom prst="rect">
            <a:avLst/>
          </a:prstGeom>
          <a:noFill/>
          <a:ln/>
        </p:spPr>
        <p:txBody>
          <a:bodyPr wrap="square" lIns="0" tIns="0" rIns="0" bIns="0" rtlCol="0" anchor="ctr"/>
          <a:lstStyle/>
          <a:p>
            <a:pPr algn="ctr" indent="0" marL="0">
              <a:buNone/>
            </a:pPr>
            <a:r>
              <a:rPr lang="en-US" sz="1300" b="1" dirty="0">
                <a:solidFill>
                  <a:srgbClr val="FFFFFF"/>
                </a:solidFill>
                <a:latin typeface="游ゴシック" pitchFamily="34" charset="0"/>
                <a:ea typeface="游ゴシック" pitchFamily="34" charset="-122"/>
                <a:cs typeface="游ゴシック" pitchFamily="34" charset="-120"/>
              </a:rPr>
              <a:t>⑤ 店舗</a:t>
            </a:r>
            <a:endParaRPr lang="en-US" sz="1300" dirty="0"/>
          </a:p>
          <a:p>
            <a:pPr algn="ctr" indent="0" marL="0">
              <a:buNone/>
            </a:pPr>
            <a:r>
              <a:rPr lang="en-US" sz="1100" dirty="0">
                <a:solidFill>
                  <a:srgbClr val="FFFFFF"/>
                </a:solidFill>
                <a:latin typeface="游ゴシック" pitchFamily="34" charset="0"/>
                <a:ea typeface="游ゴシック" pitchFamily="34" charset="-122"/>
                <a:cs typeface="游ゴシック" pitchFamily="34" charset="-120"/>
              </a:rPr>
              <a:t>capacityで選ぶ</a:t>
            </a:r>
            <a:endParaRPr lang="en-US" sz="1300" dirty="0"/>
          </a:p>
          <a:p>
            <a:pPr algn="ctr" indent="0" marL="0">
              <a:buNone/>
            </a:pPr>
            <a:r>
              <a:rPr lang="en-US" sz="1100" dirty="0">
                <a:solidFill>
                  <a:srgbClr val="FFFFFF"/>
                </a:solidFill>
                <a:latin typeface="游ゴシック" pitchFamily="34" charset="0"/>
                <a:ea typeface="游ゴシック" pitchFamily="34" charset="-122"/>
                <a:cs typeface="游ゴシック" pitchFamily="34" charset="-120"/>
              </a:rPr>
              <a:t>★新施設を追加</a:t>
            </a:r>
            <a:endParaRPr lang="en-US" sz="1300" dirty="0"/>
          </a:p>
        </p:txBody>
      </p:sp>
      <p:sp>
        <p:nvSpPr>
          <p:cNvPr id="17" name="Shape 15"/>
          <p:cNvSpPr/>
          <p:nvPr/>
        </p:nvSpPr>
        <p:spPr>
          <a:xfrm>
            <a:off x="365760" y="2697480"/>
            <a:ext cx="4023360" cy="1828800"/>
          </a:xfrm>
          <a:prstGeom prst="roundRect">
            <a:avLst>
              <a:gd name="adj" fmla="val 4000"/>
            </a:avLst>
          </a:prstGeom>
          <a:solidFill>
            <a:srgbClr val="EEF3F8"/>
          </a:solidFill>
          <a:ln w="12700">
            <a:solidFill>
              <a:srgbClr val="EEF3F8"/>
            </a:solidFill>
            <a:prstDash val="solid"/>
          </a:ln>
        </p:spPr>
      </p:sp>
      <p:sp>
        <p:nvSpPr>
          <p:cNvPr id="18" name="Text 16"/>
          <p:cNvSpPr txBox="1"/>
          <p:nvPr/>
        </p:nvSpPr>
        <p:spPr>
          <a:xfrm>
            <a:off x="475488" y="2770632"/>
            <a:ext cx="3803904" cy="1682496"/>
          </a:xfrm>
          <a:prstGeom prst="rect">
            <a:avLst/>
          </a:prstGeom>
          <a:noFill/>
          <a:ln/>
        </p:spPr>
        <p:txBody>
          <a:bodyPr wrap="square" lIns="0" tIns="0" rIns="0" bIns="0" rtlCol="0" anchor="t"/>
          <a:lstStyle/>
          <a:p>
            <a:pPr indent="0" marL="0">
              <a:buNone/>
            </a:pPr>
            <a:r>
              <a:rPr lang="en-US" sz="1400" b="1" dirty="0">
                <a:solidFill>
                  <a:srgbClr val="222222"/>
                </a:solidFill>
                <a:latin typeface="游ゴシック" pitchFamily="34" charset="0"/>
                <a:ea typeface="游ゴシック" pitchFamily="34" charset="-122"/>
                <a:cs typeface="游ゴシック" pitchFamily="34" charset="-120"/>
              </a:rPr>
              <a:t>施設計画の入れ方（A方式）</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人数を直接割り当てず、capacityだけを変える</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・跡地メッシュの商業量（卸売小売従業者）を加算：+746人（売場面積からの換算）または+6,000人</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・跡地に新施設（店舗）を1つ追加し、capacityは目標人数に合うようコードで自動調整</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 選ばれやすさが変わり、人流が変わる</a:t>
            </a:r>
            <a:endParaRPr lang="en-US" sz="1400" dirty="0"/>
          </a:p>
        </p:txBody>
      </p:sp>
      <p:sp>
        <p:nvSpPr>
          <p:cNvPr id="19" name="Shape 17"/>
          <p:cNvSpPr/>
          <p:nvPr/>
        </p:nvSpPr>
        <p:spPr>
          <a:xfrm>
            <a:off x="4754880" y="2697480"/>
            <a:ext cx="4023360" cy="1828800"/>
          </a:xfrm>
          <a:prstGeom prst="roundRect">
            <a:avLst>
              <a:gd name="adj" fmla="val 4000"/>
            </a:avLst>
          </a:prstGeom>
          <a:solidFill>
            <a:srgbClr val="EEF3F8"/>
          </a:solidFill>
          <a:ln w="12700">
            <a:solidFill>
              <a:srgbClr val="EEF3F8"/>
            </a:solidFill>
            <a:prstDash val="solid"/>
          </a:ln>
        </p:spPr>
      </p:sp>
      <p:sp>
        <p:nvSpPr>
          <p:cNvPr id="20" name="Text 18"/>
          <p:cNvSpPr txBox="1"/>
          <p:nvPr/>
        </p:nvSpPr>
        <p:spPr>
          <a:xfrm>
            <a:off x="4864608" y="2770632"/>
            <a:ext cx="3803904" cy="1682496"/>
          </a:xfrm>
          <a:prstGeom prst="rect">
            <a:avLst/>
          </a:prstGeom>
          <a:noFill/>
          <a:ln/>
        </p:spPr>
        <p:txBody>
          <a:bodyPr wrap="square" lIns="0" tIns="0" rIns="0" bIns="0" rtlCol="0" anchor="t"/>
          <a:lstStyle/>
          <a:p>
            <a:pPr indent="0" marL="0">
              <a:buNone/>
            </a:pPr>
            <a:r>
              <a:rPr lang="en-US" sz="1400" b="1" dirty="0">
                <a:solidFill>
                  <a:srgbClr val="222222"/>
                </a:solidFill>
                <a:latin typeface="游ゴシック" pitchFamily="34" charset="0"/>
                <a:ea typeface="游ゴシック" pitchFamily="34" charset="-122"/>
                <a:cs typeface="游ゴシック" pitchFamily="34" charset="-120"/>
              </a:rPr>
              <a:t>精度を見る基準（中京PT 2022）</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出発地：中ゾーン5（中村区）の大型規模小売店に買物で来た20,796トリップ/日の分布</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中村区内34% / 名古屋市内他区41% / 愛知県他19% / 県外6%</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人数：仮想施設 3,000・6,000トリップ/日（買物到着）</a:t>
            </a:r>
            <a:endParaRPr lang="en-US" sz="1400" dirty="0"/>
          </a:p>
        </p:txBody>
      </p:sp>
      <p:sp>
        <p:nvSpPr>
          <p:cNvPr id="21" name="Text 19"/>
          <p:cNvSpPr txBox="1"/>
          <p:nvPr/>
        </p:nvSpPr>
        <p:spPr>
          <a:xfrm>
            <a:off x="365760" y="4754880"/>
            <a:ext cx="8412480" cy="274320"/>
          </a:xfrm>
          <a:prstGeom prst="rect">
            <a:avLst/>
          </a:prstGeom>
          <a:noFill/>
          <a:ln/>
        </p:spPr>
        <p:txBody>
          <a:bodyPr wrap="square" lIns="0" tIns="0" rIns="0" bIns="0" rtlCol="0" anchor="ctr"/>
          <a:lstStyle/>
          <a:p>
            <a:pPr indent="0" marL="0">
              <a:buNone/>
            </a:pPr>
            <a:r>
              <a:rPr lang="en-US" sz="1000" dirty="0">
                <a:solidFill>
                  <a:srgbClr val="666666"/>
                </a:solidFill>
                <a:latin typeface="游ゴシック" pitchFamily="34" charset="0"/>
                <a:ea typeface="游ゴシック" pitchFamily="34" charset="-122"/>
                <a:cs typeface="游ゴシック" pitchFamily="34" charset="-120"/>
              </a:rPr>
              <a:t>対象：愛知県。2%標本（sample-factor 50）で候補を探し、全数（100%）で確認・人数を自動修正</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365760" y="182880"/>
            <a:ext cx="8412480" cy="548640"/>
          </a:xfrm>
          <a:prstGeom prst="rect">
            <a:avLst/>
          </a:prstGeom>
          <a:noFill/>
          <a:ln/>
        </p:spPr>
        <p:txBody>
          <a:bodyPr wrap="square" lIns="0" tIns="0" rIns="0" bIns="0" rtlCol="0" anchor="ctr"/>
          <a:lstStyle/>
          <a:p>
            <a:pPr indent="0" marL="0">
              <a:buNone/>
            </a:pPr>
            <a:r>
              <a:rPr lang="en-US" sz="2800" b="1" dirty="0">
                <a:solidFill>
                  <a:srgbClr val="222222"/>
                </a:solidFill>
                <a:latin typeface="游ゴシック" pitchFamily="34" charset="0"/>
                <a:ea typeface="游ゴシック" pitchFamily="34" charset="-122"/>
                <a:cs typeface="游ゴシック" pitchFamily="34" charset="-120"/>
              </a:rPr>
              <a:t>行き先市区町村の選び方（買物のMNL）</a:t>
            </a:r>
            <a:endParaRPr lang="en-US" sz="2800" dirty="0"/>
          </a:p>
        </p:txBody>
      </p:sp>
      <p:sp>
        <p:nvSpPr>
          <p:cNvPr id="3" name="Text 1"/>
          <p:cNvSpPr txBox="1"/>
          <p:nvPr/>
        </p:nvSpPr>
        <p:spPr>
          <a:xfrm>
            <a:off x="365760" y="914400"/>
            <a:ext cx="8412480" cy="822960"/>
          </a:xfrm>
          <a:prstGeom prst="rect">
            <a:avLst/>
          </a:prstGeom>
          <a:noFill/>
          <a:ln/>
        </p:spPr>
        <p:txBody>
          <a:bodyPr wrap="square" lIns="0" tIns="0" rIns="0" bIns="0" rtlCol="0" anchor="ctr"/>
          <a:lstStyle/>
          <a:p>
            <a:pPr indent="0" marL="0">
              <a:buNone/>
            </a:pPr>
            <a:r>
              <a:rPr lang="en-US" sz="1600" b="1" dirty="0">
                <a:solidFill>
                  <a:srgbClr val="222222"/>
                </a:solidFill>
                <a:latin typeface="游ゴシック" pitchFamily="34" charset="0"/>
                <a:ea typeface="游ゴシック" pitchFamily="34" charset="-122"/>
                <a:cs typeface="游ゴシック" pitchFamily="34" charset="-120"/>
              </a:rPr>
              <a:t>V(o→d) = </a:t>
            </a:r>
            <a:pPr indent="0" marL="0">
              <a:buNone/>
            </a:pPr>
            <a:r>
              <a:rPr lang="en-US" sz="1600" dirty="0">
                <a:solidFill>
                  <a:srgbClr val="222222"/>
                </a:solidFill>
                <a:latin typeface="游ゴシック" pitchFamily="34" charset="0"/>
                <a:ea typeface="游ゴシック" pitchFamily="34" charset="-122"/>
                <a:cs typeface="游ゴシック" pitchFamily="34" charset="-120"/>
              </a:rPr>
              <a:t>λ₁·a₁·距離 + a₂·女性 + λ₅·a₃·同一市区町村 + a₄·高齢 + λ₂·a₅·面積 + λ₃·a₆·人口比 + λ₄·a₇·オフィス比</a:t>
            </a:r>
            <a:pPr indent="0" marL="0">
              <a:buNone/>
            </a:pPr>
            <a:r>
              <a:rPr lang="en-US" sz="1600" b="1" dirty="0">
                <a:solidFill>
                  <a:srgbClr val="C0504D"/>
                </a:solidFill>
                <a:latin typeface="游ゴシック" pitchFamily="34" charset="0"/>
                <a:ea typeface="游ゴシック" pitchFamily="34" charset="-122"/>
                <a:cs typeface="游ゴシック" pitchFamily="34" charset="-120"/>
              </a:rPr>
              <a:t>  + β · ln(1 + 商業量_d)</a:t>
            </a:r>
            <a:endParaRPr lang="en-US" sz="1600" dirty="0"/>
          </a:p>
        </p:txBody>
      </p:sp>
      <p:sp>
        <p:nvSpPr>
          <p:cNvPr id="4" name="Text 2"/>
          <p:cNvSpPr txBox="1"/>
          <p:nvPr/>
        </p:nvSpPr>
        <p:spPr>
          <a:xfrm>
            <a:off x="365760" y="1783080"/>
            <a:ext cx="8412480" cy="320040"/>
          </a:xfrm>
          <a:prstGeom prst="rect">
            <a:avLst/>
          </a:prstGeom>
          <a:noFill/>
          <a:ln/>
        </p:spPr>
        <p:txBody>
          <a:bodyPr wrap="square" lIns="0" tIns="0" rIns="0" bIns="0" rtlCol="0" anchor="ctr"/>
          <a:lstStyle/>
          <a:p>
            <a:pPr indent="0" marL="0">
              <a:buNone/>
            </a:pPr>
            <a:r>
              <a:rPr lang="en-US" sz="1400" dirty="0">
                <a:solidFill>
                  <a:srgbClr val="222222"/>
                </a:solidFill>
                <a:latin typeface="游ゴシック" pitchFamily="34" charset="0"/>
                <a:ea typeface="游ゴシック" pitchFamily="34" charset="-122"/>
                <a:cs typeface="游ゴシック" pitchFamily="34" charset="-120"/>
              </a:rPr>
              <a:t>P(d | o) = exp V(o→d) / Σ exp V(o→d′)　（出発地から20km以内の市区町村）</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65760" y="2286000"/>
          <a:ext cx="8412480" cy="914400"/>
        </p:xfrm>
        <a:graphic>
          <a:graphicData uri="http://schemas.openxmlformats.org/drawingml/2006/table">
            <a:tbl>
              <a:tblPr/>
              <a:tblGrid>
                <a:gridCol w="1554480"/>
                <a:gridCol w="4846320"/>
                <a:gridCol w="2011680"/>
              </a:tblGrid>
              <a:tr h="411480">
                <a:tc>
                  <a:txBody>
                    <a:bodyPr/>
                    <a:lstStyle/>
                    <a:p>
                      <a:pPr indent="0" marL="0">
                        <a:buNone/>
                      </a:pPr>
                      <a:endParaRPr lang="en-US" sz="12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FFFFF"/>
                    </a:solidFill>
                  </a:tcPr>
                </a:tc>
                <a:tc>
                  <a:txBody>
                    <a:bodyPr/>
                    <a:lstStyle/>
                    <a:p>
                      <a:pPr indent="0" marL="0">
                        <a:buNone/>
                      </a:pPr>
                      <a:r>
                        <a:rPr lang="en-US" sz="1200" b="1" dirty="0">
                          <a:solidFill>
                            <a:srgbClr val="222222"/>
                          </a:solidFill>
                          <a:latin typeface="游ゴシック" pitchFamily="34" charset="0"/>
                          <a:ea typeface="游ゴシック" pitchFamily="34" charset="-122"/>
                          <a:cs typeface="游ゴシック" pitchFamily="34" charset="-120"/>
                        </a:rPr>
                        <a:t>中身</a:t>
                      </a:r>
                      <a:endParaRPr lang="en-US" sz="12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FFFFF"/>
                    </a:solidFill>
                  </a:tcPr>
                </a:tc>
                <a:tc>
                  <a:txBody>
                    <a:bodyPr/>
                    <a:lstStyle/>
                    <a:p>
                      <a:pPr indent="0" marL="0">
                        <a:buNone/>
                      </a:pPr>
                      <a:r>
                        <a:rPr lang="en-US" sz="1200" b="1" dirty="0">
                          <a:solidFill>
                            <a:srgbClr val="222222"/>
                          </a:solidFill>
                          <a:latin typeface="游ゴシック" pitchFamily="34" charset="0"/>
                          <a:ea typeface="游ゴシック" pitchFamily="34" charset="-122"/>
                          <a:cs typeface="游ゴシック" pitchFamily="34" charset="-120"/>
                        </a:rPr>
                        <a:t>誰が決めたか</a:t>
                      </a:r>
                      <a:endParaRPr lang="en-US" sz="12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22222"/>
                          </a:solidFill>
                          <a:latin typeface="游ゴシック" pitchFamily="34" charset="0"/>
                          <a:ea typeface="游ゴシック" pitchFamily="34" charset="-122"/>
                          <a:cs typeface="游ゴシック" pitchFamily="34" charset="-120"/>
                        </a:rPr>
                        <a:t>a₁〜a₇</a:t>
                      </a:r>
                      <a:endParaRPr lang="en-US" sz="12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游ゴシック" pitchFamily="34" charset="0"/>
                          <a:ea typeface="游ゴシック" pitchFamily="34" charset="-122"/>
                          <a:cs typeface="游ゴシック" pitchFamily="34" charset="-120"/>
                        </a:rPr>
                        <a:t>研究室のMNL係数（距離・性別・同一市区町村・高齢・面積・人口比・オフィス比）</a:t>
                      </a:r>
                      <a:endParaRPr lang="en-US" sz="12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游ゴシック" pitchFamily="34" charset="0"/>
                          <a:ea typeface="游ゴシック" pitchFamily="34" charset="-122"/>
                          <a:cs typeface="游ゴシック" pitchFamily="34" charset="-120"/>
                        </a:rPr>
                        <a:t>研究室（既存）</a:t>
                      </a:r>
                      <a:endParaRPr lang="en-US" sz="12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22222"/>
                          </a:solidFill>
                          <a:latin typeface="游ゴシック" pitchFamily="34" charset="0"/>
                          <a:ea typeface="游ゴシック" pitchFamily="34" charset="-122"/>
                          <a:cs typeface="游ゴシック" pitchFamily="34" charset="-120"/>
                        </a:rPr>
                        <a:t>λ₁〜λ₅</a:t>
                      </a:r>
                      <a:endParaRPr lang="en-US" sz="12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游ゴシック" pitchFamily="34" charset="0"/>
                          <a:ea typeface="游ゴシック" pitchFamily="34" charset="-122"/>
                          <a:cs typeface="游ゴシック" pitchFamily="34" charset="-120"/>
                        </a:rPr>
                        <a:t>研究室係数にかける倍率</a:t>
                      </a:r>
                      <a:endParaRPr lang="en-US" sz="12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游ゴシック" pitchFamily="34" charset="0"/>
                          <a:ea typeface="游ゴシック" pitchFamily="34" charset="-122"/>
                          <a:cs typeface="游ゴシック" pitchFamily="34" charset="-120"/>
                        </a:rPr>
                        <a:t>中京PTで推定（追加）</a:t>
                      </a:r>
                      <a:endParaRPr lang="en-US" sz="12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C0504D"/>
                          </a:solidFill>
                          <a:latin typeface="游ゴシック" pitchFamily="34" charset="0"/>
                          <a:ea typeface="游ゴシック" pitchFamily="34" charset="-122"/>
                          <a:cs typeface="游ゴシック" pitchFamily="34" charset="-120"/>
                        </a:rPr>
                        <a:t>β·ln(1+商業量)</a:t>
                      </a:r>
                      <a:endParaRPr lang="en-US" sz="12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游ゴシック" pitchFamily="34" charset="0"/>
                          <a:ea typeface="游ゴシック" pitchFamily="34" charset="-122"/>
                          <a:cs typeface="游ゴシック" pitchFamily="34" charset="-120"/>
                        </a:rPr>
                        <a:t>商業量＝市区町村内メッシュの卸売小売従業者の合計。capacityの変化が行き先選択に効く入口</a:t>
                      </a:r>
                      <a:endParaRPr lang="en-US" sz="12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游ゴシック" pitchFamily="34" charset="0"/>
                          <a:ea typeface="游ゴシック" pitchFamily="34" charset="-122"/>
                          <a:cs typeface="游ゴシック" pitchFamily="34" charset="-120"/>
                        </a:rPr>
                        <a:t>中京PTで推定（追加）</a:t>
                      </a:r>
                      <a:endParaRPr lang="en-US" sz="12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365760" y="4343400"/>
            <a:ext cx="8412480" cy="274320"/>
          </a:xfrm>
          <a:prstGeom prst="rect">
            <a:avLst/>
          </a:prstGeom>
          <a:noFill/>
          <a:ln/>
        </p:spPr>
        <p:txBody>
          <a:bodyPr wrap="square" lIns="0" tIns="0" rIns="0" bIns="0" rtlCol="0" anchor="ctr"/>
          <a:lstStyle/>
          <a:p>
            <a:pPr indent="0" marL="0">
              <a:buNone/>
            </a:pPr>
            <a:r>
              <a:rPr lang="en-US" sz="1000" dirty="0">
                <a:solidFill>
                  <a:srgbClr val="666666"/>
                </a:solidFill>
                <a:latin typeface="游ゴシック" pitchFamily="34" charset="0"/>
                <a:ea typeface="游ゴシック" pitchFamily="34" charset="-122"/>
                <a:cs typeface="游ゴシック" pitchFamily="34" charset="-120"/>
              </a:rPr>
              <a:t>元の研究室モデルは λ＝1、β の項なし。研究室の同一市区町村係数a₃は勤労者・学生で0、非勤労者でもごく小さい</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365760" y="182880"/>
            <a:ext cx="8412480" cy="548640"/>
          </a:xfrm>
          <a:prstGeom prst="rect">
            <a:avLst/>
          </a:prstGeom>
          <a:noFill/>
          <a:ln/>
        </p:spPr>
        <p:txBody>
          <a:bodyPr wrap="square" lIns="0" tIns="0" rIns="0" bIns="0" rtlCol="0" anchor="ctr"/>
          <a:lstStyle/>
          <a:p>
            <a:pPr indent="0" marL="0">
              <a:buNone/>
            </a:pPr>
            <a:r>
              <a:rPr lang="en-US" sz="2800" b="1" dirty="0">
                <a:solidFill>
                  <a:srgbClr val="222222"/>
                </a:solidFill>
                <a:latin typeface="游ゴシック" pitchFamily="34" charset="0"/>
                <a:ea typeface="游ゴシック" pitchFamily="34" charset="-122"/>
                <a:cs typeface="游ゴシック" pitchFamily="34" charset="-120"/>
              </a:rPr>
              <a:t>追加：買物を大型店とそれ以外に分けた</a:t>
            </a:r>
            <a:endParaRPr lang="en-US" sz="2800" dirty="0"/>
          </a:p>
        </p:txBody>
      </p:sp>
      <p:sp>
        <p:nvSpPr>
          <p:cNvPr id="3" name="Shape 1"/>
          <p:cNvSpPr/>
          <p:nvPr/>
        </p:nvSpPr>
        <p:spPr>
          <a:xfrm>
            <a:off x="365760" y="914400"/>
            <a:ext cx="4023360" cy="1554480"/>
          </a:xfrm>
          <a:prstGeom prst="roundRect">
            <a:avLst>
              <a:gd name="adj" fmla="val 4706"/>
            </a:avLst>
          </a:prstGeom>
          <a:solidFill>
            <a:srgbClr val="EEF3F8"/>
          </a:solidFill>
          <a:ln w="12700">
            <a:solidFill>
              <a:srgbClr val="EEF3F8"/>
            </a:solidFill>
            <a:prstDash val="solid"/>
          </a:ln>
        </p:spPr>
      </p:sp>
      <p:sp>
        <p:nvSpPr>
          <p:cNvPr id="4" name="Text 2"/>
          <p:cNvSpPr txBox="1"/>
          <p:nvPr/>
        </p:nvSpPr>
        <p:spPr>
          <a:xfrm>
            <a:off x="475488" y="987552"/>
            <a:ext cx="3803904" cy="1408176"/>
          </a:xfrm>
          <a:prstGeom prst="rect">
            <a:avLst/>
          </a:prstGeom>
          <a:noFill/>
          <a:ln/>
        </p:spPr>
        <p:txBody>
          <a:bodyPr wrap="square" lIns="0" tIns="0" rIns="0" bIns="0" rtlCol="0" anchor="t"/>
          <a:lstStyle/>
          <a:p>
            <a:pPr indent="0" marL="0">
              <a:buNone/>
            </a:pPr>
            <a:r>
              <a:rPr lang="en-US" sz="1400" b="1" dirty="0">
                <a:solidFill>
                  <a:srgbClr val="222222"/>
                </a:solidFill>
                <a:latin typeface="游ゴシック" pitchFamily="34" charset="0"/>
                <a:ea typeface="游ゴシック" pitchFamily="34" charset="-122"/>
                <a:cs typeface="游ゴシック" pitchFamily="34" charset="-120"/>
              </a:rPr>
              <a:t>なぜ分けるか（中京PT 2022）</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・買物の22.4%は大型規模小売店への到着</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・大型店の買物は遠くから来る</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　同じ地区内で済む割合：大型 59% / それ以外 74%</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・新施設（百貨店）は大型店の来訪パターンに合わせたい</a:t>
            </a:r>
            <a:endParaRPr lang="en-US" sz="1400" dirty="0"/>
          </a:p>
        </p:txBody>
      </p:sp>
      <p:sp>
        <p:nvSpPr>
          <p:cNvPr id="5" name="Shape 3"/>
          <p:cNvSpPr/>
          <p:nvPr/>
        </p:nvSpPr>
        <p:spPr>
          <a:xfrm>
            <a:off x="4754880" y="914400"/>
            <a:ext cx="4023360" cy="1554480"/>
          </a:xfrm>
          <a:prstGeom prst="roundRect">
            <a:avLst>
              <a:gd name="adj" fmla="val 4706"/>
            </a:avLst>
          </a:prstGeom>
          <a:solidFill>
            <a:srgbClr val="EEF3F8"/>
          </a:solidFill>
          <a:ln w="12700">
            <a:solidFill>
              <a:srgbClr val="EEF3F8"/>
            </a:solidFill>
            <a:prstDash val="solid"/>
          </a:ln>
        </p:spPr>
      </p:sp>
      <p:sp>
        <p:nvSpPr>
          <p:cNvPr id="6" name="Text 4"/>
          <p:cNvSpPr txBox="1"/>
          <p:nvPr/>
        </p:nvSpPr>
        <p:spPr>
          <a:xfrm>
            <a:off x="4864608" y="987552"/>
            <a:ext cx="3803904" cy="1408176"/>
          </a:xfrm>
          <a:prstGeom prst="rect">
            <a:avLst/>
          </a:prstGeom>
          <a:noFill/>
          <a:ln/>
        </p:spPr>
        <p:txBody>
          <a:bodyPr wrap="square" lIns="0" tIns="0" rIns="0" bIns="0" rtlCol="0" anchor="t"/>
          <a:lstStyle/>
          <a:p>
            <a:pPr indent="0" marL="0">
              <a:buNone/>
            </a:pPr>
            <a:r>
              <a:rPr lang="en-US" sz="1400" b="1" dirty="0">
                <a:solidFill>
                  <a:srgbClr val="222222"/>
                </a:solidFill>
                <a:latin typeface="游ゴシック" pitchFamily="34" charset="0"/>
                <a:ea typeface="游ゴシック" pitchFamily="34" charset="-122"/>
                <a:cs typeface="游ゴシック" pitchFamily="34" charset="-120"/>
              </a:rPr>
              <a:t>どう使うか</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・買物の22.4%を確率的に「大型店の買物」とし、大型店用の係数で市区町村を選ぶ</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・新施設には大型店の買物だけが来る設計（※実装に不具合あり、最後のスライド）</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・残り77.6%は一般用の係数</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2697480"/>
          <a:ext cx="8412480" cy="914400"/>
        </p:xfrm>
        <a:graphic>
          <a:graphicData uri="http://schemas.openxmlformats.org/drawingml/2006/table">
            <a:tbl>
              <a:tblPr/>
              <a:tblGrid>
                <a:gridCol w="2377440"/>
                <a:gridCol w="2377440"/>
                <a:gridCol w="3657600"/>
              </a:tblGrid>
              <a:tr h="301752">
                <a:tc>
                  <a:txBody>
                    <a:bodyPr/>
                    <a:lstStyle/>
                    <a:p>
                      <a:pPr indent="0" marL="0">
                        <a:buNone/>
                      </a:pPr>
                      <a:r>
                        <a:rPr lang="en-US" sz="1200" b="1" dirty="0">
                          <a:solidFill>
                            <a:srgbClr val="222222"/>
                          </a:solidFill>
                          <a:latin typeface="游ゴシック" pitchFamily="34" charset="0"/>
                          <a:ea typeface="游ゴシック" pitchFamily="34" charset="-122"/>
                          <a:cs typeface="游ゴシック" pitchFamily="34" charset="-120"/>
                        </a:rPr>
                        <a:t>項</a:t>
                      </a:r>
                      <a:endParaRPr lang="en-US" sz="12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b="1" dirty="0">
                          <a:solidFill>
                            <a:srgbClr val="222222"/>
                          </a:solidFill>
                          <a:latin typeface="游ゴシック" pitchFamily="34" charset="0"/>
                          <a:ea typeface="游ゴシック" pitchFamily="34" charset="-122"/>
                          <a:cs typeface="游ゴシック" pitchFamily="34" charset="-120"/>
                        </a:rPr>
                        <a:t>一般の買物</a:t>
                      </a:r>
                      <a:endParaRPr lang="en-US" sz="12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b="1" dirty="0">
                          <a:solidFill>
                            <a:srgbClr val="222222"/>
                          </a:solidFill>
                          <a:latin typeface="游ゴシック" pitchFamily="34" charset="0"/>
                          <a:ea typeface="游ゴシック" pitchFamily="34" charset="-122"/>
                          <a:cs typeface="游ゴシック" pitchFamily="34" charset="-120"/>
                        </a:rPr>
                        <a:t>大型店の買物</a:t>
                      </a:r>
                      <a:endParaRPr lang="en-US" sz="12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301752">
                <a:tc>
                  <a:txBody>
                    <a:bodyPr/>
                    <a:lstStyle/>
                    <a:p>
                      <a:pPr indent="0" marL="0">
                        <a:buNone/>
                      </a:pPr>
                      <a:r>
                        <a:rPr lang="en-US" sz="1200" dirty="0">
                          <a:solidFill>
                            <a:srgbClr val="222222"/>
                          </a:solidFill>
                          <a:latin typeface="游ゴシック" pitchFamily="34" charset="0"/>
                          <a:ea typeface="游ゴシック" pitchFamily="34" charset="-122"/>
                          <a:cs typeface="游ゴシック" pitchFamily="34" charset="-120"/>
                        </a:rPr>
                        <a:t>商業量の形</a:t>
                      </a:r>
                      <a:endParaRPr lang="en-US" sz="12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222222"/>
                          </a:solidFill>
                          <a:latin typeface="游ゴシック" pitchFamily="34" charset="0"/>
                          <a:ea typeface="游ゴシック" pitchFamily="34" charset="-122"/>
                          <a:cs typeface="游ゴシック" pitchFamily="34" charset="-120"/>
                        </a:rPr>
                        <a:t>ln(1 + Σ 従業者)</a:t>
                      </a:r>
                      <a:endParaRPr lang="en-US" sz="12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C0504D"/>
                          </a:solidFill>
                          <a:latin typeface="游ゴシック" pitchFamily="34" charset="0"/>
                          <a:ea typeface="游ゴシック" pitchFamily="34" charset="-122"/>
                          <a:cs typeface="游ゴシック" pitchFamily="34" charset="-120"/>
                        </a:rPr>
                        <a:t>ln(1 + Σ 従業者²)　集積地が強く効く</a:t>
                      </a:r>
                      <a:endParaRPr lang="en-US" sz="12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301752">
                <a:tc>
                  <a:txBody>
                    <a:bodyPr/>
                    <a:lstStyle/>
                    <a:p>
                      <a:pPr indent="0" marL="0">
                        <a:buNone/>
                      </a:pPr>
                      <a:r>
                        <a:rPr lang="en-US" sz="1200" dirty="0">
                          <a:solidFill>
                            <a:srgbClr val="222222"/>
                          </a:solidFill>
                          <a:latin typeface="游ゴシック" pitchFamily="34" charset="0"/>
                          <a:ea typeface="游ゴシック" pitchFamily="34" charset="-122"/>
                          <a:cs typeface="游ゴシック" pitchFamily="34" charset="-120"/>
                        </a:rPr>
                        <a:t>β</a:t>
                      </a:r>
                      <a:endParaRPr lang="en-US" sz="12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222222"/>
                          </a:solidFill>
                          <a:latin typeface="游ゴシック" pitchFamily="34" charset="0"/>
                          <a:ea typeface="游ゴシック" pitchFamily="34" charset="-122"/>
                          <a:cs typeface="游ゴシック" pitchFamily="34" charset="-120"/>
                        </a:rPr>
                        <a:t>0.24</a:t>
                      </a:r>
                      <a:endParaRPr lang="en-US" sz="12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222222"/>
                          </a:solidFill>
                          <a:latin typeface="游ゴシック" pitchFamily="34" charset="0"/>
                          <a:ea typeface="游ゴシック" pitchFamily="34" charset="-122"/>
                          <a:cs typeface="游ゴシック" pitchFamily="34" charset="-120"/>
                        </a:rPr>
                        <a:t>0.40</a:t>
                      </a:r>
                      <a:endParaRPr lang="en-US" sz="12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301752">
                <a:tc>
                  <a:txBody>
                    <a:bodyPr/>
                    <a:lstStyle/>
                    <a:p>
                      <a:pPr indent="0" marL="0">
                        <a:buNone/>
                      </a:pPr>
                      <a:r>
                        <a:rPr lang="en-US" sz="1200" dirty="0">
                          <a:solidFill>
                            <a:srgbClr val="222222"/>
                          </a:solidFill>
                          <a:latin typeface="游ゴシック" pitchFamily="34" charset="0"/>
                          <a:ea typeface="游ゴシック" pitchFamily="34" charset="-122"/>
                          <a:cs typeface="游ゴシック" pitchFamily="34" charset="-120"/>
                        </a:rPr>
                        <a:t>距離の倍率 λ₁</a:t>
                      </a:r>
                      <a:endParaRPr lang="en-US" sz="12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222222"/>
                          </a:solidFill>
                          <a:latin typeface="游ゴシック" pitchFamily="34" charset="0"/>
                          <a:ea typeface="游ゴシック" pitchFamily="34" charset="-122"/>
                          <a:cs typeface="游ゴシック" pitchFamily="34" charset="-120"/>
                        </a:rPr>
                        <a:t>0.95</a:t>
                      </a:r>
                      <a:endParaRPr lang="en-US" sz="12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C0504D"/>
                          </a:solidFill>
                          <a:latin typeface="游ゴシック" pitchFamily="34" charset="0"/>
                          <a:ea typeface="游ゴシック" pitchFamily="34" charset="-122"/>
                          <a:cs typeface="游ゴシック" pitchFamily="34" charset="-120"/>
                        </a:rPr>
                        <a:t>0.45（PT推定0.78を弱めた）</a:t>
                      </a:r>
                      <a:endParaRPr lang="en-US" sz="12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301752">
                <a:tc>
                  <a:txBody>
                    <a:bodyPr/>
                    <a:lstStyle/>
                    <a:p>
                      <a:pPr indent="0" marL="0">
                        <a:buNone/>
                      </a:pPr>
                      <a:r>
                        <a:rPr lang="en-US" sz="1200" dirty="0">
                          <a:solidFill>
                            <a:srgbClr val="222222"/>
                          </a:solidFill>
                          <a:latin typeface="游ゴシック" pitchFamily="34" charset="0"/>
                          <a:ea typeface="游ゴシック" pitchFamily="34" charset="-122"/>
                          <a:cs typeface="游ゴシック" pitchFamily="34" charset="-120"/>
                        </a:rPr>
                        <a:t>人口比の倍率 λ₃</a:t>
                      </a:r>
                      <a:endParaRPr lang="en-US" sz="12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222222"/>
                          </a:solidFill>
                          <a:latin typeface="游ゴシック" pitchFamily="34" charset="0"/>
                          <a:ea typeface="游ゴシック" pitchFamily="34" charset="-122"/>
                          <a:cs typeface="游ゴシック" pitchFamily="34" charset="-120"/>
                        </a:rPr>
                        <a:t>−2.84</a:t>
                      </a:r>
                      <a:endParaRPr lang="en-US" sz="12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222222"/>
                          </a:solidFill>
                          <a:latin typeface="游ゴシック" pitchFamily="34" charset="0"/>
                          <a:ea typeface="游ゴシック" pitchFamily="34" charset="-122"/>
                          <a:cs typeface="游ゴシック" pitchFamily="34" charset="-120"/>
                        </a:rPr>
                        <a:t>−12.35</a:t>
                      </a:r>
                      <a:endParaRPr lang="en-US" sz="12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301752">
                <a:tc>
                  <a:txBody>
                    <a:bodyPr/>
                    <a:lstStyle/>
                    <a:p>
                      <a:pPr indent="0" marL="0">
                        <a:buNone/>
                      </a:pPr>
                      <a:r>
                        <a:rPr lang="en-US" sz="1200" dirty="0">
                          <a:solidFill>
                            <a:srgbClr val="222222"/>
                          </a:solidFill>
                          <a:latin typeface="游ゴシック" pitchFamily="34" charset="0"/>
                          <a:ea typeface="游ゴシック" pitchFamily="34" charset="-122"/>
                          <a:cs typeface="游ゴシック" pitchFamily="34" charset="-120"/>
                        </a:rPr>
                        <a:t>同一市区町村の倍率 λ₅</a:t>
                      </a:r>
                      <a:endParaRPr lang="en-US" sz="12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222222"/>
                          </a:solidFill>
                          <a:latin typeface="游ゴシック" pitchFamily="34" charset="0"/>
                          <a:ea typeface="游ゴシック" pitchFamily="34" charset="-122"/>
                          <a:cs typeface="游ゴシック" pitchFamily="34" charset="-120"/>
                        </a:rPr>
                        <a:t>0</a:t>
                      </a:r>
                      <a:endParaRPr lang="en-US" sz="12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222222"/>
                          </a:solidFill>
                          <a:latin typeface="游ゴシック" pitchFamily="34" charset="0"/>
                          <a:ea typeface="游ゴシック" pitchFamily="34" charset="-122"/>
                          <a:cs typeface="游ゴシック" pitchFamily="34" charset="-120"/>
                        </a:rPr>
                        <a:t>0</a:t>
                      </a:r>
                      <a:endParaRPr lang="en-US" sz="12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8" name="Text 5"/>
          <p:cNvSpPr txBox="1"/>
          <p:nvPr/>
        </p:nvSpPr>
        <p:spPr>
          <a:xfrm>
            <a:off x="365760" y="4663440"/>
            <a:ext cx="8412480" cy="274320"/>
          </a:xfrm>
          <a:prstGeom prst="rect">
            <a:avLst/>
          </a:prstGeom>
          <a:noFill/>
          <a:ln/>
        </p:spPr>
        <p:txBody>
          <a:bodyPr wrap="square" lIns="0" tIns="0" rIns="0" bIns="0" rtlCol="0" anchor="ctr"/>
          <a:lstStyle/>
          <a:p>
            <a:pPr indent="0" marL="0">
              <a:buNone/>
            </a:pPr>
            <a:r>
              <a:rPr lang="en-US" sz="1000" dirty="0">
                <a:solidFill>
                  <a:srgbClr val="666666"/>
                </a:solidFill>
                <a:latin typeface="游ゴシック" pitchFamily="34" charset="0"/>
                <a:ea typeface="游ゴシック" pitchFamily="34" charset="-122"/>
                <a:cs typeface="游ゴシック" pitchFamily="34" charset="-120"/>
              </a:rPr>
              <a:t>係数は中京PTの到着施設別OD（愛知県内）で最尤推定。出発地域をtrain/validation/testに分け、魅力の形はvalidationで選んだ</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365760" y="182880"/>
            <a:ext cx="8412480" cy="548640"/>
          </a:xfrm>
          <a:prstGeom prst="rect">
            <a:avLst/>
          </a:prstGeom>
          <a:noFill/>
          <a:ln/>
        </p:spPr>
        <p:txBody>
          <a:bodyPr wrap="square" lIns="0" tIns="0" rIns="0" bIns="0" rtlCol="0" anchor="ctr"/>
          <a:lstStyle/>
          <a:p>
            <a:pPr indent="0" marL="0">
              <a:buNone/>
            </a:pPr>
            <a:r>
              <a:rPr lang="en-US" sz="2800" b="1" dirty="0">
                <a:solidFill>
                  <a:srgbClr val="222222"/>
                </a:solidFill>
                <a:latin typeface="游ゴシック" pitchFamily="34" charset="0"/>
                <a:ea typeface="游ゴシック" pitchFamily="34" charset="-122"/>
                <a:cs typeface="游ゴシック" pitchFamily="34" charset="-120"/>
              </a:rPr>
              <a:t>区内のメッシュと店舗の選び方・今回の修正</a:t>
            </a:r>
            <a:endParaRPr lang="en-US" sz="2800" dirty="0"/>
          </a:p>
        </p:txBody>
      </p:sp>
      <p:sp>
        <p:nvSpPr>
          <p:cNvPr id="3" name="Shape 1"/>
          <p:cNvSpPr/>
          <p:nvPr/>
        </p:nvSpPr>
        <p:spPr>
          <a:xfrm>
            <a:off x="365760" y="914400"/>
            <a:ext cx="4023360" cy="1737360"/>
          </a:xfrm>
          <a:prstGeom prst="roundRect">
            <a:avLst>
              <a:gd name="adj" fmla="val 4211"/>
            </a:avLst>
          </a:prstGeom>
          <a:solidFill>
            <a:srgbClr val="EEF3F8"/>
          </a:solidFill>
          <a:ln w="12700">
            <a:solidFill>
              <a:srgbClr val="EEF3F8"/>
            </a:solidFill>
            <a:prstDash val="solid"/>
          </a:ln>
        </p:spPr>
      </p:sp>
      <p:sp>
        <p:nvSpPr>
          <p:cNvPr id="4" name="Text 2"/>
          <p:cNvSpPr txBox="1"/>
          <p:nvPr/>
        </p:nvSpPr>
        <p:spPr>
          <a:xfrm>
            <a:off x="475488" y="987552"/>
            <a:ext cx="3803904" cy="1591056"/>
          </a:xfrm>
          <a:prstGeom prst="rect">
            <a:avLst/>
          </a:prstGeom>
          <a:noFill/>
          <a:ln/>
        </p:spPr>
        <p:txBody>
          <a:bodyPr wrap="square" lIns="0" tIns="0" rIns="0" bIns="0" rtlCol="0" anchor="t"/>
          <a:lstStyle/>
          <a:p>
            <a:pPr indent="0" marL="0">
              <a:buNone/>
            </a:pPr>
            <a:r>
              <a:rPr lang="en-US" sz="1400" b="1" dirty="0">
                <a:solidFill>
                  <a:srgbClr val="222222"/>
                </a:solidFill>
                <a:latin typeface="游ゴシック" pitchFamily="34" charset="0"/>
                <a:ea typeface="游ゴシック" pitchFamily="34" charset="-122"/>
                <a:cs typeface="游ゴシック" pitchFamily="34" charset="-120"/>
              </a:rPr>
              <a:t>メッシュ（区内）</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・自分の市区町村内：従業者数 ÷ 距離^1.2</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・他の市区町村：従業者数に比例</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（従業者数は対数をとらずそのまま＝raw、以前追加）</a:t>
            </a:r>
            <a:endParaRPr lang="en-US" sz="1400" dirty="0"/>
          </a:p>
        </p:txBody>
      </p:sp>
      <p:sp>
        <p:nvSpPr>
          <p:cNvPr id="5" name="Shape 3"/>
          <p:cNvSpPr/>
          <p:nvPr/>
        </p:nvSpPr>
        <p:spPr>
          <a:xfrm>
            <a:off x="4754880" y="914400"/>
            <a:ext cx="4023360" cy="1737360"/>
          </a:xfrm>
          <a:prstGeom prst="roundRect">
            <a:avLst>
              <a:gd name="adj" fmla="val 4211"/>
            </a:avLst>
          </a:prstGeom>
          <a:solidFill>
            <a:srgbClr val="EEF3F8"/>
          </a:solidFill>
          <a:ln w="12700">
            <a:solidFill>
              <a:srgbClr val="EEF3F8"/>
            </a:solidFill>
            <a:prstDash val="solid"/>
          </a:ln>
        </p:spPr>
      </p:sp>
      <p:sp>
        <p:nvSpPr>
          <p:cNvPr id="6" name="Text 4"/>
          <p:cNvSpPr txBox="1"/>
          <p:nvPr/>
        </p:nvSpPr>
        <p:spPr>
          <a:xfrm>
            <a:off x="4864608" y="987552"/>
            <a:ext cx="3803904" cy="1591056"/>
          </a:xfrm>
          <a:prstGeom prst="rect">
            <a:avLst/>
          </a:prstGeom>
          <a:noFill/>
          <a:ln/>
        </p:spPr>
        <p:txBody>
          <a:bodyPr wrap="square" lIns="0" tIns="0" rIns="0" bIns="0" rtlCol="0" anchor="t"/>
          <a:lstStyle/>
          <a:p>
            <a:pPr indent="0" marL="0">
              <a:buNone/>
            </a:pPr>
            <a:r>
              <a:rPr lang="en-US" sz="1400" b="1" dirty="0">
                <a:solidFill>
                  <a:srgbClr val="222222"/>
                </a:solidFill>
                <a:latin typeface="游ゴシック" pitchFamily="34" charset="0"/>
                <a:ea typeface="游ゴシック" pitchFamily="34" charset="-122"/>
                <a:cs typeface="游ゴシック" pitchFamily="34" charset="-120"/>
              </a:rPr>
              <a:t>店舗</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・メッシュ内の店舗をcapacityの比で選ぶ</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・既存店は電話帳の登録1件ごとに1万（百貨店はテナント件数×1万。跡地メッシュの中村区の店は計322万）</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・新施設の到着 ≒ U × f ÷（f＋322万）　U：跡地メッシュに来る大型店の買物、f：新施設capacity</a:t>
            </a:r>
            <a:endParaRPr lang="en-US" sz="1400" dirty="0"/>
          </a:p>
        </p:txBody>
      </p:sp>
      <p:sp>
        <p:nvSpPr>
          <p:cNvPr id="7" name="Shape 5"/>
          <p:cNvSpPr/>
          <p:nvPr/>
        </p:nvSpPr>
        <p:spPr>
          <a:xfrm>
            <a:off x="365760" y="2834640"/>
            <a:ext cx="8412480" cy="1645920"/>
          </a:xfrm>
          <a:prstGeom prst="roundRect">
            <a:avLst>
              <a:gd name="adj" fmla="val 4444"/>
            </a:avLst>
          </a:prstGeom>
          <a:solidFill>
            <a:srgbClr val="FBEFEF"/>
          </a:solidFill>
          <a:ln w="12700">
            <a:solidFill>
              <a:srgbClr val="FBEFEF"/>
            </a:solidFill>
            <a:prstDash val="solid"/>
          </a:ln>
        </p:spPr>
      </p:sp>
      <p:sp>
        <p:nvSpPr>
          <p:cNvPr id="8" name="Text 6"/>
          <p:cNvSpPr txBox="1"/>
          <p:nvPr/>
        </p:nvSpPr>
        <p:spPr>
          <a:xfrm>
            <a:off x="475488" y="2907792"/>
            <a:ext cx="8193024" cy="1499616"/>
          </a:xfrm>
          <a:prstGeom prst="rect">
            <a:avLst/>
          </a:prstGeom>
          <a:noFill/>
          <a:ln/>
        </p:spPr>
        <p:txBody>
          <a:bodyPr wrap="square" lIns="0" tIns="0" rIns="0" bIns="0" rtlCol="0" anchor="t"/>
          <a:lstStyle/>
          <a:p>
            <a:pPr indent="0" marL="0">
              <a:buNone/>
            </a:pPr>
            <a:r>
              <a:rPr lang="en-US" sz="1400" b="1" dirty="0">
                <a:solidFill>
                  <a:srgbClr val="222222"/>
                </a:solidFill>
                <a:latin typeface="游ゴシック" pitchFamily="34" charset="0"/>
                <a:ea typeface="游ゴシック" pitchFamily="34" charset="-122"/>
                <a:cs typeface="游ゴシック" pitchFamily="34" charset="-120"/>
              </a:rPr>
              <a:t>修正：市区町村と店舗所在地をそろえた（--facility-city-match on）</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境界のメッシュは隣の区にも登録されており、西区を選んだ人が中村区の店に着いても「西区」と出力されていた。</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今回から、選んだ市区町村の店舗だけから選び、出力も店舗の所在地にした。</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 西区からの来訪が過大（20%、PT 3%）だった問題は解消。ただし旧係数のままでは中村区内が55%に偏ったため、上記の大型店分岐を入れた。</a:t>
            </a:r>
            <a:endParaRPr lang="en-US" sz="1400" dirty="0"/>
          </a:p>
        </p:txBody>
      </p:sp>
      <p:sp>
        <p:nvSpPr>
          <p:cNvPr id="9" name="Text 7"/>
          <p:cNvSpPr txBox="1"/>
          <p:nvPr/>
        </p:nvSpPr>
        <p:spPr>
          <a:xfrm>
            <a:off x="365760" y="4663440"/>
            <a:ext cx="8412480" cy="274320"/>
          </a:xfrm>
          <a:prstGeom prst="rect">
            <a:avLst/>
          </a:prstGeom>
          <a:noFill/>
          <a:ln/>
        </p:spPr>
        <p:txBody>
          <a:bodyPr wrap="square" lIns="0" tIns="0" rIns="0" bIns="0" rtlCol="0" anchor="ctr"/>
          <a:lstStyle/>
          <a:p>
            <a:pPr indent="0" marL="0">
              <a:buNone/>
            </a:pPr>
            <a:r>
              <a:rPr lang="en-US" sz="1000" dirty="0">
                <a:solidFill>
                  <a:srgbClr val="666666"/>
                </a:solidFill>
                <a:latin typeface="游ゴシック" pitchFamily="34" charset="0"/>
                <a:ea typeface="游ゴシック" pitchFamily="34" charset="-122"/>
                <a:cs typeface="游ゴシック" pitchFamily="34" charset="-120"/>
              </a:rPr>
              <a:t>すべて任意オプション。既定値では従来の出力と207ファイルが完全に一致することを確認済み</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365760" y="182880"/>
            <a:ext cx="8412480" cy="548640"/>
          </a:xfrm>
          <a:prstGeom prst="rect">
            <a:avLst/>
          </a:prstGeom>
          <a:noFill/>
          <a:ln/>
        </p:spPr>
        <p:txBody>
          <a:bodyPr wrap="square" lIns="0" tIns="0" rIns="0" bIns="0" rtlCol="0" anchor="ctr"/>
          <a:lstStyle/>
          <a:p>
            <a:pPr indent="0" marL="0">
              <a:buNone/>
            </a:pPr>
            <a:r>
              <a:rPr lang="en-US" sz="2800" b="1" dirty="0">
                <a:solidFill>
                  <a:srgbClr val="222222"/>
                </a:solidFill>
                <a:latin typeface="游ゴシック" pitchFamily="34" charset="0"/>
                <a:ea typeface="游ゴシック" pitchFamily="34" charset="-122"/>
                <a:cs typeface="游ゴシック" pitchFamily="34" charset="-120"/>
              </a:rPr>
              <a:t>精度①　新施設に来る人の出発地</a:t>
            </a:r>
            <a:endParaRPr lang="en-US" sz="2800" dirty="0"/>
          </a:p>
        </p:txBody>
      </p:sp>
      <p:graphicFrame>
        <p:nvGraphicFramePr>
          <p:cNvPr id="3" name="Chart 0" descr=""/>
          <p:cNvGraphicFramePr/>
          <p:nvPr/>
        </p:nvGraphicFramePr>
        <p:xfrm>
          <a:off x="365760" y="868680"/>
          <a:ext cx="5120640" cy="37490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760720" y="1005840"/>
            <a:ext cx="3017520" cy="3474720"/>
          </a:xfrm>
          <a:prstGeom prst="rect">
            <a:avLst/>
          </a:prstGeom>
          <a:noFill/>
          <a:ln/>
        </p:spPr>
        <p:txBody>
          <a:bodyPr wrap="square" lIns="0" tIns="0" rIns="0" bIns="0" rtlCol="0" anchor="t"/>
          <a:lstStyle/>
          <a:p>
            <a:pPr indent="0" marL="0">
              <a:buNone/>
            </a:pPr>
            <a:r>
              <a:rPr lang="en-US" sz="1400" b="1" dirty="0">
                <a:solidFill>
                  <a:srgbClr val="222222"/>
                </a:solidFill>
                <a:latin typeface="游ゴシック" pitchFamily="34" charset="0"/>
                <a:ea typeface="游ゴシック" pitchFamily="34" charset="-122"/>
                <a:cs typeface="游ゴシック" pitchFamily="34" charset="-120"/>
              </a:rPr>
              <a:t>ずれ（TVD）</a:t>
            </a:r>
            <a:endParaRPr lang="en-US" sz="1400" dirty="0"/>
          </a:p>
          <a:p>
            <a:pPr indent="0" marL="0">
              <a:buNone/>
            </a:pPr>
            <a:r>
              <a:rPr lang="en-US" sz="1100" dirty="0">
                <a:solidFill>
                  <a:srgbClr val="666666"/>
                </a:solidFill>
                <a:latin typeface="游ゴシック" pitchFamily="34" charset="0"/>
                <a:ea typeface="游ゴシック" pitchFamily="34" charset="-122"/>
                <a:cs typeface="游ゴシック" pitchFamily="34" charset="-120"/>
              </a:rPr>
              <a:t>0＝PTと完全一致、1＝全く重ならない</a:t>
            </a:r>
            <a:endParaRPr lang="en-US" sz="1400" dirty="0"/>
          </a:p>
          <a:p>
            <a:pPr indent="0" marL="0">
              <a:buNone/>
            </a:pPr>
            <a:r>
              <a:rPr lang="en-US" sz="800" dirty="0">
                <a:solidFill>
                  <a:srgbClr val="222222"/>
                </a:solidFill>
                <a:latin typeface="游ゴシック" pitchFamily="34" charset="0"/>
                <a:ea typeface="游ゴシック" pitchFamily="34" charset="-122"/>
                <a:cs typeface="游ゴシック" pitchFamily="34" charset="-120"/>
              </a:rPr>
              <a:t> </a:t>
            </a:r>
            <a:endParaRPr lang="en-US" sz="1400" dirty="0"/>
          </a:p>
          <a:p>
            <a:pPr indent="0" marL="0">
              <a:buNone/>
            </a:pPr>
            <a:r>
              <a:rPr lang="en-US" sz="1800" b="1" dirty="0">
                <a:solidFill>
                  <a:srgbClr val="8C8C8C"/>
                </a:solidFill>
                <a:latin typeface="游ゴシック" pitchFamily="34" charset="0"/>
                <a:ea typeface="游ゴシック" pitchFamily="34" charset="-122"/>
                <a:cs typeface="游ゴシック" pitchFamily="34" charset="-120"/>
              </a:rPr>
              <a:t>研究室モデル　0.569</a:t>
            </a:r>
            <a:endParaRPr lang="en-US" sz="1400" dirty="0"/>
          </a:p>
          <a:p>
            <a:pPr indent="0" marL="0">
              <a:buNone/>
            </a:pPr>
            <a:r>
              <a:rPr lang="en-US" sz="1800" b="1" dirty="0">
                <a:solidFill>
                  <a:srgbClr val="1F6FB2"/>
                </a:solidFill>
                <a:latin typeface="游ゴシック" pitchFamily="34" charset="0"/>
                <a:ea typeface="游ゴシック" pitchFamily="34" charset="-122"/>
                <a:cs typeface="游ゴシック" pitchFamily="34" charset="-120"/>
              </a:rPr>
              <a:t>今回のモデル　0.348</a:t>
            </a:r>
            <a:endParaRPr lang="en-US" sz="1400" dirty="0"/>
          </a:p>
          <a:p>
            <a:pPr indent="0" marL="0">
              <a:buNone/>
            </a:pPr>
            <a:r>
              <a:rPr lang="en-US" sz="800" dirty="0">
                <a:solidFill>
                  <a:srgbClr val="222222"/>
                </a:solidFill>
                <a:latin typeface="游ゴシック" pitchFamily="34" charset="0"/>
                <a:ea typeface="游ゴシック" pitchFamily="34" charset="-122"/>
                <a:cs typeface="游ゴシック" pitchFamily="34" charset="-120"/>
              </a:rPr>
              <a:t> </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改善：研究室モデルは区内10%と少なすぎ、市内他区60%と多すぎ。今回は他区41%でPTと一致</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残る課題：今度は中村区内が多い（45% vs 34%）。県外は生成対象外（6%）</a:t>
            </a:r>
            <a:endParaRPr lang="en-US" sz="1400" dirty="0"/>
          </a:p>
        </p:txBody>
      </p:sp>
      <p:sp>
        <p:nvSpPr>
          <p:cNvPr id="5" name="Text 2"/>
          <p:cNvSpPr txBox="1"/>
          <p:nvPr/>
        </p:nvSpPr>
        <p:spPr>
          <a:xfrm>
            <a:off x="365760" y="4754880"/>
            <a:ext cx="8412480" cy="274320"/>
          </a:xfrm>
          <a:prstGeom prst="rect">
            <a:avLst/>
          </a:prstGeom>
          <a:noFill/>
          <a:ln/>
        </p:spPr>
        <p:txBody>
          <a:bodyPr wrap="square" lIns="0" tIns="0" rIns="0" bIns="0" rtlCol="0" anchor="ctr"/>
          <a:lstStyle/>
          <a:p>
            <a:pPr indent="0" marL="0">
              <a:buNone/>
            </a:pPr>
            <a:r>
              <a:rPr lang="en-US" sz="1000" dirty="0">
                <a:solidFill>
                  <a:srgbClr val="666666"/>
                </a:solidFill>
                <a:latin typeface="游ゴシック" pitchFamily="34" charset="0"/>
                <a:ea typeface="游ゴシック" pitchFamily="34" charset="-122"/>
                <a:cs typeface="游ゴシック" pitchFamily="34" charset="-120"/>
              </a:rPr>
              <a:t>研究室モデル＝改良オプションなしのPseudo-PFLOW-v3に同じ計画（+746人、施設capacity 800万）を入れたもの（seed42、2%）。今回＝夜間の目標18,000ケース（全数seed42）。TVDは校正に使った指標そのもので外部検証ではない</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365760" y="182880"/>
            <a:ext cx="8412480" cy="548640"/>
          </a:xfrm>
          <a:prstGeom prst="rect">
            <a:avLst/>
          </a:prstGeom>
          <a:noFill/>
          <a:ln/>
        </p:spPr>
        <p:txBody>
          <a:bodyPr wrap="square" lIns="0" tIns="0" rIns="0" bIns="0" rtlCol="0" anchor="ctr"/>
          <a:lstStyle/>
          <a:p>
            <a:pPr indent="0" marL="0">
              <a:buNone/>
            </a:pPr>
            <a:r>
              <a:rPr lang="en-US" sz="2800" b="1" dirty="0">
                <a:solidFill>
                  <a:srgbClr val="222222"/>
                </a:solidFill>
                <a:latin typeface="游ゴシック" pitchFamily="34" charset="0"/>
                <a:ea typeface="游ゴシック" pitchFamily="34" charset="-122"/>
                <a:cs typeface="游ゴシック" pitchFamily="34" charset="-120"/>
              </a:rPr>
              <a:t>精度②　乱数（seed）を変えても改善するか</a:t>
            </a:r>
            <a:endParaRPr lang="en-US" sz="2800" dirty="0"/>
          </a:p>
        </p:txBody>
      </p:sp>
      <p:graphicFrame>
        <p:nvGraphicFramePr>
          <p:cNvPr id="3" name="Chart 0" descr=""/>
          <p:cNvGraphicFramePr/>
          <p:nvPr/>
        </p:nvGraphicFramePr>
        <p:xfrm>
          <a:off x="365760" y="868680"/>
          <a:ext cx="5120640" cy="374904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760720" y="1005840"/>
          <a:ext cx="3017520" cy="914400"/>
        </p:xfrm>
        <a:graphic>
          <a:graphicData uri="http://schemas.openxmlformats.org/drawingml/2006/table">
            <a:tbl>
              <a:tblPr/>
              <a:tblGrid>
                <a:gridCol w="1554480"/>
                <a:gridCol w="731520"/>
                <a:gridCol w="731520"/>
              </a:tblGrid>
              <a:tr h="384048">
                <a:tc>
                  <a:txBody>
                    <a:bodyPr/>
                    <a:lstStyle/>
                    <a:p>
                      <a:pPr indent="0" marL="0">
                        <a:buNone/>
                      </a:pP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b="1" dirty="0">
                          <a:solidFill>
                            <a:srgbClr val="222222"/>
                          </a:solidFill>
                          <a:latin typeface="游ゴシック" pitchFamily="34" charset="0"/>
                          <a:ea typeface="游ゴシック" pitchFamily="34" charset="-122"/>
                          <a:cs typeface="游ゴシック" pitchFamily="34" charset="-120"/>
                        </a:rPr>
                        <a:t>研究室</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b="1" dirty="0">
                          <a:solidFill>
                            <a:srgbClr val="222222"/>
                          </a:solidFill>
                          <a:latin typeface="游ゴシック" pitchFamily="34" charset="0"/>
                          <a:ea typeface="游ゴシック" pitchFamily="34" charset="-122"/>
                          <a:cs typeface="游ゴシック" pitchFamily="34" charset="-120"/>
                        </a:rPr>
                        <a:t>今回</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384048">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TVD 平均</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0.557</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b="1" dirty="0">
                          <a:solidFill>
                            <a:srgbClr val="1F6FB2"/>
                          </a:solidFill>
                          <a:latin typeface="游ゴシック" pitchFamily="34" charset="0"/>
                          <a:ea typeface="游ゴシック" pitchFamily="34" charset="-122"/>
                          <a:cs typeface="游ゴシック" pitchFamily="34" charset="-120"/>
                        </a:rPr>
                        <a:t>0.354</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384048">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TVD（愛知県内のみ）</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0.548</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b="1" dirty="0">
                          <a:solidFill>
                            <a:srgbClr val="1F6FB2"/>
                          </a:solidFill>
                          <a:latin typeface="游ゴシック" pitchFamily="34" charset="0"/>
                          <a:ea typeface="游ゴシック" pitchFamily="34" charset="-122"/>
                          <a:cs typeface="游ゴシック" pitchFamily="34" charset="-120"/>
                        </a:rPr>
                        <a:t>0.323</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384048">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施設到着（目標360）</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198件</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b="1" dirty="0">
                          <a:solidFill>
                            <a:srgbClr val="1F6FB2"/>
                          </a:solidFill>
                          <a:latin typeface="游ゴシック" pitchFamily="34" charset="0"/>
                          <a:ea typeface="游ゴシック" pitchFamily="34" charset="-122"/>
                          <a:cs typeface="游ゴシック" pitchFamily="34" charset="-120"/>
                        </a:rPr>
                        <a:t>362件</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384048">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capacity 1e9での到着（seed42）</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265件</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360件</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5" name="Text 1"/>
          <p:cNvSpPr txBox="1"/>
          <p:nvPr/>
        </p:nvSpPr>
        <p:spPr>
          <a:xfrm>
            <a:off x="5760720" y="3108960"/>
            <a:ext cx="3017520" cy="1280160"/>
          </a:xfrm>
          <a:prstGeom prst="rect">
            <a:avLst/>
          </a:prstGeom>
          <a:noFill/>
          <a:ln/>
        </p:spPr>
        <p:txBody>
          <a:bodyPr wrap="square" lIns="0" tIns="0" rIns="0" bIns="0" rtlCol="0" anchor="t"/>
          <a:lstStyle/>
          <a:p>
            <a:pPr indent="0" marL="0">
              <a:buNone/>
            </a:pPr>
            <a:r>
              <a:rPr lang="en-US" sz="1200" dirty="0">
                <a:solidFill>
                  <a:srgbClr val="222222"/>
                </a:solidFill>
                <a:latin typeface="游ゴシック" pitchFamily="34" charset="0"/>
                <a:ea typeface="游ゴシック" pitchFamily="34" charset="-122"/>
                <a:cs typeface="游ゴシック" pitchFamily="34" charset="-120"/>
              </a:rPr>
              <a:t>4つのseedすべてで今回の方が小さい。研究室モデルはcapacityを上げても目標人数に届かない。seed42は校正に使い、43〜45は設定を変えずに確かめた結果</a:t>
            </a:r>
            <a:endParaRPr lang="en-US" sz="1200" dirty="0"/>
          </a:p>
        </p:txBody>
      </p:sp>
      <p:sp>
        <p:nvSpPr>
          <p:cNvPr id="6" name="Text 2"/>
          <p:cNvSpPr txBox="1"/>
          <p:nvPr/>
        </p:nvSpPr>
        <p:spPr>
          <a:xfrm>
            <a:off x="365760" y="4754880"/>
            <a:ext cx="8412480" cy="274320"/>
          </a:xfrm>
          <a:prstGeom prst="rect">
            <a:avLst/>
          </a:prstGeom>
          <a:noFill/>
          <a:ln/>
        </p:spPr>
        <p:txBody>
          <a:bodyPr wrap="square" lIns="0" tIns="0" rIns="0" bIns="0" rtlCol="0" anchor="ctr"/>
          <a:lstStyle/>
          <a:p>
            <a:pPr indent="0" marL="0">
              <a:buNone/>
            </a:pPr>
            <a:r>
              <a:rPr lang="en-US" sz="1000" dirty="0">
                <a:solidFill>
                  <a:srgbClr val="666666"/>
                </a:solidFill>
                <a:latin typeface="游ゴシック" pitchFamily="34" charset="0"/>
                <a:ea typeface="游ゴシック" pitchFamily="34" charset="-122"/>
                <a:cs typeface="游ゴシック" pitchFamily="34" charset="-120"/>
              </a:rPr>
              <a:t>研究室モデルにも同じ計画を入れ、同じ参照（中ゾーン5の大型店・買物）で計算。到着の標準偏差は研究室12件、今回24件</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365760" y="182880"/>
            <a:ext cx="8412480" cy="548640"/>
          </a:xfrm>
          <a:prstGeom prst="rect">
            <a:avLst/>
          </a:prstGeom>
          <a:noFill/>
          <a:ln/>
        </p:spPr>
        <p:txBody>
          <a:bodyPr wrap="square" lIns="0" tIns="0" rIns="0" bIns="0" rtlCol="0" anchor="ctr"/>
          <a:lstStyle/>
          <a:p>
            <a:pPr indent="0" marL="0">
              <a:buNone/>
            </a:pPr>
            <a:r>
              <a:rPr lang="en-US" sz="2800" b="1" dirty="0">
                <a:solidFill>
                  <a:srgbClr val="222222"/>
                </a:solidFill>
                <a:latin typeface="游ゴシック" pitchFamily="34" charset="0"/>
                <a:ea typeface="游ゴシック" pitchFamily="34" charset="-122"/>
                <a:cs typeface="游ゴシック" pitchFamily="34" charset="-120"/>
              </a:rPr>
              <a:t>精度③　愛知全体では研究室の方が良い点も</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914400"/>
          <a:ext cx="8412480" cy="914400"/>
        </p:xfrm>
        <a:graphic>
          <a:graphicData uri="http://schemas.openxmlformats.org/drawingml/2006/table">
            <a:tbl>
              <a:tblPr/>
              <a:tblGrid>
                <a:gridCol w="3017520"/>
                <a:gridCol w="1645920"/>
                <a:gridCol w="1737360"/>
                <a:gridCol w="1005840"/>
                <a:gridCol w="1005840"/>
              </a:tblGrid>
              <a:tr h="365760">
                <a:tc>
                  <a:txBody>
                    <a:bodyPr/>
                    <a:lstStyle/>
                    <a:p>
                      <a:pPr indent="0" marL="0">
                        <a:buNone/>
                      </a:pPr>
                      <a:r>
                        <a:rPr lang="en-US" sz="1100" b="1" dirty="0">
                          <a:solidFill>
                            <a:srgbClr val="222222"/>
                          </a:solidFill>
                          <a:latin typeface="游ゴシック" pitchFamily="34" charset="0"/>
                          <a:ea typeface="游ゴシック" pitchFamily="34" charset="-122"/>
                          <a:cs typeface="游ゴシック" pitchFamily="34" charset="-120"/>
                        </a:rPr>
                        <a:t>指標</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b="1" dirty="0">
                          <a:solidFill>
                            <a:srgbClr val="222222"/>
                          </a:solidFill>
                          <a:latin typeface="游ゴシック" pitchFamily="34" charset="0"/>
                          <a:ea typeface="游ゴシック" pitchFamily="34" charset="-122"/>
                          <a:cs typeface="游ゴシック" pitchFamily="34" charset="-120"/>
                        </a:rPr>
                        <a:t>研究室</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b="1" dirty="0">
                          <a:solidFill>
                            <a:srgbClr val="222222"/>
                          </a:solidFill>
                          <a:latin typeface="游ゴシック" pitchFamily="34" charset="0"/>
                          <a:ea typeface="游ゴシック" pitchFamily="34" charset="-122"/>
                          <a:cs typeface="游ゴシック" pitchFamily="34" charset="-120"/>
                        </a:rPr>
                        <a:t>今回</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b="1" dirty="0">
                          <a:solidFill>
                            <a:srgbClr val="222222"/>
                          </a:solidFill>
                          <a:latin typeface="游ゴシック" pitchFamily="34" charset="0"/>
                          <a:ea typeface="游ゴシック" pitchFamily="34" charset="-122"/>
                          <a:cs typeface="游ゴシック" pitchFamily="34" charset="-120"/>
                        </a:rPr>
                        <a:t>PT</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b="1" dirty="0">
                          <a:solidFill>
                            <a:srgbClr val="222222"/>
                          </a:solidFill>
                          <a:latin typeface="游ゴシック" pitchFamily="34" charset="0"/>
                          <a:ea typeface="游ゴシック" pitchFamily="34" charset="-122"/>
                          <a:cs typeface="游ゴシック" pitchFamily="34" charset="-120"/>
                        </a:rPr>
                        <a:t>どちらが良いか</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365760">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施設を足したときの中村区の買物</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896→896（変化なし）</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+0.4%（全数）</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不明</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b="1" dirty="0">
                          <a:solidFill>
                            <a:srgbClr val="1F6FB2"/>
                          </a:solidFill>
                          <a:latin typeface="游ゴシック" pitchFamily="34" charset="0"/>
                          <a:ea typeface="游ゴシック" pitchFamily="34" charset="-122"/>
                          <a:cs typeface="游ゴシック" pitchFamily="34" charset="-120"/>
                        </a:rPr>
                        <a:t>今回</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365760">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愛知全体の買物の行き先のずれ（TVD）</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0.138</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0.094</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0</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b="1" dirty="0">
                          <a:solidFill>
                            <a:srgbClr val="1F6FB2"/>
                          </a:solidFill>
                          <a:latin typeface="游ゴシック" pitchFamily="34" charset="0"/>
                          <a:ea typeface="游ゴシック" pitchFamily="34" charset="-122"/>
                          <a:cs typeface="游ゴシック" pitchFamily="34" charset="-120"/>
                        </a:rPr>
                        <a:t>今回</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365760">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大型店以外の買物：未使用地区での当てはまり</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−1.247</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−1.230</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大きい方が良</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b="1" dirty="0">
                          <a:solidFill>
                            <a:srgbClr val="1F6FB2"/>
                          </a:solidFill>
                          <a:latin typeface="游ゴシック" pitchFamily="34" charset="0"/>
                          <a:ea typeface="游ゴシック" pitchFamily="34" charset="-122"/>
                          <a:cs typeface="游ゴシック" pitchFamily="34" charset="-120"/>
                        </a:rPr>
                        <a:t>今回（僅差）</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365760">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愛知全体で同じ地区内に買物に行く割合</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0.704</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0.621</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0.707</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b="1" dirty="0">
                          <a:solidFill>
                            <a:srgbClr val="C0504D"/>
                          </a:solidFill>
                          <a:latin typeface="游ゴシック" pitchFamily="34" charset="0"/>
                          <a:ea typeface="游ゴシック" pitchFamily="34" charset="-122"/>
                          <a:cs typeface="游ゴシック" pitchFamily="34" charset="-120"/>
                        </a:rPr>
                        <a:t>研究室</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365760">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中村区に来る買物全体の出発地のずれ</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0.246</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0.296</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0</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b="1" dirty="0">
                          <a:solidFill>
                            <a:srgbClr val="C0504D"/>
                          </a:solidFill>
                          <a:latin typeface="游ゴシック" pitchFamily="34" charset="0"/>
                          <a:ea typeface="游ゴシック" pitchFamily="34" charset="-122"/>
                          <a:cs typeface="游ゴシック" pitchFamily="34" charset="-120"/>
                        </a:rPr>
                        <a:t>研究室</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365760">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大型店の買物：未使用地区での当てはまり</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−1.620</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−1.874（距離0.45）</a:t>
                      </a:r>
                      <a:endParaRPr lang="en-US" sz="1100" dirty="0">
                        <a:latin typeface="游ゴシック" charset="0"/>
                        <a:ea typeface="游ゴシック" charset="0"/>
                        <a:cs typeface="游ゴシック" charset="0"/>
                      </a:endParaRPr>
                    </a:p>
                    <a:p>
                      <a:pPr indent="0" marL="0">
                        <a:buNone/>
                      </a:pPr>
                      <a:r>
                        <a:rPr lang="en-US" sz="1100" dirty="0">
                          <a:solidFill>
                            <a:srgbClr val="222222"/>
                          </a:solidFill>
                          <a:latin typeface="游ゴシック" pitchFamily="34" charset="0"/>
                          <a:ea typeface="游ゴシック" pitchFamily="34" charset="-122"/>
                          <a:cs typeface="游ゴシック" pitchFamily="34" charset="-120"/>
                        </a:rPr>
                        <a:t>−1.579（距離0.78）</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大きい方が良</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b="1" dirty="0">
                          <a:solidFill>
                            <a:srgbClr val="C0504D"/>
                          </a:solidFill>
                          <a:latin typeface="游ゴシック" pitchFamily="34" charset="0"/>
                          <a:ea typeface="游ゴシック" pitchFamily="34" charset="-122"/>
                          <a:cs typeface="游ゴシック" pitchFamily="34" charset="-120"/>
                        </a:rPr>
                        <a:t>研究室</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4" name="Text 1"/>
          <p:cNvSpPr txBox="1"/>
          <p:nvPr/>
        </p:nvSpPr>
        <p:spPr>
          <a:xfrm>
            <a:off x="365760" y="4160520"/>
            <a:ext cx="8412480" cy="502920"/>
          </a:xfrm>
          <a:prstGeom prst="rect">
            <a:avLst/>
          </a:prstGeom>
          <a:noFill/>
          <a:ln/>
        </p:spPr>
        <p:txBody>
          <a:bodyPr wrap="square" lIns="0" tIns="0" rIns="0" bIns="0" rtlCol="0" anchor="t"/>
          <a:lstStyle/>
          <a:p>
            <a:pPr indent="0" marL="0">
              <a:buNone/>
            </a:pPr>
            <a:r>
              <a:rPr lang="en-US" sz="1200" dirty="0">
                <a:solidFill>
                  <a:srgbClr val="222222"/>
                </a:solidFill>
                <a:latin typeface="游ゴシック" pitchFamily="34" charset="0"/>
                <a:ea typeface="游ゴシック" pitchFamily="34" charset="-122"/>
                <a:cs typeface="游ゴシック" pitchFamily="34" charset="-120"/>
              </a:rPr>
              <a:t>大型店の距離の効きを、施設の出発地に合うよう0.45まで弱めた代わりに、愛知全体では遠出が増え、近場の買物の再現は研究室モデルより悪くなった</a:t>
            </a:r>
            <a:endParaRPr lang="en-US" sz="1200" dirty="0"/>
          </a:p>
        </p:txBody>
      </p:sp>
      <p:sp>
        <p:nvSpPr>
          <p:cNvPr id="5" name="Text 2"/>
          <p:cNvSpPr txBox="1"/>
          <p:nvPr/>
        </p:nvSpPr>
        <p:spPr>
          <a:xfrm>
            <a:off x="365760" y="4709160"/>
            <a:ext cx="8412480" cy="274320"/>
          </a:xfrm>
          <a:prstGeom prst="rect">
            <a:avLst/>
          </a:prstGeom>
          <a:noFill/>
          <a:ln/>
        </p:spPr>
        <p:txBody>
          <a:bodyPr wrap="square" lIns="0" tIns="0" rIns="0" bIns="0" rtlCol="0" anchor="ctr"/>
          <a:lstStyle/>
          <a:p>
            <a:pPr indent="0" marL="0">
              <a:buNone/>
            </a:pPr>
            <a:r>
              <a:rPr lang="en-US" sz="1000" dirty="0">
                <a:solidFill>
                  <a:srgbClr val="666666"/>
                </a:solidFill>
                <a:latin typeface="游ゴシック" pitchFamily="34" charset="0"/>
                <a:ea typeface="游ゴシック" pitchFamily="34" charset="-122"/>
                <a:cs typeface="游ゴシック" pitchFamily="34" charset="-120"/>
              </a:rPr>
              <a:t>愛知2%・seed42のbaseline（施設なし）と、Pythonで再現した行き先選択モデル（中京PT、出発地域をtrain/validation/testに分割）での値</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365760" y="182880"/>
            <a:ext cx="8412480" cy="548640"/>
          </a:xfrm>
          <a:prstGeom prst="rect">
            <a:avLst/>
          </a:prstGeom>
          <a:noFill/>
          <a:ln/>
        </p:spPr>
        <p:txBody>
          <a:bodyPr wrap="square" lIns="0" tIns="0" rIns="0" bIns="0" rtlCol="0" anchor="ctr"/>
          <a:lstStyle/>
          <a:p>
            <a:pPr indent="0" marL="0">
              <a:buNone/>
            </a:pPr>
            <a:r>
              <a:rPr lang="en-US" sz="2800" b="1" dirty="0">
                <a:solidFill>
                  <a:srgbClr val="222222"/>
                </a:solidFill>
                <a:latin typeface="游ゴシック" pitchFamily="34" charset="0"/>
                <a:ea typeface="游ゴシック" pitchFamily="34" charset="-122"/>
                <a:cs typeface="游ゴシック" pitchFamily="34" charset="-120"/>
              </a:rPr>
              <a:t>目標人数の見直し：マニュアル値は大きすぎる</a:t>
            </a:r>
            <a:endParaRPr lang="en-US" sz="2800" dirty="0"/>
          </a:p>
        </p:txBody>
      </p:sp>
      <p:sp>
        <p:nvSpPr>
          <p:cNvPr id="3" name="Shape 1"/>
          <p:cNvSpPr/>
          <p:nvPr/>
        </p:nvSpPr>
        <p:spPr>
          <a:xfrm>
            <a:off x="365760" y="914400"/>
            <a:ext cx="4023360" cy="2377440"/>
          </a:xfrm>
          <a:prstGeom prst="roundRect">
            <a:avLst>
              <a:gd name="adj" fmla="val 3077"/>
            </a:avLst>
          </a:prstGeom>
          <a:solidFill>
            <a:srgbClr val="EEF3F8"/>
          </a:solidFill>
          <a:ln w="12700">
            <a:solidFill>
              <a:srgbClr val="EEF3F8"/>
            </a:solidFill>
            <a:prstDash val="solid"/>
          </a:ln>
        </p:spPr>
      </p:sp>
      <p:sp>
        <p:nvSpPr>
          <p:cNvPr id="4" name="Text 2"/>
          <p:cNvSpPr txBox="1"/>
          <p:nvPr/>
        </p:nvSpPr>
        <p:spPr>
          <a:xfrm>
            <a:off x="475488" y="987552"/>
            <a:ext cx="3803904" cy="2231136"/>
          </a:xfrm>
          <a:prstGeom prst="rect">
            <a:avLst/>
          </a:prstGeom>
          <a:noFill/>
          <a:ln/>
        </p:spPr>
        <p:txBody>
          <a:bodyPr wrap="square" lIns="0" tIns="0" rIns="0" bIns="0" rtlCol="0" anchor="t"/>
          <a:lstStyle/>
          <a:p>
            <a:pPr indent="0" marL="0">
              <a:buNone/>
            </a:pPr>
            <a:r>
              <a:rPr lang="en-US" sz="1400" b="1" dirty="0">
                <a:solidFill>
                  <a:srgbClr val="222222"/>
                </a:solidFill>
                <a:latin typeface="游ゴシック" pitchFamily="34" charset="0"/>
                <a:ea typeface="游ゴシック" pitchFamily="34" charset="-122"/>
                <a:cs typeface="游ゴシック" pitchFamily="34" charset="-120"/>
              </a:rPr>
              <a:t>国交省マニュアル（大規模開発地区関連交通計画）</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・商業54,374㎡ × 9,300人T.E/ha・日 ＝ 50,568人T.E</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・÷2で到着25,284/日、買物71%で約18,000/日</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・計算・地域区分（中村区＝三大都市圏郊外部）は正しい</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・ただし原単位は「平均＋標準偏差」の設計値で、安全側に大きめ（p.11-12）</a:t>
            </a:r>
            <a:endParaRPr lang="en-US" sz="1400" dirty="0"/>
          </a:p>
        </p:txBody>
      </p:sp>
      <p:sp>
        <p:nvSpPr>
          <p:cNvPr id="5" name="Shape 3"/>
          <p:cNvSpPr/>
          <p:nvPr/>
        </p:nvSpPr>
        <p:spPr>
          <a:xfrm>
            <a:off x="4754880" y="914400"/>
            <a:ext cx="4023360" cy="2377440"/>
          </a:xfrm>
          <a:prstGeom prst="roundRect">
            <a:avLst>
              <a:gd name="adj" fmla="val 3077"/>
            </a:avLst>
          </a:prstGeom>
          <a:solidFill>
            <a:srgbClr val="EEF3F8"/>
          </a:solidFill>
          <a:ln w="12700">
            <a:solidFill>
              <a:srgbClr val="EEF3F8"/>
            </a:solidFill>
            <a:prstDash val="solid"/>
          </a:ln>
        </p:spPr>
      </p:sp>
      <p:sp>
        <p:nvSpPr>
          <p:cNvPr id="6" name="Text 4"/>
          <p:cNvSpPr txBox="1"/>
          <p:nvPr/>
        </p:nvSpPr>
        <p:spPr>
          <a:xfrm>
            <a:off x="4864608" y="987552"/>
            <a:ext cx="3803904" cy="2231136"/>
          </a:xfrm>
          <a:prstGeom prst="rect">
            <a:avLst/>
          </a:prstGeom>
          <a:noFill/>
          <a:ln/>
        </p:spPr>
        <p:txBody>
          <a:bodyPr wrap="square" lIns="0" tIns="0" rIns="0" bIns="0" rtlCol="0" anchor="t"/>
          <a:lstStyle/>
          <a:p>
            <a:pPr indent="0" marL="0">
              <a:buNone/>
            </a:pPr>
            <a:r>
              <a:rPr lang="en-US" sz="1400" b="1" dirty="0">
                <a:solidFill>
                  <a:srgbClr val="222222"/>
                </a:solidFill>
                <a:latin typeface="游ゴシック" pitchFamily="34" charset="0"/>
                <a:ea typeface="游ゴシック" pitchFamily="34" charset="-122"/>
                <a:cs typeface="游ゴシック" pitchFamily="34" charset="-120"/>
              </a:rPr>
              <a:t>中京PTからの旧名鉄本店の推定</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・中村区の大型規模小売店着：全目的29,271/日</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・名駅の百貨店で按分（売場面積で36%、売上で16%）</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 旧名鉄本店は約4,000〜10,000到着/日（推定）</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・マニュアル値はこの2.5〜6倍</a:t>
            </a:r>
            <a:endParaRPr lang="en-US" sz="1400" dirty="0"/>
          </a:p>
        </p:txBody>
      </p:sp>
      <p:sp>
        <p:nvSpPr>
          <p:cNvPr id="7" name="Text 5"/>
          <p:cNvSpPr txBox="1"/>
          <p:nvPr/>
        </p:nvSpPr>
        <p:spPr>
          <a:xfrm>
            <a:off x="365760" y="3520440"/>
            <a:ext cx="8412480" cy="457200"/>
          </a:xfrm>
          <a:prstGeom prst="rect">
            <a:avLst/>
          </a:prstGeom>
          <a:noFill/>
          <a:ln/>
        </p:spPr>
        <p:txBody>
          <a:bodyPr wrap="square" lIns="0" tIns="0" rIns="0" bIns="0" rtlCol="0" anchor="ctr"/>
          <a:lstStyle/>
          <a:p>
            <a:pPr indent="0" marL="0">
              <a:buNone/>
            </a:pPr>
            <a:r>
              <a:rPr lang="en-US" sz="1600" b="1" dirty="0">
                <a:solidFill>
                  <a:srgbClr val="1F6FB2"/>
                </a:solidFill>
                <a:latin typeface="游ゴシック" pitchFamily="34" charset="0"/>
                <a:ea typeface="游ゴシック" pitchFamily="34" charset="-122"/>
                <a:cs typeface="游ゴシック" pitchFamily="34" charset="-120"/>
              </a:rPr>
              <a:t>→ 目標を 3,000・6,000トリップ/日（買物到着）の2水準に変更して校正</a:t>
            </a:r>
            <a:endParaRPr lang="en-US" sz="1600" dirty="0"/>
          </a:p>
        </p:txBody>
      </p:sp>
      <p:sp>
        <p:nvSpPr>
          <p:cNvPr id="8" name="Text 6"/>
          <p:cNvSpPr txBox="1"/>
          <p:nvPr/>
        </p:nvSpPr>
        <p:spPr>
          <a:xfrm>
            <a:off x="365760" y="4023360"/>
            <a:ext cx="8412480" cy="548640"/>
          </a:xfrm>
          <a:prstGeom prst="rect">
            <a:avLst/>
          </a:prstGeom>
          <a:noFill/>
          <a:ln/>
        </p:spPr>
        <p:txBody>
          <a:bodyPr wrap="square" lIns="0" tIns="0" rIns="0" bIns="0" rtlCol="0" anchor="t"/>
          <a:lstStyle/>
          <a:p>
            <a:pPr indent="0" marL="0">
              <a:buNone/>
            </a:pPr>
            <a:r>
              <a:rPr lang="en-US" sz="1200" dirty="0">
                <a:solidFill>
                  <a:srgbClr val="222222"/>
                </a:solidFill>
                <a:latin typeface="游ゴシック" pitchFamily="34" charset="0"/>
                <a:ea typeface="游ゴシック" pitchFamily="34" charset="-122"/>
                <a:cs typeface="游ゴシック" pitchFamily="34" charset="-120"/>
              </a:rPr>
              <a:t>夜間に試した18,000では、施設が名駅メッシュの大型店の買物をほぼ全部取ってようやく届き、来訪者の97%が周辺店からの転換だった</a:t>
            </a:r>
            <a:endParaRPr lang="en-US" sz="1200" dirty="0"/>
          </a:p>
        </p:txBody>
      </p:sp>
      <p:sp>
        <p:nvSpPr>
          <p:cNvPr id="9" name="Text 7"/>
          <p:cNvSpPr txBox="1"/>
          <p:nvPr/>
        </p:nvSpPr>
        <p:spPr>
          <a:xfrm>
            <a:off x="365760" y="4709160"/>
            <a:ext cx="8412480" cy="274320"/>
          </a:xfrm>
          <a:prstGeom prst="rect">
            <a:avLst/>
          </a:prstGeom>
          <a:noFill/>
          <a:ln/>
        </p:spPr>
        <p:txBody>
          <a:bodyPr wrap="square" lIns="0" tIns="0" rIns="0" bIns="0" rtlCol="0" anchor="ctr"/>
          <a:lstStyle/>
          <a:p>
            <a:pPr indent="0" marL="0">
              <a:buNone/>
            </a:pPr>
            <a:r>
              <a:rPr lang="en-US" sz="1000" dirty="0">
                <a:solidFill>
                  <a:srgbClr val="666666"/>
                </a:solidFill>
                <a:latin typeface="游ゴシック" pitchFamily="34" charset="0"/>
                <a:ea typeface="游ゴシック" pitchFamily="34" charset="-122"/>
                <a:cs typeface="游ゴシック" pitchFamily="34" charset="-120"/>
              </a:rPr>
              <a:t>按分は粗い推定（面積・売上の出典はdocs/progress/20261014_旧名鉄来訪者数の推定.md）。基本ゾーン510の書き出しで絞り込みたい</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365760" y="182880"/>
            <a:ext cx="8412480" cy="548640"/>
          </a:xfrm>
          <a:prstGeom prst="rect">
            <a:avLst/>
          </a:prstGeom>
          <a:noFill/>
          <a:ln/>
        </p:spPr>
        <p:txBody>
          <a:bodyPr wrap="square" lIns="0" tIns="0" rIns="0" bIns="0" rtlCol="0" anchor="ctr"/>
          <a:lstStyle/>
          <a:p>
            <a:pPr indent="0" marL="0">
              <a:buNone/>
            </a:pPr>
            <a:r>
              <a:rPr lang="en-US" sz="2800" b="1" dirty="0">
                <a:solidFill>
                  <a:srgbClr val="222222"/>
                </a:solidFill>
                <a:latin typeface="游ゴシック" pitchFamily="34" charset="0"/>
                <a:ea typeface="游ゴシック" pitchFamily="34" charset="-122"/>
                <a:cs typeface="游ゴシック" pitchFamily="34" charset="-120"/>
              </a:rPr>
              <a:t>仮想施設3,000・6,000：人数は自動校正できた</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914400"/>
          <a:ext cx="4572000" cy="914400"/>
        </p:xfrm>
        <a:graphic>
          <a:graphicData uri="http://schemas.openxmlformats.org/drawingml/2006/table">
            <a:tbl>
              <a:tblPr/>
              <a:tblGrid>
                <a:gridCol w="640080"/>
                <a:gridCol w="868680"/>
                <a:gridCol w="777240"/>
                <a:gridCol w="868680"/>
                <a:gridCol w="822960"/>
                <a:gridCol w="594360"/>
              </a:tblGrid>
              <a:tr h="384048">
                <a:tc>
                  <a:txBody>
                    <a:bodyPr/>
                    <a:lstStyle/>
                    <a:p>
                      <a:pPr indent="0" marL="0">
                        <a:buNone/>
                      </a:pPr>
                      <a:r>
                        <a:rPr lang="en-US" sz="1100" b="1" dirty="0">
                          <a:solidFill>
                            <a:srgbClr val="222222"/>
                          </a:solidFill>
                          <a:latin typeface="游ゴシック" pitchFamily="34" charset="0"/>
                          <a:ea typeface="游ゴシック" pitchFamily="34" charset="-122"/>
                          <a:cs typeface="游ゴシック" pitchFamily="34" charset="-120"/>
                        </a:rPr>
                        <a:t>目標/日</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b="1" dirty="0">
                          <a:solidFill>
                            <a:srgbClr val="222222"/>
                          </a:solidFill>
                          <a:latin typeface="游ゴシック" pitchFamily="34" charset="0"/>
                          <a:ea typeface="游ゴシック" pitchFamily="34" charset="-122"/>
                          <a:cs typeface="游ゴシック" pitchFamily="34" charset="-120"/>
                        </a:rPr>
                        <a:t>全数での到着</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b="1" dirty="0">
                          <a:solidFill>
                            <a:srgbClr val="222222"/>
                          </a:solidFill>
                          <a:latin typeface="游ゴシック" pitchFamily="34" charset="0"/>
                          <a:ea typeface="游ゴシック" pitchFamily="34" charset="-122"/>
                          <a:cs typeface="游ゴシック" pitchFamily="34" charset="-120"/>
                        </a:rPr>
                        <a:t>誤差</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b="1" dirty="0">
                          <a:solidFill>
                            <a:srgbClr val="222222"/>
                          </a:solidFill>
                          <a:latin typeface="游ゴシック" pitchFamily="34" charset="0"/>
                          <a:ea typeface="游ゴシック" pitchFamily="34" charset="-122"/>
                          <a:cs typeface="游ゴシック" pitchFamily="34" charset="-120"/>
                        </a:rPr>
                        <a:t>商業量の加算</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b="1" dirty="0">
                          <a:solidFill>
                            <a:srgbClr val="222222"/>
                          </a:solidFill>
                          <a:latin typeface="游ゴシック" pitchFamily="34" charset="0"/>
                          <a:ea typeface="游ゴシック" pitchFamily="34" charset="-122"/>
                          <a:cs typeface="游ゴシック" pitchFamily="34" charset="-120"/>
                        </a:rPr>
                        <a:t>施設capacity</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b="1" dirty="0">
                          <a:solidFill>
                            <a:srgbClr val="222222"/>
                          </a:solidFill>
                          <a:latin typeface="游ゴシック" pitchFamily="34" charset="0"/>
                          <a:ea typeface="游ゴシック" pitchFamily="34" charset="-122"/>
                          <a:cs typeface="游ゴシック" pitchFamily="34" charset="-120"/>
                        </a:rPr>
                        <a:t>TVD</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384048">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3,000</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b="1" dirty="0">
                          <a:solidFill>
                            <a:srgbClr val="1F6FB2"/>
                          </a:solidFill>
                          <a:latin typeface="游ゴシック" pitchFamily="34" charset="0"/>
                          <a:ea typeface="游ゴシック" pitchFamily="34" charset="-122"/>
                          <a:cs typeface="游ゴシック" pitchFamily="34" charset="-120"/>
                        </a:rPr>
                        <a:t>3,004</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+0.13%</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+6,000人</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54万</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0.298</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384048">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6,000</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b="1" dirty="0">
                          <a:solidFill>
                            <a:srgbClr val="1F6FB2"/>
                          </a:solidFill>
                          <a:latin typeface="游ゴシック" pitchFamily="34" charset="0"/>
                          <a:ea typeface="游ゴシック" pitchFamily="34" charset="-122"/>
                          <a:cs typeface="游ゴシック" pitchFamily="34" charset="-120"/>
                        </a:rPr>
                        <a:t>5,977</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−0.38%</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+746人</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161万</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0.312</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4" name="Text 1"/>
          <p:cNvSpPr txBox="1"/>
          <p:nvPr/>
        </p:nvSpPr>
        <p:spPr>
          <a:xfrm>
            <a:off x="365760" y="2240280"/>
            <a:ext cx="4572000" cy="2286000"/>
          </a:xfrm>
          <a:prstGeom prst="rect">
            <a:avLst/>
          </a:prstGeom>
          <a:noFill/>
          <a:ln/>
        </p:spPr>
        <p:txBody>
          <a:bodyPr wrap="square" lIns="0" tIns="0" rIns="0" bIns="0" rtlCol="0" anchor="t"/>
          <a:lstStyle/>
          <a:p>
            <a:pPr indent="0" marL="0">
              <a:buNone/>
            </a:pPr>
            <a:r>
              <a:rPr lang="en-US" sz="1300" b="1" dirty="0">
                <a:solidFill>
                  <a:srgbClr val="222222"/>
                </a:solidFill>
                <a:latin typeface="游ゴシック" pitchFamily="34" charset="0"/>
                <a:ea typeface="游ゴシック" pitchFamily="34" charset="-122"/>
                <a:cs typeface="游ゴシック" pitchFamily="34" charset="-120"/>
              </a:rPr>
              <a:t>手順（AIを使わないコード）</a:t>
            </a:r>
            <a:endParaRPr lang="en-US" sz="1300" dirty="0"/>
          </a:p>
          <a:p>
            <a:pPr indent="0" marL="0">
              <a:buNone/>
            </a:pPr>
            <a:r>
              <a:rPr lang="en-US" sz="1100" dirty="0">
                <a:solidFill>
                  <a:srgbClr val="222222"/>
                </a:solidFill>
                <a:latin typeface="游ゴシック" pitchFamily="34" charset="0"/>
                <a:ea typeface="游ゴシック" pitchFamily="34" charset="-122"/>
                <a:cs typeface="游ゴシック" pitchFamily="34" charset="-120"/>
              </a:rPr>
              <a:t>① 2%で商業量2水準×capacityを試し、人数±10%内で出発地のずれが小さい候補を選ぶ</a:t>
            </a:r>
            <a:endParaRPr lang="en-US" sz="1300" dirty="0"/>
          </a:p>
          <a:p>
            <a:pPr indent="0" marL="0">
              <a:buNone/>
            </a:pPr>
            <a:r>
              <a:rPr lang="en-US" sz="1100" dirty="0">
                <a:solidFill>
                  <a:srgbClr val="222222"/>
                </a:solidFill>
                <a:latin typeface="游ゴシック" pitchFamily="34" charset="0"/>
                <a:ea typeface="游ゴシック" pitchFamily="34" charset="-122"/>
                <a:cs typeface="游ゴシック" pitchFamily="34" charset="-120"/>
              </a:rPr>
              <a:t>② 全数で実行し、人数がずれたらcapacityを比で逆算して再実行（3,000は2,830件→capacity 50.5万→54万で3,004件）</a:t>
            </a:r>
            <a:endParaRPr lang="en-US" sz="1300" dirty="0"/>
          </a:p>
          <a:p>
            <a:pPr indent="0" marL="0">
              <a:buNone/>
            </a:pPr>
            <a:r>
              <a:rPr lang="en-US" sz="1100" dirty="0">
                <a:solidFill>
                  <a:srgbClr val="666666"/>
                </a:solidFill>
                <a:latin typeface="游ゴシック" pitchFamily="34" charset="0"/>
                <a:ea typeface="游ゴシック" pitchFamily="34" charset="-122"/>
                <a:cs typeface="游ゴシック" pitchFamily="34" charset="-120"/>
              </a:rPr>
              <a:t>MNLの係数は固定。商業量・capacityだけを動かした</a:t>
            </a:r>
            <a:endParaRPr lang="en-US" sz="1300" dirty="0"/>
          </a:p>
        </p:txBody>
      </p:sp>
      <p:graphicFrame>
        <p:nvGraphicFramePr>
          <p:cNvPr id="5" name="Chart 0" descr=""/>
          <p:cNvGraphicFramePr/>
          <p:nvPr/>
        </p:nvGraphicFramePr>
        <p:xfrm>
          <a:off x="5120640" y="868680"/>
          <a:ext cx="3657600" cy="37490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365760" y="4709160"/>
            <a:ext cx="8412480" cy="274320"/>
          </a:xfrm>
          <a:prstGeom prst="rect">
            <a:avLst/>
          </a:prstGeom>
          <a:noFill/>
          <a:ln/>
        </p:spPr>
        <p:txBody>
          <a:bodyPr wrap="square" lIns="0" tIns="0" rIns="0" bIns="0" rtlCol="0" anchor="ctr"/>
          <a:lstStyle/>
          <a:p>
            <a:pPr indent="0" marL="0">
              <a:buNone/>
            </a:pPr>
            <a:r>
              <a:rPr lang="en-US" sz="1000" dirty="0">
                <a:solidFill>
                  <a:srgbClr val="666666"/>
                </a:solidFill>
                <a:latin typeface="游ゴシック" pitchFamily="34" charset="0"/>
                <a:ea typeface="游ゴシック" pitchFamily="34" charset="-122"/>
                <a:cs typeface="游ゴシック" pitchFamily="34" charset="-120"/>
              </a:rPr>
              <a:t>全数・seed42。PTは愛知県内出発に限った割合。出力：/Volumes/PFLOW_SSD/PFLOW/output/joint_target_20261014_3000_6000_refined/（Codex実行）</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365760" y="182880"/>
            <a:ext cx="8412480" cy="548640"/>
          </a:xfrm>
          <a:prstGeom prst="rect">
            <a:avLst/>
          </a:prstGeom>
          <a:noFill/>
          <a:ln/>
        </p:spPr>
        <p:txBody>
          <a:bodyPr wrap="square" lIns="0" tIns="0" rIns="0" bIns="0" rtlCol="0" anchor="ctr"/>
          <a:lstStyle/>
          <a:p>
            <a:pPr indent="0" marL="0">
              <a:buNone/>
            </a:pPr>
            <a:r>
              <a:rPr lang="en-US" sz="2800" b="1" dirty="0">
                <a:solidFill>
                  <a:srgbClr val="222222"/>
                </a:solidFill>
                <a:latin typeface="游ゴシック" pitchFamily="34" charset="0"/>
                <a:ea typeface="游ゴシック" pitchFamily="34" charset="-122"/>
                <a:cs typeface="游ゴシック" pitchFamily="34" charset="-120"/>
              </a:rPr>
              <a:t>新施設の来訪者は、もともとどこに行っていたか</a:t>
            </a:r>
            <a:endParaRPr lang="en-US" sz="2800" dirty="0"/>
          </a:p>
        </p:txBody>
      </p:sp>
      <p:graphicFrame>
        <p:nvGraphicFramePr>
          <p:cNvPr id="3" name="Chart 0" descr=""/>
          <p:cNvGraphicFramePr/>
          <p:nvPr/>
        </p:nvGraphicFramePr>
        <p:xfrm>
          <a:off x="365760" y="868680"/>
          <a:ext cx="4937760" cy="3749040"/>
        </p:xfrm>
        <a:graphic xmlns:a="http://schemas.openxmlformats.org/drawingml/2006/main">
          <a:graphicData uri="http://schemas.openxmlformats.org/drawingml/2006/chart">
            <c:chart xmlns:c="http://schemas.openxmlformats.org/drawingml/2006/chart" r:id="rId1"/>
          </a:graphicData>
        </a:graphic>
      </p:graphicFrame>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577840" y="1005840"/>
          <a:ext cx="3200400" cy="914400"/>
        </p:xfrm>
        <a:graphic>
          <a:graphicData uri="http://schemas.openxmlformats.org/drawingml/2006/table">
            <a:tbl>
              <a:tblPr/>
              <a:tblGrid>
                <a:gridCol w="1554480"/>
                <a:gridCol w="822960"/>
                <a:gridCol w="822960"/>
              </a:tblGrid>
              <a:tr h="384048">
                <a:tc>
                  <a:txBody>
                    <a:bodyPr/>
                    <a:lstStyle/>
                    <a:p>
                      <a:pPr indent="0" marL="0">
                        <a:buNone/>
                      </a:pP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b="1" dirty="0">
                          <a:solidFill>
                            <a:srgbClr val="222222"/>
                          </a:solidFill>
                          <a:latin typeface="游ゴシック" pitchFamily="34" charset="0"/>
                          <a:ea typeface="游ゴシック" pitchFamily="34" charset="-122"/>
                          <a:cs typeface="游ゴシック" pitchFamily="34" charset="-120"/>
                        </a:rPr>
                        <a:t>3,000</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b="1" dirty="0">
                          <a:solidFill>
                            <a:srgbClr val="222222"/>
                          </a:solidFill>
                          <a:latin typeface="游ゴシック" pitchFamily="34" charset="0"/>
                          <a:ea typeface="游ゴシック" pitchFamily="34" charset="-122"/>
                          <a:cs typeface="游ゴシック" pitchFamily="34" charset="-120"/>
                        </a:rPr>
                        <a:t>6,000</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384048">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同じメッシュから</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81%</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97%</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384048">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中村区外の店から</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6.1%</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0.9%</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384048">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中村区全体の買物</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+3.3%</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+0.4%</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384048">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商業量の加算</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+6,000人</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00" dirty="0">
                          <a:solidFill>
                            <a:srgbClr val="222222"/>
                          </a:solidFill>
                          <a:latin typeface="游ゴシック" pitchFamily="34" charset="0"/>
                          <a:ea typeface="游ゴシック" pitchFamily="34" charset="-122"/>
                          <a:cs typeface="游ゴシック" pitchFamily="34" charset="-120"/>
                        </a:rPr>
                        <a:t>+746人</a:t>
                      </a:r>
                      <a:endParaRPr lang="en-US" sz="1100" dirty="0">
                        <a:latin typeface="游ゴシック" charset="0"/>
                        <a:ea typeface="游ゴシック" charset="0"/>
                        <a:cs typeface="游ゴシック" charset="0"/>
                      </a:endParaRPr>
                    </a:p>
                  </a:txBody>
                  <a:tcPr marL="91440" marR="91440" marT="45720" marB="45720">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5" name="Text 1"/>
          <p:cNvSpPr txBox="1"/>
          <p:nvPr/>
        </p:nvSpPr>
        <p:spPr>
          <a:xfrm>
            <a:off x="5577840" y="3063240"/>
            <a:ext cx="3200400" cy="1463040"/>
          </a:xfrm>
          <a:prstGeom prst="rect">
            <a:avLst/>
          </a:prstGeom>
          <a:noFill/>
          <a:ln/>
        </p:spPr>
        <p:txBody>
          <a:bodyPr wrap="square" lIns="0" tIns="0" rIns="0" bIns="0" rtlCol="0" anchor="t"/>
          <a:lstStyle/>
          <a:p>
            <a:pPr indent="0" marL="0">
              <a:buNone/>
            </a:pPr>
            <a:r>
              <a:rPr lang="en-US" sz="1200" dirty="0">
                <a:solidFill>
                  <a:srgbClr val="222222"/>
                </a:solidFill>
                <a:latin typeface="游ゴシック" pitchFamily="34" charset="0"/>
                <a:ea typeface="游ゴシック" pitchFamily="34" charset="-122"/>
                <a:cs typeface="游ゴシック" pitchFamily="34" charset="-120"/>
              </a:rPr>
              <a:t>人数を合わせても、多くは隣の店から移っただけ。区外からの純流入は小さい。商業量を大きく足した3,000の方が区外からの転換が多いが、条件が違うので因果比較ではない</a:t>
            </a:r>
            <a:endParaRPr lang="en-US" sz="1200" dirty="0"/>
          </a:p>
        </p:txBody>
      </p:sp>
      <p:sp>
        <p:nvSpPr>
          <p:cNvPr id="6" name="Text 2"/>
          <p:cNvSpPr txBox="1"/>
          <p:nvPr/>
        </p:nvSpPr>
        <p:spPr>
          <a:xfrm>
            <a:off x="365760" y="4709160"/>
            <a:ext cx="8412480" cy="274320"/>
          </a:xfrm>
          <a:prstGeom prst="rect">
            <a:avLst/>
          </a:prstGeom>
          <a:noFill/>
          <a:ln/>
        </p:spPr>
        <p:txBody>
          <a:bodyPr wrap="square" lIns="0" tIns="0" rIns="0" bIns="0" rtlCol="0" anchor="ctr"/>
          <a:lstStyle/>
          <a:p>
            <a:pPr indent="0" marL="0">
              <a:buNone/>
            </a:pPr>
            <a:r>
              <a:rPr lang="en-US" sz="1000" dirty="0">
                <a:solidFill>
                  <a:srgbClr val="666666"/>
                </a:solidFill>
                <a:latin typeface="游ゴシック" pitchFamily="34" charset="0"/>
                <a:ea typeface="游ゴシック" pitchFamily="34" charset="-122"/>
                <a:cs typeface="游ゴシック" pitchFamily="34" charset="-120"/>
              </a:rPr>
              <a:t>全数・seed42。施設なしの同じ人・同じ時刻の買物先（店舗所在地）。中村区全体の買物：61,333→63,344（3,000）・61,572（6,000）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365760" y="182880"/>
            <a:ext cx="8412480" cy="548640"/>
          </a:xfrm>
          <a:prstGeom prst="rect">
            <a:avLst/>
          </a:prstGeom>
          <a:noFill/>
          <a:ln/>
        </p:spPr>
        <p:txBody>
          <a:bodyPr wrap="square" lIns="0" tIns="0" rIns="0" bIns="0" rtlCol="0" anchor="ctr"/>
          <a:lstStyle/>
          <a:p>
            <a:pPr indent="0" marL="0">
              <a:buNone/>
            </a:pPr>
            <a:r>
              <a:rPr lang="en-US" sz="2800" b="1" dirty="0">
                <a:solidFill>
                  <a:srgbClr val="222222"/>
                </a:solidFill>
                <a:latin typeface="游ゴシック" pitchFamily="34" charset="0"/>
                <a:ea typeface="游ゴシック" pitchFamily="34" charset="-122"/>
                <a:cs typeface="游ゴシック" pitchFamily="34" charset="-120"/>
              </a:rPr>
              <a:t>注意点と相談したいこと</a:t>
            </a:r>
            <a:endParaRPr lang="en-US" sz="2800" dirty="0"/>
          </a:p>
        </p:txBody>
      </p:sp>
      <p:sp>
        <p:nvSpPr>
          <p:cNvPr id="3" name="Shape 1"/>
          <p:cNvSpPr/>
          <p:nvPr/>
        </p:nvSpPr>
        <p:spPr>
          <a:xfrm>
            <a:off x="365760" y="1051560"/>
            <a:ext cx="411480" cy="411480"/>
          </a:xfrm>
          <a:prstGeom prst="ellipse">
            <a:avLst/>
          </a:prstGeom>
          <a:solidFill>
            <a:srgbClr val="C0504D"/>
          </a:solidFill>
          <a:ln w="12700">
            <a:solidFill>
              <a:srgbClr val="C0504D"/>
            </a:solidFill>
            <a:prstDash val="solid"/>
          </a:ln>
        </p:spPr>
      </p:sp>
      <p:sp>
        <p:nvSpPr>
          <p:cNvPr id="4" name="Text 2"/>
          <p:cNvSpPr txBox="1"/>
          <p:nvPr/>
        </p:nvSpPr>
        <p:spPr>
          <a:xfrm>
            <a:off x="365760" y="10515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游ゴシック" pitchFamily="34" charset="0"/>
                <a:ea typeface="游ゴシック" pitchFamily="34" charset="-122"/>
                <a:cs typeface="游ゴシック" pitchFamily="34" charset="-120"/>
              </a:rPr>
              <a:t>1</a:t>
            </a:r>
            <a:endParaRPr lang="en-US" sz="1400" dirty="0"/>
          </a:p>
        </p:txBody>
      </p:sp>
      <p:sp>
        <p:nvSpPr>
          <p:cNvPr id="5" name="Text 3"/>
          <p:cNvSpPr txBox="1"/>
          <p:nvPr/>
        </p:nvSpPr>
        <p:spPr>
          <a:xfrm>
            <a:off x="960120" y="868680"/>
            <a:ext cx="7818120" cy="868680"/>
          </a:xfrm>
          <a:prstGeom prst="rect">
            <a:avLst/>
          </a:prstGeom>
          <a:noFill/>
          <a:ln/>
        </p:spPr>
        <p:txBody>
          <a:bodyPr wrap="square" lIns="0" tIns="0" rIns="0" bIns="0" rtlCol="0" anchor="ctr"/>
          <a:lstStyle/>
          <a:p>
            <a:pPr indent="0" marL="0">
              <a:buNone/>
            </a:pPr>
            <a:r>
              <a:rPr lang="en-US" sz="1400" b="1" dirty="0">
                <a:solidFill>
                  <a:srgbClr val="222222"/>
                </a:solidFill>
                <a:latin typeface="游ゴシック" pitchFamily="34" charset="0"/>
                <a:ea typeface="游ゴシック" pitchFamily="34" charset="-122"/>
                <a:cs typeface="游ゴシック" pitchFamily="34" charset="-120"/>
              </a:rPr>
              <a:t>実装の不具合（予備結果である理由）</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新施設には大型店の買物だけが来る」処理が、市区町村と店の所在地をそろえる処理と組み合わせると打ち消され、一般の買物も新施設を選べていた（Claudeの実装ミス、Codexが発見）。また再生成で活動が完全には固定されていない（数百人/700万人）。修正して再実行が必要</a:t>
            </a:r>
            <a:endParaRPr lang="en-US" sz="1400" dirty="0"/>
          </a:p>
        </p:txBody>
      </p:sp>
      <p:sp>
        <p:nvSpPr>
          <p:cNvPr id="6" name="Shape 4"/>
          <p:cNvSpPr/>
          <p:nvPr/>
        </p:nvSpPr>
        <p:spPr>
          <a:xfrm>
            <a:off x="365760" y="2011680"/>
            <a:ext cx="411480" cy="411480"/>
          </a:xfrm>
          <a:prstGeom prst="ellipse">
            <a:avLst/>
          </a:prstGeom>
          <a:solidFill>
            <a:srgbClr val="1F6FB2"/>
          </a:solidFill>
          <a:ln w="12700">
            <a:solidFill>
              <a:srgbClr val="1F6FB2"/>
            </a:solidFill>
            <a:prstDash val="solid"/>
          </a:ln>
        </p:spPr>
      </p:sp>
      <p:sp>
        <p:nvSpPr>
          <p:cNvPr id="7" name="Text 5"/>
          <p:cNvSpPr txBox="1"/>
          <p:nvPr/>
        </p:nvSpPr>
        <p:spPr>
          <a:xfrm>
            <a:off x="365760" y="20116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游ゴシック" pitchFamily="34" charset="0"/>
                <a:ea typeface="游ゴシック" pitchFamily="34" charset="-122"/>
                <a:cs typeface="游ゴシック" pitchFamily="34" charset="-120"/>
              </a:rPr>
              <a:t>2</a:t>
            </a:r>
            <a:endParaRPr lang="en-US" sz="1400" dirty="0"/>
          </a:p>
        </p:txBody>
      </p:sp>
      <p:sp>
        <p:nvSpPr>
          <p:cNvPr id="8" name="Text 6"/>
          <p:cNvSpPr txBox="1"/>
          <p:nvPr/>
        </p:nvSpPr>
        <p:spPr>
          <a:xfrm>
            <a:off x="960120" y="1828800"/>
            <a:ext cx="7818120" cy="868680"/>
          </a:xfrm>
          <a:prstGeom prst="rect">
            <a:avLst/>
          </a:prstGeom>
          <a:noFill/>
          <a:ln/>
        </p:spPr>
        <p:txBody>
          <a:bodyPr wrap="square" lIns="0" tIns="0" rIns="0" bIns="0" rtlCol="0" anchor="ctr"/>
          <a:lstStyle/>
          <a:p>
            <a:pPr indent="0" marL="0">
              <a:buNone/>
            </a:pPr>
            <a:r>
              <a:rPr lang="en-US" sz="1400" b="1" dirty="0">
                <a:solidFill>
                  <a:srgbClr val="222222"/>
                </a:solidFill>
                <a:latin typeface="游ゴシック" pitchFamily="34" charset="0"/>
                <a:ea typeface="游ゴシック" pitchFamily="34" charset="-122"/>
                <a:cs typeface="游ゴシック" pitchFamily="34" charset="-120"/>
              </a:rPr>
              <a:t>出発地の分布が合わない</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TVD約0.30。中村区内が多く市外が少ない。区内のメッシュの選び方と、勤務後などの立ち寄りが原因とみている。距離倍率0.45（手で弱めた値）を続けるかも要相談</a:t>
            </a:r>
            <a:endParaRPr lang="en-US" sz="1400" dirty="0"/>
          </a:p>
        </p:txBody>
      </p:sp>
      <p:sp>
        <p:nvSpPr>
          <p:cNvPr id="9" name="Shape 7"/>
          <p:cNvSpPr/>
          <p:nvPr/>
        </p:nvSpPr>
        <p:spPr>
          <a:xfrm>
            <a:off x="365760" y="2971800"/>
            <a:ext cx="411480" cy="411480"/>
          </a:xfrm>
          <a:prstGeom prst="ellipse">
            <a:avLst/>
          </a:prstGeom>
          <a:solidFill>
            <a:srgbClr val="1F6FB2"/>
          </a:solidFill>
          <a:ln w="12700">
            <a:solidFill>
              <a:srgbClr val="1F6FB2"/>
            </a:solidFill>
            <a:prstDash val="solid"/>
          </a:ln>
        </p:spPr>
      </p:sp>
      <p:sp>
        <p:nvSpPr>
          <p:cNvPr id="10" name="Text 8"/>
          <p:cNvSpPr txBox="1"/>
          <p:nvPr/>
        </p:nvSpPr>
        <p:spPr>
          <a:xfrm>
            <a:off x="365760" y="29718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游ゴシック" pitchFamily="34" charset="0"/>
                <a:ea typeface="游ゴシック" pitchFamily="34" charset="-122"/>
                <a:cs typeface="游ゴシック" pitchFamily="34" charset="-120"/>
              </a:rPr>
              <a:t>3</a:t>
            </a:r>
            <a:endParaRPr lang="en-US" sz="1400" dirty="0"/>
          </a:p>
        </p:txBody>
      </p:sp>
      <p:sp>
        <p:nvSpPr>
          <p:cNvPr id="11" name="Text 9"/>
          <p:cNvSpPr txBox="1"/>
          <p:nvPr/>
        </p:nvSpPr>
        <p:spPr>
          <a:xfrm>
            <a:off x="960120" y="2788920"/>
            <a:ext cx="7818120" cy="868680"/>
          </a:xfrm>
          <a:prstGeom prst="rect">
            <a:avLst/>
          </a:prstGeom>
          <a:noFill/>
          <a:ln/>
        </p:spPr>
        <p:txBody>
          <a:bodyPr wrap="square" lIns="0" tIns="0" rIns="0" bIns="0" rtlCol="0" anchor="ctr"/>
          <a:lstStyle/>
          <a:p>
            <a:pPr indent="0" marL="0">
              <a:buNone/>
            </a:pPr>
            <a:r>
              <a:rPr lang="en-US" sz="1400" b="1" dirty="0">
                <a:solidFill>
                  <a:srgbClr val="222222"/>
                </a:solidFill>
                <a:latin typeface="游ゴシック" pitchFamily="34" charset="0"/>
                <a:ea typeface="游ゴシック" pitchFamily="34" charset="-122"/>
                <a:cs typeface="游ゴシック" pitchFamily="34" charset="-120"/>
              </a:rPr>
              <a:t>精度は「合わせた結果」</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出発地のずれは校正に使ったPTと同じ指標。既存の大型施設を抜いて再現できるかの検証はまだ</a:t>
            </a:r>
            <a:endParaRPr lang="en-US" sz="1400" dirty="0"/>
          </a:p>
        </p:txBody>
      </p:sp>
      <p:sp>
        <p:nvSpPr>
          <p:cNvPr id="12" name="Shape 10"/>
          <p:cNvSpPr/>
          <p:nvPr/>
        </p:nvSpPr>
        <p:spPr>
          <a:xfrm>
            <a:off x="365760" y="3931920"/>
            <a:ext cx="411480" cy="411480"/>
          </a:xfrm>
          <a:prstGeom prst="ellipse">
            <a:avLst/>
          </a:prstGeom>
          <a:solidFill>
            <a:srgbClr val="1F6FB2"/>
          </a:solidFill>
          <a:ln w="12700">
            <a:solidFill>
              <a:srgbClr val="1F6FB2"/>
            </a:solidFill>
            <a:prstDash val="solid"/>
          </a:ln>
        </p:spPr>
      </p:sp>
      <p:sp>
        <p:nvSpPr>
          <p:cNvPr id="13" name="Text 11"/>
          <p:cNvSpPr txBox="1"/>
          <p:nvPr/>
        </p:nvSpPr>
        <p:spPr>
          <a:xfrm>
            <a:off x="365760" y="39319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游ゴシック" pitchFamily="34" charset="0"/>
                <a:ea typeface="游ゴシック" pitchFamily="34" charset="-122"/>
                <a:cs typeface="游ゴシック" pitchFamily="34" charset="-120"/>
              </a:rPr>
              <a:t>4</a:t>
            </a:r>
            <a:endParaRPr lang="en-US" sz="1400" dirty="0"/>
          </a:p>
        </p:txBody>
      </p:sp>
      <p:sp>
        <p:nvSpPr>
          <p:cNvPr id="14" name="Text 12"/>
          <p:cNvSpPr txBox="1"/>
          <p:nvPr/>
        </p:nvSpPr>
        <p:spPr>
          <a:xfrm>
            <a:off x="960120" y="3749040"/>
            <a:ext cx="7818120" cy="868680"/>
          </a:xfrm>
          <a:prstGeom prst="rect">
            <a:avLst/>
          </a:prstGeom>
          <a:noFill/>
          <a:ln/>
        </p:spPr>
        <p:txBody>
          <a:bodyPr wrap="square" lIns="0" tIns="0" rIns="0" bIns="0" rtlCol="0" anchor="ctr"/>
          <a:lstStyle/>
          <a:p>
            <a:pPr indent="0" marL="0">
              <a:buNone/>
            </a:pPr>
            <a:r>
              <a:rPr lang="en-US" sz="1400" b="1" dirty="0">
                <a:solidFill>
                  <a:srgbClr val="222222"/>
                </a:solidFill>
                <a:latin typeface="游ゴシック" pitchFamily="34" charset="0"/>
                <a:ea typeface="游ゴシック" pitchFamily="34" charset="-122"/>
                <a:cs typeface="游ゴシック" pitchFamily="34" charset="-120"/>
              </a:rPr>
              <a:t>将来：床面積から自動で人数を出したい</a:t>
            </a:r>
            <a:endParaRPr lang="en-US" sz="1400" dirty="0"/>
          </a:p>
          <a:p>
            <a:pPr indent="0" marL="0">
              <a:buNone/>
            </a:pPr>
            <a:r>
              <a:rPr lang="en-US" sz="1200" dirty="0">
                <a:solidFill>
                  <a:srgbClr val="222222"/>
                </a:solidFill>
                <a:latin typeface="游ゴシック" pitchFamily="34" charset="0"/>
                <a:ea typeface="游ゴシック" pitchFamily="34" charset="-122"/>
                <a:cs typeface="游ゴシック" pitchFamily="34" charset="-120"/>
              </a:rPr>
              <a:t>店舗capacityを床面積にし、既存店でPTに合わせて校正すれば、計画の床面積を入れるだけで人数が出る。名古屋市内の大型店の面積一覧の入手が課題</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2026-10-14T01:39:53Z</dcterms:created>
  <dcterms:modified xsi:type="dcterms:W3CDTF">2026-10-14T01:39:53Z</dcterms:modified>
</cp:coreProperties>
</file>