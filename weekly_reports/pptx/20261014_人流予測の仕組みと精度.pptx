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中京PT（参照）</c:v>
                </c:pt>
              </c:strCache>
            </c:strRef>
          </c:tx>
          <c:spPr>
            <a:solidFill>
              <a:srgbClr val="E3A21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中村区内</c:v>
                  </c:pt>
                  <c:pt idx="1">
                    <c:v>名古屋市内の他区</c:v>
                  </c:pt>
                  <c:pt idx="2">
                    <c:v>愛知県の他市町村</c:v>
                  </c:pt>
                  <c:pt idx="3">
                    <c:v>愛知県外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34.1</c:v>
                </c:pt>
                <c:pt idx="1">
                  <c:v>41</c:v>
                </c:pt>
                <c:pt idx="2">
                  <c:v>18.7</c:v>
                </c:pt>
                <c:pt idx="3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旧モデル（2%）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中村区内</c:v>
                  </c:pt>
                  <c:pt idx="1">
                    <c:v>名古屋市内の他区</c:v>
                  </c:pt>
                  <c:pt idx="2">
                    <c:v>愛知県の他市町村</c:v>
                  </c:pt>
                  <c:pt idx="3">
                    <c:v>愛知県外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32.6</c:v>
                </c:pt>
                <c:pt idx="1">
                  <c:v>50.7</c:v>
                </c:pt>
                <c:pt idx="2">
                  <c:v>16.7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新モデル（全数）</c:v>
                </c:pt>
              </c:strCache>
            </c:strRef>
          </c:tx>
          <c:spPr>
            <a:solidFill>
              <a:srgbClr val="1F6FB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中村区内</c:v>
                  </c:pt>
                  <c:pt idx="1">
                    <c:v>名古屋市内の他区</c:v>
                  </c:pt>
                  <c:pt idx="2">
                    <c:v>愛知県の他市町村</c:v>
                  </c:pt>
                  <c:pt idx="3">
                    <c:v>愛知県外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44.7</c:v>
                </c:pt>
                <c:pt idx="1">
                  <c:v>41</c:v>
                </c:pt>
                <c:pt idx="2">
                  <c:v>14.2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游ゴシック"/>
              <a:cs typeface="游ゴシック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旧モデル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seed42</c:v>
                  </c:pt>
                  <c:pt idx="1">
                    <c:v>seed43</c:v>
                  </c:pt>
                  <c:pt idx="2">
                    <c:v>seed44</c:v>
                  </c:pt>
                  <c:pt idx="3">
                    <c:v>seed45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0.396</c:v>
                </c:pt>
                <c:pt idx="1">
                  <c:v>0.467</c:v>
                </c:pt>
                <c:pt idx="2">
                  <c:v>0.426</c:v>
                </c:pt>
                <c:pt idx="3">
                  <c:v>0.435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新モデル</c:v>
                </c:pt>
              </c:strCache>
            </c:strRef>
          </c:tx>
          <c:spPr>
            <a:solidFill>
              <a:srgbClr val="1F6F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seed42</c:v>
                  </c:pt>
                  <c:pt idx="1">
                    <c:v>seed43</c:v>
                  </c:pt>
                  <c:pt idx="2">
                    <c:v>seed44</c:v>
                  </c:pt>
                  <c:pt idx="3">
                    <c:v>seed45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0.349</c:v>
                </c:pt>
                <c:pt idx="1">
                  <c:v>0.351</c:v>
                </c:pt>
                <c:pt idx="2">
                  <c:v>0.379</c:v>
                </c:pt>
                <c:pt idx="3">
                  <c:v>0.339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游ゴシック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游ゴシック"/>
                  </a:rPr>
                  <a:t>出発地のずれ（TVD）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游ゴシック"/>
              <a:cs typeface="游ゴシック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人流予測の流れ（Pseudo-PFLOW-v3を改良）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517904" cy="1371600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38912" y="10515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人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国勢調査ベースの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人・世帯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rot="5400000">
            <a:off x="1920240" y="1600200"/>
            <a:ext cx="109728" cy="182880"/>
          </a:xfrm>
          <a:prstGeom prst="rtTriangl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66544" y="1005840"/>
            <a:ext cx="1517904" cy="1371600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0515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1日の予定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活動の順番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（マルコフ連鎖）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rot="5400000">
            <a:off x="3621024" y="1600200"/>
            <a:ext cx="109728" cy="182880"/>
          </a:xfrm>
          <a:prstGeom prst="rtTriangl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67328" y="1005840"/>
            <a:ext cx="1517904" cy="1371600"/>
          </a:xfrm>
          <a:prstGeom prst="roundRect">
            <a:avLst>
              <a:gd name="adj" fmla="val 6667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0515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行き先の市町村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MNLで選ぶ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★ここに項を追加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5321808" y="1600200"/>
            <a:ext cx="109728" cy="182880"/>
          </a:xfrm>
          <a:prstGeom prst="rtTriangl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68112" y="1005840"/>
            <a:ext cx="1517904" cy="1371600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0515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区内のメッシュ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従業者数と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距離で選ぶ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rot="5400000">
            <a:off x="7022592" y="1600200"/>
            <a:ext cx="109728" cy="182880"/>
          </a:xfrm>
          <a:prstGeom prst="rtTriangl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68896" y="1005840"/>
            <a:ext cx="1517904" cy="1371600"/>
          </a:xfrm>
          <a:prstGeom prst="roundRect">
            <a:avLst>
              <a:gd name="adj" fmla="val 6667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42048" y="10515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 店舗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capacityで選ぶ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★新施設を追加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5488" y="2770632"/>
            <a:ext cx="380390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施設計画の入れ方（A方式）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人数を直接割り当てず、capacityだけを変える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・跡地メッシュの小売従業者を +746人（売場面積54,374㎡ × 大型百貨店の原単位）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・跡地に新施設（店舗）を1つ追加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選ばれやすさが変わり、人流が変わる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69748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64608" y="2770632"/>
            <a:ext cx="380390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精度を見る基準（中京PT 2022）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中ゾーン5（中村区）の大型規模小売店に買物で来た 20,796トリップ/日の出発地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中村区内34% / 名古屋市内他区41% / 愛知県他19% / 県外6%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目標人数：18,000トリップ/日（2%標本で360件）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対象：愛知県。2%標本（sample-factor 50）で校正し、最後に全数（100%）で1回実行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行き先市区町村の選び方（買物のMNL）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9144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V(o→d) = </a:t>
            </a:r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λ₁·a₁·距離 + a₂·女性 + λ₅·a₃·同一市区町村 + a₄·高齢 + λ₂·a₅·面積 + λ₃·a₆·人口比 + λ₄·a₇·オフィス比</a:t>
            </a:r>
            <a:pPr indent="0" marL="0">
              <a:buNone/>
            </a:pPr>
            <a:r>
              <a:rPr lang="en-US" sz="1600" b="1" dirty="0">
                <a:solidFill>
                  <a:srgbClr val="C0504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+ β · ln(1 + 商業量_d)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7830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P(d | o) = exp V(o→d) / Σ exp V(o→d′)　（出発地から20km以内の市区町村）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中身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誰が決めたか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a₁〜a₇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研究室のMNL係数（距離・性別・同一市区町村・高齢・面積・人口比・オフィス比）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研究室（既存）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λ₁〜λ₅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研究室係数にかける倍率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中京PTで推定（追加）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504D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β·ln(1+商業量)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商業量＝市区町村内メッシュの卸売小売従業者の合計。capacityの変化が行き先選択に効く入口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中京PTで推定（追加）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研究室の同一市区町村係数a₃は勤労者・学生で0、非勤労者でもごく小さく、実質は距離が近さを表している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追加：買物を大型店とそれ以外に分けた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987552"/>
            <a:ext cx="38039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なぜ分けるか（中京PT 2022）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・買物の22.4%は大型規模小売店への到着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・大型店の買物は遠くから来る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同じ地区内で済む割合：大型 59% / それ以外 74%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・新施設（百貨店）は大型店の来訪パターンに合わせたい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9144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64608" y="987552"/>
            <a:ext cx="38039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どう使うか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・買物の22.4%を確率的に「大型店の買物」とし、大型店用の係数で市区町村を選ぶ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・新施設には大型店の買物だけが来る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・残り77.6%は一般用の係数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6576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項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一般の買物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大型店の買物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商業量の形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ln(1 + Σ 従業者)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0504D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ln(1 + Σ 従業者²)　集積地が強く効く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β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0.24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0.40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距離の倍率 λ₁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0.95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0504D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0.45（PT推定0.78を弱めた）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人口比の倍率 λ₃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−2.84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−12.35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同一市区町村の倍率 λ₅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係数は中京PTの到着施設別OD（愛知県内）で最尤推定。出発地域をtrain/validation/testに分け、魅力の形はvalidationで選んだ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区内のメッシュと店舗の選び方・今回の修正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987552"/>
            <a:ext cx="38039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メッシュ（区内）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・自分の市区町村内：従業者数 ÷ 距離^1.2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・他の市区町村：従業者数に比例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（従業者数は対数をとらずそのまま＝raw、以前追加）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91440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64608" y="987552"/>
            <a:ext cx="38039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・メッシュ内の店舗をcapacityの比で選ぶ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・既存店舗は1店1万、新施設は10億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→ 大型店の買物が跡地メッシュに来れば、ほぼ新施設を選ぶ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645920"/>
          </a:xfrm>
          <a:prstGeom prst="roundRect">
            <a:avLst>
              <a:gd name="adj" fmla="val 4444"/>
            </a:avLst>
          </a:prstGeom>
          <a:solidFill>
            <a:srgbClr val="FBEFEF"/>
          </a:solidFill>
          <a:ln w="12700">
            <a:solidFill>
              <a:srgbClr val="FBEF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" y="2907792"/>
            <a:ext cx="81930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修正：市区町村と店舗所在地をそろえた（--facility-city-match on）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境界のメッシュは隣の区にも登録されており、西区を選んだ人が中村区の店に着いても「西区」と出力されていた。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今回から、選んだ市区町村の店舗だけから選び、出力も店舗の所在地にした。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西区からの来訪が過大（20%、PT 3%）だった問題は解消。ただし旧係数のままでは中村区内が55%に偏ったため、上記の大型店分岐を入れた。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すべて任意オプション。既定値では従来の出力と207ファイルが完全に一致することを確認済み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精度①　新施設に来る人の出発地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120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058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ずれ（TVD）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0＝PTと完全一致、1＝全く重ならない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C8C8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旧モデル　0.396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6FB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新モデル　0.348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改善：市内他区の過大（51→41%）、遠方の欠け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残る課題：中村区内が多い（45% vs 34%）、県外は生成対象外（6%）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旧モデル＝10/9採用設定（seed42、2%）。新モデル＝全数seed42。TVDは校正に使った指標そのもので外部検証ではない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精度②　乱数（seed）を変えても改善するか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868680"/>
          <a:ext cx="5120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005840"/>
          <a:ext cx="3017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旧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新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TVD 平均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0.431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B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0.354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TVD（愛知県内のみ）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0.422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6FB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0.323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施設到着（目標360）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385件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362件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到着のばらつき（標準偏差）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16件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24件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4つのseedすべてで新モデルの方が小さい。seed42は校正に使ったので、43〜45が設定を変えずに確かめた結果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旧モデルも今回と同じ参照（中ゾーン5の大型店・買物）で計算し直した値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精度③　全数（100%）で実行した結果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0515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B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17,965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051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施設への買物到着（トリップ/日）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目標18,000に対し −0.2%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91440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0515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B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0.348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1051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出発地のずれ（TVD）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2%の結果（0.349）とほぼ同じ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EF"/>
          </a:solidFill>
          <a:ln w="12700">
            <a:solidFill>
              <a:srgbClr val="FBEF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880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504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97.2%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880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来訪者のうち、施設がなくても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同じ名駅メッシュの店に行っていた人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＝主に周辺店からの転換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EF"/>
          </a:solidFill>
          <a:ln w="12700">
            <a:solidFill>
              <a:srgbClr val="FBEF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880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504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+0.4%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880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中村区全体の買物到着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（61,333 → 61,572）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区外の自宅から：+102〜148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愛知県・seed42の1回。実行時間は施設なし／ありとも約30分。出力：/Volumes/PFLOW_SSD/PFLOW/output/fullsample_20261014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注意点と相談したいこと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1480" cy="411480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868680"/>
            <a:ext cx="7818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精度は「合わせた結果」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TVDは校正に使った指標そのもの。既存の大型施設を再現するなど、外部の検証はまだ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411480" cy="411480"/>
          </a:xfrm>
          <a:prstGeom prst="ellipse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828800"/>
            <a:ext cx="7818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距離倍率0.45は妥協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弱めるほど施設の出発地は合う（0.78→0.41、0.45→0.35、0.3→0.32）が、愛知全体の買物が遠出になりすぎる（同じ地区内：PT 71%、0.45で62%、0.3で60%）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71800"/>
            <a:ext cx="411480" cy="411480"/>
          </a:xfrm>
          <a:prstGeom prst="ellipse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88920"/>
            <a:ext cx="7818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目標18,000は上限ぎりぎり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名駅メッシュに来る大型店の買物をほぼ全部新施設が取って届く。現状PTの中ゾーン5の大型店着20,796/日の87%。目標値か転換の扱いを見直すか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931920"/>
            <a:ext cx="411480" cy="411480"/>
          </a:xfrm>
          <a:prstGeom prst="ellipse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49040"/>
            <a:ext cx="7818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中村区内からが多い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45%（PT 34%）。区内のメッシュ選びと、勤務後などの立ち寄りが原因とみている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2026-10-13T20:41:15Z</dcterms:created>
  <dcterms:modified xsi:type="dcterms:W3CDTF">2026-10-13T20:41:15Z</dcterms:modified>
</cp:coreProperties>
</file>