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62" r:id="rId4"/>
    <p:sldId id="257" r:id="rId5"/>
    <p:sldId id="258" r:id="rId6"/>
    <p:sldId id="261" r:id="rId7"/>
    <p:sldId id="25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3"/>
  </p:normalViewPr>
  <p:slideViewPr>
    <p:cSldViewPr>
      <p:cViewPr varScale="1">
        <p:scale>
          <a:sx n="113" d="100"/>
          <a:sy n="113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7C85BE-10C1-9B48-E69A-704F4675D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B47A998-6DEB-ED24-2535-16C9DD22A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9AAE32-FCAB-8FDC-9665-95F6652FA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225F0-BA78-DD46-8844-1E1176A89DC1}" type="datetimeFigureOut">
              <a:t>2026/8/13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D6DAA7-FCD6-E225-7501-79AF9788C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069250-C51E-62A6-5BE3-F1C12DD80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97A33-4A51-6048-807F-57CD0AFA9A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3018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052D07-EE31-FB98-5198-44449FC2A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1D2BAF-87E8-6F2E-BC9C-EC0AC7BEA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52D8D2-D710-1C8A-969A-6E127D48B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225F0-BA78-DD46-8844-1E1176A89DC1}" type="datetimeFigureOut">
              <a:t>2026/8/13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823A3B-B531-9F86-8766-A218013A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508BD8-DE86-6D40-BB54-0C05850D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97A33-4A51-6048-807F-57CD0AFA9A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19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2D01B5-7597-7928-6114-30805DFC9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D25856-F97B-9498-C760-1D6B99A10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98690E-D442-8B48-FF05-74F50D65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225F0-BA78-DD46-8844-1E1176A89DC1}" type="datetimeFigureOut">
              <a:t>2026/8/13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668A94-EAF5-774B-2EAC-371F62CA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B69F90-0B39-B479-81E6-C6AF7BDA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97A33-4A51-6048-807F-57CD0AFA9A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3577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FEDCC0-AEDF-9522-F787-DE8C7787B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66B117-E689-5334-C186-6B66F34BC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A19273-72EA-EA12-E3E3-CB9F37260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D9325A-3839-C506-396D-A074DEE6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225F0-BA78-DD46-8844-1E1176A89DC1}" type="datetimeFigureOut">
              <a:t>2026/8/13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087951-051E-2DE8-A3B8-FFF28197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5CD468-21E9-42AA-8DD3-F58C65C80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97A33-4A51-6048-807F-57CD0AFA9A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547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AEC301-86DC-2713-2231-0BC82E77D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05DAE8-7EDA-26F2-397D-4DF12085B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996BEE-1F7A-D318-BCD8-916ECAE90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192E5D-F409-17A0-1CF4-3DC16760C7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81CC034-38C2-7259-73CB-531ABC1688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5DC5CE2-A2D1-3D0B-80CC-2938994BE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225F0-BA78-DD46-8844-1E1176A89DC1}" type="datetimeFigureOut">
              <a:t>2026/8/13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0FFA633-1132-212A-7BB5-FA0BF2F76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6AFB90-71F9-5336-9E7E-79502948D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97A33-4A51-6048-807F-57CD0AFA9A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167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9A8078-F1C9-0DD3-B510-5025BB0C1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E8FDEBB-BFF4-7169-B56B-9F3374264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225F0-BA78-DD46-8844-1E1176A89DC1}" type="datetimeFigureOut">
              <a:t>2026/8/13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218B546-865C-6C84-2ABF-72960DFF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AF0F0AA-C29F-485F-A6B5-6BFAEFF73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97A33-4A51-6048-807F-57CD0AFA9A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9476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CC2D63-43E5-B414-7DAF-A500517C9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225F0-BA78-DD46-8844-1E1176A89DC1}" type="datetimeFigureOut">
              <a:t>2026/8/13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0674D12-4CDC-F0DA-26A4-04C93142C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261A24-A540-DF6E-416A-127AD939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97A33-4A51-6048-807F-57CD0AFA9A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627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D21A63-A208-D24D-A847-3D18871C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E99E96-ACB0-A6E3-9D4F-5EE5A1E78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6B5CCB-6963-822F-5C6B-06C4F38BD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890B92-47AD-693B-404F-FB40155DD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225F0-BA78-DD46-8844-1E1176A89DC1}" type="datetimeFigureOut">
              <a:t>2026/8/13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C4F5EA-9FD4-F87B-1BBA-723ED4A8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E7AAB2-1938-084B-A37F-8D1FBF28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97A33-4A51-6048-807F-57CD0AFA9A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342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EC6A0D-E3E9-1DA3-FF2A-B018D3F5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C8768A9-E1B4-FAAD-77A3-99D32F471E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5A3461-3E55-CB36-BB5D-1CF406F80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DE9FD62-288F-BCDE-2CC4-22265B1C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225F0-BA78-DD46-8844-1E1176A89DC1}" type="datetimeFigureOut">
              <a:t>2026/8/13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D287A71-0A3E-E31F-B3E4-D00E80D4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0E5C79-CF08-5E47-E8EC-9727EF0C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97A33-4A51-6048-807F-57CD0AFA9A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4855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917E8D-9BF8-9DCB-D8AC-37ECCBD47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4F3954-4420-386F-10A9-D519C8E44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1B188E-8940-9E2C-1461-B3D1CC02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225F0-BA78-DD46-8844-1E1176A89DC1}" type="datetimeFigureOut">
              <a:t>2026/8/13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7F00E5-4147-5BE5-AB8E-C0078828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C638E0-3E8E-A528-473D-EA5B83AE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97A33-4A51-6048-807F-57CD0AFA9A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0462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5FBDE6F-A2B6-FEBF-5FF1-2AF30F458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0C7DA1A-66F8-31FF-AEE3-214C7F0C1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87842E-054E-D812-B33B-FCD69D3D7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225F0-BA78-DD46-8844-1E1176A89DC1}" type="datetimeFigureOut">
              <a:t>2026/8/13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8B1A59-F268-335A-4818-4610D5E6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1C9CDE-8D78-F5F5-8D13-D9414390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97A33-4A51-6048-807F-57CD0AFA9A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111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B25AF25-39B5-FBF1-67D7-F6A7D9081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612BD6-CBE1-41C9-CC71-9591C4D35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B9662B-8822-F65C-31D7-C09B255AA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225F0-BA78-DD46-8844-1E1176A89DC1}" type="datetimeFigureOut">
              <a:t>2026/8/13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18DCE6-DB69-879A-F0C3-AA1995D24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97AC3F-7129-44FA-79DD-0D8FAC800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97A33-4A51-6048-807F-57CD0AFA9A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9524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ti.go.jp/policy/economy/distribution/daikibo/downloadfiles/koutu-main.pdf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lit.go.jp/toshi/city_plan/content/001480895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mlit.go.jp/kankocho/content/002010555.pdf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lit.go.jp/kankocho/content/001858807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mlit.go.jp/toshi/city_plan/content/001480895.pdf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F28D3B9D-18C2-2016-E62C-D161BFF32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890023"/>
              </p:ext>
            </p:extLst>
          </p:nvPr>
        </p:nvGraphicFramePr>
        <p:xfrm>
          <a:off x="838200" y="2132820"/>
          <a:ext cx="10515600" cy="28346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8387224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021714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557783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90103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商業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ホテル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エンタメ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539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① Activity Demand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買い物需要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宿泊需要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娯楽・イベント需要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035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② Attractiveness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床面積・店舗構成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ホテルタイプ・価格・立地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コンテンツ・出演者等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887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③ Destination Choice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Huff / Logit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宿泊施設選択モデル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Huff / Event choice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524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④ Capacity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基本的に弱い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客室数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座席数・収容人数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936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⑤ Temporal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平日/休日・時間帯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月・曜日・季節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開催日時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411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⑥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日別来訪者数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宿泊到着者数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/>
                        <a:t>イベント別来場者数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630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411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5D02B8-9844-13DE-4A61-4D3BB7AF8E81}"/>
              </a:ext>
            </a:extLst>
          </p:cNvPr>
          <p:cNvSpPr txBox="1"/>
          <p:nvPr/>
        </p:nvSpPr>
        <p:spPr>
          <a:xfrm>
            <a:off x="623240" y="476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>
                <a:latin typeface="+mj-lt"/>
              </a:rPr>
              <a:t>商業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191AF7-ED45-60FD-CDC6-7F049AA9CC1E}"/>
              </a:ext>
            </a:extLst>
          </p:cNvPr>
          <p:cNvSpPr txBox="1"/>
          <p:nvPr/>
        </p:nvSpPr>
        <p:spPr>
          <a:xfrm>
            <a:off x="839270" y="139767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日来店客数 = A(S) × S</a:t>
            </a:r>
          </a:p>
          <a:p>
            <a:endParaRPr lang="ja-JP" altLang="en-US"/>
          </a:p>
          <a:p>
            <a:r>
              <a:rPr lang="ja-JP" altLang="en-US"/>
              <a:t>S = 小売店舗面積（千m²）</a:t>
            </a:r>
          </a:p>
          <a:p>
            <a:endParaRPr lang="ja-JP" altLang="en-US"/>
          </a:p>
          <a:p>
            <a:r>
              <a:rPr lang="ja-JP" altLang="en-US"/>
              <a:t>人口40万人以上の商業地区：</a:t>
            </a:r>
          </a:p>
          <a:p>
            <a:r>
              <a:rPr lang="ja-JP" altLang="en-US"/>
              <a:t>S &lt; 20千m²  ：A(S) = 1,500 - 20S</a:t>
            </a:r>
          </a:p>
          <a:p>
            <a:r>
              <a:rPr lang="ja-JP" altLang="en-US"/>
              <a:t>S &gt;= 20千m² ：A(S) = 1,100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8AF619D-0A47-CD88-AFF4-821627404184}"/>
              </a:ext>
            </a:extLst>
          </p:cNvPr>
          <p:cNvSpPr txBox="1"/>
          <p:nvPr/>
        </p:nvSpPr>
        <p:spPr>
          <a:xfrm>
            <a:off x="839270" y="3765310"/>
            <a:ext cx="10007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>
                <a:hlinkClick r:id="rId2"/>
              </a:rPr>
              <a:t>https://www.meti.go.jp/policy/economy/distribution/daikibo/downloadfiles/koutu-main.pdf</a:t>
            </a:r>
            <a:endParaRPr lang="en" altLang="ja-JP"/>
          </a:p>
          <a:p>
            <a:r>
              <a:rPr lang="ja-JP" altLang="ja-JP"/>
              <a:t>大規模小売店舗を設置する者が配慮すべき事項に関する指針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84020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F18B7-0CA3-962B-9741-24223156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3E6660-F247-6E4E-EB23-788B2E61033D}"/>
              </a:ext>
            </a:extLst>
          </p:cNvPr>
          <p:cNvSpPr txBox="1"/>
          <p:nvPr/>
        </p:nvSpPr>
        <p:spPr>
          <a:xfrm>
            <a:off x="623240" y="4765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>
                <a:latin typeface="+mj-lt"/>
              </a:rPr>
              <a:t>商業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E4159EEE-50B4-4DED-CCF6-A1F871FA5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43" y="1061366"/>
            <a:ext cx="5094958" cy="5699612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788F433-EFB0-4EED-8765-EC4302FEF921}"/>
              </a:ext>
            </a:extLst>
          </p:cNvPr>
          <p:cNvSpPr txBox="1"/>
          <p:nvPr/>
        </p:nvSpPr>
        <p:spPr>
          <a:xfrm>
            <a:off x="6384040" y="1057849"/>
            <a:ext cx="4618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>
                <a:hlinkClick r:id="rId3"/>
              </a:rPr>
              <a:t>https://www.mlit.go.jp/toshi/city_plan/content/001480895.pdf</a:t>
            </a:r>
            <a:endParaRPr lang="en" altLang="ja-JP"/>
          </a:p>
          <a:p>
            <a:r>
              <a:rPr lang="ja-JP" altLang="ja-JP"/>
              <a:t>大規模開発地区関連交通計画マニュアル</a:t>
            </a:r>
            <a:endParaRPr lang="en" altLang="ja-JP"/>
          </a:p>
        </p:txBody>
      </p:sp>
    </p:spTree>
    <p:extLst>
      <p:ext uri="{BB962C8B-B14F-4D97-AF65-F5344CB8AC3E}">
        <p14:creationId xmlns:p14="http://schemas.microsoft.com/office/powerpoint/2010/main" val="307056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DDC6A-B801-8F1E-5CF6-AED27379E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35E4D10-7EF0-6F39-03F7-6080CD2357F1}"/>
              </a:ext>
            </a:extLst>
          </p:cNvPr>
          <p:cNvSpPr txBox="1"/>
          <p:nvPr/>
        </p:nvSpPr>
        <p:spPr>
          <a:xfrm>
            <a:off x="623240" y="47659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>
                <a:latin typeface="+mj-lt"/>
              </a:rPr>
              <a:t>ホテル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C1CCFA-5DD9-BF60-711F-40E2B6336825}"/>
              </a:ext>
            </a:extLst>
          </p:cNvPr>
          <p:cNvSpPr txBox="1"/>
          <p:nvPr/>
        </p:nvSpPr>
        <p:spPr>
          <a:xfrm>
            <a:off x="921578" y="2208709"/>
            <a:ext cx="45366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平均宿泊人泊/日</a:t>
            </a:r>
          </a:p>
          <a:p>
            <a:r>
              <a:rPr lang="ja-JP" altLang="en-US"/>
              <a:t>= 客室数</a:t>
            </a:r>
          </a:p>
          <a:p>
            <a:r>
              <a:rPr lang="ja-JP" altLang="en-US"/>
              <a:t>  × 平均客室稼働率</a:t>
            </a:r>
          </a:p>
          <a:p>
            <a:r>
              <a:rPr lang="ja-JP" altLang="en-US"/>
              <a:t>  × 1利用客室当たり平均宿泊人数</a:t>
            </a:r>
          </a:p>
          <a:p>
            <a:endParaRPr lang="ja-JP" altLang="en-US"/>
          </a:p>
          <a:p>
            <a:r>
              <a:rPr lang="ja-JP" altLang="en-US"/>
              <a:t>平均チェックイン人数/日</a:t>
            </a:r>
          </a:p>
          <a:p>
            <a:r>
              <a:rPr lang="ja-JP" altLang="en-US"/>
              <a:t>= 平均宿泊人泊/日</a:t>
            </a:r>
          </a:p>
          <a:p>
            <a:r>
              <a:rPr lang="ja-JP" altLang="en-US"/>
              <a:t>  ÷ 平均連泊数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BE6992-9722-251B-7155-54DA58E0D10C}"/>
              </a:ext>
            </a:extLst>
          </p:cNvPr>
          <p:cNvSpPr txBox="1"/>
          <p:nvPr/>
        </p:nvSpPr>
        <p:spPr>
          <a:xfrm>
            <a:off x="5231880" y="2420860"/>
            <a:ext cx="571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/>
              <a:t>2025年の愛知県ビジネスホテルの客室稼働率は75.4%</a:t>
            </a:r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255C522-280E-538C-4A56-636DF6D6D0E1}"/>
              </a:ext>
            </a:extLst>
          </p:cNvPr>
          <p:cNvSpPr txBox="1"/>
          <p:nvPr/>
        </p:nvSpPr>
        <p:spPr>
          <a:xfrm>
            <a:off x="5234114" y="2933331"/>
            <a:ext cx="63289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>
                <a:hlinkClick r:id="rId2"/>
              </a:rPr>
              <a:t>https://www.mlit.go.jp/kankocho/content/002010555.pdf</a:t>
            </a:r>
            <a:endParaRPr lang="en" altLang="ja-JP"/>
          </a:p>
          <a:p>
            <a:r>
              <a:rPr lang="ja-JP" altLang="en-US"/>
              <a:t>観光庁</a:t>
            </a:r>
            <a:r>
              <a:rPr lang="ja-JP" altLang="ja-JP"/>
              <a:t>宿泊旅行統計調査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B190293-AE8E-718B-9422-4F86D006EBAB}"/>
                  </a:ext>
                </a:extLst>
              </p:cNvPr>
              <p:cNvSpPr txBox="1"/>
              <p:nvPr/>
            </p:nvSpPr>
            <p:spPr>
              <a:xfrm>
                <a:off x="839270" y="1334897"/>
                <a:ext cx="5989140" cy="694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1" lang="ja-JP" altLang="en-US" i="0">
                          <a:latin typeface="Cambria Math" panose="02040503050406030204" pitchFamily="18" charset="0"/>
                        </a:rPr>
                        <m:t>1利用客室当たり平均宿泊人数</m:t>
                      </m:r>
                      <m:r>
                        <a:rPr kumimoji="1" lang="ja-JP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延べ宿泊者数（人泊）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利用客室数（室泊）</m:t>
                          </m:r>
                        </m:den>
                      </m:f>
                    </m:oMath>
                  </m:oMathPara>
                </a14:m>
                <a:endParaRPr kumimoji="1" lang="ja-JP" altLang="en-US"/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B190293-AE8E-718B-9422-4F86D006E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270" y="1334897"/>
                <a:ext cx="5989140" cy="694549"/>
              </a:xfrm>
              <a:prstGeom prst="rect">
                <a:avLst/>
              </a:prstGeom>
              <a:blipFill>
                <a:blip r:embed="rId3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8742BFC-A276-7F43-3AC4-8F193C70C651}"/>
              </a:ext>
            </a:extLst>
          </p:cNvPr>
          <p:cNvSpPr txBox="1"/>
          <p:nvPr/>
        </p:nvSpPr>
        <p:spPr>
          <a:xfrm>
            <a:off x="5234113" y="3722801"/>
            <a:ext cx="63289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>
                <a:hlinkClick r:id="rId4"/>
              </a:rPr>
              <a:t>https://www.mlit.go.jp/kankocho/content/001858807.pdf</a:t>
            </a:r>
            <a:endParaRPr lang="en" altLang="ja-JP"/>
          </a:p>
          <a:p>
            <a:r>
              <a:rPr lang="ja-JP" altLang="ja-JP"/>
              <a:t>宿泊旅行統計調査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5689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F9D15-81F9-1CE6-D9B6-C2FBBFF6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104104B-D601-4A33-127F-FB8DF66D5445}"/>
              </a:ext>
            </a:extLst>
          </p:cNvPr>
          <p:cNvSpPr txBox="1"/>
          <p:nvPr/>
        </p:nvSpPr>
        <p:spPr>
          <a:xfrm>
            <a:off x="623240" y="476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>
                <a:latin typeface="+mj-lt"/>
              </a:rPr>
              <a:t>オフィス</a:t>
            </a:r>
            <a:endParaRPr kumimoji="1" lang="en-US" altLang="ja-JP" sz="3200" b="1">
              <a:latin typeface="+mj-lt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88871B7-C00B-5B4F-1C3F-30C5FE612C0F}"/>
              </a:ext>
            </a:extLst>
          </p:cNvPr>
          <p:cNvSpPr txBox="1"/>
          <p:nvPr/>
        </p:nvSpPr>
        <p:spPr>
          <a:xfrm>
            <a:off x="6641324" y="1216948"/>
            <a:ext cx="4618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>
                <a:hlinkClick r:id="rId2"/>
              </a:rPr>
              <a:t>https://www.mlit.go.jp/toshi/city_plan/content/001480895.pdf</a:t>
            </a:r>
            <a:endParaRPr lang="en" altLang="ja-JP"/>
          </a:p>
          <a:p>
            <a:r>
              <a:rPr lang="ja-JP" altLang="ja-JP"/>
              <a:t>大規模開発地区関連交通計画マニュアル</a:t>
            </a:r>
            <a:endParaRPr lang="en" altLang="ja-JP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5E4A83D-1FCA-DCF7-24F9-EDD25F616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60" y="1196691"/>
            <a:ext cx="5246478" cy="532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38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90BBA-3CC8-0F78-637B-571AE08F1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6E8EDB-52B3-CFF1-F190-AEFEA16C91A6}"/>
              </a:ext>
            </a:extLst>
          </p:cNvPr>
          <p:cNvSpPr txBox="1"/>
          <p:nvPr/>
        </p:nvSpPr>
        <p:spPr>
          <a:xfrm>
            <a:off x="623240" y="47659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>
                <a:latin typeface="+mj-lt"/>
              </a:rPr>
              <a:t>施設共通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FAE7E8B-B102-BF79-4FD7-DE0FEAEB0342}"/>
              </a:ext>
            </a:extLst>
          </p:cNvPr>
          <p:cNvSpPr txBox="1"/>
          <p:nvPr/>
        </p:nvSpPr>
        <p:spPr>
          <a:xfrm>
            <a:off x="983290" y="1348818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既存</a:t>
            </a:r>
            <a:r>
              <a:rPr kumimoji="1" lang="en-US" altLang="ja-JP"/>
              <a:t>OD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11E406-807B-28CA-ED9C-88A94411A1BE}"/>
              </a:ext>
            </a:extLst>
          </p:cNvPr>
          <p:cNvSpPr txBox="1"/>
          <p:nvPr/>
        </p:nvSpPr>
        <p:spPr>
          <a:xfrm>
            <a:off x="1343340" y="176348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↓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5FC70BC-7ADC-E800-04D1-661C8391E135}"/>
              </a:ext>
            </a:extLst>
          </p:cNvPr>
          <p:cNvSpPr txBox="1"/>
          <p:nvPr/>
        </p:nvSpPr>
        <p:spPr>
          <a:xfrm>
            <a:off x="983290" y="2132820"/>
            <a:ext cx="3096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新施設の来訪者数を予測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9111B5C-95B7-DDBA-D37C-BA02E9E97AF5}"/>
              </a:ext>
            </a:extLst>
          </p:cNvPr>
          <p:cNvSpPr txBox="1"/>
          <p:nvPr/>
        </p:nvSpPr>
        <p:spPr>
          <a:xfrm>
            <a:off x="1343340" y="265897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↓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4676505-E385-F89E-4851-8538D8B22BD9}"/>
              </a:ext>
            </a:extLst>
          </p:cNvPr>
          <p:cNvSpPr txBox="1"/>
          <p:nvPr/>
        </p:nvSpPr>
        <p:spPr>
          <a:xfrm>
            <a:off x="983290" y="3139786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同一目的の既存トリップを確立的に再配分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522B02-100D-4FFB-CD2D-3F87CE29DF1E}"/>
              </a:ext>
            </a:extLst>
          </p:cNvPr>
          <p:cNvSpPr txBox="1"/>
          <p:nvPr/>
        </p:nvSpPr>
        <p:spPr>
          <a:xfrm>
            <a:off x="983290" y="3962086"/>
            <a:ext cx="3096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新しい</a:t>
            </a:r>
            <a:r>
              <a:rPr lang="en-US" altLang="ja-JP"/>
              <a:t>OD</a:t>
            </a:r>
            <a:r>
              <a:rPr lang="ja-JP" altLang="en-US"/>
              <a:t>を生成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658AA65-13C8-58C9-3125-F081400EABDD}"/>
              </a:ext>
            </a:extLst>
          </p:cNvPr>
          <p:cNvSpPr txBox="1"/>
          <p:nvPr/>
        </p:nvSpPr>
        <p:spPr>
          <a:xfrm>
            <a:off x="1343340" y="35509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↓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05A6933-CC1F-DD56-E8E3-DE5EC4BBCBB9}"/>
              </a:ext>
            </a:extLst>
          </p:cNvPr>
          <p:cNvSpPr txBox="1"/>
          <p:nvPr/>
        </p:nvSpPr>
        <p:spPr>
          <a:xfrm>
            <a:off x="6319389" y="3055319"/>
            <a:ext cx="4521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例</a:t>
            </a:r>
            <a:r>
              <a:rPr lang="en-US" altLang="ja-JP"/>
              <a:t>)</a:t>
            </a:r>
          </a:p>
          <a:p>
            <a:r>
              <a:rPr lang="ja-JP" altLang="ja-JP"/>
              <a:t>新施設に10,000人来るので、既存の買い物ODの中から、新施設を選びそうな10,000人を確率的に移す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539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03641-566A-A200-6671-8ED8A0BE0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5D9EA04-2344-127C-2EFC-4C751F869491}"/>
              </a:ext>
            </a:extLst>
          </p:cNvPr>
          <p:cNvSpPr txBox="1"/>
          <p:nvPr/>
        </p:nvSpPr>
        <p:spPr>
          <a:xfrm>
            <a:off x="773219" y="1061365"/>
            <a:ext cx="687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元々の擬似人流作成の際のシミュレーション法を流用できる？？</a:t>
            </a:r>
          </a:p>
        </p:txBody>
      </p:sp>
    </p:spTree>
    <p:extLst>
      <p:ext uri="{BB962C8B-B14F-4D97-AF65-F5344CB8AC3E}">
        <p14:creationId xmlns:p14="http://schemas.microsoft.com/office/powerpoint/2010/main" val="1272028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11064</TotalTime>
  <Words>386</Words>
  <Application>Microsoft Macintosh PowerPoint</Application>
  <PresentationFormat>ワイド画面</PresentationFormat>
  <Paragraphs>70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渡辺　悠生</dc:creator>
  <cp:lastModifiedBy>渡辺　悠生</cp:lastModifiedBy>
  <cp:revision>2</cp:revision>
  <dcterms:created xsi:type="dcterms:W3CDTF">2026-08-13T08:17:50Z</dcterms:created>
  <dcterms:modified xsi:type="dcterms:W3CDTF">2026-08-21T00:42:06Z</dcterms:modified>
</cp:coreProperties>
</file>