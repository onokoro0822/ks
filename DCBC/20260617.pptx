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496"/>
    <p:restoredTop sz="81903"/>
  </p:normalViewPr>
  <p:slideViewPr>
    <p:cSldViewPr snapToGrid="0" snapToObjects="1">
      <p:cViewPr varScale="1">
        <p:scale>
          <a:sx n="90" d="100"/>
          <a:sy n="90" d="100"/>
        </p:scale>
        <p:origin x="232"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586079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Today, I will talk about my research, the title is </a:t>
            </a:r>
            <a:r>
              <a:rPr lang="en-US" altLang="ja-JP" sz="1200" b="1" dirty="0">
                <a:solidFill>
                  <a:srgbClr val="FFFFFF"/>
                </a:solidFill>
              </a:rPr>
              <a:t>Pseudo People-Flow</a:t>
            </a:r>
            <a:r>
              <a:rPr lang="en-US" altLang="ja-JP" sz="1200" b="0" dirty="0">
                <a:solidFill>
                  <a:schemeClr val="tx1"/>
                </a:solidFill>
              </a:rPr>
              <a:t> </a:t>
            </a:r>
            <a:r>
              <a:rPr lang="en-US" altLang="ja-JP" sz="1200" b="1" dirty="0">
                <a:solidFill>
                  <a:srgbClr val="FFFFFF"/>
                </a:solidFill>
              </a:rPr>
              <a:t>Scenario Comparison</a:t>
            </a:r>
            <a:r>
              <a:rPr lang="en-US" altLang="ja-JP" sz="1200" b="0" dirty="0">
                <a:solidFill>
                  <a:schemeClr val="tx1"/>
                </a:solidFill>
              </a:rPr>
              <a:t> </a:t>
            </a:r>
            <a:r>
              <a:rPr lang="en-US" altLang="ja-JP" sz="1200" b="1" dirty="0">
                <a:solidFill>
                  <a:srgbClr val="FFFFFF"/>
                </a:solidFill>
              </a:rPr>
              <a:t>Prototype</a:t>
            </a:r>
            <a:endParaRPr lang="en-US" altLang="ja-JP" sz="1200" dirty="0"/>
          </a:p>
          <a:p>
            <a:r>
              <a:rPr lang="ja-JP" altLang="en-US" dirty="0"/>
              <a:t>今日は、私の研究についてお話しします。タイトルは「擬似人流シナリオ比較プロトタイプ」です。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524AE-4E8C-3F7C-59BA-BDCC1CD63C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31E589-7D1D-DB49-2822-FA96A747A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B7503-9ECF-39AC-8862-DBE97E622C30}"/>
              </a:ext>
            </a:extLst>
          </p:cNvPr>
          <p:cNvSpPr>
            <a:spLocks noGrp="1"/>
          </p:cNvSpPr>
          <p:nvPr>
            <p:ph type="body" idx="1"/>
          </p:nvPr>
        </p:nvSpPr>
        <p:spPr/>
        <p:txBody>
          <a:bodyPr/>
          <a:lstStyle/>
          <a:p>
            <a:r>
              <a:rPr lang="en-US" dirty="0"/>
              <a:t>This is my OKR</a:t>
            </a:r>
          </a:p>
          <a:p>
            <a:r>
              <a:rPr lang="en-US" dirty="0"/>
              <a:t>The key result is brief simulation using LLm.</a:t>
            </a:r>
          </a:p>
          <a:p>
            <a:r>
              <a:rPr lang="ja-JP" altLang="en-US" dirty="0"/>
              <a:t>これが私の</a:t>
            </a:r>
            <a:r>
              <a:rPr lang="en-US" dirty="0"/>
              <a:t>OKR</a:t>
            </a:r>
            <a:r>
              <a:rPr lang="ja-JP" altLang="en-US" dirty="0"/>
              <a:t>です</a:t>
            </a:r>
          </a:p>
          <a:p>
            <a:r>
              <a:rPr lang="ja-JP" altLang="en-US" dirty="0"/>
              <a:t>主要な成果は、</a:t>
            </a:r>
            <a:r>
              <a:rPr lang="en-US" dirty="0"/>
              <a:t>LLM</a:t>
            </a:r>
            <a:r>
              <a:rPr lang="ja-JP" altLang="en-US" dirty="0"/>
              <a:t>を用いた簡易シミュレーションです。</a:t>
            </a:r>
            <a:endParaRPr lang="en-US" dirty="0"/>
          </a:p>
        </p:txBody>
      </p:sp>
      <p:sp>
        <p:nvSpPr>
          <p:cNvPr id="4" name="Slide Number Placeholder 3">
            <a:extLst>
              <a:ext uri="{FF2B5EF4-FFF2-40B4-BE49-F238E27FC236}">
                <a16:creationId xmlns:a16="http://schemas.microsoft.com/office/drawing/2014/main" id="{926C999F-7335-6F67-BD96-8E551209585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174105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altLang="ja-JP"/>
              <a:t>English:</a:t>
            </a:r>
          </a:p>
          <a:p>
            <a:r>
              <a:rPr lang="en" altLang="ja-JP"/>
              <a:t>First, I will explain the background and motivation. Estimating urban demand at the planning stage is a long-standing challenge in urban planning. In practice, demand forecasting is often outsourced to professional consultants and requires specialized modeling. However, even small changes in urban infrastructure or facility location can produce large and sometimes unexpected changes in people flow. Therefore, planners need a lightweight tool to explore possible people-flow changes before implementing a project. This research does not aim to replace professional demand forecasting. Instead, it proposes a simplified prototype for early-stage scenario exploration.</a:t>
            </a:r>
          </a:p>
          <a:p>
            <a:r>
              <a:rPr lang="ja-JP" altLang="en-US"/>
              <a:t>日本語</a:t>
            </a:r>
            <a:r>
              <a:rPr lang="en-US" altLang="ja-JP"/>
              <a:t>:</a:t>
            </a:r>
          </a:p>
          <a:p>
            <a:r>
              <a:rPr lang="ja-JP" altLang="en-US"/>
              <a:t>まず、研究の背景と動機について説明します。計画段階で都市の需要を推定することは、都市計画における長年の課題です。実際には、需要予測は専門のコンサルタントに依頼されることも多く、専門的なモデリングが必要になります。しかし、都市インフラや施設配置の小さな変化でも、人流には大きく、時には予想外の変化が生じることがあります。そのため、事業を実施する前の段階で、人流変化の可能性を軽量に検討できるツールが必要です。本研究は、専門的な需要予測を置き換えるものではありません。その前段階として、計画シナリオを探索するための簡易的なプロトタイプを提案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altLang="ja-JP"/>
              <a:t>English:</a:t>
            </a:r>
          </a:p>
          <a:p>
            <a:r>
              <a:rPr lang="en" altLang="ja-JP"/>
              <a:t>The main problem is the gap between planning language and trip-data parameters. Urban planning scenarios are usually described in natural language. For example, a planner may say, “Build a large mall near a station.” However, pseudo people-flow data must be manipulated through explicit numerical rules.Defining these rules manually requires technical knowledge of data structure, geocoding, filtering conditions, and spatial operations. At the same time, full-scale transportation demand models are too complex for rapid early-stage scenario testing. Therefore, this research targets a lightweight bridge from scenario text to rule-based trip modification.</a:t>
            </a:r>
          </a:p>
          <a:p>
            <a:r>
              <a:rPr lang="ja-JP" altLang="en-US"/>
              <a:t>日本語</a:t>
            </a:r>
            <a:r>
              <a:rPr lang="en-US" altLang="ja-JP"/>
              <a:t>:</a:t>
            </a:r>
          </a:p>
          <a:p>
            <a:r>
              <a:rPr lang="ja-JP" altLang="en-US"/>
              <a:t>ここでの主な問題は、計画で使われる言葉と、トリップデータを操作するためのパラメータの間にギャップがあることです。都市計画のシナリオは、通常、定性的な自然言語で記述されます。例えば、「駅前に大型商業施設を建設する」といった表現です。一方で、擬似人流データを操作するためには、明示的な数値ルールが必要になります。具体的には、対象地点、目的コード、時間帯、影響範囲、影響割合、移動強度などです。これらのルールを手動で設定するには、データ構造、ジオコーディング、抽出条件、空間処理に関する知識が必要です。一方で、本格的な交通需要モデルは、計画初期段階で素早く試すには複雑すぎます。そこで本研究では、シナリオ文から編集可能なルールベースのトリップ変更へつなぐ、軽量な橋渡しを目指します。</a:t>
            </a:r>
            <a:endParaRPr lang="ja-JP" altLang="ja-JP"/>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starts with a natural-language scenario. The local LLM infers initial rules, the user can confirm or edit those rules, and the app generates CSV outputs and a comparison HTML map report.</a:t>
            </a:r>
          </a:p>
          <a:p>
            <a:endParaRPr lang="en-US" dirty="0"/>
          </a:p>
          <a:p>
            <a:r>
              <a:rPr lang="ja-JP" altLang="en-US" dirty="0"/>
              <a:t>システムは自然言語によるシナリオから始まります。ローカルの</a:t>
            </a:r>
            <a:r>
              <a:rPr lang="en-US" dirty="0"/>
              <a:t>LLM</a:t>
            </a:r>
            <a:r>
              <a:rPr lang="ja-JP" altLang="en-US" dirty="0"/>
              <a:t>が初期ルールを推論し、ユーザーはそのルールを確認または編集でき、アプリは</a:t>
            </a:r>
            <a:r>
              <a:rPr lang="en-US" dirty="0"/>
              <a:t>CSV</a:t>
            </a:r>
            <a:r>
              <a:rPr lang="ja-JP" altLang="en-US" dirty="0"/>
              <a:t>形式の出力データと比較用の</a:t>
            </a:r>
            <a:r>
              <a:rPr lang="en-US" dirty="0"/>
              <a:t>HTML</a:t>
            </a:r>
            <a:r>
              <a:rPr lang="ja-JP" altLang="en-US" dirty="0"/>
              <a:t>マップレポートを生成します。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 is a pseudo people-flow trip CSV. The model does not create a new population. It modifies selected records based on rules such as target location, trip purpose, time window, radius, affected ratio, and movement strength.</a:t>
            </a:r>
          </a:p>
          <a:p>
            <a:endParaRPr lang="en-US" dirty="0"/>
          </a:p>
          <a:p>
            <a:r>
              <a:rPr lang="ja-JP" altLang="en-US" dirty="0"/>
              <a:t>入力データは、擬似的な人流移動の</a:t>
            </a:r>
            <a:r>
              <a:rPr lang="en-US" dirty="0"/>
              <a:t>CSV</a:t>
            </a:r>
            <a:r>
              <a:rPr lang="ja-JP" altLang="en-US" dirty="0"/>
              <a:t>ファイルです。このモデルは新たな人口データを作成するものではありません。対象地点、移動目的、時間枠、半径、影響率、移動強度などのルールに基づいて、選択されたレコードを修正します。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Candidate trips are first filtered by trip purpose and departure time. Then, for each candidate, the shortest distance between the target facility and the origin-to-destination line segment is computed. Trips outside the influence radius are removed. Trips closer to the target are selected with higher probability.</a:t>
            </a:r>
          </a:p>
          <a:p>
            <a:r>
              <a:rPr lang="ja-JP" altLang="en-US" dirty="0"/>
              <a:t>候補となる移動経路は、まず移動目的と出発時刻によって絞り込まれます。次に、各候補について、対象施設と出発地から目的地までの線分との間の最短距離が計算されます。影響半径外にある移動経路は除外されます。対象施設に近い移動経路ほど、選択される確率が高く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selected trips, the prototype changes only the destination point. The destination is not snapped to the target location. It is moved partially toward the target according to the movement strength. Other fields such as origin, time, mode, purpose, and person ID are preserved.</a:t>
            </a:r>
          </a:p>
          <a:p>
            <a:r>
              <a:rPr lang="ja-JP" altLang="en-US" dirty="0"/>
              <a:t>選択された旅程については、プロトタイプは目的地のみを変更します。目的地は目標地点にスナップされることはありません。移動強度に応じて、目的地が目標地点に向かって部分的に移動します。出発地、時間、移動手段、目的、本人</a:t>
            </a:r>
            <a:r>
              <a:rPr lang="en-US" dirty="0"/>
              <a:t>ID</a:t>
            </a:r>
            <a:r>
              <a:rPr lang="ja-JP" altLang="en-US" dirty="0"/>
              <a:t>などのその他の項目は変更されません。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is the demo video.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demo show the full workflow from scenario text to map output.</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ja-JP" altLang="ja-JP"/>
              <a:t>Users enter a scenario in natural language and press the “Infer” button. </a:t>
            </a:r>
            <a:r>
              <a:rPr lang="en-US" altLang="ja-JP"/>
              <a:t>Then t</a:t>
            </a:r>
            <a:r>
              <a:rPr lang="ja-JP" altLang="ja-JP"/>
              <a:t>he LLM processes the text and generates modification rules. Using these rules, the system modifies the pseudo people-flow data and presents the results in a visually comparable form.</a:t>
            </a:r>
          </a:p>
          <a:p>
            <a:r>
              <a:rPr lang="en-US" dirty="0"/>
              <a:t> </a:t>
            </a:r>
          </a:p>
          <a:p>
            <a:endParaRPr lang="en-US" dirty="0"/>
          </a:p>
          <a:p>
            <a:r>
              <a:rPr lang="en-US" dirty="0"/>
              <a:t>自然言語でシナリオを入力し、推論ボタンを押すと、LLMが自然言語を処理して変換ルールを作成します。その変換ルールを用いて擬似人流を変化させ、視覚的に比較可能な形で表現します。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map uses Leaflet and OpenStreetMap background tiles. Blue points show original destinations of changed trips, red points show modified destinations. </a:t>
            </a:r>
          </a:p>
          <a:p>
            <a:r>
              <a:rPr lang="ja-JP" altLang="en-US" dirty="0"/>
              <a:t>この比較マップでは、</a:t>
            </a:r>
            <a:r>
              <a:rPr lang="en-US" dirty="0"/>
              <a:t>Leaflet</a:t>
            </a:r>
            <a:r>
              <a:rPr lang="ja-JP" altLang="en-US" dirty="0"/>
              <a:t>と</a:t>
            </a:r>
            <a:r>
              <a:rPr lang="en-US" dirty="0"/>
              <a:t>OpenStreetMap</a:t>
            </a:r>
            <a:r>
              <a:rPr lang="ja-JP" altLang="en-US" dirty="0"/>
              <a:t>の背景タイルを使用しています。青い点は変更前の旅程の目的地を示し、赤い点は変更後の目的地を示しています。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system should not be interpreted as a full transportation demand model. Its value is in rapid scenario exploration, but validation and richer behavioral modeling are necessary before it can support strong predictive claims.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このシステムは、完全な交通需要モデルとして解釈されるべきではありません。その価値は、シナリオを素早く探索できる点にあります。ただし、強い予測的主張を行うためには、観測データによる検証や、より詳細な行動モデルの導入が必要で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a:t>
            </a:r>
          </a:p>
          <a:p>
            <a:r>
              <a:rPr lang="en-US" dirty="0"/>
              <a:t>In conclusion, this prototype connects planning text with pseudo people-flow data. First, it translates natural-language scenarios into editable rules. Second, LLM inference reduces the manual burden of setting data-processing conditions. Third, before-and-after maps support intuitive scenario comparison. The contribution of this research is not precise demand forecasting. Rather, it is a practical workflow for translating planning scenarios into visible changes in pseudo people-flow data. This prototype offers an interpretable starting point for scenario-based urban analysis. Thank you for listening.</a:t>
            </a:r>
          </a:p>
          <a:p>
            <a:r>
              <a:rPr lang="ja-JP" altLang="en-US" dirty="0"/>
              <a:t>日本語</a:t>
            </a:r>
            <a:r>
              <a:rPr lang="en-US" altLang="ja-JP" dirty="0"/>
              <a:t>:</a:t>
            </a:r>
          </a:p>
          <a:p>
            <a:r>
              <a:rPr lang="ja-JP" altLang="en-US" dirty="0"/>
              <a:t>結論として、本プロトタイプは、計画シナリオの文章と擬似人流データを接続するものです。第一に、自然言語で書かれたシナリオを、編集可能なルールへ変換します。第二に、</a:t>
            </a:r>
            <a:r>
              <a:rPr lang="en-US" dirty="0"/>
              <a:t>LLM</a:t>
            </a:r>
            <a:r>
              <a:rPr lang="ja-JP" altLang="en-US" dirty="0"/>
              <a:t>による推論によって、データ処理条件を手動で設定する負担を軽減します。第三に、変更前後のマップによって、シナリオ比較を直感的に行うことができます。本研究の貢献は、精密な需要予測そのものではありません。むしろ、計画シナリオを擬似人流データ上の可視的な変化へ変換するための、実用的なワークフローを提示することです。このプロトタイプは、シナリオベースの都市分析に向けた、解釈可能な出発点になると考えていま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02A43"/>
          </a:solidFill>
          <a:ln w="12700">
            <a:solidFill>
              <a:srgbClr val="333333">
                <a:alpha val="0"/>
              </a:srgbClr>
            </a:solidFill>
            <a:prstDash val="solid"/>
          </a:ln>
        </p:spPr>
        <p:txBody>
          <a:bodyPr/>
          <a:lstStyle/>
          <a:p>
            <a:endParaRPr lang="ja-JP" altLang="en-US"/>
          </a:p>
        </p:txBody>
      </p:sp>
      <p:sp>
        <p:nvSpPr>
          <p:cNvPr id="3" name="Text 1"/>
          <p:cNvSpPr/>
          <p:nvPr/>
        </p:nvSpPr>
        <p:spPr>
          <a:xfrm>
            <a:off x="502920" y="1051560"/>
            <a:ext cx="2926080" cy="1508760"/>
          </a:xfrm>
          <a:prstGeom prst="rect">
            <a:avLst/>
          </a:prstGeom>
          <a:noFill/>
          <a:ln/>
        </p:spPr>
        <p:txBody>
          <a:bodyPr wrap="square" lIns="0" tIns="0" rIns="0" bIns="0" rtlCol="0" anchor="ctr">
            <a:normAutofit fontScale="85000" lnSpcReduction="10000"/>
          </a:bodyPr>
          <a:lstStyle/>
          <a:p>
            <a:pPr marL="0" indent="0">
              <a:buNone/>
            </a:pPr>
            <a:r>
              <a:rPr lang="en-US" sz="2800" b="1" dirty="0">
                <a:solidFill>
                  <a:srgbClr val="FFFFFF"/>
                </a:solidFill>
              </a:rPr>
              <a:t>Pseudo People-Flow</a:t>
            </a:r>
            <a:endParaRPr lang="en-US" sz="2800" dirty="0"/>
          </a:p>
          <a:p>
            <a:pPr marL="0" indent="0">
              <a:buNone/>
            </a:pPr>
            <a:r>
              <a:rPr lang="en-US" sz="2800" b="1" dirty="0">
                <a:solidFill>
                  <a:srgbClr val="FFFFFF"/>
                </a:solidFill>
              </a:rPr>
              <a:t>Scenario Comparison</a:t>
            </a:r>
            <a:endParaRPr lang="en-US" sz="2800" dirty="0"/>
          </a:p>
          <a:p>
            <a:pPr marL="0" indent="0">
              <a:buNone/>
            </a:pPr>
            <a:r>
              <a:rPr lang="en-US" sz="2800" b="1" dirty="0">
                <a:solidFill>
                  <a:srgbClr val="FFFFFF"/>
                </a:solidFill>
              </a:rPr>
              <a:t>Prototype</a:t>
            </a:r>
            <a:endParaRPr lang="en-US" sz="2800" dirty="0"/>
          </a:p>
        </p:txBody>
      </p:sp>
      <p:sp>
        <p:nvSpPr>
          <p:cNvPr id="4" name="Shape 2"/>
          <p:cNvSpPr/>
          <p:nvPr/>
        </p:nvSpPr>
        <p:spPr>
          <a:xfrm>
            <a:off x="502920" y="2788920"/>
            <a:ext cx="2194560" cy="0"/>
          </a:xfrm>
          <a:prstGeom prst="line">
            <a:avLst/>
          </a:prstGeom>
          <a:noFill/>
          <a:ln w="38100">
            <a:solidFill>
              <a:srgbClr val="2F80ED"/>
            </a:solidFill>
            <a:prstDash val="solid"/>
          </a:ln>
        </p:spPr>
        <p:txBody>
          <a:bodyPr/>
          <a:lstStyle/>
          <a:p>
            <a:endParaRPr lang="ja-JP" altLang="en-US"/>
          </a:p>
        </p:txBody>
      </p:sp>
      <p:sp>
        <p:nvSpPr>
          <p:cNvPr id="5" name="Text 3"/>
          <p:cNvSpPr/>
          <p:nvPr/>
        </p:nvSpPr>
        <p:spPr>
          <a:xfrm>
            <a:off x="530352" y="3035808"/>
            <a:ext cx="2743200" cy="685800"/>
          </a:xfrm>
          <a:prstGeom prst="rect">
            <a:avLst/>
          </a:prstGeom>
          <a:noFill/>
          <a:ln/>
        </p:spPr>
        <p:txBody>
          <a:bodyPr wrap="square" lIns="0" tIns="0" rIns="0" bIns="0" rtlCol="0" anchor="ctr">
            <a:normAutofit/>
          </a:bodyPr>
          <a:lstStyle/>
          <a:p>
            <a:pPr marL="0" indent="0">
              <a:buNone/>
            </a:pPr>
            <a:r>
              <a:rPr lang="en-US" sz="1500" dirty="0">
                <a:solidFill>
                  <a:srgbClr val="D9E2EC"/>
                </a:solidFill>
              </a:rPr>
              <a:t>Natural-language scenario input for before/after people-flow visualization</a:t>
            </a:r>
            <a:endParaRPr lang="en-US" sz="1500" dirty="0"/>
          </a:p>
        </p:txBody>
      </p:sp>
      <p:sp>
        <p:nvSpPr>
          <p:cNvPr id="6" name="Text 4"/>
          <p:cNvSpPr/>
          <p:nvPr/>
        </p:nvSpPr>
        <p:spPr>
          <a:xfrm>
            <a:off x="530352" y="5989320"/>
            <a:ext cx="2560320" cy="256032"/>
          </a:xfrm>
          <a:prstGeom prst="rect">
            <a:avLst/>
          </a:prstGeom>
          <a:noFill/>
          <a:ln/>
        </p:spPr>
        <p:txBody>
          <a:bodyPr wrap="square" lIns="0" tIns="0" rIns="0" bIns="0" rtlCol="0" anchor="ctr"/>
          <a:lstStyle/>
          <a:p>
            <a:pPr marL="0" indent="0">
              <a:buNone/>
            </a:pPr>
            <a:r>
              <a:rPr lang="en-US" sz="900" dirty="0">
                <a:solidFill>
                  <a:srgbClr val="BCCCDC"/>
                </a:solidFill>
              </a:rPr>
              <a:t>Graduation thesis / research presentation draft</a:t>
            </a:r>
            <a:endParaRPr lang="en-US" sz="900" dirty="0"/>
          </a:p>
        </p:txBody>
      </p:sp>
      <p:sp>
        <p:nvSpPr>
          <p:cNvPr id="37" name="Text 35"/>
          <p:cNvSpPr/>
          <p:nvPr/>
        </p:nvSpPr>
        <p:spPr>
          <a:xfrm>
            <a:off x="4617720" y="5559552"/>
            <a:ext cx="1691640" cy="411480"/>
          </a:xfrm>
          <a:prstGeom prst="rect">
            <a:avLst/>
          </a:prstGeom>
          <a:solidFill>
            <a:srgbClr val="EAF3FF"/>
          </a:solidFill>
          <a:ln w="12700">
            <a:solidFill>
              <a:srgbClr val="BFD7FF"/>
            </a:solidFill>
          </a:ln>
        </p:spPr>
        <p:txBody>
          <a:bodyPr wrap="square" lIns="1016" tIns="1016" rIns="1016" bIns="1016" rtlCol="0" anchor="ctr">
            <a:normAutofit/>
          </a:bodyPr>
          <a:lstStyle/>
          <a:p>
            <a:pPr marL="0" indent="0" algn="ctr">
              <a:buNone/>
            </a:pPr>
            <a:r>
              <a:rPr lang="en-US" sz="1100" b="1" dirty="0">
                <a:solidFill>
                  <a:srgbClr val="102A43"/>
                </a:solidFill>
              </a:rPr>
              <a:t>Scenario text</a:t>
            </a:r>
            <a:endParaRPr lang="en-US" sz="1100" dirty="0"/>
          </a:p>
        </p:txBody>
      </p:sp>
      <p:sp>
        <p:nvSpPr>
          <p:cNvPr id="38" name="Shape 36"/>
          <p:cNvSpPr/>
          <p:nvPr/>
        </p:nvSpPr>
        <p:spPr>
          <a:xfrm>
            <a:off x="6382512" y="5769864"/>
            <a:ext cx="521208" cy="0"/>
          </a:xfrm>
          <a:prstGeom prst="line">
            <a:avLst/>
          </a:prstGeom>
          <a:noFill/>
          <a:ln w="12700">
            <a:solidFill>
              <a:srgbClr val="829AB1"/>
            </a:solidFill>
            <a:prstDash val="solid"/>
            <a:tailEnd type="triangle"/>
          </a:ln>
        </p:spPr>
        <p:txBody>
          <a:bodyPr/>
          <a:lstStyle/>
          <a:p>
            <a:endParaRPr lang="ja-JP" altLang="en-US"/>
          </a:p>
        </p:txBody>
      </p:sp>
      <p:sp>
        <p:nvSpPr>
          <p:cNvPr id="39" name="Text 37"/>
          <p:cNvSpPr/>
          <p:nvPr/>
        </p:nvSpPr>
        <p:spPr>
          <a:xfrm>
            <a:off x="6995160" y="5559552"/>
            <a:ext cx="1691640" cy="411480"/>
          </a:xfrm>
          <a:prstGeom prst="rect">
            <a:avLst/>
          </a:prstGeom>
          <a:solidFill>
            <a:srgbClr val="F4F0FF"/>
          </a:solidFill>
          <a:ln w="12700">
            <a:solidFill>
              <a:srgbClr val="D9D2FF"/>
            </a:solidFill>
          </a:ln>
        </p:spPr>
        <p:txBody>
          <a:bodyPr wrap="square" lIns="1016" tIns="1016" rIns="1016" bIns="1016" rtlCol="0" anchor="ctr">
            <a:normAutofit/>
          </a:bodyPr>
          <a:lstStyle/>
          <a:p>
            <a:pPr marL="0" indent="0" algn="ctr">
              <a:buNone/>
            </a:pPr>
            <a:r>
              <a:rPr lang="en-US" sz="1100" b="1" dirty="0">
                <a:solidFill>
                  <a:srgbClr val="102A43"/>
                </a:solidFill>
              </a:rPr>
              <a:t>Scenario rules</a:t>
            </a:r>
            <a:endParaRPr lang="en-US" sz="1100" dirty="0"/>
          </a:p>
        </p:txBody>
      </p:sp>
      <p:sp>
        <p:nvSpPr>
          <p:cNvPr id="40" name="Shape 38"/>
          <p:cNvSpPr/>
          <p:nvPr/>
        </p:nvSpPr>
        <p:spPr>
          <a:xfrm>
            <a:off x="8759952" y="5769864"/>
            <a:ext cx="521208" cy="0"/>
          </a:xfrm>
          <a:prstGeom prst="line">
            <a:avLst/>
          </a:prstGeom>
          <a:noFill/>
          <a:ln w="12700">
            <a:solidFill>
              <a:srgbClr val="829AB1"/>
            </a:solidFill>
            <a:prstDash val="solid"/>
            <a:tailEnd type="triangle"/>
          </a:ln>
        </p:spPr>
        <p:txBody>
          <a:bodyPr/>
          <a:lstStyle/>
          <a:p>
            <a:endParaRPr lang="ja-JP" altLang="en-US"/>
          </a:p>
        </p:txBody>
      </p:sp>
      <p:sp>
        <p:nvSpPr>
          <p:cNvPr id="41" name="Text 39"/>
          <p:cNvSpPr/>
          <p:nvPr/>
        </p:nvSpPr>
        <p:spPr>
          <a:xfrm>
            <a:off x="9372600" y="5559552"/>
            <a:ext cx="1691640" cy="411480"/>
          </a:xfrm>
          <a:prstGeom prst="rect">
            <a:avLst/>
          </a:prstGeom>
          <a:solidFill>
            <a:srgbClr val="FDEDEA"/>
          </a:solidFill>
          <a:ln w="12700">
            <a:solidFill>
              <a:srgbClr val="F5B7B1"/>
            </a:solidFill>
          </a:ln>
        </p:spPr>
        <p:txBody>
          <a:bodyPr wrap="square" lIns="1016" tIns="1016" rIns="1016" bIns="1016" rtlCol="0" anchor="ctr">
            <a:normAutofit/>
          </a:bodyPr>
          <a:lstStyle/>
          <a:p>
            <a:pPr marL="0" indent="0" algn="ctr">
              <a:buNone/>
            </a:pPr>
            <a:r>
              <a:rPr lang="en-US" sz="1100" b="1" dirty="0">
                <a:solidFill>
                  <a:srgbClr val="102A43"/>
                </a:solidFill>
              </a:rPr>
              <a:t>Map comparison</a:t>
            </a:r>
            <a:endParaRPr lang="en-US" sz="1100" dirty="0"/>
          </a:p>
        </p:txBody>
      </p:sp>
      <p:pic>
        <p:nvPicPr>
          <p:cNvPr id="42" name="図 41">
            <a:extLst>
              <a:ext uri="{FF2B5EF4-FFF2-40B4-BE49-F238E27FC236}">
                <a16:creationId xmlns:a16="http://schemas.microsoft.com/office/drawing/2014/main" id="{958C5E50-9192-6F26-1355-8978E9F858BF}"/>
              </a:ext>
            </a:extLst>
          </p:cNvPr>
          <p:cNvPicPr>
            <a:picLocks noChangeAspect="1"/>
          </p:cNvPicPr>
          <p:nvPr/>
        </p:nvPicPr>
        <p:blipFill>
          <a:blip r:embed="rId3"/>
          <a:stretch>
            <a:fillRect/>
          </a:stretch>
        </p:blipFill>
        <p:spPr>
          <a:xfrm>
            <a:off x="4547616" y="815046"/>
            <a:ext cx="7114032" cy="4441524"/>
          </a:xfrm>
          <a:prstGeom prst="rect">
            <a:avLst/>
          </a:prstGeom>
        </p:spPr>
      </p:pic>
      <p:sp>
        <p:nvSpPr>
          <p:cNvPr id="43" name="Text 3">
            <a:extLst>
              <a:ext uri="{FF2B5EF4-FFF2-40B4-BE49-F238E27FC236}">
                <a16:creationId xmlns:a16="http://schemas.microsoft.com/office/drawing/2014/main" id="{71790729-6332-EDD2-D5F9-E35C0AC36412}"/>
              </a:ext>
            </a:extLst>
          </p:cNvPr>
          <p:cNvSpPr/>
          <p:nvPr/>
        </p:nvSpPr>
        <p:spPr>
          <a:xfrm>
            <a:off x="530352" y="3968495"/>
            <a:ext cx="2743200" cy="685800"/>
          </a:xfrm>
          <a:prstGeom prst="rect">
            <a:avLst/>
          </a:prstGeom>
          <a:noFill/>
          <a:ln/>
        </p:spPr>
        <p:txBody>
          <a:bodyPr wrap="square" lIns="0" tIns="0" rIns="0" bIns="0" rtlCol="0" anchor="ctr">
            <a:normAutofit/>
          </a:bodyPr>
          <a:lstStyle/>
          <a:p>
            <a:pPr marL="0" indent="0">
              <a:buNone/>
            </a:pPr>
            <a:r>
              <a:rPr lang="en-US" sz="2000" dirty="0">
                <a:solidFill>
                  <a:schemeClr val="bg1"/>
                </a:solidFill>
              </a:rPr>
              <a:t>Yuki Watanabe</a:t>
            </a:r>
            <a:br>
              <a:rPr lang="en-US" sz="2000" dirty="0">
                <a:solidFill>
                  <a:schemeClr val="bg1"/>
                </a:solidFill>
              </a:rPr>
            </a:br>
            <a:r>
              <a:rPr lang="en-US" sz="2000" dirty="0">
                <a:solidFill>
                  <a:schemeClr val="bg1"/>
                </a:solidFill>
              </a:rPr>
              <a:t>M1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427CB-C939-F311-E848-AFB82B80E55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10A4242-5626-172E-903D-35353A3B6F81}"/>
              </a:ext>
            </a:extLst>
          </p:cNvPr>
          <p:cNvSpPr/>
          <p:nvPr/>
        </p:nvSpPr>
        <p:spPr>
          <a:xfrm>
            <a:off x="0" y="0"/>
            <a:ext cx="12191695" cy="164592"/>
          </a:xfrm>
          <a:prstGeom prst="rect">
            <a:avLst/>
          </a:prstGeom>
          <a:solidFill>
            <a:srgbClr val="102A43"/>
          </a:solidFill>
          <a:ln w="12700">
            <a:solidFill>
              <a:srgbClr val="333333">
                <a:alpha val="0"/>
              </a:srgbClr>
            </a:solidFill>
            <a:prstDash val="solid"/>
          </a:ln>
        </p:spPr>
        <p:txBody>
          <a:bodyPr/>
          <a:lstStyle/>
          <a:p>
            <a:endParaRPr lang="ja-JP" altLang="en-US"/>
          </a:p>
        </p:txBody>
      </p:sp>
      <p:sp>
        <p:nvSpPr>
          <p:cNvPr id="3" name="Text 1">
            <a:extLst>
              <a:ext uri="{FF2B5EF4-FFF2-40B4-BE49-F238E27FC236}">
                <a16:creationId xmlns:a16="http://schemas.microsoft.com/office/drawing/2014/main" id="{9F4DFF66-7E76-FEBD-F6B6-AE3A5A1080CC}"/>
              </a:ext>
            </a:extLst>
          </p:cNvPr>
          <p:cNvSpPr/>
          <p:nvPr/>
        </p:nvSpPr>
        <p:spPr>
          <a:xfrm>
            <a:off x="502920" y="384048"/>
            <a:ext cx="8046720" cy="384048"/>
          </a:xfrm>
          <a:prstGeom prst="rect">
            <a:avLst/>
          </a:prstGeom>
          <a:noFill/>
          <a:ln/>
        </p:spPr>
        <p:txBody>
          <a:bodyPr wrap="square" lIns="0" tIns="0" rIns="0" bIns="0" rtlCol="0" anchor="ctr"/>
          <a:lstStyle/>
          <a:p>
            <a:pPr marL="0" indent="0">
              <a:buNone/>
            </a:pPr>
            <a:r>
              <a:rPr lang="en-US" sz="2500" b="1" dirty="0">
                <a:solidFill>
                  <a:srgbClr val="102A43"/>
                </a:solidFill>
                <a:latin typeface="Garamond" panose="02020404030301010803" pitchFamily="18" charset="0"/>
              </a:rPr>
              <a:t>OKR</a:t>
            </a:r>
            <a:endParaRPr lang="en-US" sz="2500" dirty="0">
              <a:latin typeface="Garamond" panose="02020404030301010803" pitchFamily="18" charset="0"/>
            </a:endParaRPr>
          </a:p>
        </p:txBody>
      </p:sp>
      <p:sp>
        <p:nvSpPr>
          <p:cNvPr id="4" name="Text 2">
            <a:extLst>
              <a:ext uri="{FF2B5EF4-FFF2-40B4-BE49-F238E27FC236}">
                <a16:creationId xmlns:a16="http://schemas.microsoft.com/office/drawing/2014/main" id="{7C1B93C8-21BF-0E5C-AB07-3338DC1AF96B}"/>
              </a:ext>
            </a:extLst>
          </p:cNvPr>
          <p:cNvSpPr/>
          <p:nvPr/>
        </p:nvSpPr>
        <p:spPr>
          <a:xfrm>
            <a:off x="9372600" y="438912"/>
            <a:ext cx="2240280" cy="237744"/>
          </a:xfrm>
          <a:prstGeom prst="rect">
            <a:avLst/>
          </a:prstGeom>
          <a:noFill/>
          <a:ln/>
        </p:spPr>
        <p:txBody>
          <a:bodyPr wrap="square" lIns="0" tIns="0" rIns="0" bIns="0" rtlCol="0" anchor="ctr"/>
          <a:lstStyle/>
          <a:p>
            <a:pPr marL="0" indent="0" algn="r">
              <a:buNone/>
            </a:pPr>
            <a:r>
              <a:rPr lang="en-US" sz="850" dirty="0">
                <a:solidFill>
                  <a:srgbClr val="829AB1"/>
                </a:solidFill>
              </a:rPr>
              <a:t>Research prototype</a:t>
            </a:r>
            <a:endParaRPr lang="en-US" sz="850" dirty="0"/>
          </a:p>
        </p:txBody>
      </p:sp>
      <p:sp>
        <p:nvSpPr>
          <p:cNvPr id="5" name="Shape 3">
            <a:extLst>
              <a:ext uri="{FF2B5EF4-FFF2-40B4-BE49-F238E27FC236}">
                <a16:creationId xmlns:a16="http://schemas.microsoft.com/office/drawing/2014/main" id="{1443A513-3131-5FAD-615B-CAC9B582F3BF}"/>
              </a:ext>
            </a:extLst>
          </p:cNvPr>
          <p:cNvSpPr/>
          <p:nvPr/>
        </p:nvSpPr>
        <p:spPr>
          <a:xfrm>
            <a:off x="502920" y="868680"/>
            <a:ext cx="11155680" cy="0"/>
          </a:xfrm>
          <a:prstGeom prst="line">
            <a:avLst/>
          </a:prstGeom>
          <a:noFill/>
          <a:ln w="7620">
            <a:solidFill>
              <a:srgbClr val="D9E2EC"/>
            </a:solidFill>
            <a:prstDash val="solid"/>
          </a:ln>
        </p:spPr>
        <p:txBody>
          <a:bodyPr/>
          <a:lstStyle/>
          <a:p>
            <a:endParaRPr lang="ja-JP" altLang="en-US"/>
          </a:p>
        </p:txBody>
      </p:sp>
      <p:sp>
        <p:nvSpPr>
          <p:cNvPr id="6" name="Text 4">
            <a:extLst>
              <a:ext uri="{FF2B5EF4-FFF2-40B4-BE49-F238E27FC236}">
                <a16:creationId xmlns:a16="http://schemas.microsoft.com/office/drawing/2014/main" id="{29A2A210-0D39-FA43-697D-CFFCF74535F8}"/>
              </a:ext>
            </a:extLst>
          </p:cNvPr>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800" dirty="0">
                <a:solidFill>
                  <a:srgbClr val="829AB1"/>
                </a:solidFill>
              </a:rPr>
              <a:t>02</a:t>
            </a:r>
            <a:endParaRPr lang="en-US" sz="800" dirty="0"/>
          </a:p>
        </p:txBody>
      </p:sp>
      <p:pic>
        <p:nvPicPr>
          <p:cNvPr id="44" name="図 43">
            <a:extLst>
              <a:ext uri="{FF2B5EF4-FFF2-40B4-BE49-F238E27FC236}">
                <a16:creationId xmlns:a16="http://schemas.microsoft.com/office/drawing/2014/main" id="{B972B171-58C1-157B-794B-D2E14568F5DF}"/>
              </a:ext>
            </a:extLst>
          </p:cNvPr>
          <p:cNvPicPr>
            <a:picLocks noChangeAspect="1"/>
          </p:cNvPicPr>
          <p:nvPr/>
        </p:nvPicPr>
        <p:blipFill>
          <a:blip r:embed="rId3"/>
          <a:stretch>
            <a:fillRect/>
          </a:stretch>
        </p:blipFill>
        <p:spPr>
          <a:xfrm>
            <a:off x="1064581" y="1380744"/>
            <a:ext cx="9543261" cy="4790053"/>
          </a:xfrm>
          <a:prstGeom prst="rect">
            <a:avLst/>
          </a:prstGeom>
        </p:spPr>
      </p:pic>
    </p:spTree>
    <p:extLst>
      <p:ext uri="{BB962C8B-B14F-4D97-AF65-F5344CB8AC3E}">
        <p14:creationId xmlns:p14="http://schemas.microsoft.com/office/powerpoint/2010/main" val="3044907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02A43"/>
          </a:solidFill>
          <a:ln w="12700">
            <a:solidFill>
              <a:srgbClr val="333333">
                <a:alpha val="0"/>
              </a:srgbClr>
            </a:solidFill>
            <a:prstDash val="solid"/>
          </a:ln>
        </p:spPr>
        <p:txBody>
          <a:bodyPr/>
          <a:lstStyle/>
          <a:p>
            <a:endParaRPr lang="ja-JP" altLang="en-US"/>
          </a:p>
        </p:txBody>
      </p:sp>
      <p:sp>
        <p:nvSpPr>
          <p:cNvPr id="3" name="Text 1"/>
          <p:cNvSpPr/>
          <p:nvPr/>
        </p:nvSpPr>
        <p:spPr>
          <a:xfrm>
            <a:off x="502920" y="384048"/>
            <a:ext cx="8046720" cy="384048"/>
          </a:xfrm>
          <a:prstGeom prst="rect">
            <a:avLst/>
          </a:prstGeom>
          <a:noFill/>
          <a:ln/>
        </p:spPr>
        <p:txBody>
          <a:bodyPr wrap="square" lIns="0" tIns="0" rIns="0" bIns="0" rtlCol="0" anchor="ctr"/>
          <a:lstStyle/>
          <a:p>
            <a:pPr marL="0" indent="0">
              <a:buNone/>
            </a:pPr>
            <a:r>
              <a:rPr lang="en-US" sz="2500" b="1" dirty="0">
                <a:solidFill>
                  <a:srgbClr val="102A43"/>
                </a:solidFill>
                <a:latin typeface="Garamond" panose="02020404030301010803" pitchFamily="18" charset="0"/>
                <a:ea typeface="Aptos Display" pitchFamily="34" charset="-122"/>
                <a:cs typeface="Aptos Display" pitchFamily="34" charset="-120"/>
              </a:rPr>
              <a:t>Background / Motivation</a:t>
            </a:r>
            <a:endParaRPr lang="en-US" sz="2500" dirty="0">
              <a:latin typeface="Garamond" panose="02020404030301010803" pitchFamily="18" charset="0"/>
            </a:endParaRPr>
          </a:p>
        </p:txBody>
      </p:sp>
      <p:sp>
        <p:nvSpPr>
          <p:cNvPr id="4" name="Text 2"/>
          <p:cNvSpPr/>
          <p:nvPr/>
        </p:nvSpPr>
        <p:spPr>
          <a:xfrm>
            <a:off x="9372600" y="438912"/>
            <a:ext cx="2240280" cy="237744"/>
          </a:xfrm>
          <a:prstGeom prst="rect">
            <a:avLst/>
          </a:prstGeom>
          <a:noFill/>
          <a:ln/>
        </p:spPr>
        <p:txBody>
          <a:bodyPr wrap="square" lIns="0" tIns="0" rIns="0" bIns="0" rtlCol="0" anchor="ctr"/>
          <a:lstStyle/>
          <a:p>
            <a:pPr marL="0" indent="0" algn="r">
              <a:buNone/>
            </a:pPr>
            <a:r>
              <a:rPr lang="en-US" sz="850" dirty="0">
                <a:solidFill>
                  <a:srgbClr val="829AB1"/>
                </a:solidFill>
              </a:rPr>
              <a:t>Research prototype</a:t>
            </a:r>
            <a:endParaRPr lang="en-US" sz="850" dirty="0"/>
          </a:p>
        </p:txBody>
      </p:sp>
      <p:sp>
        <p:nvSpPr>
          <p:cNvPr id="5" name="Shape 3"/>
          <p:cNvSpPr/>
          <p:nvPr/>
        </p:nvSpPr>
        <p:spPr>
          <a:xfrm>
            <a:off x="502920" y="868680"/>
            <a:ext cx="11155680" cy="0"/>
          </a:xfrm>
          <a:prstGeom prst="line">
            <a:avLst/>
          </a:prstGeom>
          <a:noFill/>
          <a:ln w="7620">
            <a:solidFill>
              <a:srgbClr val="D9E2EC"/>
            </a:solidFill>
            <a:prstDash val="solid"/>
          </a:ln>
        </p:spPr>
        <p:txBody>
          <a:bodyPr/>
          <a:lstStyle/>
          <a:p>
            <a:endParaRPr lang="ja-JP" altLang="en-US"/>
          </a:p>
        </p:txBody>
      </p:sp>
      <p:sp>
        <p:nvSpPr>
          <p:cNvPr id="6" name="Text 4"/>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800" dirty="0">
                <a:solidFill>
                  <a:srgbClr val="829AB1"/>
                </a:solidFill>
              </a:rPr>
              <a:t>02</a:t>
            </a:r>
            <a:endParaRPr lang="en-US" sz="800" dirty="0"/>
          </a:p>
        </p:txBody>
      </p:sp>
      <p:sp>
        <p:nvSpPr>
          <p:cNvPr id="7" name="Text 5"/>
          <p:cNvSpPr/>
          <p:nvPr/>
        </p:nvSpPr>
        <p:spPr>
          <a:xfrm>
            <a:off x="502920" y="1092708"/>
            <a:ext cx="1508760" cy="256032"/>
          </a:xfrm>
          <a:prstGeom prst="rect">
            <a:avLst/>
          </a:prstGeom>
          <a:solidFill>
            <a:srgbClr val="EAF3FF"/>
          </a:solidFill>
          <a:ln/>
        </p:spPr>
        <p:txBody>
          <a:bodyPr wrap="square" lIns="762" tIns="762" rIns="762" bIns="762" rtlCol="0" anchor="ctr">
            <a:normAutofit/>
          </a:bodyPr>
          <a:lstStyle/>
          <a:p>
            <a:pPr marL="0" indent="0" algn="ctr">
              <a:buNone/>
            </a:pPr>
            <a:r>
              <a:rPr lang="en-US" sz="1200" b="1" dirty="0">
                <a:solidFill>
                  <a:srgbClr val="2F80ED"/>
                </a:solidFill>
              </a:rPr>
              <a:t>WHY THIS MATTERS</a:t>
            </a:r>
            <a:endParaRPr lang="en-US" sz="1200" dirty="0"/>
          </a:p>
        </p:txBody>
      </p:sp>
      <p:sp>
        <p:nvSpPr>
          <p:cNvPr id="9" name="Text 7"/>
          <p:cNvSpPr/>
          <p:nvPr/>
        </p:nvSpPr>
        <p:spPr>
          <a:xfrm>
            <a:off x="5806440" y="1417320"/>
            <a:ext cx="1828800" cy="822960"/>
          </a:xfrm>
          <a:prstGeom prst="rect">
            <a:avLst/>
          </a:prstGeom>
          <a:solidFill>
            <a:srgbClr val="EAF3FF"/>
          </a:solidFill>
          <a:ln w="12700">
            <a:solidFill>
              <a:srgbClr val="BFD7FF"/>
            </a:solidFill>
          </a:ln>
        </p:spPr>
        <p:txBody>
          <a:bodyPr wrap="square" lIns="1016" tIns="1016" rIns="1016" bIns="1016" rtlCol="0" anchor="ctr">
            <a:normAutofit/>
          </a:bodyPr>
          <a:lstStyle/>
          <a:p>
            <a:pPr marL="0" indent="0" algn="ctr">
              <a:buNone/>
            </a:pPr>
            <a:r>
              <a:rPr lang="en-US" sz="1200" b="1" dirty="0">
                <a:solidFill>
                  <a:srgbClr val="102A43"/>
                </a:solidFill>
              </a:rPr>
              <a:t>New facility</a:t>
            </a:r>
            <a:endParaRPr lang="en-US" sz="1200" dirty="0"/>
          </a:p>
          <a:p>
            <a:pPr marL="0" indent="0" algn="ctr">
              <a:buNone/>
            </a:pPr>
            <a:r>
              <a:rPr lang="en-US" sz="1200" b="1" dirty="0">
                <a:solidFill>
                  <a:srgbClr val="102A43"/>
                </a:solidFill>
              </a:rPr>
              <a:t>planning scenario</a:t>
            </a:r>
            <a:endParaRPr lang="en-US" sz="1200" dirty="0"/>
          </a:p>
        </p:txBody>
      </p:sp>
      <p:sp>
        <p:nvSpPr>
          <p:cNvPr id="10" name="Shape 8"/>
          <p:cNvSpPr/>
          <p:nvPr/>
        </p:nvSpPr>
        <p:spPr>
          <a:xfrm>
            <a:off x="7708392" y="1828800"/>
            <a:ext cx="594360" cy="0"/>
          </a:xfrm>
          <a:prstGeom prst="line">
            <a:avLst/>
          </a:prstGeom>
          <a:noFill/>
          <a:ln w="17780">
            <a:solidFill>
              <a:srgbClr val="829AB1"/>
            </a:solidFill>
            <a:prstDash val="solid"/>
            <a:tailEnd type="triangle"/>
          </a:ln>
        </p:spPr>
        <p:txBody>
          <a:bodyPr/>
          <a:lstStyle/>
          <a:p>
            <a:endParaRPr lang="ja-JP" altLang="en-US"/>
          </a:p>
        </p:txBody>
      </p:sp>
      <p:sp>
        <p:nvSpPr>
          <p:cNvPr id="11" name="Text 9"/>
          <p:cNvSpPr/>
          <p:nvPr/>
        </p:nvSpPr>
        <p:spPr>
          <a:xfrm>
            <a:off x="8394192" y="1417320"/>
            <a:ext cx="1828800" cy="822960"/>
          </a:xfrm>
          <a:prstGeom prst="rect">
            <a:avLst/>
          </a:prstGeom>
          <a:solidFill>
            <a:srgbClr val="FDEDEA"/>
          </a:solidFill>
          <a:ln w="12700">
            <a:solidFill>
              <a:srgbClr val="F5B7B1"/>
            </a:solidFill>
          </a:ln>
        </p:spPr>
        <p:txBody>
          <a:bodyPr wrap="square" lIns="1016" tIns="1016" rIns="1016" bIns="1016" rtlCol="0" anchor="ctr">
            <a:normAutofit/>
          </a:bodyPr>
          <a:lstStyle/>
          <a:p>
            <a:pPr marL="0" indent="0" algn="ctr">
              <a:buNone/>
            </a:pPr>
            <a:r>
              <a:rPr lang="en-US" sz="1200" b="1" dirty="0">
                <a:solidFill>
                  <a:srgbClr val="102A43"/>
                </a:solidFill>
              </a:rPr>
              <a:t>Expected</a:t>
            </a:r>
            <a:endParaRPr lang="en-US" sz="1200" dirty="0"/>
          </a:p>
          <a:p>
            <a:pPr marL="0" indent="0" algn="ctr">
              <a:buNone/>
            </a:pPr>
            <a:r>
              <a:rPr lang="en-US" sz="1200" b="1" dirty="0">
                <a:solidFill>
                  <a:srgbClr val="102A43"/>
                </a:solidFill>
              </a:rPr>
              <a:t>destination shift</a:t>
            </a:r>
            <a:endParaRPr lang="en-US" sz="1200" dirty="0"/>
          </a:p>
        </p:txBody>
      </p:sp>
      <p:sp>
        <p:nvSpPr>
          <p:cNvPr id="12" name="Shape 10"/>
          <p:cNvSpPr/>
          <p:nvPr/>
        </p:nvSpPr>
        <p:spPr>
          <a:xfrm>
            <a:off x="9308592" y="2331720"/>
            <a:ext cx="0" cy="594360"/>
          </a:xfrm>
          <a:prstGeom prst="line">
            <a:avLst/>
          </a:prstGeom>
          <a:noFill/>
          <a:ln w="17780">
            <a:solidFill>
              <a:srgbClr val="829AB1"/>
            </a:solidFill>
            <a:prstDash val="solid"/>
            <a:tailEnd type="triangle"/>
          </a:ln>
        </p:spPr>
        <p:txBody>
          <a:bodyPr/>
          <a:lstStyle/>
          <a:p>
            <a:endParaRPr lang="ja-JP" altLang="en-US"/>
          </a:p>
        </p:txBody>
      </p:sp>
      <p:sp>
        <p:nvSpPr>
          <p:cNvPr id="43" name="Text 41"/>
          <p:cNvSpPr/>
          <p:nvPr/>
        </p:nvSpPr>
        <p:spPr>
          <a:xfrm>
            <a:off x="5779089" y="5733288"/>
            <a:ext cx="4846320" cy="256032"/>
          </a:xfrm>
          <a:prstGeom prst="rect">
            <a:avLst/>
          </a:prstGeom>
          <a:noFill/>
          <a:ln/>
        </p:spPr>
        <p:txBody>
          <a:bodyPr wrap="square" lIns="0" tIns="0" rIns="0" bIns="0" rtlCol="0" anchor="ctr"/>
          <a:lstStyle/>
          <a:p>
            <a:pPr marL="0" indent="0" algn="ctr">
              <a:buNone/>
            </a:pPr>
            <a:r>
              <a:rPr lang="en-US" sz="1200" b="1" dirty="0">
                <a:solidFill>
                  <a:srgbClr val="102A43"/>
                </a:solidFill>
              </a:rPr>
              <a:t>Planning scenario → people-flow change → map comparison</a:t>
            </a:r>
            <a:endParaRPr lang="en-US" sz="1200" dirty="0"/>
          </a:p>
        </p:txBody>
      </p:sp>
      <p:pic>
        <p:nvPicPr>
          <p:cNvPr id="44" name="図 43">
            <a:extLst>
              <a:ext uri="{FF2B5EF4-FFF2-40B4-BE49-F238E27FC236}">
                <a16:creationId xmlns:a16="http://schemas.microsoft.com/office/drawing/2014/main" id="{A83B2BEF-73ED-6343-3639-FEEB6F4DCAFA}"/>
              </a:ext>
            </a:extLst>
          </p:cNvPr>
          <p:cNvPicPr>
            <a:picLocks noChangeAspect="1"/>
          </p:cNvPicPr>
          <p:nvPr/>
        </p:nvPicPr>
        <p:blipFill>
          <a:blip r:embed="rId3"/>
          <a:stretch>
            <a:fillRect/>
          </a:stretch>
        </p:blipFill>
        <p:spPr>
          <a:xfrm>
            <a:off x="6297971" y="3117736"/>
            <a:ext cx="3808556" cy="2377807"/>
          </a:xfrm>
          <a:prstGeom prst="rect">
            <a:avLst/>
          </a:prstGeom>
        </p:spPr>
      </p:pic>
      <p:sp>
        <p:nvSpPr>
          <p:cNvPr id="49" name="テキスト ボックス 48">
            <a:extLst>
              <a:ext uri="{FF2B5EF4-FFF2-40B4-BE49-F238E27FC236}">
                <a16:creationId xmlns:a16="http://schemas.microsoft.com/office/drawing/2014/main" id="{A4137C79-3A5B-A03F-D2DA-E13A177A8A94}"/>
              </a:ext>
            </a:extLst>
          </p:cNvPr>
          <p:cNvSpPr txBox="1"/>
          <p:nvPr/>
        </p:nvSpPr>
        <p:spPr>
          <a:xfrm>
            <a:off x="594360" y="1695525"/>
            <a:ext cx="4214902" cy="3924151"/>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ja-JP" altLang="ja-JP">
                <a:latin typeface="Calibri" panose="020F0502020204030204" pitchFamily="34" charset="0"/>
                <a:cs typeface="Calibri" panose="020F0502020204030204" pitchFamily="34" charset="0"/>
              </a:rPr>
              <a:t>Estimating urban demand at the planning stage is a long-standing challenge in urban planning.</a:t>
            </a:r>
          </a:p>
          <a:p>
            <a:pPr marL="285750" indent="-285750">
              <a:spcBef>
                <a:spcPts val="600"/>
              </a:spcBef>
              <a:buFont typeface="Arial" panose="020B0604020202020204" pitchFamily="34" charset="0"/>
              <a:buChar char="•"/>
            </a:pPr>
            <a:r>
              <a:rPr lang="ja-JP" altLang="ja-JP">
                <a:latin typeface="Calibri" panose="020F0502020204030204" pitchFamily="34" charset="0"/>
                <a:cs typeface="Calibri" panose="020F0502020204030204" pitchFamily="34" charset="0"/>
              </a:rPr>
              <a:t>In practice, demand forecasting is often outsourced to professional consultants and requires specialized modeling.</a:t>
            </a:r>
          </a:p>
          <a:p>
            <a:pPr marL="285750" indent="-285750">
              <a:spcBef>
                <a:spcPts val="600"/>
              </a:spcBef>
              <a:buFont typeface="Arial" panose="020B0604020202020204" pitchFamily="34" charset="0"/>
              <a:buChar char="•"/>
            </a:pPr>
            <a:r>
              <a:rPr lang="ja-JP" altLang="ja-JP">
                <a:latin typeface="Calibri" panose="020F0502020204030204" pitchFamily="34" charset="0"/>
                <a:cs typeface="Calibri" panose="020F0502020204030204" pitchFamily="34" charset="0"/>
              </a:rPr>
              <a:t>However, small changes in urban infrastructure or facility location can produce large and sometimes unexpected changes in people flow.</a:t>
            </a:r>
          </a:p>
          <a:p>
            <a:pPr marL="285750" indent="-285750">
              <a:spcBef>
                <a:spcPts val="600"/>
              </a:spcBef>
              <a:buFont typeface="Arial" panose="020B0604020202020204" pitchFamily="34" charset="0"/>
              <a:buChar char="•"/>
            </a:pPr>
            <a:r>
              <a:rPr lang="ja-JP" altLang="ja-JP">
                <a:latin typeface="Calibri" panose="020F0502020204030204" pitchFamily="34" charset="0"/>
                <a:cs typeface="Calibri" panose="020F0502020204030204" pitchFamily="34" charset="0"/>
              </a:rPr>
              <a:t>Therefore, planners need a lightweight tool to explore possible people-flow changes before implementing a 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02A43"/>
          </a:solidFill>
          <a:ln w="12700">
            <a:solidFill>
              <a:srgbClr val="333333">
                <a:alpha val="0"/>
              </a:srgbClr>
            </a:solidFill>
            <a:prstDash val="solid"/>
          </a:ln>
        </p:spPr>
        <p:txBody>
          <a:bodyPr/>
          <a:lstStyle/>
          <a:p>
            <a:endParaRPr lang="ja-JP" altLang="en-US"/>
          </a:p>
        </p:txBody>
      </p:sp>
      <p:sp>
        <p:nvSpPr>
          <p:cNvPr id="3" name="Text 1"/>
          <p:cNvSpPr/>
          <p:nvPr/>
        </p:nvSpPr>
        <p:spPr>
          <a:xfrm>
            <a:off x="502920" y="384048"/>
            <a:ext cx="8046720" cy="384048"/>
          </a:xfrm>
          <a:prstGeom prst="rect">
            <a:avLst/>
          </a:prstGeom>
          <a:noFill/>
          <a:ln/>
        </p:spPr>
        <p:txBody>
          <a:bodyPr wrap="square" lIns="0" tIns="0" rIns="0" bIns="0" rtlCol="0" anchor="ctr"/>
          <a:lstStyle/>
          <a:p>
            <a:pPr marL="0" indent="0">
              <a:buNone/>
            </a:pPr>
            <a:r>
              <a:rPr lang="en-US" sz="2500" b="1" dirty="0">
                <a:solidFill>
                  <a:srgbClr val="102A43"/>
                </a:solidFill>
                <a:latin typeface="Garamond" panose="02020404030301010803" pitchFamily="18" charset="0"/>
                <a:ea typeface="Aptos Display" pitchFamily="34" charset="-122"/>
                <a:cs typeface="Aptos Display" pitchFamily="34" charset="-120"/>
              </a:rPr>
              <a:t>Problem Statement</a:t>
            </a:r>
            <a:endParaRPr lang="en-US" sz="2500" dirty="0">
              <a:latin typeface="Garamond" panose="02020404030301010803" pitchFamily="18" charset="0"/>
            </a:endParaRPr>
          </a:p>
        </p:txBody>
      </p:sp>
      <p:sp>
        <p:nvSpPr>
          <p:cNvPr id="4" name="Text 2"/>
          <p:cNvSpPr/>
          <p:nvPr/>
        </p:nvSpPr>
        <p:spPr>
          <a:xfrm>
            <a:off x="9372600" y="438912"/>
            <a:ext cx="2240280" cy="237744"/>
          </a:xfrm>
          <a:prstGeom prst="rect">
            <a:avLst/>
          </a:prstGeom>
          <a:noFill/>
          <a:ln/>
        </p:spPr>
        <p:txBody>
          <a:bodyPr wrap="square" lIns="0" tIns="0" rIns="0" bIns="0" rtlCol="0" anchor="ctr"/>
          <a:lstStyle/>
          <a:p>
            <a:pPr marL="0" indent="0" algn="r">
              <a:buNone/>
            </a:pPr>
            <a:r>
              <a:rPr lang="en-US" sz="850" dirty="0">
                <a:solidFill>
                  <a:srgbClr val="829AB1"/>
                </a:solidFill>
              </a:rPr>
              <a:t>Research prototype</a:t>
            </a:r>
            <a:endParaRPr lang="en-US" sz="850" dirty="0"/>
          </a:p>
        </p:txBody>
      </p:sp>
      <p:sp>
        <p:nvSpPr>
          <p:cNvPr id="5" name="Shape 3"/>
          <p:cNvSpPr/>
          <p:nvPr/>
        </p:nvSpPr>
        <p:spPr>
          <a:xfrm>
            <a:off x="502920" y="868680"/>
            <a:ext cx="11155680" cy="0"/>
          </a:xfrm>
          <a:prstGeom prst="line">
            <a:avLst/>
          </a:prstGeom>
          <a:noFill/>
          <a:ln w="7620">
            <a:solidFill>
              <a:srgbClr val="D9E2EC"/>
            </a:solidFill>
            <a:prstDash val="solid"/>
          </a:ln>
        </p:spPr>
        <p:txBody>
          <a:bodyPr/>
          <a:lstStyle/>
          <a:p>
            <a:endParaRPr lang="ja-JP" altLang="en-US"/>
          </a:p>
        </p:txBody>
      </p:sp>
      <p:sp>
        <p:nvSpPr>
          <p:cNvPr id="6" name="Text 4"/>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800" dirty="0">
                <a:solidFill>
                  <a:srgbClr val="829AB1"/>
                </a:solidFill>
              </a:rPr>
              <a:t>03</a:t>
            </a:r>
            <a:endParaRPr lang="en-US" sz="800" dirty="0"/>
          </a:p>
        </p:txBody>
      </p:sp>
      <p:sp>
        <p:nvSpPr>
          <p:cNvPr id="7" name="Text 5"/>
          <p:cNvSpPr/>
          <p:nvPr/>
        </p:nvSpPr>
        <p:spPr>
          <a:xfrm>
            <a:off x="4229100" y="265176"/>
            <a:ext cx="4160520" cy="1316736"/>
          </a:xfrm>
          <a:prstGeom prst="rect">
            <a:avLst/>
          </a:prstGeom>
          <a:noFill/>
          <a:ln/>
        </p:spPr>
        <p:txBody>
          <a:bodyPr wrap="square" lIns="254" tIns="254" rIns="254" bIns="254" rtlCol="0" anchor="t">
            <a:normAutofit/>
          </a:bodyPr>
          <a:lstStyle/>
          <a:p>
            <a:endParaRPr lang="en-US" sz="1600" dirty="0"/>
          </a:p>
        </p:txBody>
      </p:sp>
      <p:sp>
        <p:nvSpPr>
          <p:cNvPr id="8" name="Text 6"/>
          <p:cNvSpPr/>
          <p:nvPr/>
        </p:nvSpPr>
        <p:spPr>
          <a:xfrm>
            <a:off x="5257800" y="1508760"/>
            <a:ext cx="2103120" cy="914400"/>
          </a:xfrm>
          <a:prstGeom prst="rect">
            <a:avLst/>
          </a:prstGeom>
          <a:solidFill>
            <a:srgbClr val="EAF3FF"/>
          </a:solidFill>
          <a:ln w="12700">
            <a:solidFill>
              <a:srgbClr val="BFD7FF"/>
            </a:solidFill>
          </a:ln>
        </p:spPr>
        <p:txBody>
          <a:bodyPr wrap="square" lIns="1016" tIns="1016" rIns="1016" bIns="1016" rtlCol="0" anchor="ctr">
            <a:normAutofit/>
          </a:bodyPr>
          <a:lstStyle/>
          <a:p>
            <a:pPr marL="0" indent="0" algn="ctr">
              <a:buNone/>
            </a:pPr>
            <a:r>
              <a:rPr lang="en-US" sz="1400" b="1" dirty="0">
                <a:solidFill>
                  <a:srgbClr val="102A43"/>
                </a:solidFill>
              </a:rPr>
              <a:t>Planning language</a:t>
            </a:r>
            <a:endParaRPr lang="en-US" sz="1400" dirty="0"/>
          </a:p>
          <a:p>
            <a:pPr marL="0" indent="0" algn="ctr">
              <a:buNone/>
            </a:pPr>
            <a:r>
              <a:rPr lang="en-US" sz="1400" b="1" dirty="0">
                <a:solidFill>
                  <a:srgbClr val="102A43"/>
                </a:solidFill>
              </a:rPr>
              <a:t>“Build a large mall…”</a:t>
            </a:r>
            <a:endParaRPr lang="en-US" sz="1400" dirty="0"/>
          </a:p>
        </p:txBody>
      </p:sp>
      <p:sp>
        <p:nvSpPr>
          <p:cNvPr id="9" name="Text 7"/>
          <p:cNvSpPr/>
          <p:nvPr/>
        </p:nvSpPr>
        <p:spPr>
          <a:xfrm>
            <a:off x="9189720" y="1508760"/>
            <a:ext cx="2103120" cy="914400"/>
          </a:xfrm>
          <a:prstGeom prst="rect">
            <a:avLst/>
          </a:prstGeom>
          <a:solidFill>
            <a:srgbClr val="FDEDEA"/>
          </a:solidFill>
          <a:ln w="12700">
            <a:solidFill>
              <a:srgbClr val="F5B7B1"/>
            </a:solidFill>
          </a:ln>
        </p:spPr>
        <p:txBody>
          <a:bodyPr wrap="square" lIns="1016" tIns="1016" rIns="1016" bIns="1016" rtlCol="0" anchor="ctr">
            <a:normAutofit/>
          </a:bodyPr>
          <a:lstStyle/>
          <a:p>
            <a:pPr marL="0" indent="0" algn="ctr">
              <a:buNone/>
            </a:pPr>
            <a:r>
              <a:rPr lang="en-US" sz="1400" b="1" dirty="0">
                <a:solidFill>
                  <a:srgbClr val="102A43"/>
                </a:solidFill>
              </a:rPr>
              <a:t>Trip-data parameters</a:t>
            </a:r>
            <a:endParaRPr lang="en-US" sz="1400" dirty="0"/>
          </a:p>
          <a:p>
            <a:pPr marL="0" indent="0" algn="ctr">
              <a:buNone/>
            </a:pPr>
            <a:r>
              <a:rPr lang="en-US" sz="1400" b="1" dirty="0">
                <a:solidFill>
                  <a:srgbClr val="102A43"/>
                </a:solidFill>
              </a:rPr>
              <a:t>purpose / time / radius</a:t>
            </a:r>
            <a:endParaRPr lang="en-US" sz="1400" dirty="0"/>
          </a:p>
        </p:txBody>
      </p:sp>
      <p:sp>
        <p:nvSpPr>
          <p:cNvPr id="10" name="Text 8"/>
          <p:cNvSpPr/>
          <p:nvPr/>
        </p:nvSpPr>
        <p:spPr>
          <a:xfrm>
            <a:off x="7452360" y="1801368"/>
            <a:ext cx="1600200" cy="256032"/>
          </a:xfrm>
          <a:prstGeom prst="rect">
            <a:avLst/>
          </a:prstGeom>
          <a:noFill/>
          <a:ln/>
        </p:spPr>
        <p:txBody>
          <a:bodyPr wrap="square" lIns="0" tIns="0" rIns="0" bIns="0" rtlCol="0" anchor="ctr"/>
          <a:lstStyle/>
          <a:p>
            <a:pPr marL="0" indent="0" algn="ctr">
              <a:buNone/>
            </a:pPr>
            <a:r>
              <a:rPr lang="en-US" sz="1300" b="1" dirty="0">
                <a:solidFill>
                  <a:srgbClr val="829AB1"/>
                </a:solidFill>
              </a:rPr>
              <a:t>translation gap</a:t>
            </a:r>
            <a:endParaRPr lang="en-US" sz="1300" dirty="0"/>
          </a:p>
        </p:txBody>
      </p:sp>
      <p:sp>
        <p:nvSpPr>
          <p:cNvPr id="11" name="Shape 9"/>
          <p:cNvSpPr/>
          <p:nvPr/>
        </p:nvSpPr>
        <p:spPr>
          <a:xfrm>
            <a:off x="7360920" y="2057400"/>
            <a:ext cx="1737360" cy="0"/>
          </a:xfrm>
          <a:prstGeom prst="line">
            <a:avLst/>
          </a:prstGeom>
          <a:noFill/>
          <a:ln w="15240">
            <a:solidFill>
              <a:srgbClr val="829AB1"/>
            </a:solidFill>
            <a:prstDash val="solid"/>
            <a:tailEnd type="triangle"/>
          </a:ln>
        </p:spPr>
        <p:txBody>
          <a:bodyPr/>
          <a:lstStyle/>
          <a:p>
            <a:endParaRPr lang="ja-JP" altLang="en-US"/>
          </a:p>
        </p:txBody>
      </p:sp>
      <p:sp>
        <p:nvSpPr>
          <p:cNvPr id="12" name="Shape 10"/>
          <p:cNvSpPr/>
          <p:nvPr/>
        </p:nvSpPr>
        <p:spPr>
          <a:xfrm>
            <a:off x="5303520" y="3154679"/>
            <a:ext cx="5989320" cy="1939827"/>
          </a:xfrm>
          <a:prstGeom prst="roundRect">
            <a:avLst/>
          </a:prstGeom>
          <a:solidFill>
            <a:srgbClr val="FAFBFC"/>
          </a:solidFill>
          <a:ln w="12700">
            <a:solidFill>
              <a:srgbClr val="D9E2EC"/>
            </a:solidFill>
            <a:prstDash val="solid"/>
          </a:ln>
        </p:spPr>
        <p:txBody>
          <a:bodyPr/>
          <a:lstStyle/>
          <a:p>
            <a:endParaRPr lang="ja-JP" altLang="en-US"/>
          </a:p>
        </p:txBody>
      </p:sp>
      <p:sp>
        <p:nvSpPr>
          <p:cNvPr id="13" name="Text 11"/>
          <p:cNvSpPr/>
          <p:nvPr/>
        </p:nvSpPr>
        <p:spPr>
          <a:xfrm>
            <a:off x="5577840" y="3401568"/>
            <a:ext cx="1325880"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400" b="1" dirty="0">
                <a:solidFill>
                  <a:srgbClr val="102A43"/>
                </a:solidFill>
              </a:rPr>
              <a:t>Research target</a:t>
            </a:r>
            <a:endParaRPr lang="en-US" sz="1400" dirty="0"/>
          </a:p>
        </p:txBody>
      </p:sp>
      <p:sp>
        <p:nvSpPr>
          <p:cNvPr id="14" name="Text 12"/>
          <p:cNvSpPr/>
          <p:nvPr/>
        </p:nvSpPr>
        <p:spPr>
          <a:xfrm>
            <a:off x="5577840" y="3840480"/>
            <a:ext cx="5303520" cy="502920"/>
          </a:xfrm>
          <a:prstGeom prst="rect">
            <a:avLst/>
          </a:prstGeom>
          <a:noFill/>
          <a:ln/>
        </p:spPr>
        <p:txBody>
          <a:bodyPr wrap="square" lIns="0" tIns="0" rIns="0" bIns="0" rtlCol="0" anchor="ctr">
            <a:normAutofit lnSpcReduction="10000"/>
          </a:bodyPr>
          <a:lstStyle/>
          <a:p>
            <a:pPr marL="0" indent="0">
              <a:buNone/>
            </a:pPr>
            <a:r>
              <a:rPr lang="en-US" sz="1800" b="1" dirty="0">
                <a:solidFill>
                  <a:srgbClr val="102A43"/>
                </a:solidFill>
              </a:rPr>
              <a:t>A lightweight bridge from scenario text to editable, rule-based trip modification.</a:t>
            </a:r>
            <a:endParaRPr lang="en-US" sz="1800" dirty="0"/>
          </a:p>
        </p:txBody>
      </p:sp>
      <p:sp>
        <p:nvSpPr>
          <p:cNvPr id="15" name="Text 13"/>
          <p:cNvSpPr/>
          <p:nvPr/>
        </p:nvSpPr>
        <p:spPr>
          <a:xfrm>
            <a:off x="5577840" y="4425696"/>
            <a:ext cx="5349240" cy="256032"/>
          </a:xfrm>
          <a:prstGeom prst="rect">
            <a:avLst/>
          </a:prstGeom>
          <a:noFill/>
          <a:ln/>
        </p:spPr>
        <p:txBody>
          <a:bodyPr wrap="square" lIns="0" tIns="0" rIns="0" bIns="0" rtlCol="0" anchor="ctr"/>
          <a:lstStyle/>
          <a:p>
            <a:pPr marL="0" indent="0">
              <a:buNone/>
            </a:pPr>
            <a:r>
              <a:rPr lang="en-US" sz="1150" dirty="0">
                <a:solidFill>
                  <a:srgbClr val="243B53"/>
                </a:solidFill>
              </a:rPr>
              <a:t>The prototype prioritizes transparency and rapid comparison over behavioral completeness.</a:t>
            </a:r>
            <a:endParaRPr lang="en-US" sz="1150" dirty="0"/>
          </a:p>
        </p:txBody>
      </p:sp>
      <p:sp>
        <p:nvSpPr>
          <p:cNvPr id="17" name="テキスト ボックス 16">
            <a:extLst>
              <a:ext uri="{FF2B5EF4-FFF2-40B4-BE49-F238E27FC236}">
                <a16:creationId xmlns:a16="http://schemas.microsoft.com/office/drawing/2014/main" id="{1DF66242-2326-2287-A820-1C9E6F000880}"/>
              </a:ext>
            </a:extLst>
          </p:cNvPr>
          <p:cNvSpPr txBox="1"/>
          <p:nvPr/>
        </p:nvSpPr>
        <p:spPr>
          <a:xfrm>
            <a:off x="604227" y="1315823"/>
            <a:ext cx="4214902" cy="5663089"/>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ja-JP" altLang="ja-JP"/>
              <a:t>Urban planning scenarios are usually described in qualitative and natural language.</a:t>
            </a:r>
          </a:p>
          <a:p>
            <a:pPr marL="285750" indent="-285750">
              <a:spcBef>
                <a:spcPts val="600"/>
              </a:spcBef>
              <a:buFont typeface="Arial" panose="020B0604020202020204" pitchFamily="34" charset="0"/>
              <a:buChar char="•"/>
            </a:pPr>
            <a:r>
              <a:rPr lang="ja-JP" altLang="ja-JP"/>
              <a:t>Pseudo people-flow data, however, must be manipulated through explicit numerical rules.</a:t>
            </a:r>
          </a:p>
          <a:p>
            <a:pPr marL="285750" indent="-285750">
              <a:spcBef>
                <a:spcPts val="600"/>
              </a:spcBef>
              <a:buFont typeface="Arial" panose="020B0604020202020204" pitchFamily="34" charset="0"/>
              <a:buChar char="•"/>
            </a:pPr>
            <a:r>
              <a:rPr lang="ja-JP" altLang="ja-JP"/>
              <a:t>Defining these rules manually requires technical knowledge of data structure, geocoding, filtering conditions, and spatial operations.</a:t>
            </a:r>
          </a:p>
          <a:p>
            <a:pPr marL="285750" indent="-285750">
              <a:spcBef>
                <a:spcPts val="600"/>
              </a:spcBef>
              <a:buFont typeface="Arial" panose="020B0604020202020204" pitchFamily="34" charset="0"/>
              <a:buChar char="•"/>
            </a:pPr>
            <a:r>
              <a:rPr lang="ja-JP" altLang="ja-JP"/>
              <a:t>Full-scale transportation demand models are too complex for quick scenario exploration in the early planning stage.</a:t>
            </a:r>
          </a:p>
          <a:p>
            <a:pPr marL="285750" indent="-285750">
              <a:spcBef>
                <a:spcPts val="600"/>
              </a:spcBef>
              <a:buFont typeface="Arial" panose="020B0604020202020204" pitchFamily="34" charset="0"/>
              <a:buChar char="•"/>
            </a:pPr>
            <a:r>
              <a:rPr lang="ja-JP" altLang="ja-JP"/>
              <a:t>Therefore, a lightweight workflow is needed to translate planning scenarios into testable people-flow changes.</a:t>
            </a:r>
            <a:endParaRPr lang="en-US" altLang="ja-JP" dirty="0">
              <a:solidFill>
                <a:srgbClr val="243B53"/>
              </a:solidFill>
              <a:latin typeface="Aptos" pitchFamily="34" charset="0"/>
              <a:ea typeface="Aptos" pitchFamily="34" charset="-122"/>
              <a:cs typeface="Aptos" pitchFamily="34" charset="-120"/>
            </a:endParaRPr>
          </a:p>
          <a:p>
            <a:endParaRPr lang="en-US" altLang="ja-JP"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02A43"/>
          </a:solidFill>
          <a:ln w="12700">
            <a:solidFill>
              <a:srgbClr val="333333">
                <a:alpha val="0"/>
              </a:srgbClr>
            </a:solidFill>
            <a:prstDash val="solid"/>
          </a:ln>
        </p:spPr>
        <p:txBody>
          <a:bodyPr/>
          <a:lstStyle/>
          <a:p>
            <a:endParaRPr lang="ja-JP" altLang="en-US"/>
          </a:p>
        </p:txBody>
      </p:sp>
      <p:sp>
        <p:nvSpPr>
          <p:cNvPr id="3" name="Text 1"/>
          <p:cNvSpPr/>
          <p:nvPr/>
        </p:nvSpPr>
        <p:spPr>
          <a:xfrm>
            <a:off x="502920" y="384048"/>
            <a:ext cx="8046720" cy="384048"/>
          </a:xfrm>
          <a:prstGeom prst="rect">
            <a:avLst/>
          </a:prstGeom>
          <a:noFill/>
          <a:ln/>
        </p:spPr>
        <p:txBody>
          <a:bodyPr wrap="square" lIns="0" tIns="0" rIns="0" bIns="0" rtlCol="0" anchor="ctr"/>
          <a:lstStyle/>
          <a:p>
            <a:pPr marL="0" indent="0">
              <a:buNone/>
            </a:pPr>
            <a:r>
              <a:rPr lang="en-US" sz="2500" b="1" dirty="0">
                <a:solidFill>
                  <a:srgbClr val="102A43"/>
                </a:solidFill>
                <a:latin typeface="Garamond" panose="02020404030301010803" pitchFamily="18" charset="0"/>
                <a:ea typeface="Aptos Display" pitchFamily="34" charset="-122"/>
                <a:cs typeface="Aptos Display" pitchFamily="34" charset="-120"/>
              </a:rPr>
              <a:t>System Overview</a:t>
            </a:r>
            <a:endParaRPr lang="en-US" sz="2500" dirty="0">
              <a:latin typeface="Garamond" panose="02020404030301010803" pitchFamily="18" charset="0"/>
            </a:endParaRPr>
          </a:p>
        </p:txBody>
      </p:sp>
      <p:sp>
        <p:nvSpPr>
          <p:cNvPr id="4" name="Text 2"/>
          <p:cNvSpPr/>
          <p:nvPr/>
        </p:nvSpPr>
        <p:spPr>
          <a:xfrm>
            <a:off x="9372600" y="438912"/>
            <a:ext cx="2240280" cy="237744"/>
          </a:xfrm>
          <a:prstGeom prst="rect">
            <a:avLst/>
          </a:prstGeom>
          <a:noFill/>
          <a:ln/>
        </p:spPr>
        <p:txBody>
          <a:bodyPr wrap="square" lIns="0" tIns="0" rIns="0" bIns="0" rtlCol="0" anchor="ctr"/>
          <a:lstStyle/>
          <a:p>
            <a:pPr marL="0" indent="0" algn="r">
              <a:buNone/>
            </a:pPr>
            <a:r>
              <a:rPr lang="en-US" sz="850" dirty="0">
                <a:solidFill>
                  <a:srgbClr val="829AB1"/>
                </a:solidFill>
              </a:rPr>
              <a:t>Research prototype</a:t>
            </a:r>
            <a:endParaRPr lang="en-US" sz="850" dirty="0"/>
          </a:p>
        </p:txBody>
      </p:sp>
      <p:sp>
        <p:nvSpPr>
          <p:cNvPr id="5" name="Shape 3"/>
          <p:cNvSpPr/>
          <p:nvPr/>
        </p:nvSpPr>
        <p:spPr>
          <a:xfrm>
            <a:off x="502920" y="868680"/>
            <a:ext cx="11155680" cy="0"/>
          </a:xfrm>
          <a:prstGeom prst="line">
            <a:avLst/>
          </a:prstGeom>
          <a:noFill/>
          <a:ln w="7620">
            <a:solidFill>
              <a:srgbClr val="D9E2EC"/>
            </a:solidFill>
            <a:prstDash val="solid"/>
          </a:ln>
        </p:spPr>
        <p:txBody>
          <a:bodyPr/>
          <a:lstStyle/>
          <a:p>
            <a:endParaRPr lang="ja-JP" altLang="en-US"/>
          </a:p>
        </p:txBody>
      </p:sp>
      <p:sp>
        <p:nvSpPr>
          <p:cNvPr id="6" name="Text 4"/>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800" dirty="0">
                <a:solidFill>
                  <a:srgbClr val="829AB1"/>
                </a:solidFill>
              </a:rPr>
              <a:t>04</a:t>
            </a:r>
            <a:endParaRPr lang="en-US" sz="800" dirty="0"/>
          </a:p>
        </p:txBody>
      </p:sp>
      <p:sp>
        <p:nvSpPr>
          <p:cNvPr id="7" name="Text 5"/>
          <p:cNvSpPr/>
          <p:nvPr/>
        </p:nvSpPr>
        <p:spPr>
          <a:xfrm>
            <a:off x="713232" y="1417320"/>
            <a:ext cx="402336" cy="402336"/>
          </a:xfrm>
          <a:prstGeom prst="rect">
            <a:avLst/>
          </a:prstGeom>
          <a:solidFill>
            <a:srgbClr val="102A43"/>
          </a:solidFill>
          <a:ln w="12700">
            <a:solidFill>
              <a:srgbClr val="102A43"/>
            </a:solidFill>
          </a:ln>
        </p:spPr>
        <p:txBody>
          <a:bodyPr wrap="square" lIns="1016" tIns="1016" rIns="1016" bIns="1016" rtlCol="0" anchor="ctr">
            <a:normAutofit/>
          </a:bodyPr>
          <a:lstStyle/>
          <a:p>
            <a:pPr marL="0" indent="0" algn="ctr">
              <a:buNone/>
            </a:pPr>
            <a:r>
              <a:rPr lang="en-US" sz="1300" b="1" dirty="0">
                <a:solidFill>
                  <a:srgbClr val="102A43"/>
                </a:solidFill>
              </a:rPr>
              <a:t>1</a:t>
            </a:r>
            <a:endParaRPr lang="en-US" sz="1300" dirty="0"/>
          </a:p>
        </p:txBody>
      </p:sp>
      <p:sp>
        <p:nvSpPr>
          <p:cNvPr id="8" name="Text 6"/>
          <p:cNvSpPr/>
          <p:nvPr/>
        </p:nvSpPr>
        <p:spPr>
          <a:xfrm>
            <a:off x="1216152" y="1298448"/>
            <a:ext cx="1389888" cy="658368"/>
          </a:xfrm>
          <a:prstGeom prst="rect">
            <a:avLst/>
          </a:prstGeom>
          <a:noFill/>
          <a:ln/>
        </p:spPr>
        <p:txBody>
          <a:bodyPr wrap="square" lIns="381" tIns="381" rIns="381" bIns="381" rtlCol="0" anchor="ctr">
            <a:normAutofit/>
          </a:bodyPr>
          <a:lstStyle/>
          <a:p>
            <a:pPr marL="0" indent="0" algn="ctr">
              <a:buNone/>
            </a:pPr>
            <a:r>
              <a:rPr lang="en-US" sz="1600" b="1" dirty="0">
                <a:solidFill>
                  <a:srgbClr val="102A43"/>
                </a:solidFill>
              </a:rPr>
              <a:t>Scenario</a:t>
            </a:r>
            <a:endParaRPr lang="en-US" sz="1600" b="1" dirty="0"/>
          </a:p>
          <a:p>
            <a:pPr marL="0" indent="0" algn="ctr">
              <a:buNone/>
            </a:pPr>
            <a:r>
              <a:rPr lang="en-US" sz="1600" b="1" dirty="0">
                <a:solidFill>
                  <a:srgbClr val="102A43"/>
                </a:solidFill>
              </a:rPr>
              <a:t>input</a:t>
            </a:r>
            <a:endParaRPr lang="en-US" sz="1600" b="1" dirty="0"/>
          </a:p>
        </p:txBody>
      </p:sp>
      <p:sp>
        <p:nvSpPr>
          <p:cNvPr id="9" name="Shape 7"/>
          <p:cNvSpPr/>
          <p:nvPr/>
        </p:nvSpPr>
        <p:spPr>
          <a:xfrm>
            <a:off x="2606040" y="1609344"/>
            <a:ext cx="228600" cy="0"/>
          </a:xfrm>
          <a:prstGeom prst="line">
            <a:avLst/>
          </a:prstGeom>
          <a:noFill/>
          <a:ln w="15240">
            <a:solidFill>
              <a:srgbClr val="829AB1"/>
            </a:solidFill>
            <a:prstDash val="solid"/>
            <a:tailEnd type="triangle"/>
          </a:ln>
        </p:spPr>
        <p:txBody>
          <a:bodyPr/>
          <a:lstStyle/>
          <a:p>
            <a:endParaRPr lang="ja-JP" altLang="en-US"/>
          </a:p>
        </p:txBody>
      </p:sp>
      <p:sp>
        <p:nvSpPr>
          <p:cNvPr id="10" name="Text 8"/>
          <p:cNvSpPr/>
          <p:nvPr/>
        </p:nvSpPr>
        <p:spPr>
          <a:xfrm>
            <a:off x="2907792" y="1417320"/>
            <a:ext cx="402336" cy="402336"/>
          </a:xfrm>
          <a:prstGeom prst="rect">
            <a:avLst/>
          </a:prstGeom>
          <a:solidFill>
            <a:srgbClr val="102A43"/>
          </a:solidFill>
          <a:ln w="12700">
            <a:solidFill>
              <a:srgbClr val="102A43"/>
            </a:solidFill>
          </a:ln>
        </p:spPr>
        <p:txBody>
          <a:bodyPr wrap="square" lIns="1016" tIns="1016" rIns="1016" bIns="1016" rtlCol="0" anchor="ctr">
            <a:normAutofit/>
          </a:bodyPr>
          <a:lstStyle/>
          <a:p>
            <a:pPr marL="0" indent="0" algn="ctr">
              <a:buNone/>
            </a:pPr>
            <a:r>
              <a:rPr lang="en-US" sz="1300" b="1" dirty="0">
                <a:solidFill>
                  <a:srgbClr val="102A43"/>
                </a:solidFill>
              </a:rPr>
              <a:t>2</a:t>
            </a:r>
            <a:endParaRPr lang="en-US" sz="1300" dirty="0"/>
          </a:p>
        </p:txBody>
      </p:sp>
      <p:sp>
        <p:nvSpPr>
          <p:cNvPr id="11" name="Text 9"/>
          <p:cNvSpPr/>
          <p:nvPr/>
        </p:nvSpPr>
        <p:spPr>
          <a:xfrm>
            <a:off x="3410712" y="1298448"/>
            <a:ext cx="1389888" cy="658368"/>
          </a:xfrm>
          <a:prstGeom prst="rect">
            <a:avLst/>
          </a:prstGeom>
          <a:noFill/>
          <a:ln/>
        </p:spPr>
        <p:txBody>
          <a:bodyPr wrap="square" lIns="381" tIns="381" rIns="381" bIns="381" rtlCol="0" anchor="ctr">
            <a:normAutofit/>
          </a:bodyPr>
          <a:lstStyle/>
          <a:p>
            <a:pPr marL="0" indent="0" algn="ctr">
              <a:buNone/>
            </a:pPr>
            <a:r>
              <a:rPr lang="en-US" sz="1600" b="1" dirty="0">
                <a:solidFill>
                  <a:srgbClr val="102A43"/>
                </a:solidFill>
              </a:rPr>
              <a:t>LLM</a:t>
            </a:r>
            <a:endParaRPr lang="en-US" sz="1600" dirty="0"/>
          </a:p>
          <a:p>
            <a:pPr marL="0" indent="0" algn="ctr">
              <a:buNone/>
            </a:pPr>
            <a:r>
              <a:rPr lang="en-US" sz="1600" b="1" dirty="0">
                <a:solidFill>
                  <a:srgbClr val="102A43"/>
                </a:solidFill>
              </a:rPr>
              <a:t>inference</a:t>
            </a:r>
            <a:endParaRPr lang="en-US" sz="1600" dirty="0"/>
          </a:p>
        </p:txBody>
      </p:sp>
      <p:sp>
        <p:nvSpPr>
          <p:cNvPr id="12" name="Shape 10"/>
          <p:cNvSpPr/>
          <p:nvPr/>
        </p:nvSpPr>
        <p:spPr>
          <a:xfrm>
            <a:off x="4800600" y="1609344"/>
            <a:ext cx="228600" cy="0"/>
          </a:xfrm>
          <a:prstGeom prst="line">
            <a:avLst/>
          </a:prstGeom>
          <a:noFill/>
          <a:ln w="15240">
            <a:solidFill>
              <a:srgbClr val="829AB1"/>
            </a:solidFill>
            <a:prstDash val="solid"/>
            <a:tailEnd type="triangle"/>
          </a:ln>
        </p:spPr>
        <p:txBody>
          <a:bodyPr/>
          <a:lstStyle/>
          <a:p>
            <a:endParaRPr lang="ja-JP" altLang="en-US"/>
          </a:p>
        </p:txBody>
      </p:sp>
      <p:sp>
        <p:nvSpPr>
          <p:cNvPr id="13" name="Text 11"/>
          <p:cNvSpPr/>
          <p:nvPr/>
        </p:nvSpPr>
        <p:spPr>
          <a:xfrm>
            <a:off x="5102352" y="1417320"/>
            <a:ext cx="402336" cy="402336"/>
          </a:xfrm>
          <a:prstGeom prst="rect">
            <a:avLst/>
          </a:prstGeom>
          <a:solidFill>
            <a:srgbClr val="102A43"/>
          </a:solidFill>
          <a:ln w="12700">
            <a:solidFill>
              <a:srgbClr val="102A43"/>
            </a:solidFill>
          </a:ln>
        </p:spPr>
        <p:txBody>
          <a:bodyPr wrap="square" lIns="1016" tIns="1016" rIns="1016" bIns="1016" rtlCol="0" anchor="ctr">
            <a:normAutofit/>
          </a:bodyPr>
          <a:lstStyle/>
          <a:p>
            <a:pPr marL="0" indent="0" algn="ctr">
              <a:buNone/>
            </a:pPr>
            <a:r>
              <a:rPr lang="en-US" sz="1300" b="1" dirty="0">
                <a:solidFill>
                  <a:srgbClr val="102A43"/>
                </a:solidFill>
              </a:rPr>
              <a:t>3</a:t>
            </a:r>
            <a:endParaRPr lang="en-US" sz="1300" dirty="0"/>
          </a:p>
        </p:txBody>
      </p:sp>
      <p:sp>
        <p:nvSpPr>
          <p:cNvPr id="14" name="Text 12"/>
          <p:cNvSpPr/>
          <p:nvPr/>
        </p:nvSpPr>
        <p:spPr>
          <a:xfrm>
            <a:off x="5605272" y="1298448"/>
            <a:ext cx="1389888" cy="658368"/>
          </a:xfrm>
          <a:prstGeom prst="rect">
            <a:avLst/>
          </a:prstGeom>
          <a:noFill/>
          <a:ln/>
        </p:spPr>
        <p:txBody>
          <a:bodyPr wrap="square" lIns="381" tIns="381" rIns="381" bIns="381" rtlCol="0" anchor="ctr">
            <a:normAutofit/>
          </a:bodyPr>
          <a:lstStyle/>
          <a:p>
            <a:pPr marL="0" indent="0" algn="ctr">
              <a:buNone/>
            </a:pPr>
            <a:r>
              <a:rPr lang="en-US" sz="1600" b="1" dirty="0">
                <a:solidFill>
                  <a:srgbClr val="102A43"/>
                </a:solidFill>
              </a:rPr>
              <a:t>Manual</a:t>
            </a:r>
            <a:endParaRPr lang="en-US" sz="1600" dirty="0"/>
          </a:p>
          <a:p>
            <a:pPr marL="0" indent="0" algn="ctr">
              <a:buNone/>
            </a:pPr>
            <a:r>
              <a:rPr lang="en-US" sz="1600" b="1" dirty="0">
                <a:solidFill>
                  <a:srgbClr val="102A43"/>
                </a:solidFill>
              </a:rPr>
              <a:t>confirmation</a:t>
            </a:r>
            <a:endParaRPr lang="en-US" sz="1600" dirty="0"/>
          </a:p>
        </p:txBody>
      </p:sp>
      <p:sp>
        <p:nvSpPr>
          <p:cNvPr id="15" name="Shape 13"/>
          <p:cNvSpPr/>
          <p:nvPr/>
        </p:nvSpPr>
        <p:spPr>
          <a:xfrm>
            <a:off x="6995160" y="1609344"/>
            <a:ext cx="228600" cy="0"/>
          </a:xfrm>
          <a:prstGeom prst="line">
            <a:avLst/>
          </a:prstGeom>
          <a:noFill/>
          <a:ln w="15240">
            <a:solidFill>
              <a:srgbClr val="829AB1"/>
            </a:solidFill>
            <a:prstDash val="solid"/>
            <a:tailEnd type="triangle"/>
          </a:ln>
        </p:spPr>
        <p:txBody>
          <a:bodyPr/>
          <a:lstStyle/>
          <a:p>
            <a:endParaRPr lang="ja-JP" altLang="en-US"/>
          </a:p>
        </p:txBody>
      </p:sp>
      <p:sp>
        <p:nvSpPr>
          <p:cNvPr id="16" name="Text 14"/>
          <p:cNvSpPr/>
          <p:nvPr/>
        </p:nvSpPr>
        <p:spPr>
          <a:xfrm>
            <a:off x="7296912" y="1417320"/>
            <a:ext cx="402336" cy="402336"/>
          </a:xfrm>
          <a:prstGeom prst="rect">
            <a:avLst/>
          </a:prstGeom>
          <a:solidFill>
            <a:srgbClr val="102A43"/>
          </a:solidFill>
          <a:ln w="12700">
            <a:solidFill>
              <a:srgbClr val="102A43"/>
            </a:solidFill>
          </a:ln>
        </p:spPr>
        <p:txBody>
          <a:bodyPr wrap="square" lIns="1016" tIns="1016" rIns="1016" bIns="1016" rtlCol="0" anchor="ctr">
            <a:normAutofit/>
          </a:bodyPr>
          <a:lstStyle/>
          <a:p>
            <a:pPr marL="0" indent="0" algn="ctr">
              <a:buNone/>
            </a:pPr>
            <a:r>
              <a:rPr lang="en-US" sz="1300" b="1" dirty="0">
                <a:solidFill>
                  <a:srgbClr val="102A43"/>
                </a:solidFill>
              </a:rPr>
              <a:t>4</a:t>
            </a:r>
            <a:endParaRPr lang="en-US" sz="1300" dirty="0"/>
          </a:p>
        </p:txBody>
      </p:sp>
      <p:sp>
        <p:nvSpPr>
          <p:cNvPr id="17" name="Text 15"/>
          <p:cNvSpPr/>
          <p:nvPr/>
        </p:nvSpPr>
        <p:spPr>
          <a:xfrm>
            <a:off x="7799832" y="1298448"/>
            <a:ext cx="1389888" cy="658368"/>
          </a:xfrm>
          <a:prstGeom prst="rect">
            <a:avLst/>
          </a:prstGeom>
          <a:noFill/>
          <a:ln/>
        </p:spPr>
        <p:txBody>
          <a:bodyPr wrap="square" lIns="381" tIns="381" rIns="381" bIns="381" rtlCol="0" anchor="ctr">
            <a:normAutofit/>
          </a:bodyPr>
          <a:lstStyle/>
          <a:p>
            <a:pPr marL="0" indent="0" algn="ctr">
              <a:buNone/>
            </a:pPr>
            <a:r>
              <a:rPr lang="en-US" sz="1600" b="1" dirty="0">
                <a:solidFill>
                  <a:srgbClr val="102A43"/>
                </a:solidFill>
              </a:rPr>
              <a:t>Trip</a:t>
            </a:r>
            <a:endParaRPr lang="en-US" sz="1600" dirty="0"/>
          </a:p>
          <a:p>
            <a:pPr marL="0" indent="0" algn="ctr">
              <a:buNone/>
            </a:pPr>
            <a:r>
              <a:rPr lang="en-US" sz="1600" b="1" dirty="0">
                <a:solidFill>
                  <a:srgbClr val="102A43"/>
                </a:solidFill>
              </a:rPr>
              <a:t>modification</a:t>
            </a:r>
            <a:endParaRPr lang="en-US" sz="1600" dirty="0"/>
          </a:p>
        </p:txBody>
      </p:sp>
      <p:sp>
        <p:nvSpPr>
          <p:cNvPr id="18" name="Shape 16"/>
          <p:cNvSpPr/>
          <p:nvPr/>
        </p:nvSpPr>
        <p:spPr>
          <a:xfrm>
            <a:off x="9189720" y="1609344"/>
            <a:ext cx="228600" cy="0"/>
          </a:xfrm>
          <a:prstGeom prst="line">
            <a:avLst/>
          </a:prstGeom>
          <a:noFill/>
          <a:ln w="15240">
            <a:solidFill>
              <a:srgbClr val="829AB1"/>
            </a:solidFill>
            <a:prstDash val="solid"/>
            <a:tailEnd type="triangle"/>
          </a:ln>
        </p:spPr>
        <p:txBody>
          <a:bodyPr/>
          <a:lstStyle/>
          <a:p>
            <a:endParaRPr lang="ja-JP" altLang="en-US"/>
          </a:p>
        </p:txBody>
      </p:sp>
      <p:sp>
        <p:nvSpPr>
          <p:cNvPr id="19" name="Text 17"/>
          <p:cNvSpPr/>
          <p:nvPr/>
        </p:nvSpPr>
        <p:spPr>
          <a:xfrm>
            <a:off x="9491472" y="1417320"/>
            <a:ext cx="402336" cy="402336"/>
          </a:xfrm>
          <a:prstGeom prst="rect">
            <a:avLst/>
          </a:prstGeom>
          <a:solidFill>
            <a:srgbClr val="102A43"/>
          </a:solidFill>
          <a:ln w="12700">
            <a:solidFill>
              <a:srgbClr val="102A43"/>
            </a:solidFill>
          </a:ln>
        </p:spPr>
        <p:txBody>
          <a:bodyPr wrap="square" lIns="1016" tIns="1016" rIns="1016" bIns="1016" rtlCol="0" anchor="ctr">
            <a:normAutofit/>
          </a:bodyPr>
          <a:lstStyle/>
          <a:p>
            <a:pPr marL="0" indent="0" algn="ctr">
              <a:buNone/>
            </a:pPr>
            <a:r>
              <a:rPr lang="en-US" sz="1300" b="1" dirty="0">
                <a:solidFill>
                  <a:srgbClr val="102A43"/>
                </a:solidFill>
              </a:rPr>
              <a:t>5</a:t>
            </a:r>
            <a:endParaRPr lang="en-US" sz="1300" dirty="0"/>
          </a:p>
        </p:txBody>
      </p:sp>
      <p:sp>
        <p:nvSpPr>
          <p:cNvPr id="20" name="Text 18"/>
          <p:cNvSpPr/>
          <p:nvPr/>
        </p:nvSpPr>
        <p:spPr>
          <a:xfrm>
            <a:off x="9994392" y="1298448"/>
            <a:ext cx="1389888" cy="658368"/>
          </a:xfrm>
          <a:prstGeom prst="rect">
            <a:avLst/>
          </a:prstGeom>
          <a:noFill/>
          <a:ln/>
        </p:spPr>
        <p:txBody>
          <a:bodyPr wrap="square" lIns="381" tIns="381" rIns="381" bIns="381" rtlCol="0" anchor="ctr">
            <a:normAutofit/>
          </a:bodyPr>
          <a:lstStyle/>
          <a:p>
            <a:pPr marL="0" indent="0" algn="ctr">
              <a:buNone/>
            </a:pPr>
            <a:r>
              <a:rPr lang="en-US" sz="1600" b="1" dirty="0">
                <a:solidFill>
                  <a:srgbClr val="102A43"/>
                </a:solidFill>
              </a:rPr>
              <a:t>HTML map</a:t>
            </a:r>
            <a:endParaRPr lang="en-US" sz="1600" dirty="0"/>
          </a:p>
          <a:p>
            <a:pPr marL="0" indent="0" algn="ctr">
              <a:buNone/>
            </a:pPr>
            <a:r>
              <a:rPr lang="en-US" sz="1600" b="1" dirty="0">
                <a:solidFill>
                  <a:srgbClr val="102A43"/>
                </a:solidFill>
              </a:rPr>
              <a:t>report</a:t>
            </a:r>
            <a:endParaRPr lang="en-US" sz="1600" dirty="0"/>
          </a:p>
        </p:txBody>
      </p:sp>
      <p:sp>
        <p:nvSpPr>
          <p:cNvPr id="21" name="Text 19"/>
          <p:cNvSpPr/>
          <p:nvPr/>
        </p:nvSpPr>
        <p:spPr>
          <a:xfrm>
            <a:off x="713232" y="2606040"/>
            <a:ext cx="1463040" cy="256032"/>
          </a:xfrm>
          <a:prstGeom prst="rect">
            <a:avLst/>
          </a:prstGeom>
          <a:solidFill>
            <a:srgbClr val="EAF3FF"/>
          </a:solidFill>
          <a:ln/>
        </p:spPr>
        <p:txBody>
          <a:bodyPr wrap="square" lIns="762" tIns="762" rIns="762" bIns="762" rtlCol="0" anchor="ctr">
            <a:normAutofit/>
          </a:bodyPr>
          <a:lstStyle/>
          <a:p>
            <a:pPr marL="0" indent="0" algn="ctr">
              <a:buNone/>
            </a:pPr>
            <a:r>
              <a:rPr lang="en-US" sz="1000" b="1" dirty="0">
                <a:solidFill>
                  <a:srgbClr val="2F80ED"/>
                </a:solidFill>
              </a:rPr>
              <a:t>CORE COMPONENTS</a:t>
            </a:r>
            <a:endParaRPr lang="en-US" sz="1000" dirty="0"/>
          </a:p>
        </p:txBody>
      </p:sp>
      <p:sp>
        <p:nvSpPr>
          <p:cNvPr id="22" name="Text 20"/>
          <p:cNvSpPr/>
          <p:nvPr/>
        </p:nvSpPr>
        <p:spPr>
          <a:xfrm>
            <a:off x="713232" y="3063240"/>
            <a:ext cx="2331720" cy="868680"/>
          </a:xfrm>
          <a:prstGeom prst="rect">
            <a:avLst/>
          </a:prstGeom>
          <a:solidFill>
            <a:srgbClr val="F3F6FA"/>
          </a:solidFill>
          <a:ln w="12700">
            <a:solidFill>
              <a:srgbClr val="D9E2EC"/>
            </a:solidFill>
          </a:ln>
        </p:spPr>
        <p:txBody>
          <a:bodyPr wrap="square" lIns="1016" tIns="1016" rIns="1016" bIns="1016" rtlCol="0" anchor="ctr">
            <a:normAutofit/>
          </a:bodyPr>
          <a:lstStyle/>
          <a:p>
            <a:pPr marL="0" indent="0" algn="ctr">
              <a:buNone/>
            </a:pPr>
            <a:r>
              <a:rPr lang="en-US" sz="1600" b="1" dirty="0">
                <a:solidFill>
                  <a:srgbClr val="102A43"/>
                </a:solidFill>
              </a:rPr>
              <a:t>Web UI</a:t>
            </a:r>
            <a:endParaRPr lang="en-US" sz="1600" dirty="0"/>
          </a:p>
        </p:txBody>
      </p:sp>
      <p:sp>
        <p:nvSpPr>
          <p:cNvPr id="23" name="Text 21"/>
          <p:cNvSpPr/>
          <p:nvPr/>
        </p:nvSpPr>
        <p:spPr>
          <a:xfrm>
            <a:off x="3337560" y="3063240"/>
            <a:ext cx="2331720" cy="868680"/>
          </a:xfrm>
          <a:prstGeom prst="rect">
            <a:avLst/>
          </a:prstGeom>
          <a:solidFill>
            <a:srgbClr val="EAF3FF"/>
          </a:solidFill>
          <a:ln w="12700">
            <a:solidFill>
              <a:srgbClr val="BFD7FF"/>
            </a:solidFill>
          </a:ln>
        </p:spPr>
        <p:txBody>
          <a:bodyPr wrap="square" lIns="1016" tIns="1016" rIns="1016" bIns="1016" rtlCol="0" anchor="ctr">
            <a:normAutofit/>
          </a:bodyPr>
          <a:lstStyle/>
          <a:p>
            <a:pPr marL="0" indent="0" algn="ctr">
              <a:buNone/>
            </a:pPr>
            <a:r>
              <a:rPr lang="en-US" sz="1600" b="1" dirty="0">
                <a:solidFill>
                  <a:srgbClr val="102A43"/>
                </a:solidFill>
              </a:rPr>
              <a:t>LLM</a:t>
            </a:r>
            <a:endParaRPr lang="en-US" sz="1600" dirty="0"/>
          </a:p>
        </p:txBody>
      </p:sp>
      <p:sp>
        <p:nvSpPr>
          <p:cNvPr id="24" name="Text 22"/>
          <p:cNvSpPr/>
          <p:nvPr/>
        </p:nvSpPr>
        <p:spPr>
          <a:xfrm>
            <a:off x="5961888" y="3063240"/>
            <a:ext cx="2331720" cy="868680"/>
          </a:xfrm>
          <a:prstGeom prst="rect">
            <a:avLst/>
          </a:prstGeom>
          <a:solidFill>
            <a:srgbClr val="EAFBF3"/>
          </a:solidFill>
          <a:ln w="12700">
            <a:solidFill>
              <a:srgbClr val="B7E4D0"/>
            </a:solidFill>
          </a:ln>
        </p:spPr>
        <p:txBody>
          <a:bodyPr wrap="square" lIns="1016" tIns="1016" rIns="1016" bIns="1016" rtlCol="0" anchor="ctr">
            <a:normAutofit/>
          </a:bodyPr>
          <a:lstStyle/>
          <a:p>
            <a:pPr marL="0" indent="0" algn="ctr">
              <a:buNone/>
            </a:pPr>
            <a:r>
              <a:rPr lang="en-US" sz="1600" b="1" dirty="0">
                <a:solidFill>
                  <a:srgbClr val="102A43"/>
                </a:solidFill>
              </a:rPr>
              <a:t>OpenStreetMap</a:t>
            </a:r>
            <a:endParaRPr lang="en-US" sz="1600" dirty="0"/>
          </a:p>
          <a:p>
            <a:pPr marL="0" indent="0" algn="ctr">
              <a:buNone/>
            </a:pPr>
            <a:r>
              <a:rPr lang="en-US" sz="1600" b="1" dirty="0">
                <a:solidFill>
                  <a:srgbClr val="102A43"/>
                </a:solidFill>
              </a:rPr>
              <a:t>Nominatim geocoding</a:t>
            </a:r>
            <a:endParaRPr lang="en-US" sz="1600" dirty="0"/>
          </a:p>
        </p:txBody>
      </p:sp>
      <p:sp>
        <p:nvSpPr>
          <p:cNvPr id="25" name="Text 23"/>
          <p:cNvSpPr/>
          <p:nvPr/>
        </p:nvSpPr>
        <p:spPr>
          <a:xfrm>
            <a:off x="8586216" y="3063240"/>
            <a:ext cx="2331720" cy="868680"/>
          </a:xfrm>
          <a:prstGeom prst="rect">
            <a:avLst/>
          </a:prstGeom>
          <a:solidFill>
            <a:srgbClr val="FDEDEA"/>
          </a:solidFill>
          <a:ln w="12700">
            <a:solidFill>
              <a:srgbClr val="F5B7B1"/>
            </a:solidFill>
          </a:ln>
        </p:spPr>
        <p:txBody>
          <a:bodyPr wrap="square" lIns="1016" tIns="1016" rIns="1016" bIns="1016" rtlCol="0" anchor="ctr">
            <a:normAutofit/>
          </a:bodyPr>
          <a:lstStyle/>
          <a:p>
            <a:pPr marL="0" indent="0" algn="ctr">
              <a:buNone/>
            </a:pPr>
            <a:r>
              <a:rPr lang="en-US" sz="1600" b="1" dirty="0">
                <a:solidFill>
                  <a:srgbClr val="102A43"/>
                </a:solidFill>
              </a:rPr>
              <a:t>Leaflet + OSM tiles</a:t>
            </a:r>
            <a:endParaRPr lang="en-US" sz="1600" dirty="0"/>
          </a:p>
          <a:p>
            <a:pPr marL="0" indent="0" algn="ctr">
              <a:buNone/>
            </a:pPr>
            <a:r>
              <a:rPr lang="en-US" sz="1600" b="1" dirty="0">
                <a:solidFill>
                  <a:srgbClr val="102A43"/>
                </a:solidFill>
              </a:rPr>
              <a:t>Before/After map</a:t>
            </a:r>
            <a:endParaRPr lang="en-US" sz="1600" dirty="0"/>
          </a:p>
        </p:txBody>
      </p:sp>
      <p:sp>
        <p:nvSpPr>
          <p:cNvPr id="26" name="Text 24"/>
          <p:cNvSpPr/>
          <p:nvPr/>
        </p:nvSpPr>
        <p:spPr>
          <a:xfrm>
            <a:off x="914400" y="4800600"/>
            <a:ext cx="1828800" cy="228600"/>
          </a:xfrm>
          <a:prstGeom prst="rect">
            <a:avLst/>
          </a:prstGeom>
          <a:noFill/>
          <a:ln/>
        </p:spPr>
        <p:txBody>
          <a:bodyPr wrap="square" lIns="0" tIns="0" rIns="0" bIns="0" rtlCol="0" anchor="ctr"/>
          <a:lstStyle/>
          <a:p>
            <a:pPr marL="0" indent="0">
              <a:buNone/>
            </a:pPr>
            <a:r>
              <a:rPr lang="en-US" sz="1200" b="1" dirty="0">
                <a:solidFill>
                  <a:srgbClr val="102A43"/>
                </a:solidFill>
              </a:rPr>
              <a:t>Generated outputs</a:t>
            </a:r>
            <a:endParaRPr lang="en-US" sz="1200" dirty="0"/>
          </a:p>
        </p:txBody>
      </p:sp>
      <p:sp>
        <p:nvSpPr>
          <p:cNvPr id="27" name="Text 25"/>
          <p:cNvSpPr/>
          <p:nvPr/>
        </p:nvSpPr>
        <p:spPr>
          <a:xfrm>
            <a:off x="2743200" y="4590288"/>
            <a:ext cx="2148840"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before-change CSV</a:t>
            </a:r>
            <a:endParaRPr lang="en-US" sz="1000" dirty="0"/>
          </a:p>
        </p:txBody>
      </p:sp>
      <p:sp>
        <p:nvSpPr>
          <p:cNvPr id="28" name="Text 26"/>
          <p:cNvSpPr/>
          <p:nvPr/>
        </p:nvSpPr>
        <p:spPr>
          <a:xfrm>
            <a:off x="5440680" y="4590288"/>
            <a:ext cx="2148840"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after-change CSV</a:t>
            </a:r>
            <a:endParaRPr lang="en-US" sz="1000" dirty="0"/>
          </a:p>
        </p:txBody>
      </p:sp>
      <p:sp>
        <p:nvSpPr>
          <p:cNvPr id="29" name="Text 27"/>
          <p:cNvSpPr/>
          <p:nvPr/>
        </p:nvSpPr>
        <p:spPr>
          <a:xfrm>
            <a:off x="8138160" y="4590288"/>
            <a:ext cx="2148840"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changed-trip CSV</a:t>
            </a:r>
            <a:endParaRPr lang="en-US" sz="1000" dirty="0"/>
          </a:p>
        </p:txBody>
      </p:sp>
      <p:sp>
        <p:nvSpPr>
          <p:cNvPr id="30" name="Text 28"/>
          <p:cNvSpPr/>
          <p:nvPr/>
        </p:nvSpPr>
        <p:spPr>
          <a:xfrm>
            <a:off x="2743200" y="5029200"/>
            <a:ext cx="2148840"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rule JSON</a:t>
            </a:r>
            <a:endParaRPr lang="en-US" sz="1000" dirty="0"/>
          </a:p>
        </p:txBody>
      </p:sp>
      <p:sp>
        <p:nvSpPr>
          <p:cNvPr id="31" name="Text 29"/>
          <p:cNvSpPr/>
          <p:nvPr/>
        </p:nvSpPr>
        <p:spPr>
          <a:xfrm>
            <a:off x="5440680" y="5029200"/>
            <a:ext cx="2148840"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summary JSON</a:t>
            </a:r>
            <a:endParaRPr lang="en-US" sz="1000" dirty="0"/>
          </a:p>
        </p:txBody>
      </p:sp>
      <p:sp>
        <p:nvSpPr>
          <p:cNvPr id="32" name="Text 30"/>
          <p:cNvSpPr/>
          <p:nvPr/>
        </p:nvSpPr>
        <p:spPr>
          <a:xfrm>
            <a:off x="8138160" y="5029200"/>
            <a:ext cx="2148840" cy="310896"/>
          </a:xfrm>
          <a:prstGeom prst="rect">
            <a:avLst/>
          </a:prstGeom>
          <a:solidFill>
            <a:srgbClr val="FDEDE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comparison HTML report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02A43"/>
          </a:solidFill>
          <a:ln w="12700">
            <a:solidFill>
              <a:srgbClr val="333333">
                <a:alpha val="0"/>
              </a:srgbClr>
            </a:solidFill>
            <a:prstDash val="solid"/>
          </a:ln>
        </p:spPr>
        <p:txBody>
          <a:bodyPr/>
          <a:lstStyle/>
          <a:p>
            <a:endParaRPr lang="ja-JP" altLang="en-US"/>
          </a:p>
        </p:txBody>
      </p:sp>
      <p:sp>
        <p:nvSpPr>
          <p:cNvPr id="3" name="Text 1"/>
          <p:cNvSpPr/>
          <p:nvPr/>
        </p:nvSpPr>
        <p:spPr>
          <a:xfrm>
            <a:off x="502920" y="384048"/>
            <a:ext cx="8046720" cy="384048"/>
          </a:xfrm>
          <a:prstGeom prst="rect">
            <a:avLst/>
          </a:prstGeom>
          <a:noFill/>
          <a:ln/>
        </p:spPr>
        <p:txBody>
          <a:bodyPr wrap="square" lIns="0" tIns="0" rIns="0" bIns="0" rtlCol="0" anchor="ctr"/>
          <a:lstStyle/>
          <a:p>
            <a:pPr marL="0" indent="0">
              <a:buNone/>
            </a:pPr>
            <a:r>
              <a:rPr lang="en-US" sz="2500" b="1" dirty="0">
                <a:solidFill>
                  <a:srgbClr val="102A43"/>
                </a:solidFill>
                <a:latin typeface="Garamond" panose="02020404030301010803" pitchFamily="18" charset="0"/>
                <a:ea typeface="Aptos Display" pitchFamily="34" charset="-122"/>
                <a:cs typeface="Aptos Display" pitchFamily="34" charset="-120"/>
              </a:rPr>
              <a:t>Input Data and Scenario Rules</a:t>
            </a:r>
            <a:endParaRPr lang="en-US" sz="2500" dirty="0">
              <a:latin typeface="Garamond" panose="02020404030301010803" pitchFamily="18" charset="0"/>
            </a:endParaRPr>
          </a:p>
        </p:txBody>
      </p:sp>
      <p:sp>
        <p:nvSpPr>
          <p:cNvPr id="4" name="Text 2"/>
          <p:cNvSpPr/>
          <p:nvPr/>
        </p:nvSpPr>
        <p:spPr>
          <a:xfrm>
            <a:off x="9372600" y="438912"/>
            <a:ext cx="2240280" cy="237744"/>
          </a:xfrm>
          <a:prstGeom prst="rect">
            <a:avLst/>
          </a:prstGeom>
          <a:noFill/>
          <a:ln/>
        </p:spPr>
        <p:txBody>
          <a:bodyPr wrap="square" lIns="0" tIns="0" rIns="0" bIns="0" rtlCol="0" anchor="ctr"/>
          <a:lstStyle/>
          <a:p>
            <a:pPr marL="0" indent="0" algn="r">
              <a:buNone/>
            </a:pPr>
            <a:r>
              <a:rPr lang="en-US" sz="850" dirty="0">
                <a:solidFill>
                  <a:srgbClr val="829AB1"/>
                </a:solidFill>
              </a:rPr>
              <a:t>Research prototype</a:t>
            </a:r>
            <a:endParaRPr lang="en-US" sz="850" dirty="0"/>
          </a:p>
        </p:txBody>
      </p:sp>
      <p:sp>
        <p:nvSpPr>
          <p:cNvPr id="5" name="Shape 3"/>
          <p:cNvSpPr/>
          <p:nvPr/>
        </p:nvSpPr>
        <p:spPr>
          <a:xfrm>
            <a:off x="502920" y="868680"/>
            <a:ext cx="11155680" cy="0"/>
          </a:xfrm>
          <a:prstGeom prst="line">
            <a:avLst/>
          </a:prstGeom>
          <a:noFill/>
          <a:ln w="7620">
            <a:solidFill>
              <a:srgbClr val="D9E2EC"/>
            </a:solidFill>
            <a:prstDash val="solid"/>
          </a:ln>
        </p:spPr>
        <p:txBody>
          <a:bodyPr/>
          <a:lstStyle/>
          <a:p>
            <a:endParaRPr lang="ja-JP" altLang="en-US"/>
          </a:p>
        </p:txBody>
      </p:sp>
      <p:sp>
        <p:nvSpPr>
          <p:cNvPr id="6" name="Text 4"/>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800" dirty="0">
                <a:solidFill>
                  <a:srgbClr val="829AB1"/>
                </a:solidFill>
              </a:rPr>
              <a:t>05</a:t>
            </a:r>
            <a:endParaRPr lang="en-US" sz="800" dirty="0"/>
          </a:p>
        </p:txBody>
      </p:sp>
      <p:sp>
        <p:nvSpPr>
          <p:cNvPr id="7" name="Text 5"/>
          <p:cNvSpPr/>
          <p:nvPr/>
        </p:nvSpPr>
        <p:spPr>
          <a:xfrm>
            <a:off x="685800" y="1097280"/>
            <a:ext cx="1325880" cy="256032"/>
          </a:xfrm>
          <a:prstGeom prst="rect">
            <a:avLst/>
          </a:prstGeom>
          <a:solidFill>
            <a:srgbClr val="EAF3FF"/>
          </a:solidFill>
          <a:ln/>
        </p:spPr>
        <p:txBody>
          <a:bodyPr wrap="square" lIns="762" tIns="762" rIns="762" bIns="762" rtlCol="0" anchor="ctr">
            <a:normAutofit/>
          </a:bodyPr>
          <a:lstStyle/>
          <a:p>
            <a:pPr marL="0" indent="0" algn="ctr">
              <a:buNone/>
            </a:pPr>
            <a:r>
              <a:rPr lang="en-US" sz="900" b="1" dirty="0">
                <a:solidFill>
                  <a:srgbClr val="2F80ED"/>
                </a:solidFill>
              </a:rPr>
              <a:t>INPUT CSV FIELDS</a:t>
            </a:r>
            <a:endParaRPr lang="en-US" sz="900" dirty="0"/>
          </a:p>
        </p:txBody>
      </p:sp>
      <p:sp>
        <p:nvSpPr>
          <p:cNvPr id="8" name="Text 6"/>
          <p:cNvSpPr/>
          <p:nvPr/>
        </p:nvSpPr>
        <p:spPr>
          <a:xfrm>
            <a:off x="777240" y="1536192"/>
            <a:ext cx="1874520" cy="228600"/>
          </a:xfrm>
          <a:prstGeom prst="rect">
            <a:avLst/>
          </a:prstGeom>
          <a:noFill/>
          <a:ln/>
        </p:spPr>
        <p:txBody>
          <a:bodyPr wrap="square" lIns="0" tIns="0" rIns="0" bIns="0" rtlCol="0" anchor="ctr"/>
          <a:lstStyle/>
          <a:p>
            <a:pPr marL="0" indent="0">
              <a:buNone/>
            </a:pPr>
            <a:r>
              <a:rPr lang="en-US" sz="1050" b="1" dirty="0">
                <a:solidFill>
                  <a:srgbClr val="102A43"/>
                </a:solidFill>
              </a:rPr>
              <a:t>person_id</a:t>
            </a:r>
            <a:endParaRPr lang="en-US" sz="1050" dirty="0"/>
          </a:p>
        </p:txBody>
      </p:sp>
      <p:sp>
        <p:nvSpPr>
          <p:cNvPr id="9" name="Text 7"/>
          <p:cNvSpPr/>
          <p:nvPr/>
        </p:nvSpPr>
        <p:spPr>
          <a:xfrm>
            <a:off x="3063240" y="1536192"/>
            <a:ext cx="1005840" cy="228600"/>
          </a:xfrm>
          <a:prstGeom prst="rect">
            <a:avLst/>
          </a:prstGeom>
          <a:noFill/>
          <a:ln/>
        </p:spPr>
        <p:txBody>
          <a:bodyPr wrap="square" lIns="0" tIns="0" rIns="0" bIns="0" rtlCol="0" anchor="ctr"/>
          <a:lstStyle/>
          <a:p>
            <a:pPr marL="0" indent="0">
              <a:buNone/>
            </a:pPr>
            <a:r>
              <a:rPr lang="en-US" sz="1050" dirty="0">
                <a:solidFill>
                  <a:srgbClr val="243B53"/>
                </a:solidFill>
              </a:rPr>
              <a:t>trip identity</a:t>
            </a:r>
            <a:endParaRPr lang="en-US" sz="1050" dirty="0"/>
          </a:p>
        </p:txBody>
      </p:sp>
      <p:sp>
        <p:nvSpPr>
          <p:cNvPr id="10" name="Text 8"/>
          <p:cNvSpPr/>
          <p:nvPr/>
        </p:nvSpPr>
        <p:spPr>
          <a:xfrm>
            <a:off x="777240" y="1929384"/>
            <a:ext cx="1874520" cy="228600"/>
          </a:xfrm>
          <a:prstGeom prst="rect">
            <a:avLst/>
          </a:prstGeom>
          <a:noFill/>
          <a:ln/>
        </p:spPr>
        <p:txBody>
          <a:bodyPr wrap="square" lIns="0" tIns="0" rIns="0" bIns="0" rtlCol="0" anchor="ctr"/>
          <a:lstStyle/>
          <a:p>
            <a:pPr marL="0" indent="0">
              <a:buNone/>
            </a:pPr>
            <a:r>
              <a:rPr lang="en-US" sz="1050" b="1" dirty="0">
                <a:solidFill>
                  <a:srgbClr val="102A43"/>
                </a:solidFill>
              </a:rPr>
              <a:t>departure_time_sec</a:t>
            </a:r>
            <a:endParaRPr lang="en-US" sz="1050" dirty="0"/>
          </a:p>
        </p:txBody>
      </p:sp>
      <p:sp>
        <p:nvSpPr>
          <p:cNvPr id="11" name="Text 9"/>
          <p:cNvSpPr/>
          <p:nvPr/>
        </p:nvSpPr>
        <p:spPr>
          <a:xfrm>
            <a:off x="3063240" y="1929384"/>
            <a:ext cx="1005840" cy="228600"/>
          </a:xfrm>
          <a:prstGeom prst="rect">
            <a:avLst/>
          </a:prstGeom>
          <a:noFill/>
          <a:ln/>
        </p:spPr>
        <p:txBody>
          <a:bodyPr wrap="square" lIns="0" tIns="0" rIns="0" bIns="0" rtlCol="0" anchor="ctr"/>
          <a:lstStyle/>
          <a:p>
            <a:pPr marL="0" indent="0">
              <a:buNone/>
            </a:pPr>
            <a:r>
              <a:rPr lang="en-US" sz="1050" dirty="0">
                <a:solidFill>
                  <a:srgbClr val="243B53"/>
                </a:solidFill>
              </a:rPr>
              <a:t>departure time</a:t>
            </a:r>
            <a:endParaRPr lang="en-US" sz="1050" dirty="0"/>
          </a:p>
        </p:txBody>
      </p:sp>
      <p:sp>
        <p:nvSpPr>
          <p:cNvPr id="12" name="Text 10"/>
          <p:cNvSpPr/>
          <p:nvPr/>
        </p:nvSpPr>
        <p:spPr>
          <a:xfrm>
            <a:off x="777240" y="2322576"/>
            <a:ext cx="1874520" cy="228600"/>
          </a:xfrm>
          <a:prstGeom prst="rect">
            <a:avLst/>
          </a:prstGeom>
          <a:noFill/>
          <a:ln/>
        </p:spPr>
        <p:txBody>
          <a:bodyPr wrap="square" lIns="0" tIns="0" rIns="0" bIns="0" rtlCol="0" anchor="ctr"/>
          <a:lstStyle/>
          <a:p>
            <a:pPr marL="0" indent="0">
              <a:buNone/>
            </a:pPr>
            <a:r>
              <a:rPr lang="en-US" sz="1050" b="1" dirty="0">
                <a:solidFill>
                  <a:srgbClr val="102A43"/>
                </a:solidFill>
              </a:rPr>
              <a:t>origin_lon, origin_lat</a:t>
            </a:r>
            <a:endParaRPr lang="en-US" sz="1050" dirty="0"/>
          </a:p>
        </p:txBody>
      </p:sp>
      <p:sp>
        <p:nvSpPr>
          <p:cNvPr id="13" name="Text 11"/>
          <p:cNvSpPr/>
          <p:nvPr/>
        </p:nvSpPr>
        <p:spPr>
          <a:xfrm>
            <a:off x="3063240" y="2322576"/>
            <a:ext cx="1005840" cy="228600"/>
          </a:xfrm>
          <a:prstGeom prst="rect">
            <a:avLst/>
          </a:prstGeom>
          <a:noFill/>
          <a:ln/>
        </p:spPr>
        <p:txBody>
          <a:bodyPr wrap="square" lIns="0" tIns="0" rIns="0" bIns="0" rtlCol="0" anchor="ctr"/>
          <a:lstStyle/>
          <a:p>
            <a:pPr marL="0" indent="0">
              <a:buNone/>
            </a:pPr>
            <a:r>
              <a:rPr lang="en-US" sz="1050" dirty="0">
                <a:solidFill>
                  <a:srgbClr val="243B53"/>
                </a:solidFill>
              </a:rPr>
              <a:t>origin point</a:t>
            </a:r>
            <a:endParaRPr lang="en-US" sz="1050" dirty="0"/>
          </a:p>
        </p:txBody>
      </p:sp>
      <p:sp>
        <p:nvSpPr>
          <p:cNvPr id="14" name="Text 12"/>
          <p:cNvSpPr/>
          <p:nvPr/>
        </p:nvSpPr>
        <p:spPr>
          <a:xfrm>
            <a:off x="777240" y="2715768"/>
            <a:ext cx="1874520" cy="228600"/>
          </a:xfrm>
          <a:prstGeom prst="rect">
            <a:avLst/>
          </a:prstGeom>
          <a:noFill/>
          <a:ln/>
        </p:spPr>
        <p:txBody>
          <a:bodyPr wrap="square" lIns="0" tIns="0" rIns="0" bIns="0" rtlCol="0" anchor="ctr"/>
          <a:lstStyle/>
          <a:p>
            <a:pPr marL="0" indent="0">
              <a:buNone/>
            </a:pPr>
            <a:r>
              <a:rPr lang="en-US" sz="1050" b="1" dirty="0">
                <a:solidFill>
                  <a:srgbClr val="102A43"/>
                </a:solidFill>
              </a:rPr>
              <a:t>destination_lon, destination_lat</a:t>
            </a:r>
            <a:endParaRPr lang="en-US" sz="1050" dirty="0"/>
          </a:p>
        </p:txBody>
      </p:sp>
      <p:sp>
        <p:nvSpPr>
          <p:cNvPr id="15" name="Text 13"/>
          <p:cNvSpPr/>
          <p:nvPr/>
        </p:nvSpPr>
        <p:spPr>
          <a:xfrm>
            <a:off x="3063240" y="2715768"/>
            <a:ext cx="1005840" cy="228600"/>
          </a:xfrm>
          <a:prstGeom prst="rect">
            <a:avLst/>
          </a:prstGeom>
          <a:noFill/>
          <a:ln/>
        </p:spPr>
        <p:txBody>
          <a:bodyPr wrap="square" lIns="0" tIns="0" rIns="0" bIns="0" rtlCol="0" anchor="ctr"/>
          <a:lstStyle/>
          <a:p>
            <a:pPr marL="0" indent="0">
              <a:buNone/>
            </a:pPr>
            <a:r>
              <a:rPr lang="en-US" sz="1050" dirty="0">
                <a:solidFill>
                  <a:srgbClr val="243B53"/>
                </a:solidFill>
              </a:rPr>
              <a:t>destination point</a:t>
            </a:r>
            <a:endParaRPr lang="en-US" sz="1050" dirty="0"/>
          </a:p>
        </p:txBody>
      </p:sp>
      <p:sp>
        <p:nvSpPr>
          <p:cNvPr id="16" name="Text 14"/>
          <p:cNvSpPr/>
          <p:nvPr/>
        </p:nvSpPr>
        <p:spPr>
          <a:xfrm>
            <a:off x="777240" y="3108960"/>
            <a:ext cx="1874520" cy="228600"/>
          </a:xfrm>
          <a:prstGeom prst="rect">
            <a:avLst/>
          </a:prstGeom>
          <a:noFill/>
          <a:ln/>
        </p:spPr>
        <p:txBody>
          <a:bodyPr wrap="square" lIns="0" tIns="0" rIns="0" bIns="0" rtlCol="0" anchor="ctr"/>
          <a:lstStyle/>
          <a:p>
            <a:pPr marL="0" indent="0">
              <a:buNone/>
            </a:pPr>
            <a:r>
              <a:rPr lang="en-US" sz="1050" b="1" dirty="0">
                <a:solidFill>
                  <a:srgbClr val="102A43"/>
                </a:solidFill>
              </a:rPr>
              <a:t>transport_mode</a:t>
            </a:r>
            <a:endParaRPr lang="en-US" sz="1050" dirty="0"/>
          </a:p>
        </p:txBody>
      </p:sp>
      <p:sp>
        <p:nvSpPr>
          <p:cNvPr id="17" name="Text 15"/>
          <p:cNvSpPr/>
          <p:nvPr/>
        </p:nvSpPr>
        <p:spPr>
          <a:xfrm>
            <a:off x="3063240" y="3108960"/>
            <a:ext cx="1005840" cy="228600"/>
          </a:xfrm>
          <a:prstGeom prst="rect">
            <a:avLst/>
          </a:prstGeom>
          <a:noFill/>
          <a:ln/>
        </p:spPr>
        <p:txBody>
          <a:bodyPr wrap="square" lIns="0" tIns="0" rIns="0" bIns="0" rtlCol="0" anchor="ctr"/>
          <a:lstStyle/>
          <a:p>
            <a:pPr marL="0" indent="0">
              <a:buNone/>
            </a:pPr>
            <a:r>
              <a:rPr lang="en-US" sz="1050" dirty="0">
                <a:solidFill>
                  <a:srgbClr val="243B53"/>
                </a:solidFill>
              </a:rPr>
              <a:t>mode</a:t>
            </a:r>
            <a:endParaRPr lang="en-US" sz="1050" dirty="0"/>
          </a:p>
        </p:txBody>
      </p:sp>
      <p:sp>
        <p:nvSpPr>
          <p:cNvPr id="18" name="Text 16"/>
          <p:cNvSpPr/>
          <p:nvPr/>
        </p:nvSpPr>
        <p:spPr>
          <a:xfrm>
            <a:off x="777240" y="3502152"/>
            <a:ext cx="1874520" cy="228600"/>
          </a:xfrm>
          <a:prstGeom prst="rect">
            <a:avLst/>
          </a:prstGeom>
          <a:noFill/>
          <a:ln/>
        </p:spPr>
        <p:txBody>
          <a:bodyPr wrap="square" lIns="0" tIns="0" rIns="0" bIns="0" rtlCol="0" anchor="ctr"/>
          <a:lstStyle/>
          <a:p>
            <a:pPr marL="0" indent="0">
              <a:buNone/>
            </a:pPr>
            <a:r>
              <a:rPr lang="en-US" sz="1050" b="1" dirty="0">
                <a:solidFill>
                  <a:srgbClr val="102A43"/>
                </a:solidFill>
              </a:rPr>
              <a:t>trip_purpose</a:t>
            </a:r>
            <a:endParaRPr lang="en-US" sz="1050" dirty="0"/>
          </a:p>
        </p:txBody>
      </p:sp>
      <p:sp>
        <p:nvSpPr>
          <p:cNvPr id="19" name="Text 17"/>
          <p:cNvSpPr/>
          <p:nvPr/>
        </p:nvSpPr>
        <p:spPr>
          <a:xfrm>
            <a:off x="3063240" y="3502152"/>
            <a:ext cx="1005840" cy="228600"/>
          </a:xfrm>
          <a:prstGeom prst="rect">
            <a:avLst/>
          </a:prstGeom>
          <a:noFill/>
          <a:ln/>
        </p:spPr>
        <p:txBody>
          <a:bodyPr wrap="square" lIns="0" tIns="0" rIns="0" bIns="0" rtlCol="0" anchor="ctr"/>
          <a:lstStyle/>
          <a:p>
            <a:pPr marL="0" indent="0">
              <a:buNone/>
            </a:pPr>
            <a:r>
              <a:rPr lang="en-US" sz="1050" dirty="0">
                <a:solidFill>
                  <a:srgbClr val="243B53"/>
                </a:solidFill>
              </a:rPr>
              <a:t>purpose code</a:t>
            </a:r>
            <a:endParaRPr lang="en-US" sz="1050" dirty="0"/>
          </a:p>
        </p:txBody>
      </p:sp>
      <p:sp>
        <p:nvSpPr>
          <p:cNvPr id="20" name="Text 18"/>
          <p:cNvSpPr/>
          <p:nvPr/>
        </p:nvSpPr>
        <p:spPr>
          <a:xfrm>
            <a:off x="777240" y="3895344"/>
            <a:ext cx="1874520" cy="228600"/>
          </a:xfrm>
          <a:prstGeom prst="rect">
            <a:avLst/>
          </a:prstGeom>
          <a:noFill/>
          <a:ln/>
        </p:spPr>
        <p:txBody>
          <a:bodyPr wrap="square" lIns="0" tIns="0" rIns="0" bIns="0" rtlCol="0" anchor="ctr"/>
          <a:lstStyle/>
          <a:p>
            <a:pPr marL="0" indent="0">
              <a:buNone/>
            </a:pPr>
            <a:r>
              <a:rPr lang="en-US" sz="1050" b="1" dirty="0">
                <a:solidFill>
                  <a:srgbClr val="102A43"/>
                </a:solidFill>
              </a:rPr>
              <a:t>employment_status</a:t>
            </a:r>
            <a:endParaRPr lang="en-US" sz="1050" dirty="0"/>
          </a:p>
        </p:txBody>
      </p:sp>
      <p:sp>
        <p:nvSpPr>
          <p:cNvPr id="21" name="Text 19"/>
          <p:cNvSpPr/>
          <p:nvPr/>
        </p:nvSpPr>
        <p:spPr>
          <a:xfrm>
            <a:off x="3063240" y="3895344"/>
            <a:ext cx="1005840" cy="228600"/>
          </a:xfrm>
          <a:prstGeom prst="rect">
            <a:avLst/>
          </a:prstGeom>
          <a:noFill/>
          <a:ln/>
        </p:spPr>
        <p:txBody>
          <a:bodyPr wrap="square" lIns="0" tIns="0" rIns="0" bIns="0" rtlCol="0" anchor="ctr"/>
          <a:lstStyle/>
          <a:p>
            <a:pPr marL="0" indent="0">
              <a:buNone/>
            </a:pPr>
            <a:r>
              <a:rPr lang="en-US" sz="1050" dirty="0">
                <a:solidFill>
                  <a:srgbClr val="243B53"/>
                </a:solidFill>
              </a:rPr>
              <a:t>attribute</a:t>
            </a:r>
            <a:endParaRPr lang="en-US" sz="1050" dirty="0"/>
          </a:p>
        </p:txBody>
      </p:sp>
      <p:sp>
        <p:nvSpPr>
          <p:cNvPr id="22" name="Text 20"/>
          <p:cNvSpPr/>
          <p:nvPr/>
        </p:nvSpPr>
        <p:spPr>
          <a:xfrm>
            <a:off x="4526280" y="1097280"/>
            <a:ext cx="1280160" cy="256032"/>
          </a:xfrm>
          <a:prstGeom prst="rect">
            <a:avLst/>
          </a:prstGeom>
          <a:solidFill>
            <a:srgbClr val="FDEDEA"/>
          </a:solidFill>
          <a:ln/>
        </p:spPr>
        <p:txBody>
          <a:bodyPr wrap="square" lIns="762" tIns="762" rIns="762" bIns="762" rtlCol="0" anchor="ctr">
            <a:normAutofit/>
          </a:bodyPr>
          <a:lstStyle/>
          <a:p>
            <a:pPr marL="0" indent="0" algn="ctr">
              <a:buNone/>
            </a:pPr>
            <a:r>
              <a:rPr lang="en-US" sz="900" b="1" dirty="0">
                <a:solidFill>
                  <a:srgbClr val="E64B3C"/>
                </a:solidFill>
              </a:rPr>
              <a:t>PURPOSE CODES</a:t>
            </a:r>
            <a:endParaRPr lang="en-US" sz="900" dirty="0"/>
          </a:p>
        </p:txBody>
      </p:sp>
      <p:sp>
        <p:nvSpPr>
          <p:cNvPr id="23" name="Text 21"/>
          <p:cNvSpPr/>
          <p:nvPr/>
        </p:nvSpPr>
        <p:spPr>
          <a:xfrm>
            <a:off x="4617720" y="1536192"/>
            <a:ext cx="1261872"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1 Home</a:t>
            </a:r>
            <a:endParaRPr lang="en-US" sz="1000" dirty="0"/>
          </a:p>
        </p:txBody>
      </p:sp>
      <p:sp>
        <p:nvSpPr>
          <p:cNvPr id="24" name="Text 22"/>
          <p:cNvSpPr/>
          <p:nvPr/>
        </p:nvSpPr>
        <p:spPr>
          <a:xfrm>
            <a:off x="6126480" y="1536192"/>
            <a:ext cx="1261872"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2 Commute</a:t>
            </a:r>
            <a:endParaRPr lang="en-US" sz="1000" dirty="0"/>
          </a:p>
        </p:txBody>
      </p:sp>
      <p:sp>
        <p:nvSpPr>
          <p:cNvPr id="25" name="Text 23"/>
          <p:cNvSpPr/>
          <p:nvPr/>
        </p:nvSpPr>
        <p:spPr>
          <a:xfrm>
            <a:off x="4617720" y="1956816"/>
            <a:ext cx="1261872"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3 School</a:t>
            </a:r>
            <a:endParaRPr lang="en-US" sz="1000" dirty="0"/>
          </a:p>
        </p:txBody>
      </p:sp>
      <p:sp>
        <p:nvSpPr>
          <p:cNvPr id="26" name="Text 24"/>
          <p:cNvSpPr/>
          <p:nvPr/>
        </p:nvSpPr>
        <p:spPr>
          <a:xfrm>
            <a:off x="6126480" y="1956816"/>
            <a:ext cx="1261872" cy="310896"/>
          </a:xfrm>
          <a:prstGeom prst="rect">
            <a:avLst/>
          </a:prstGeom>
          <a:solidFill>
            <a:srgbClr val="FDEDE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100 Shopping</a:t>
            </a:r>
            <a:endParaRPr lang="en-US" sz="1000" dirty="0"/>
          </a:p>
        </p:txBody>
      </p:sp>
      <p:sp>
        <p:nvSpPr>
          <p:cNvPr id="27" name="Text 25"/>
          <p:cNvSpPr/>
          <p:nvPr/>
        </p:nvSpPr>
        <p:spPr>
          <a:xfrm>
            <a:off x="4617720" y="2377440"/>
            <a:ext cx="1261872" cy="310896"/>
          </a:xfrm>
          <a:prstGeom prst="rect">
            <a:avLst/>
          </a:prstGeom>
          <a:solidFill>
            <a:srgbClr val="FDEDE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200 Dining out</a:t>
            </a:r>
            <a:endParaRPr lang="en-US" sz="1000" dirty="0"/>
          </a:p>
        </p:txBody>
      </p:sp>
      <p:sp>
        <p:nvSpPr>
          <p:cNvPr id="28" name="Text 26"/>
          <p:cNvSpPr/>
          <p:nvPr/>
        </p:nvSpPr>
        <p:spPr>
          <a:xfrm>
            <a:off x="6126480" y="2377440"/>
            <a:ext cx="1261872"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300 Hospital</a:t>
            </a:r>
            <a:endParaRPr lang="en-US" sz="1000" dirty="0"/>
          </a:p>
        </p:txBody>
      </p:sp>
      <p:sp>
        <p:nvSpPr>
          <p:cNvPr id="29" name="Text 27"/>
          <p:cNvSpPr/>
          <p:nvPr/>
        </p:nvSpPr>
        <p:spPr>
          <a:xfrm>
            <a:off x="4617720" y="2798064"/>
            <a:ext cx="1261872"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400 Leisure</a:t>
            </a:r>
            <a:endParaRPr lang="en-US" sz="1000" dirty="0"/>
          </a:p>
        </p:txBody>
      </p:sp>
      <p:sp>
        <p:nvSpPr>
          <p:cNvPr id="30" name="Text 28"/>
          <p:cNvSpPr/>
          <p:nvPr/>
        </p:nvSpPr>
        <p:spPr>
          <a:xfrm>
            <a:off x="6126480" y="2798064"/>
            <a:ext cx="1261872"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500 Business</a:t>
            </a:r>
            <a:endParaRPr lang="en-US" sz="1000" dirty="0"/>
          </a:p>
        </p:txBody>
      </p:sp>
      <p:sp>
        <p:nvSpPr>
          <p:cNvPr id="31" name="Text 29"/>
          <p:cNvSpPr/>
          <p:nvPr/>
        </p:nvSpPr>
        <p:spPr>
          <a:xfrm>
            <a:off x="7726680" y="1097280"/>
            <a:ext cx="2011680" cy="256032"/>
          </a:xfrm>
          <a:prstGeom prst="rect">
            <a:avLst/>
          </a:prstGeom>
          <a:solidFill>
            <a:srgbClr val="EAF3FF"/>
          </a:solidFill>
          <a:ln/>
        </p:spPr>
        <p:txBody>
          <a:bodyPr wrap="square" lIns="762" tIns="762" rIns="762" bIns="762" rtlCol="0" anchor="ctr">
            <a:normAutofit/>
          </a:bodyPr>
          <a:lstStyle/>
          <a:p>
            <a:pPr marL="0" indent="0" algn="ctr">
              <a:buNone/>
            </a:pPr>
            <a:r>
              <a:rPr lang="en-US" sz="900" b="1" dirty="0">
                <a:solidFill>
                  <a:srgbClr val="2F80ED"/>
                </a:solidFill>
              </a:rPr>
              <a:t>INFERRED / EDITABLE RULES</a:t>
            </a:r>
            <a:endParaRPr lang="en-US" sz="900" dirty="0"/>
          </a:p>
        </p:txBody>
      </p:sp>
      <p:sp>
        <p:nvSpPr>
          <p:cNvPr id="32" name="Text 30"/>
          <p:cNvSpPr/>
          <p:nvPr/>
        </p:nvSpPr>
        <p:spPr>
          <a:xfrm>
            <a:off x="7818120" y="1499616"/>
            <a:ext cx="3291840" cy="2633472"/>
          </a:xfrm>
          <a:prstGeom prst="rect">
            <a:avLst/>
          </a:prstGeom>
          <a:noFill/>
          <a:ln/>
        </p:spPr>
        <p:txBody>
          <a:bodyPr wrap="square" lIns="254" tIns="254" rIns="254" bIns="254" rtlCol="0" anchor="t">
            <a:normAutofit/>
          </a:bodyPr>
          <a:lstStyle/>
          <a:p>
            <a:r>
              <a:rPr lang="en-US" sz="1320" dirty="0">
                <a:solidFill>
                  <a:srgbClr val="243B53"/>
                </a:solidFill>
                <a:latin typeface="Aptos" pitchFamily="34" charset="0"/>
                <a:ea typeface="Aptos" pitchFamily="34" charset="-122"/>
                <a:cs typeface="Aptos" pitchFamily="34" charset="-120"/>
              </a:rPr>
              <a:t>target location and coordinates</a:t>
            </a:r>
            <a:endParaRPr lang="en-US" sz="1320" dirty="0"/>
          </a:p>
          <a:p>
            <a:r>
              <a:rPr lang="en-US" sz="1320" dirty="0">
                <a:solidFill>
                  <a:srgbClr val="243B53"/>
                </a:solidFill>
                <a:latin typeface="Aptos" pitchFamily="34" charset="0"/>
                <a:ea typeface="Aptos" pitchFamily="34" charset="-122"/>
                <a:cs typeface="Aptos" pitchFamily="34" charset="-120"/>
              </a:rPr>
              <a:t>target purpose codes</a:t>
            </a:r>
            <a:endParaRPr lang="en-US" sz="1320" dirty="0"/>
          </a:p>
          <a:p>
            <a:r>
              <a:rPr lang="en-US" sz="1320" dirty="0">
                <a:solidFill>
                  <a:srgbClr val="243B53"/>
                </a:solidFill>
                <a:latin typeface="Aptos" pitchFamily="34" charset="0"/>
                <a:ea typeface="Aptos" pitchFamily="34" charset="-122"/>
                <a:cs typeface="Aptos" pitchFamily="34" charset="-120"/>
              </a:rPr>
              <a:t>time window</a:t>
            </a:r>
            <a:endParaRPr lang="en-US" sz="1320" dirty="0"/>
          </a:p>
          <a:p>
            <a:r>
              <a:rPr lang="en-US" sz="1320" dirty="0">
                <a:solidFill>
                  <a:srgbClr val="243B53"/>
                </a:solidFill>
                <a:latin typeface="Aptos" pitchFamily="34" charset="0"/>
                <a:ea typeface="Aptos" pitchFamily="34" charset="-122"/>
                <a:cs typeface="Aptos" pitchFamily="34" charset="-120"/>
              </a:rPr>
              <a:t>affected ratio</a:t>
            </a:r>
            <a:endParaRPr lang="en-US" sz="1320" dirty="0"/>
          </a:p>
          <a:p>
            <a:r>
              <a:rPr lang="en-US" sz="1320" dirty="0">
                <a:solidFill>
                  <a:srgbClr val="243B53"/>
                </a:solidFill>
                <a:latin typeface="Aptos" pitchFamily="34" charset="0"/>
                <a:ea typeface="Aptos" pitchFamily="34" charset="-122"/>
                <a:cs typeface="Aptos" pitchFamily="34" charset="-120"/>
              </a:rPr>
              <a:t>influence radius</a:t>
            </a:r>
            <a:endParaRPr lang="en-US" sz="1320" dirty="0"/>
          </a:p>
          <a:p>
            <a:r>
              <a:rPr lang="en-US" sz="1320" dirty="0">
                <a:solidFill>
                  <a:srgbClr val="243B53"/>
                </a:solidFill>
                <a:latin typeface="Aptos" pitchFamily="34" charset="0"/>
                <a:ea typeface="Aptos" pitchFamily="34" charset="-122"/>
                <a:cs typeface="Aptos" pitchFamily="34" charset="-120"/>
              </a:rPr>
              <a:t>movement strength</a:t>
            </a:r>
            <a:endParaRPr lang="en-US" sz="1320" dirty="0"/>
          </a:p>
        </p:txBody>
      </p:sp>
      <p:sp>
        <p:nvSpPr>
          <p:cNvPr id="33" name="Shape 31"/>
          <p:cNvSpPr/>
          <p:nvPr/>
        </p:nvSpPr>
        <p:spPr>
          <a:xfrm>
            <a:off x="2194560" y="4754880"/>
            <a:ext cx="7726680" cy="960120"/>
          </a:xfrm>
          <a:prstGeom prst="roundRect">
            <a:avLst/>
          </a:prstGeom>
          <a:solidFill>
            <a:srgbClr val="0B1220"/>
          </a:solidFill>
          <a:ln w="12700">
            <a:solidFill>
              <a:srgbClr val="333333">
                <a:alpha val="0"/>
              </a:srgbClr>
            </a:solidFill>
            <a:prstDash val="solid"/>
          </a:ln>
        </p:spPr>
        <p:txBody>
          <a:bodyPr/>
          <a:lstStyle/>
          <a:p>
            <a:endParaRPr lang="ja-JP" altLang="en-US"/>
          </a:p>
        </p:txBody>
      </p:sp>
      <p:sp>
        <p:nvSpPr>
          <p:cNvPr id="34" name="Text 32"/>
          <p:cNvSpPr/>
          <p:nvPr/>
        </p:nvSpPr>
        <p:spPr>
          <a:xfrm>
            <a:off x="2423160" y="5056632"/>
            <a:ext cx="7269480" cy="274320"/>
          </a:xfrm>
          <a:prstGeom prst="rect">
            <a:avLst/>
          </a:prstGeom>
          <a:noFill/>
          <a:ln/>
        </p:spPr>
        <p:txBody>
          <a:bodyPr wrap="square" lIns="0" tIns="0" rIns="0" bIns="0" rtlCol="0" anchor="ctr"/>
          <a:lstStyle/>
          <a:p>
            <a:pPr marL="0" indent="0">
              <a:buNone/>
            </a:pPr>
            <a:r>
              <a:rPr lang="en-US" sz="1150" dirty="0">
                <a:solidFill>
                  <a:srgbClr val="D1E7FF"/>
                </a:solidFill>
                <a:latin typeface="Aptos Mono" pitchFamily="34" charset="0"/>
                <a:ea typeface="Aptos Mono" pitchFamily="34" charset="-122"/>
                <a:cs typeface="Aptos Mono" pitchFamily="34" charset="-120"/>
              </a:rPr>
              <a:t>{ "place": "Chiba Station", "purposes": [100, 200], "time": "12:00–18:00", "radius_m": 1200 }</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02A43"/>
          </a:solidFill>
          <a:ln w="12700">
            <a:solidFill>
              <a:srgbClr val="333333">
                <a:alpha val="0"/>
              </a:srgbClr>
            </a:solidFill>
            <a:prstDash val="solid"/>
          </a:ln>
        </p:spPr>
        <p:txBody>
          <a:bodyPr/>
          <a:lstStyle/>
          <a:p>
            <a:endParaRPr lang="ja-JP" altLang="en-US"/>
          </a:p>
        </p:txBody>
      </p:sp>
      <p:sp>
        <p:nvSpPr>
          <p:cNvPr id="3" name="Text 1"/>
          <p:cNvSpPr/>
          <p:nvPr/>
        </p:nvSpPr>
        <p:spPr>
          <a:xfrm>
            <a:off x="502920" y="384048"/>
            <a:ext cx="8046720" cy="384048"/>
          </a:xfrm>
          <a:prstGeom prst="rect">
            <a:avLst/>
          </a:prstGeom>
          <a:noFill/>
          <a:ln/>
        </p:spPr>
        <p:txBody>
          <a:bodyPr wrap="square" lIns="0" tIns="0" rIns="0" bIns="0" rtlCol="0" anchor="ctr"/>
          <a:lstStyle/>
          <a:p>
            <a:pPr marL="0" indent="0">
              <a:buNone/>
            </a:pPr>
            <a:r>
              <a:rPr lang="en-US" sz="2500" b="1" dirty="0">
                <a:solidFill>
                  <a:srgbClr val="102A43"/>
                </a:solidFill>
                <a:latin typeface="Garamond" panose="02020404030301010803" pitchFamily="18" charset="0"/>
                <a:ea typeface="Aptos Display" pitchFamily="34" charset="-122"/>
                <a:cs typeface="Aptos Display" pitchFamily="34" charset="-120"/>
              </a:rPr>
              <a:t>Algorithm: Candidate Selection and Distance Decay</a:t>
            </a:r>
            <a:endParaRPr lang="en-US" sz="2500" dirty="0">
              <a:latin typeface="Garamond" panose="02020404030301010803" pitchFamily="18" charset="0"/>
            </a:endParaRPr>
          </a:p>
        </p:txBody>
      </p:sp>
      <p:sp>
        <p:nvSpPr>
          <p:cNvPr id="4" name="Text 2"/>
          <p:cNvSpPr/>
          <p:nvPr/>
        </p:nvSpPr>
        <p:spPr>
          <a:xfrm>
            <a:off x="9372600" y="438912"/>
            <a:ext cx="2240280" cy="237744"/>
          </a:xfrm>
          <a:prstGeom prst="rect">
            <a:avLst/>
          </a:prstGeom>
          <a:noFill/>
          <a:ln/>
        </p:spPr>
        <p:txBody>
          <a:bodyPr wrap="square" lIns="0" tIns="0" rIns="0" bIns="0" rtlCol="0" anchor="ctr"/>
          <a:lstStyle/>
          <a:p>
            <a:pPr marL="0" indent="0" algn="r">
              <a:buNone/>
            </a:pPr>
            <a:r>
              <a:rPr lang="en-US" sz="850" dirty="0">
                <a:solidFill>
                  <a:srgbClr val="829AB1"/>
                </a:solidFill>
              </a:rPr>
              <a:t>Research prototype</a:t>
            </a:r>
            <a:endParaRPr lang="en-US" sz="850" dirty="0"/>
          </a:p>
        </p:txBody>
      </p:sp>
      <p:sp>
        <p:nvSpPr>
          <p:cNvPr id="5" name="Shape 3"/>
          <p:cNvSpPr/>
          <p:nvPr/>
        </p:nvSpPr>
        <p:spPr>
          <a:xfrm>
            <a:off x="502920" y="868680"/>
            <a:ext cx="11155680" cy="0"/>
          </a:xfrm>
          <a:prstGeom prst="line">
            <a:avLst/>
          </a:prstGeom>
          <a:noFill/>
          <a:ln w="7620">
            <a:solidFill>
              <a:srgbClr val="D9E2EC"/>
            </a:solidFill>
            <a:prstDash val="solid"/>
          </a:ln>
        </p:spPr>
        <p:txBody>
          <a:bodyPr/>
          <a:lstStyle/>
          <a:p>
            <a:endParaRPr lang="ja-JP" altLang="en-US"/>
          </a:p>
        </p:txBody>
      </p:sp>
      <p:sp>
        <p:nvSpPr>
          <p:cNvPr id="6" name="Text 4"/>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800" dirty="0">
                <a:solidFill>
                  <a:srgbClr val="829AB1"/>
                </a:solidFill>
              </a:rPr>
              <a:t>06</a:t>
            </a:r>
            <a:endParaRPr lang="en-US" sz="800" dirty="0"/>
          </a:p>
        </p:txBody>
      </p:sp>
      <p:sp>
        <p:nvSpPr>
          <p:cNvPr id="7" name="Text 5"/>
          <p:cNvSpPr/>
          <p:nvPr/>
        </p:nvSpPr>
        <p:spPr>
          <a:xfrm>
            <a:off x="634235" y="1952244"/>
            <a:ext cx="4206240" cy="2551176"/>
          </a:xfrm>
          <a:prstGeom prst="rect">
            <a:avLst/>
          </a:prstGeom>
          <a:noFill/>
          <a:ln/>
        </p:spPr>
        <p:txBody>
          <a:bodyPr wrap="square" lIns="254" tIns="254" rIns="254" bIns="254" rtlCol="0" anchor="t">
            <a:noAutofit/>
          </a:bodyPr>
          <a:lstStyle/>
          <a:p>
            <a:pPr marL="285750" indent="-285750">
              <a:spcBef>
                <a:spcPts val="600"/>
              </a:spcBef>
              <a:buFont typeface="Arial" panose="020B0604020202020204" pitchFamily="34" charset="0"/>
              <a:buChar char="•"/>
            </a:pPr>
            <a:r>
              <a:rPr lang="en-US" dirty="0">
                <a:solidFill>
                  <a:srgbClr val="243B53"/>
                </a:solidFill>
                <a:latin typeface="Calibri" panose="020F0502020204030204" pitchFamily="34" charset="0"/>
                <a:ea typeface="Aptos" pitchFamily="34" charset="-122"/>
                <a:cs typeface="Calibri" panose="020F0502020204030204" pitchFamily="34" charset="0"/>
              </a:rPr>
              <a:t>Filter trips by purpose code and time window</a:t>
            </a:r>
            <a:endParaRPr lang="en-US" dirty="0">
              <a:latin typeface="Calibri" panose="020F0502020204030204" pitchFamily="34" charset="0"/>
              <a:cs typeface="Calibri" panose="020F0502020204030204" pitchFamily="34" charset="0"/>
            </a:endParaRPr>
          </a:p>
          <a:p>
            <a:pPr marL="285750" indent="-285750">
              <a:spcBef>
                <a:spcPts val="600"/>
              </a:spcBef>
              <a:buFont typeface="Arial" panose="020B0604020202020204" pitchFamily="34" charset="0"/>
              <a:buChar char="•"/>
            </a:pPr>
            <a:r>
              <a:rPr lang="en-US" dirty="0">
                <a:solidFill>
                  <a:srgbClr val="243B53"/>
                </a:solidFill>
                <a:latin typeface="Calibri" panose="020F0502020204030204" pitchFamily="34" charset="0"/>
                <a:ea typeface="Aptos" pitchFamily="34" charset="-122"/>
                <a:cs typeface="Calibri" panose="020F0502020204030204" pitchFamily="34" charset="0"/>
              </a:rPr>
              <a:t>Calculate distance from target to each OD segment</a:t>
            </a:r>
            <a:endParaRPr lang="en-US" dirty="0">
              <a:latin typeface="Calibri" panose="020F0502020204030204" pitchFamily="34" charset="0"/>
              <a:cs typeface="Calibri" panose="020F0502020204030204" pitchFamily="34" charset="0"/>
            </a:endParaRPr>
          </a:p>
          <a:p>
            <a:pPr marL="285750" indent="-285750">
              <a:spcBef>
                <a:spcPts val="600"/>
              </a:spcBef>
              <a:buFont typeface="Arial" panose="020B0604020202020204" pitchFamily="34" charset="0"/>
              <a:buChar char="•"/>
            </a:pPr>
            <a:r>
              <a:rPr lang="en-US" dirty="0">
                <a:solidFill>
                  <a:srgbClr val="243B53"/>
                </a:solidFill>
                <a:latin typeface="Calibri" panose="020F0502020204030204" pitchFamily="34" charset="0"/>
                <a:ea typeface="Aptos" pitchFamily="34" charset="-122"/>
                <a:cs typeface="Calibri" panose="020F0502020204030204" pitchFamily="34" charset="0"/>
              </a:rPr>
              <a:t>Keep trips passing within the influence radius</a:t>
            </a:r>
            <a:endParaRPr lang="en-US" dirty="0">
              <a:latin typeface="Calibri" panose="020F0502020204030204" pitchFamily="34" charset="0"/>
              <a:cs typeface="Calibri" panose="020F0502020204030204" pitchFamily="34" charset="0"/>
            </a:endParaRPr>
          </a:p>
          <a:p>
            <a:pPr marL="285750" indent="-285750">
              <a:spcBef>
                <a:spcPts val="600"/>
              </a:spcBef>
              <a:buFont typeface="Arial" panose="020B0604020202020204" pitchFamily="34" charset="0"/>
              <a:buChar char="•"/>
            </a:pPr>
            <a:r>
              <a:rPr lang="en-US" dirty="0">
                <a:solidFill>
                  <a:srgbClr val="243B53"/>
                </a:solidFill>
                <a:latin typeface="Calibri" panose="020F0502020204030204" pitchFamily="34" charset="0"/>
                <a:ea typeface="Aptos" pitchFamily="34" charset="-122"/>
                <a:cs typeface="Calibri" panose="020F0502020204030204" pitchFamily="34" charset="0"/>
              </a:rPr>
              <a:t>Select affected trips using distance-decay probability</a:t>
            </a:r>
            <a:endParaRPr lang="en-US" dirty="0">
              <a:latin typeface="Calibri" panose="020F0502020204030204" pitchFamily="34" charset="0"/>
              <a:cs typeface="Calibri" panose="020F0502020204030204" pitchFamily="34" charset="0"/>
            </a:endParaRPr>
          </a:p>
        </p:txBody>
      </p:sp>
      <p:sp>
        <p:nvSpPr>
          <p:cNvPr id="8" name="Text 6"/>
          <p:cNvSpPr/>
          <p:nvPr/>
        </p:nvSpPr>
        <p:spPr>
          <a:xfrm>
            <a:off x="5567423" y="1472184"/>
            <a:ext cx="1371600" cy="256032"/>
          </a:xfrm>
          <a:prstGeom prst="rect">
            <a:avLst/>
          </a:prstGeom>
          <a:solidFill>
            <a:srgbClr val="EAF3FF"/>
          </a:solidFill>
          <a:ln/>
        </p:spPr>
        <p:txBody>
          <a:bodyPr wrap="square" lIns="762" tIns="762" rIns="762" bIns="762" rtlCol="0" anchor="ctr">
            <a:normAutofit/>
          </a:bodyPr>
          <a:lstStyle/>
          <a:p>
            <a:pPr marL="0" indent="0">
              <a:buNone/>
            </a:pPr>
            <a:r>
              <a:rPr lang="en-US" sz="850" b="1" dirty="0">
                <a:solidFill>
                  <a:srgbClr val="2F80ED"/>
                </a:solidFill>
              </a:rPr>
              <a:t>OD SEGMENT FILTER</a:t>
            </a:r>
            <a:endParaRPr lang="en-US" sz="850" dirty="0"/>
          </a:p>
        </p:txBody>
      </p:sp>
      <p:sp>
        <p:nvSpPr>
          <p:cNvPr id="9" name="Shape 7"/>
          <p:cNvSpPr/>
          <p:nvPr/>
        </p:nvSpPr>
        <p:spPr>
          <a:xfrm>
            <a:off x="5521703" y="1856232"/>
            <a:ext cx="2880360" cy="2788920"/>
          </a:xfrm>
          <a:prstGeom prst="roundRect">
            <a:avLst/>
          </a:prstGeom>
          <a:solidFill>
            <a:srgbClr val="F8FAFC"/>
          </a:solidFill>
          <a:ln w="12700">
            <a:solidFill>
              <a:srgbClr val="D9E2EC"/>
            </a:solidFill>
            <a:prstDash val="solid"/>
          </a:ln>
        </p:spPr>
        <p:txBody>
          <a:bodyPr/>
          <a:lstStyle/>
          <a:p>
            <a:endParaRPr lang="ja-JP" altLang="en-US"/>
          </a:p>
        </p:txBody>
      </p:sp>
      <p:sp>
        <p:nvSpPr>
          <p:cNvPr id="10" name="Shape 8"/>
          <p:cNvSpPr/>
          <p:nvPr/>
        </p:nvSpPr>
        <p:spPr>
          <a:xfrm>
            <a:off x="5969759" y="2194560"/>
            <a:ext cx="1975104" cy="1975104"/>
          </a:xfrm>
          <a:prstGeom prst="ellipse">
            <a:avLst/>
          </a:prstGeom>
          <a:solidFill>
            <a:srgbClr val="EAF3FF">
              <a:alpha val="60000"/>
            </a:srgbClr>
          </a:solidFill>
          <a:ln w="15240">
            <a:solidFill>
              <a:srgbClr val="2F80ED"/>
            </a:solidFill>
            <a:prstDash val="solid"/>
          </a:ln>
        </p:spPr>
        <p:txBody>
          <a:bodyPr/>
          <a:lstStyle/>
          <a:p>
            <a:endParaRPr lang="ja-JP" altLang="en-US"/>
          </a:p>
        </p:txBody>
      </p:sp>
      <p:sp>
        <p:nvSpPr>
          <p:cNvPr id="11" name="Shape 9"/>
          <p:cNvSpPr/>
          <p:nvPr/>
        </p:nvSpPr>
        <p:spPr>
          <a:xfrm>
            <a:off x="6911591" y="3136392"/>
            <a:ext cx="91440" cy="91440"/>
          </a:xfrm>
          <a:prstGeom prst="ellipse">
            <a:avLst/>
          </a:prstGeom>
          <a:solidFill>
            <a:srgbClr val="111827"/>
          </a:solidFill>
          <a:ln w="12700">
            <a:solidFill>
              <a:srgbClr val="111827">
                <a:alpha val="0"/>
              </a:srgbClr>
            </a:solidFill>
            <a:prstDash val="solid"/>
          </a:ln>
        </p:spPr>
        <p:txBody>
          <a:bodyPr/>
          <a:lstStyle/>
          <a:p>
            <a:endParaRPr lang="ja-JP" altLang="en-US"/>
          </a:p>
        </p:txBody>
      </p:sp>
      <p:sp>
        <p:nvSpPr>
          <p:cNvPr id="13" name="Shape 11"/>
          <p:cNvSpPr/>
          <p:nvPr/>
        </p:nvSpPr>
        <p:spPr>
          <a:xfrm>
            <a:off x="5796023" y="4279392"/>
            <a:ext cx="2148840" cy="0"/>
          </a:xfrm>
          <a:prstGeom prst="line">
            <a:avLst/>
          </a:prstGeom>
          <a:noFill/>
          <a:ln w="15240">
            <a:solidFill>
              <a:srgbClr val="829AB1">
                <a:alpha val="70000"/>
              </a:srgbClr>
            </a:solidFill>
            <a:prstDash val="solid"/>
          </a:ln>
        </p:spPr>
        <p:txBody>
          <a:bodyPr/>
          <a:lstStyle/>
          <a:p>
            <a:endParaRPr lang="ja-JP" altLang="en-US"/>
          </a:p>
        </p:txBody>
      </p:sp>
      <p:sp>
        <p:nvSpPr>
          <p:cNvPr id="14" name="Text 12"/>
          <p:cNvSpPr/>
          <p:nvPr/>
        </p:nvSpPr>
        <p:spPr>
          <a:xfrm>
            <a:off x="7048751" y="3026664"/>
            <a:ext cx="640080" cy="201168"/>
          </a:xfrm>
          <a:prstGeom prst="rect">
            <a:avLst/>
          </a:prstGeom>
          <a:noFill/>
          <a:ln/>
        </p:spPr>
        <p:txBody>
          <a:bodyPr wrap="square" lIns="0" tIns="0" rIns="0" bIns="0" rtlCol="0" anchor="ctr"/>
          <a:lstStyle/>
          <a:p>
            <a:pPr marL="0" indent="0">
              <a:buNone/>
            </a:pPr>
            <a:r>
              <a:rPr lang="en-US" sz="850" dirty="0">
                <a:solidFill>
                  <a:srgbClr val="111827"/>
                </a:solidFill>
              </a:rPr>
              <a:t>target</a:t>
            </a:r>
            <a:endParaRPr lang="en-US" sz="850" dirty="0"/>
          </a:p>
        </p:txBody>
      </p:sp>
      <p:sp>
        <p:nvSpPr>
          <p:cNvPr id="15" name="Text 13"/>
          <p:cNvSpPr/>
          <p:nvPr/>
        </p:nvSpPr>
        <p:spPr>
          <a:xfrm>
            <a:off x="5732015" y="4215384"/>
            <a:ext cx="1188720" cy="201168"/>
          </a:xfrm>
          <a:prstGeom prst="rect">
            <a:avLst/>
          </a:prstGeom>
          <a:noFill/>
          <a:ln/>
        </p:spPr>
        <p:txBody>
          <a:bodyPr wrap="square" lIns="0" tIns="0" rIns="0" bIns="0" rtlCol="0" anchor="ctr"/>
          <a:lstStyle/>
          <a:p>
            <a:pPr marL="0" indent="0">
              <a:buNone/>
            </a:pPr>
            <a:r>
              <a:rPr lang="en-US" sz="850" dirty="0">
                <a:solidFill>
                  <a:srgbClr val="2F80ED"/>
                </a:solidFill>
              </a:rPr>
              <a:t>influence radius</a:t>
            </a:r>
            <a:endParaRPr lang="en-US" sz="850" dirty="0"/>
          </a:p>
        </p:txBody>
      </p:sp>
      <p:sp>
        <p:nvSpPr>
          <p:cNvPr id="16" name="Text 14"/>
          <p:cNvSpPr/>
          <p:nvPr/>
        </p:nvSpPr>
        <p:spPr>
          <a:xfrm>
            <a:off x="8904983" y="1472184"/>
            <a:ext cx="1463040" cy="256032"/>
          </a:xfrm>
          <a:prstGeom prst="rect">
            <a:avLst/>
          </a:prstGeom>
          <a:solidFill>
            <a:srgbClr val="FDEDEA"/>
          </a:solidFill>
          <a:ln/>
        </p:spPr>
        <p:txBody>
          <a:bodyPr wrap="square" lIns="762" tIns="762" rIns="762" bIns="762" rtlCol="0" anchor="ctr">
            <a:normAutofit/>
          </a:bodyPr>
          <a:lstStyle/>
          <a:p>
            <a:pPr marL="0" indent="0">
              <a:buNone/>
            </a:pPr>
            <a:r>
              <a:rPr lang="en-US" sz="850" b="1" dirty="0">
                <a:solidFill>
                  <a:srgbClr val="E64B3C"/>
                </a:solidFill>
              </a:rPr>
              <a:t>DISTANCE DECAY</a:t>
            </a:r>
            <a:endParaRPr lang="en-US" sz="850" dirty="0"/>
          </a:p>
        </p:txBody>
      </p:sp>
      <p:sp>
        <p:nvSpPr>
          <p:cNvPr id="17" name="Shape 15"/>
          <p:cNvSpPr/>
          <p:nvPr/>
        </p:nvSpPr>
        <p:spPr>
          <a:xfrm>
            <a:off x="8813543" y="1856232"/>
            <a:ext cx="2423160" cy="2788920"/>
          </a:xfrm>
          <a:prstGeom prst="roundRect">
            <a:avLst/>
          </a:prstGeom>
          <a:solidFill>
            <a:srgbClr val="F8FAFC"/>
          </a:solidFill>
          <a:ln w="12700">
            <a:solidFill>
              <a:srgbClr val="D9E2EC"/>
            </a:solidFill>
            <a:prstDash val="solid"/>
          </a:ln>
        </p:spPr>
        <p:txBody>
          <a:bodyPr/>
          <a:lstStyle/>
          <a:p>
            <a:endParaRPr lang="ja-JP" altLang="en-US"/>
          </a:p>
        </p:txBody>
      </p:sp>
      <p:sp>
        <p:nvSpPr>
          <p:cNvPr id="18" name="Shape 16"/>
          <p:cNvSpPr/>
          <p:nvPr/>
        </p:nvSpPr>
        <p:spPr>
          <a:xfrm>
            <a:off x="9225023" y="4187952"/>
            <a:ext cx="1600200" cy="0"/>
          </a:xfrm>
          <a:prstGeom prst="line">
            <a:avLst/>
          </a:prstGeom>
          <a:noFill/>
          <a:ln w="12700">
            <a:solidFill>
              <a:srgbClr val="829AB1"/>
            </a:solidFill>
            <a:prstDash val="solid"/>
          </a:ln>
        </p:spPr>
        <p:txBody>
          <a:bodyPr/>
          <a:lstStyle/>
          <a:p>
            <a:endParaRPr lang="ja-JP" altLang="en-US"/>
          </a:p>
        </p:txBody>
      </p:sp>
      <p:sp>
        <p:nvSpPr>
          <p:cNvPr id="19" name="Shape 17"/>
          <p:cNvSpPr/>
          <p:nvPr/>
        </p:nvSpPr>
        <p:spPr>
          <a:xfrm>
            <a:off x="9225023" y="4187952"/>
            <a:ext cx="0" cy="0"/>
          </a:xfrm>
          <a:prstGeom prst="line">
            <a:avLst/>
          </a:prstGeom>
          <a:noFill/>
          <a:ln w="12700">
            <a:solidFill>
              <a:srgbClr val="829AB1"/>
            </a:solidFill>
            <a:prstDash val="solid"/>
          </a:ln>
        </p:spPr>
        <p:txBody>
          <a:bodyPr/>
          <a:lstStyle/>
          <a:p>
            <a:endParaRPr lang="ja-JP" altLang="en-US"/>
          </a:p>
        </p:txBody>
      </p:sp>
      <p:sp>
        <p:nvSpPr>
          <p:cNvPr id="20" name="Shape 18"/>
          <p:cNvSpPr/>
          <p:nvPr/>
        </p:nvSpPr>
        <p:spPr>
          <a:xfrm>
            <a:off x="9225023" y="2450592"/>
            <a:ext cx="1600200" cy="1737360"/>
          </a:xfrm>
          <a:prstGeom prst="line">
            <a:avLst/>
          </a:prstGeom>
          <a:noFill/>
          <a:ln w="31750">
            <a:solidFill>
              <a:srgbClr val="E64B3C"/>
            </a:solidFill>
            <a:prstDash val="solid"/>
          </a:ln>
        </p:spPr>
        <p:txBody>
          <a:bodyPr/>
          <a:lstStyle/>
          <a:p>
            <a:endParaRPr lang="ja-JP" altLang="en-US"/>
          </a:p>
        </p:txBody>
      </p:sp>
      <p:sp>
        <p:nvSpPr>
          <p:cNvPr id="21" name="Text 19"/>
          <p:cNvSpPr/>
          <p:nvPr/>
        </p:nvSpPr>
        <p:spPr>
          <a:xfrm>
            <a:off x="8996423" y="4800600"/>
            <a:ext cx="2057400" cy="274320"/>
          </a:xfrm>
          <a:prstGeom prst="rect">
            <a:avLst/>
          </a:prstGeom>
          <a:noFill/>
          <a:ln/>
        </p:spPr>
        <p:txBody>
          <a:bodyPr wrap="square" lIns="0" tIns="0" rIns="0" bIns="0" rtlCol="0" anchor="ctr">
            <a:normAutofit/>
          </a:bodyPr>
          <a:lstStyle/>
          <a:p>
            <a:pPr marL="0" indent="0" algn="ctr">
              <a:buNone/>
            </a:pPr>
            <a:r>
              <a:rPr lang="en-US" sz="1050" b="1" dirty="0">
                <a:solidFill>
                  <a:srgbClr val="E64B3C"/>
                </a:solidFill>
              </a:rPr>
              <a:t>P = max ratio × (1 − d / radius)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02A43"/>
          </a:solidFill>
          <a:ln w="12700">
            <a:solidFill>
              <a:srgbClr val="333333">
                <a:alpha val="0"/>
              </a:srgbClr>
            </a:solidFill>
            <a:prstDash val="solid"/>
          </a:ln>
        </p:spPr>
        <p:txBody>
          <a:bodyPr/>
          <a:lstStyle/>
          <a:p>
            <a:endParaRPr lang="ja-JP" altLang="en-US"/>
          </a:p>
        </p:txBody>
      </p:sp>
      <p:sp>
        <p:nvSpPr>
          <p:cNvPr id="3" name="Text 1"/>
          <p:cNvSpPr/>
          <p:nvPr/>
        </p:nvSpPr>
        <p:spPr>
          <a:xfrm>
            <a:off x="502920" y="384048"/>
            <a:ext cx="8046720" cy="384048"/>
          </a:xfrm>
          <a:prstGeom prst="rect">
            <a:avLst/>
          </a:prstGeom>
          <a:noFill/>
          <a:ln/>
        </p:spPr>
        <p:txBody>
          <a:bodyPr wrap="square" lIns="0" tIns="0" rIns="0" bIns="0" rtlCol="0" anchor="ctr"/>
          <a:lstStyle/>
          <a:p>
            <a:pPr marL="0" indent="0">
              <a:buNone/>
            </a:pPr>
            <a:r>
              <a:rPr lang="en-US" sz="2500" b="1" dirty="0">
                <a:solidFill>
                  <a:srgbClr val="102A43"/>
                </a:solidFill>
                <a:latin typeface="Garamond" panose="02020404030301010803" pitchFamily="18" charset="0"/>
                <a:ea typeface="Aptos Display" pitchFamily="34" charset="-122"/>
                <a:cs typeface="Aptos Display" pitchFamily="34" charset="-120"/>
              </a:rPr>
              <a:t>Algorithm: Destination Modification</a:t>
            </a:r>
            <a:endParaRPr lang="en-US" sz="2500" dirty="0">
              <a:latin typeface="Garamond" panose="02020404030301010803" pitchFamily="18" charset="0"/>
            </a:endParaRPr>
          </a:p>
        </p:txBody>
      </p:sp>
      <p:sp>
        <p:nvSpPr>
          <p:cNvPr id="4" name="Text 2"/>
          <p:cNvSpPr/>
          <p:nvPr/>
        </p:nvSpPr>
        <p:spPr>
          <a:xfrm>
            <a:off x="9372600" y="438912"/>
            <a:ext cx="2240280" cy="237744"/>
          </a:xfrm>
          <a:prstGeom prst="rect">
            <a:avLst/>
          </a:prstGeom>
          <a:noFill/>
          <a:ln/>
        </p:spPr>
        <p:txBody>
          <a:bodyPr wrap="square" lIns="0" tIns="0" rIns="0" bIns="0" rtlCol="0" anchor="ctr"/>
          <a:lstStyle/>
          <a:p>
            <a:pPr marL="0" indent="0" algn="r">
              <a:buNone/>
            </a:pPr>
            <a:r>
              <a:rPr lang="en-US" sz="850" dirty="0">
                <a:solidFill>
                  <a:srgbClr val="829AB1"/>
                </a:solidFill>
              </a:rPr>
              <a:t>Research prototype</a:t>
            </a:r>
            <a:endParaRPr lang="en-US" sz="850" dirty="0"/>
          </a:p>
        </p:txBody>
      </p:sp>
      <p:sp>
        <p:nvSpPr>
          <p:cNvPr id="5" name="Shape 3"/>
          <p:cNvSpPr/>
          <p:nvPr/>
        </p:nvSpPr>
        <p:spPr>
          <a:xfrm>
            <a:off x="502920" y="868680"/>
            <a:ext cx="11155680" cy="0"/>
          </a:xfrm>
          <a:prstGeom prst="line">
            <a:avLst/>
          </a:prstGeom>
          <a:noFill/>
          <a:ln w="7620">
            <a:solidFill>
              <a:srgbClr val="D9E2EC"/>
            </a:solidFill>
            <a:prstDash val="solid"/>
          </a:ln>
        </p:spPr>
        <p:txBody>
          <a:bodyPr/>
          <a:lstStyle/>
          <a:p>
            <a:endParaRPr lang="ja-JP" altLang="en-US"/>
          </a:p>
        </p:txBody>
      </p:sp>
      <p:sp>
        <p:nvSpPr>
          <p:cNvPr id="6" name="Text 4"/>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800" dirty="0">
                <a:solidFill>
                  <a:srgbClr val="829AB1"/>
                </a:solidFill>
              </a:rPr>
              <a:t>07</a:t>
            </a:r>
            <a:endParaRPr lang="en-US" sz="800" dirty="0"/>
          </a:p>
        </p:txBody>
      </p:sp>
      <p:sp>
        <p:nvSpPr>
          <p:cNvPr id="7" name="Text 5"/>
          <p:cNvSpPr/>
          <p:nvPr/>
        </p:nvSpPr>
        <p:spPr>
          <a:xfrm>
            <a:off x="732434" y="2020824"/>
            <a:ext cx="4572000" cy="2148831"/>
          </a:xfrm>
          <a:prstGeom prst="rect">
            <a:avLst/>
          </a:prstGeom>
          <a:noFill/>
          <a:ln/>
        </p:spPr>
        <p:txBody>
          <a:bodyPr wrap="square" lIns="254" tIns="254" rIns="254" bIns="254" rtlCol="0" anchor="t">
            <a:noAutofit/>
          </a:bodyPr>
          <a:lstStyle/>
          <a:p>
            <a:pPr marL="285750" indent="-285750">
              <a:spcBef>
                <a:spcPts val="600"/>
              </a:spcBef>
              <a:buFont typeface="Arial" panose="020B0604020202020204" pitchFamily="34" charset="0"/>
              <a:buChar char="•"/>
            </a:pPr>
            <a:r>
              <a:rPr lang="en-US" sz="1600" dirty="0">
                <a:solidFill>
                  <a:srgbClr val="243B53"/>
                </a:solidFill>
                <a:latin typeface="Calibri" panose="020F0502020204030204" pitchFamily="34" charset="0"/>
                <a:ea typeface="Aptos" pitchFamily="34" charset="-122"/>
                <a:cs typeface="Calibri" panose="020F0502020204030204" pitchFamily="34" charset="0"/>
              </a:rPr>
              <a:t>Only selected trip destinations are moved</a:t>
            </a:r>
            <a:endParaRPr lang="en-US" sz="1600" dirty="0">
              <a:latin typeface="Calibri" panose="020F0502020204030204" pitchFamily="34" charset="0"/>
              <a:cs typeface="Calibri" panose="020F0502020204030204" pitchFamily="34" charset="0"/>
            </a:endParaRPr>
          </a:p>
          <a:p>
            <a:pPr marL="285750" indent="-285750">
              <a:spcBef>
                <a:spcPts val="600"/>
              </a:spcBef>
              <a:buFont typeface="Arial" panose="020B0604020202020204" pitchFamily="34" charset="0"/>
              <a:buChar char="•"/>
            </a:pPr>
            <a:r>
              <a:rPr lang="en-US" sz="1600" dirty="0">
                <a:solidFill>
                  <a:srgbClr val="243B53"/>
                </a:solidFill>
                <a:latin typeface="Calibri" panose="020F0502020204030204" pitchFamily="34" charset="0"/>
                <a:ea typeface="Aptos" pitchFamily="34" charset="-122"/>
                <a:cs typeface="Calibri" panose="020F0502020204030204" pitchFamily="34" charset="0"/>
              </a:rPr>
              <a:t>Origin, departure time, transport mode, purpose code, and person ID remain unchanged</a:t>
            </a:r>
            <a:endParaRPr lang="en-US" sz="1600" dirty="0">
              <a:latin typeface="Calibri" panose="020F0502020204030204" pitchFamily="34" charset="0"/>
              <a:cs typeface="Calibri" panose="020F0502020204030204" pitchFamily="34" charset="0"/>
            </a:endParaRPr>
          </a:p>
          <a:p>
            <a:pPr marL="285750" indent="-285750">
              <a:spcBef>
                <a:spcPts val="600"/>
              </a:spcBef>
              <a:buFont typeface="Arial" panose="020B0604020202020204" pitchFamily="34" charset="0"/>
              <a:buChar char="•"/>
            </a:pPr>
            <a:r>
              <a:rPr lang="en-US" sz="1600" dirty="0">
                <a:solidFill>
                  <a:srgbClr val="243B53"/>
                </a:solidFill>
                <a:latin typeface="Calibri" panose="020F0502020204030204" pitchFamily="34" charset="0"/>
                <a:ea typeface="Aptos" pitchFamily="34" charset="-122"/>
                <a:cs typeface="Calibri" panose="020F0502020204030204" pitchFamily="34" charset="0"/>
              </a:rPr>
              <a:t>Destination moves partially toward the target facility</a:t>
            </a:r>
            <a:endParaRPr lang="en-US" sz="1600" dirty="0">
              <a:latin typeface="Calibri" panose="020F0502020204030204" pitchFamily="34" charset="0"/>
              <a:cs typeface="Calibri" panose="020F0502020204030204" pitchFamily="34" charset="0"/>
            </a:endParaRPr>
          </a:p>
          <a:p>
            <a:pPr marL="285750" indent="-285750">
              <a:spcBef>
                <a:spcPts val="600"/>
              </a:spcBef>
              <a:buFont typeface="Arial" panose="020B0604020202020204" pitchFamily="34" charset="0"/>
              <a:buChar char="•"/>
            </a:pPr>
            <a:r>
              <a:rPr lang="en-US" sz="1600" dirty="0">
                <a:solidFill>
                  <a:srgbClr val="243B53"/>
                </a:solidFill>
                <a:latin typeface="Calibri" panose="020F0502020204030204" pitchFamily="34" charset="0"/>
                <a:ea typeface="Aptos" pitchFamily="34" charset="-122"/>
                <a:cs typeface="Calibri" panose="020F0502020204030204" pitchFamily="34" charset="0"/>
              </a:rPr>
              <a:t>Small random jitter prevents all destinations from collapsing into one point</a:t>
            </a:r>
            <a:endParaRPr lang="en-US" sz="1600" dirty="0">
              <a:latin typeface="Calibri" panose="020F0502020204030204" pitchFamily="34" charset="0"/>
              <a:cs typeface="Calibri" panose="020F0502020204030204" pitchFamily="34" charset="0"/>
            </a:endParaRPr>
          </a:p>
        </p:txBody>
      </p:sp>
      <p:sp>
        <p:nvSpPr>
          <p:cNvPr id="8" name="Shape 6"/>
          <p:cNvSpPr/>
          <p:nvPr/>
        </p:nvSpPr>
        <p:spPr>
          <a:xfrm>
            <a:off x="5669280" y="1371600"/>
            <a:ext cx="5212080" cy="3246120"/>
          </a:xfrm>
          <a:prstGeom prst="roundRect">
            <a:avLst/>
          </a:prstGeom>
          <a:solidFill>
            <a:srgbClr val="F8FAFC"/>
          </a:solidFill>
          <a:ln w="12700">
            <a:solidFill>
              <a:srgbClr val="D9E2EC"/>
            </a:solidFill>
            <a:prstDash val="solid"/>
          </a:ln>
        </p:spPr>
        <p:txBody>
          <a:bodyPr/>
          <a:lstStyle/>
          <a:p>
            <a:endParaRPr lang="ja-JP" altLang="en-US"/>
          </a:p>
        </p:txBody>
      </p:sp>
      <p:sp>
        <p:nvSpPr>
          <p:cNvPr id="9" name="Shape 7"/>
          <p:cNvSpPr/>
          <p:nvPr/>
        </p:nvSpPr>
        <p:spPr>
          <a:xfrm>
            <a:off x="5897880" y="2020824"/>
            <a:ext cx="4754880" cy="0"/>
          </a:xfrm>
          <a:prstGeom prst="line">
            <a:avLst/>
          </a:prstGeom>
          <a:noFill/>
          <a:ln w="8890">
            <a:solidFill>
              <a:srgbClr val="DCE6F2"/>
            </a:solidFill>
            <a:prstDash val="solid"/>
          </a:ln>
        </p:spPr>
        <p:txBody>
          <a:bodyPr/>
          <a:lstStyle/>
          <a:p>
            <a:endParaRPr lang="ja-JP" altLang="en-US"/>
          </a:p>
        </p:txBody>
      </p:sp>
      <p:sp>
        <p:nvSpPr>
          <p:cNvPr id="10" name="Shape 8"/>
          <p:cNvSpPr/>
          <p:nvPr/>
        </p:nvSpPr>
        <p:spPr>
          <a:xfrm>
            <a:off x="6711696" y="1536192"/>
            <a:ext cx="0" cy="2916936"/>
          </a:xfrm>
          <a:prstGeom prst="line">
            <a:avLst/>
          </a:prstGeom>
          <a:noFill/>
          <a:ln w="8890">
            <a:solidFill>
              <a:srgbClr val="DCE6F2"/>
            </a:solidFill>
            <a:prstDash val="solid"/>
          </a:ln>
        </p:spPr>
        <p:txBody>
          <a:bodyPr/>
          <a:lstStyle/>
          <a:p>
            <a:endParaRPr lang="ja-JP" altLang="en-US"/>
          </a:p>
        </p:txBody>
      </p:sp>
      <p:sp>
        <p:nvSpPr>
          <p:cNvPr id="11" name="Shape 9"/>
          <p:cNvSpPr/>
          <p:nvPr/>
        </p:nvSpPr>
        <p:spPr>
          <a:xfrm>
            <a:off x="5897880" y="2670048"/>
            <a:ext cx="4754880" cy="0"/>
          </a:xfrm>
          <a:prstGeom prst="line">
            <a:avLst/>
          </a:prstGeom>
          <a:noFill/>
          <a:ln w="8890">
            <a:solidFill>
              <a:srgbClr val="DCE6F2"/>
            </a:solidFill>
            <a:prstDash val="solid"/>
          </a:ln>
        </p:spPr>
        <p:txBody>
          <a:bodyPr/>
          <a:lstStyle/>
          <a:p>
            <a:endParaRPr lang="ja-JP" altLang="en-US"/>
          </a:p>
        </p:txBody>
      </p:sp>
      <p:sp>
        <p:nvSpPr>
          <p:cNvPr id="12" name="Shape 10"/>
          <p:cNvSpPr/>
          <p:nvPr/>
        </p:nvSpPr>
        <p:spPr>
          <a:xfrm>
            <a:off x="7754112" y="1536192"/>
            <a:ext cx="0" cy="2916936"/>
          </a:xfrm>
          <a:prstGeom prst="line">
            <a:avLst/>
          </a:prstGeom>
          <a:noFill/>
          <a:ln w="8890">
            <a:solidFill>
              <a:srgbClr val="DCE6F2"/>
            </a:solidFill>
            <a:prstDash val="solid"/>
          </a:ln>
        </p:spPr>
        <p:txBody>
          <a:bodyPr/>
          <a:lstStyle/>
          <a:p>
            <a:endParaRPr lang="ja-JP" altLang="en-US"/>
          </a:p>
        </p:txBody>
      </p:sp>
      <p:sp>
        <p:nvSpPr>
          <p:cNvPr id="13" name="Shape 11"/>
          <p:cNvSpPr/>
          <p:nvPr/>
        </p:nvSpPr>
        <p:spPr>
          <a:xfrm>
            <a:off x="5897880" y="3319272"/>
            <a:ext cx="4754880" cy="0"/>
          </a:xfrm>
          <a:prstGeom prst="line">
            <a:avLst/>
          </a:prstGeom>
          <a:noFill/>
          <a:ln w="8890">
            <a:solidFill>
              <a:srgbClr val="DCE6F2"/>
            </a:solidFill>
            <a:prstDash val="solid"/>
          </a:ln>
        </p:spPr>
        <p:txBody>
          <a:bodyPr/>
          <a:lstStyle/>
          <a:p>
            <a:endParaRPr lang="ja-JP" altLang="en-US"/>
          </a:p>
        </p:txBody>
      </p:sp>
      <p:sp>
        <p:nvSpPr>
          <p:cNvPr id="14" name="Shape 12"/>
          <p:cNvSpPr/>
          <p:nvPr/>
        </p:nvSpPr>
        <p:spPr>
          <a:xfrm>
            <a:off x="8796528" y="1536192"/>
            <a:ext cx="0" cy="2916936"/>
          </a:xfrm>
          <a:prstGeom prst="line">
            <a:avLst/>
          </a:prstGeom>
          <a:noFill/>
          <a:ln w="8890">
            <a:solidFill>
              <a:srgbClr val="DCE6F2"/>
            </a:solidFill>
            <a:prstDash val="solid"/>
          </a:ln>
        </p:spPr>
        <p:txBody>
          <a:bodyPr/>
          <a:lstStyle/>
          <a:p>
            <a:endParaRPr lang="ja-JP" altLang="en-US"/>
          </a:p>
        </p:txBody>
      </p:sp>
      <p:sp>
        <p:nvSpPr>
          <p:cNvPr id="15" name="Shape 13"/>
          <p:cNvSpPr/>
          <p:nvPr/>
        </p:nvSpPr>
        <p:spPr>
          <a:xfrm>
            <a:off x="5897880" y="3968496"/>
            <a:ext cx="4754880" cy="0"/>
          </a:xfrm>
          <a:prstGeom prst="line">
            <a:avLst/>
          </a:prstGeom>
          <a:noFill/>
          <a:ln w="8890">
            <a:solidFill>
              <a:srgbClr val="DCE6F2"/>
            </a:solidFill>
            <a:prstDash val="solid"/>
          </a:ln>
        </p:spPr>
        <p:txBody>
          <a:bodyPr/>
          <a:lstStyle/>
          <a:p>
            <a:endParaRPr lang="ja-JP" altLang="en-US"/>
          </a:p>
        </p:txBody>
      </p:sp>
      <p:sp>
        <p:nvSpPr>
          <p:cNvPr id="16" name="Shape 14"/>
          <p:cNvSpPr/>
          <p:nvPr/>
        </p:nvSpPr>
        <p:spPr>
          <a:xfrm>
            <a:off x="9838944" y="1536192"/>
            <a:ext cx="0" cy="2916936"/>
          </a:xfrm>
          <a:prstGeom prst="line">
            <a:avLst/>
          </a:prstGeom>
          <a:noFill/>
          <a:ln w="8890">
            <a:solidFill>
              <a:srgbClr val="DCE6F2"/>
            </a:solidFill>
            <a:prstDash val="solid"/>
          </a:ln>
        </p:spPr>
        <p:txBody>
          <a:bodyPr/>
          <a:lstStyle/>
          <a:p>
            <a:endParaRPr lang="ja-JP" altLang="en-US"/>
          </a:p>
        </p:txBody>
      </p:sp>
      <p:sp>
        <p:nvSpPr>
          <p:cNvPr id="17" name="Shape 15"/>
          <p:cNvSpPr/>
          <p:nvPr/>
        </p:nvSpPr>
        <p:spPr>
          <a:xfrm>
            <a:off x="5806440" y="3903574"/>
            <a:ext cx="4937760" cy="0"/>
          </a:xfrm>
          <a:prstGeom prst="line">
            <a:avLst/>
          </a:prstGeom>
          <a:noFill/>
          <a:ln w="13970">
            <a:solidFill>
              <a:srgbClr val="CFD9E5"/>
            </a:solidFill>
            <a:prstDash val="solid"/>
          </a:ln>
        </p:spPr>
        <p:txBody>
          <a:bodyPr/>
          <a:lstStyle/>
          <a:p>
            <a:endParaRPr lang="ja-JP" altLang="en-US"/>
          </a:p>
        </p:txBody>
      </p:sp>
      <p:sp>
        <p:nvSpPr>
          <p:cNvPr id="18" name="Shape 16"/>
          <p:cNvSpPr/>
          <p:nvPr/>
        </p:nvSpPr>
        <p:spPr>
          <a:xfrm>
            <a:off x="5852160" y="2085746"/>
            <a:ext cx="4846320" cy="1558138"/>
          </a:xfrm>
          <a:prstGeom prst="line">
            <a:avLst/>
          </a:prstGeom>
          <a:noFill/>
          <a:ln w="13970">
            <a:solidFill>
              <a:srgbClr val="CFD9E5"/>
            </a:solidFill>
            <a:prstDash val="solid"/>
          </a:ln>
        </p:spPr>
        <p:txBody>
          <a:bodyPr/>
          <a:lstStyle/>
          <a:p>
            <a:endParaRPr lang="ja-JP" altLang="en-US"/>
          </a:p>
        </p:txBody>
      </p:sp>
      <p:sp>
        <p:nvSpPr>
          <p:cNvPr id="19" name="Shape 17"/>
          <p:cNvSpPr/>
          <p:nvPr/>
        </p:nvSpPr>
        <p:spPr>
          <a:xfrm>
            <a:off x="8800186" y="2634386"/>
            <a:ext cx="201168" cy="201168"/>
          </a:xfrm>
          <a:prstGeom prst="ellipse">
            <a:avLst/>
          </a:prstGeom>
          <a:solidFill>
            <a:srgbClr val="111827"/>
          </a:solidFill>
          <a:ln w="12700">
            <a:solidFill>
              <a:srgbClr val="FFFFFF"/>
            </a:solidFill>
            <a:prstDash val="solid"/>
          </a:ln>
        </p:spPr>
        <p:txBody>
          <a:bodyPr/>
          <a:lstStyle/>
          <a:p>
            <a:endParaRPr lang="ja-JP" altLang="en-US"/>
          </a:p>
        </p:txBody>
      </p:sp>
      <p:sp>
        <p:nvSpPr>
          <p:cNvPr id="21" name="Shape 19"/>
          <p:cNvSpPr/>
          <p:nvPr/>
        </p:nvSpPr>
        <p:spPr>
          <a:xfrm>
            <a:off x="6783934" y="3482035"/>
            <a:ext cx="64008" cy="64008"/>
          </a:xfrm>
          <a:prstGeom prst="ellipse">
            <a:avLst/>
          </a:prstGeom>
          <a:solidFill>
            <a:srgbClr val="2F80ED"/>
          </a:solidFill>
          <a:ln w="12700">
            <a:solidFill>
              <a:srgbClr val="2F80ED">
                <a:alpha val="0"/>
              </a:srgbClr>
            </a:solidFill>
            <a:prstDash val="solid"/>
          </a:ln>
        </p:spPr>
        <p:txBody>
          <a:bodyPr/>
          <a:lstStyle/>
          <a:p>
            <a:endParaRPr lang="ja-JP" altLang="en-US"/>
          </a:p>
        </p:txBody>
      </p:sp>
      <p:sp>
        <p:nvSpPr>
          <p:cNvPr id="23" name="Shape 21"/>
          <p:cNvSpPr/>
          <p:nvPr/>
        </p:nvSpPr>
        <p:spPr>
          <a:xfrm>
            <a:off x="7128662" y="2734970"/>
            <a:ext cx="1667866" cy="0"/>
          </a:xfrm>
          <a:prstGeom prst="line">
            <a:avLst/>
          </a:prstGeom>
          <a:noFill/>
          <a:ln w="13970">
            <a:solidFill>
              <a:srgbClr val="E64B3C">
                <a:alpha val="92000"/>
              </a:srgbClr>
            </a:solidFill>
            <a:prstDash val="solid"/>
            <a:tailEnd type="triangle"/>
          </a:ln>
        </p:spPr>
        <p:txBody>
          <a:bodyPr/>
          <a:lstStyle/>
          <a:p>
            <a:endParaRPr lang="ja-JP" altLang="en-US"/>
          </a:p>
        </p:txBody>
      </p:sp>
      <p:sp>
        <p:nvSpPr>
          <p:cNvPr id="24" name="Shape 22"/>
          <p:cNvSpPr/>
          <p:nvPr/>
        </p:nvSpPr>
        <p:spPr>
          <a:xfrm>
            <a:off x="7096658" y="2702966"/>
            <a:ext cx="64008" cy="64008"/>
          </a:xfrm>
          <a:prstGeom prst="ellipse">
            <a:avLst/>
          </a:prstGeom>
          <a:solidFill>
            <a:srgbClr val="2F80ED"/>
          </a:solidFill>
          <a:ln w="12700">
            <a:solidFill>
              <a:srgbClr val="2F80ED">
                <a:alpha val="0"/>
              </a:srgbClr>
            </a:solidFill>
            <a:prstDash val="solid"/>
          </a:ln>
        </p:spPr>
        <p:txBody>
          <a:bodyPr/>
          <a:lstStyle/>
          <a:p>
            <a:endParaRPr lang="ja-JP" altLang="en-US"/>
          </a:p>
        </p:txBody>
      </p:sp>
      <p:sp>
        <p:nvSpPr>
          <p:cNvPr id="25" name="Shape 23"/>
          <p:cNvSpPr/>
          <p:nvPr/>
        </p:nvSpPr>
        <p:spPr>
          <a:xfrm>
            <a:off x="8764524" y="2702966"/>
            <a:ext cx="64008" cy="64008"/>
          </a:xfrm>
          <a:prstGeom prst="ellipse">
            <a:avLst/>
          </a:prstGeom>
          <a:solidFill>
            <a:srgbClr val="E64B3C"/>
          </a:solidFill>
          <a:ln w="12700">
            <a:solidFill>
              <a:srgbClr val="E64B3C">
                <a:alpha val="0"/>
              </a:srgbClr>
            </a:solidFill>
            <a:prstDash val="solid"/>
          </a:ln>
        </p:spPr>
        <p:txBody>
          <a:bodyPr/>
          <a:lstStyle/>
          <a:p>
            <a:endParaRPr lang="ja-JP" altLang="en-US"/>
          </a:p>
        </p:txBody>
      </p:sp>
      <p:sp>
        <p:nvSpPr>
          <p:cNvPr id="27" name="Shape 25"/>
          <p:cNvSpPr/>
          <p:nvPr/>
        </p:nvSpPr>
        <p:spPr>
          <a:xfrm>
            <a:off x="7565746" y="3839108"/>
            <a:ext cx="64008" cy="64008"/>
          </a:xfrm>
          <a:prstGeom prst="ellipse">
            <a:avLst/>
          </a:prstGeom>
          <a:solidFill>
            <a:srgbClr val="2F80ED"/>
          </a:solidFill>
          <a:ln w="12700">
            <a:solidFill>
              <a:srgbClr val="2F80ED">
                <a:alpha val="0"/>
              </a:srgbClr>
            </a:solidFill>
            <a:prstDash val="solid"/>
          </a:ln>
        </p:spPr>
        <p:txBody>
          <a:bodyPr/>
          <a:lstStyle/>
          <a:p>
            <a:endParaRPr lang="ja-JP" altLang="en-US"/>
          </a:p>
        </p:txBody>
      </p:sp>
      <p:sp>
        <p:nvSpPr>
          <p:cNvPr id="29" name="Shape 27"/>
          <p:cNvSpPr/>
          <p:nvPr/>
        </p:nvSpPr>
        <p:spPr>
          <a:xfrm>
            <a:off x="8014716" y="2280514"/>
            <a:ext cx="833933" cy="357073"/>
          </a:xfrm>
          <a:prstGeom prst="line">
            <a:avLst/>
          </a:prstGeom>
          <a:noFill/>
          <a:ln w="13970">
            <a:solidFill>
              <a:srgbClr val="E64B3C">
                <a:alpha val="92000"/>
              </a:srgbClr>
            </a:solidFill>
            <a:prstDash val="solid"/>
            <a:tailEnd type="triangle"/>
          </a:ln>
        </p:spPr>
        <p:txBody>
          <a:bodyPr/>
          <a:lstStyle/>
          <a:p>
            <a:endParaRPr lang="ja-JP" altLang="en-US"/>
          </a:p>
        </p:txBody>
      </p:sp>
      <p:sp>
        <p:nvSpPr>
          <p:cNvPr id="30" name="Shape 28"/>
          <p:cNvSpPr/>
          <p:nvPr/>
        </p:nvSpPr>
        <p:spPr>
          <a:xfrm>
            <a:off x="7982712" y="2248510"/>
            <a:ext cx="64008" cy="64008"/>
          </a:xfrm>
          <a:prstGeom prst="ellipse">
            <a:avLst/>
          </a:prstGeom>
          <a:solidFill>
            <a:srgbClr val="2F80ED"/>
          </a:solidFill>
          <a:ln w="12700">
            <a:solidFill>
              <a:srgbClr val="2F80ED">
                <a:alpha val="0"/>
              </a:srgbClr>
            </a:solidFill>
            <a:prstDash val="solid"/>
          </a:ln>
        </p:spPr>
        <p:txBody>
          <a:bodyPr/>
          <a:lstStyle/>
          <a:p>
            <a:endParaRPr lang="ja-JP" altLang="en-US"/>
          </a:p>
        </p:txBody>
      </p:sp>
      <p:sp>
        <p:nvSpPr>
          <p:cNvPr id="31" name="Shape 29"/>
          <p:cNvSpPr/>
          <p:nvPr/>
        </p:nvSpPr>
        <p:spPr>
          <a:xfrm>
            <a:off x="8816645" y="2605583"/>
            <a:ext cx="64008" cy="64008"/>
          </a:xfrm>
          <a:prstGeom prst="ellipse">
            <a:avLst/>
          </a:prstGeom>
          <a:solidFill>
            <a:srgbClr val="E64B3C"/>
          </a:solidFill>
          <a:ln w="12700">
            <a:solidFill>
              <a:srgbClr val="E64B3C">
                <a:alpha val="0"/>
              </a:srgbClr>
            </a:solidFill>
            <a:prstDash val="solid"/>
          </a:ln>
        </p:spPr>
        <p:txBody>
          <a:bodyPr/>
          <a:lstStyle/>
          <a:p>
            <a:endParaRPr lang="ja-JP" altLang="en-US"/>
          </a:p>
        </p:txBody>
      </p:sp>
      <p:sp>
        <p:nvSpPr>
          <p:cNvPr id="32" name="Shape 30"/>
          <p:cNvSpPr/>
          <p:nvPr/>
        </p:nvSpPr>
        <p:spPr>
          <a:xfrm>
            <a:off x="6920179" y="2150669"/>
            <a:ext cx="1667866" cy="454457"/>
          </a:xfrm>
          <a:prstGeom prst="line">
            <a:avLst/>
          </a:prstGeom>
          <a:noFill/>
          <a:ln w="13970">
            <a:solidFill>
              <a:srgbClr val="E64B3C">
                <a:alpha val="92000"/>
              </a:srgbClr>
            </a:solidFill>
            <a:prstDash val="solid"/>
            <a:tailEnd type="triangle"/>
          </a:ln>
        </p:spPr>
        <p:txBody>
          <a:bodyPr/>
          <a:lstStyle/>
          <a:p>
            <a:endParaRPr lang="ja-JP" altLang="en-US"/>
          </a:p>
        </p:txBody>
      </p:sp>
      <p:sp>
        <p:nvSpPr>
          <p:cNvPr id="33" name="Shape 31"/>
          <p:cNvSpPr/>
          <p:nvPr/>
        </p:nvSpPr>
        <p:spPr>
          <a:xfrm>
            <a:off x="6888175" y="2118665"/>
            <a:ext cx="64008" cy="64008"/>
          </a:xfrm>
          <a:prstGeom prst="ellipse">
            <a:avLst/>
          </a:prstGeom>
          <a:solidFill>
            <a:srgbClr val="2F80ED"/>
          </a:solidFill>
          <a:ln w="12700">
            <a:solidFill>
              <a:srgbClr val="2F80ED">
                <a:alpha val="0"/>
              </a:srgbClr>
            </a:solidFill>
            <a:prstDash val="solid"/>
          </a:ln>
        </p:spPr>
        <p:txBody>
          <a:bodyPr/>
          <a:lstStyle/>
          <a:p>
            <a:endParaRPr lang="ja-JP" altLang="en-US"/>
          </a:p>
        </p:txBody>
      </p:sp>
      <p:sp>
        <p:nvSpPr>
          <p:cNvPr id="34" name="Shape 32"/>
          <p:cNvSpPr/>
          <p:nvPr/>
        </p:nvSpPr>
        <p:spPr>
          <a:xfrm>
            <a:off x="8556041" y="2573122"/>
            <a:ext cx="64008" cy="64008"/>
          </a:xfrm>
          <a:prstGeom prst="ellipse">
            <a:avLst/>
          </a:prstGeom>
          <a:solidFill>
            <a:srgbClr val="E64B3C"/>
          </a:solidFill>
          <a:ln w="12700">
            <a:solidFill>
              <a:srgbClr val="E64B3C">
                <a:alpha val="0"/>
              </a:srgbClr>
            </a:solidFill>
            <a:prstDash val="solid"/>
          </a:ln>
        </p:spPr>
        <p:txBody>
          <a:bodyPr/>
          <a:lstStyle/>
          <a:p>
            <a:endParaRPr lang="ja-JP" altLang="en-US"/>
          </a:p>
        </p:txBody>
      </p:sp>
      <p:sp>
        <p:nvSpPr>
          <p:cNvPr id="36" name="Shape 34"/>
          <p:cNvSpPr/>
          <p:nvPr/>
        </p:nvSpPr>
        <p:spPr>
          <a:xfrm>
            <a:off x="8243316" y="3546958"/>
            <a:ext cx="64008" cy="64008"/>
          </a:xfrm>
          <a:prstGeom prst="ellipse">
            <a:avLst/>
          </a:prstGeom>
          <a:solidFill>
            <a:srgbClr val="2F80ED"/>
          </a:solidFill>
          <a:ln w="12700">
            <a:solidFill>
              <a:srgbClr val="2F80ED">
                <a:alpha val="0"/>
              </a:srgbClr>
            </a:solidFill>
            <a:prstDash val="solid"/>
          </a:ln>
        </p:spPr>
        <p:txBody>
          <a:bodyPr/>
          <a:lstStyle/>
          <a:p>
            <a:endParaRPr lang="ja-JP" altLang="en-US"/>
          </a:p>
        </p:txBody>
      </p:sp>
      <p:sp>
        <p:nvSpPr>
          <p:cNvPr id="38" name="Text 36"/>
          <p:cNvSpPr/>
          <p:nvPr/>
        </p:nvSpPr>
        <p:spPr>
          <a:xfrm>
            <a:off x="6629400" y="4800600"/>
            <a:ext cx="3429000" cy="292608"/>
          </a:xfrm>
          <a:prstGeom prst="rect">
            <a:avLst/>
          </a:prstGeom>
          <a:noFill/>
          <a:ln/>
        </p:spPr>
        <p:txBody>
          <a:bodyPr wrap="square" lIns="0" tIns="0" rIns="0" bIns="0" rtlCol="0" anchor="ctr"/>
          <a:lstStyle/>
          <a:p>
            <a:pPr marL="0" indent="0" algn="ctr">
              <a:buNone/>
            </a:pPr>
            <a:r>
              <a:rPr lang="en-US" sz="1500" b="1" dirty="0">
                <a:solidFill>
                  <a:srgbClr val="102A43"/>
                </a:solidFill>
              </a:rPr>
              <a:t>Destination is shifted, not replaced</a:t>
            </a:r>
            <a:endParaRPr lang="en-US" sz="1500" dirty="0"/>
          </a:p>
        </p:txBody>
      </p:sp>
      <p:sp>
        <p:nvSpPr>
          <p:cNvPr id="39" name="Text 37"/>
          <p:cNvSpPr/>
          <p:nvPr/>
        </p:nvSpPr>
        <p:spPr>
          <a:xfrm>
            <a:off x="6217920" y="5184648"/>
            <a:ext cx="4251960" cy="256032"/>
          </a:xfrm>
          <a:prstGeom prst="rect">
            <a:avLst/>
          </a:prstGeom>
          <a:noFill/>
          <a:ln/>
        </p:spPr>
        <p:txBody>
          <a:bodyPr wrap="square" lIns="0" tIns="0" rIns="0" bIns="0" rtlCol="0" anchor="ctr"/>
          <a:lstStyle/>
          <a:p>
            <a:pPr marL="0" indent="0" algn="ctr">
              <a:buNone/>
            </a:pPr>
            <a:r>
              <a:rPr lang="en-US" sz="1120" dirty="0">
                <a:solidFill>
                  <a:srgbClr val="243B53"/>
                </a:solidFill>
              </a:rPr>
              <a:t>movement strength controls the fraction of movement toward the target</a:t>
            </a:r>
            <a:endParaRPr lang="en-US" sz="1120" dirty="0"/>
          </a:p>
        </p:txBody>
      </p:sp>
      <p:sp>
        <p:nvSpPr>
          <p:cNvPr id="40" name="Text 38"/>
          <p:cNvSpPr/>
          <p:nvPr/>
        </p:nvSpPr>
        <p:spPr>
          <a:xfrm>
            <a:off x="732434" y="5093208"/>
            <a:ext cx="841248"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origin</a:t>
            </a:r>
            <a:endParaRPr lang="en-US" sz="1000" dirty="0"/>
          </a:p>
        </p:txBody>
      </p:sp>
      <p:sp>
        <p:nvSpPr>
          <p:cNvPr id="41" name="Text 39"/>
          <p:cNvSpPr/>
          <p:nvPr/>
        </p:nvSpPr>
        <p:spPr>
          <a:xfrm>
            <a:off x="1692554" y="5093208"/>
            <a:ext cx="841248"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departure time</a:t>
            </a:r>
            <a:endParaRPr lang="en-US" sz="1000" dirty="0"/>
          </a:p>
        </p:txBody>
      </p:sp>
      <p:sp>
        <p:nvSpPr>
          <p:cNvPr id="42" name="Text 40"/>
          <p:cNvSpPr/>
          <p:nvPr/>
        </p:nvSpPr>
        <p:spPr>
          <a:xfrm>
            <a:off x="2652674" y="5093208"/>
            <a:ext cx="841248"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mode</a:t>
            </a:r>
            <a:endParaRPr lang="en-US" sz="1000" dirty="0"/>
          </a:p>
        </p:txBody>
      </p:sp>
      <p:sp>
        <p:nvSpPr>
          <p:cNvPr id="43" name="Text 41"/>
          <p:cNvSpPr/>
          <p:nvPr/>
        </p:nvSpPr>
        <p:spPr>
          <a:xfrm>
            <a:off x="3612794" y="5093208"/>
            <a:ext cx="841248"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purpose</a:t>
            </a:r>
            <a:endParaRPr lang="en-US" sz="1000" dirty="0"/>
          </a:p>
        </p:txBody>
      </p:sp>
      <p:sp>
        <p:nvSpPr>
          <p:cNvPr id="44" name="Text 42"/>
          <p:cNvSpPr/>
          <p:nvPr/>
        </p:nvSpPr>
        <p:spPr>
          <a:xfrm>
            <a:off x="4572914" y="5093208"/>
            <a:ext cx="841248" cy="310896"/>
          </a:xfrm>
          <a:prstGeom prst="rect">
            <a:avLst/>
          </a:prstGeom>
          <a:solidFill>
            <a:srgbClr val="F3F6FA"/>
          </a:solidFill>
          <a:ln>
            <a:solidFill>
              <a:srgbClr val="FFFFFF">
                <a:alpha val="0"/>
              </a:srgbClr>
            </a:solidFill>
          </a:ln>
        </p:spPr>
        <p:txBody>
          <a:bodyPr wrap="square" lIns="508" tIns="508" rIns="508" bIns="508" rtlCol="0" anchor="ctr">
            <a:normAutofit/>
          </a:bodyPr>
          <a:lstStyle/>
          <a:p>
            <a:pPr marL="0" indent="0" algn="ctr">
              <a:buNone/>
            </a:pPr>
            <a:r>
              <a:rPr lang="en-US" sz="1000" b="1" dirty="0">
                <a:solidFill>
                  <a:srgbClr val="243B53"/>
                </a:solidFill>
              </a:rPr>
              <a:t>person_id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B6A04E0D-C94E-8EB0-962A-7404699707B5}"/>
              </a:ext>
            </a:extLst>
          </p:cNvPr>
          <p:cNvSpPr/>
          <p:nvPr/>
        </p:nvSpPr>
        <p:spPr>
          <a:xfrm>
            <a:off x="246490" y="1572769"/>
            <a:ext cx="7935402" cy="416011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 name="Shape 0"/>
          <p:cNvSpPr/>
          <p:nvPr/>
        </p:nvSpPr>
        <p:spPr>
          <a:xfrm>
            <a:off x="0" y="0"/>
            <a:ext cx="12191695" cy="164592"/>
          </a:xfrm>
          <a:prstGeom prst="rect">
            <a:avLst/>
          </a:prstGeom>
          <a:solidFill>
            <a:srgbClr val="102A43"/>
          </a:solidFill>
          <a:ln w="12700">
            <a:solidFill>
              <a:srgbClr val="333333">
                <a:alpha val="0"/>
              </a:srgbClr>
            </a:solidFill>
            <a:prstDash val="solid"/>
          </a:ln>
        </p:spPr>
        <p:txBody>
          <a:bodyPr/>
          <a:lstStyle/>
          <a:p>
            <a:endParaRPr lang="ja-JP" altLang="en-US"/>
          </a:p>
        </p:txBody>
      </p:sp>
      <p:sp>
        <p:nvSpPr>
          <p:cNvPr id="3" name="Text 1"/>
          <p:cNvSpPr/>
          <p:nvPr/>
        </p:nvSpPr>
        <p:spPr>
          <a:xfrm>
            <a:off x="502920" y="384048"/>
            <a:ext cx="8046720" cy="384048"/>
          </a:xfrm>
          <a:prstGeom prst="rect">
            <a:avLst/>
          </a:prstGeom>
          <a:noFill/>
          <a:ln/>
        </p:spPr>
        <p:txBody>
          <a:bodyPr wrap="square" lIns="0" tIns="0" rIns="0" bIns="0" rtlCol="0" anchor="ctr"/>
          <a:lstStyle/>
          <a:p>
            <a:pPr marL="0" indent="0">
              <a:buNone/>
            </a:pPr>
            <a:r>
              <a:rPr lang="en-US" sz="2500" b="1" dirty="0">
                <a:solidFill>
                  <a:srgbClr val="102A43"/>
                </a:solidFill>
                <a:latin typeface="Garamond" panose="02020404030301010803" pitchFamily="18" charset="0"/>
                <a:ea typeface="Aptos Display" pitchFamily="34" charset="-122"/>
                <a:cs typeface="Aptos Display" pitchFamily="34" charset="-120"/>
              </a:rPr>
              <a:t>Demo Video</a:t>
            </a:r>
            <a:endParaRPr lang="en-US" sz="2500" dirty="0">
              <a:latin typeface="Garamond" panose="02020404030301010803" pitchFamily="18" charset="0"/>
            </a:endParaRPr>
          </a:p>
        </p:txBody>
      </p:sp>
      <p:sp>
        <p:nvSpPr>
          <p:cNvPr id="4" name="Text 2"/>
          <p:cNvSpPr/>
          <p:nvPr/>
        </p:nvSpPr>
        <p:spPr>
          <a:xfrm>
            <a:off x="9372600" y="438912"/>
            <a:ext cx="2240280" cy="237744"/>
          </a:xfrm>
          <a:prstGeom prst="rect">
            <a:avLst/>
          </a:prstGeom>
          <a:noFill/>
          <a:ln/>
        </p:spPr>
        <p:txBody>
          <a:bodyPr wrap="square" lIns="0" tIns="0" rIns="0" bIns="0" rtlCol="0" anchor="ctr"/>
          <a:lstStyle/>
          <a:p>
            <a:pPr marL="0" indent="0" algn="r">
              <a:buNone/>
            </a:pPr>
            <a:r>
              <a:rPr lang="en-US" sz="850" dirty="0">
                <a:solidFill>
                  <a:srgbClr val="829AB1"/>
                </a:solidFill>
              </a:rPr>
              <a:t>Research prototype</a:t>
            </a:r>
            <a:endParaRPr lang="en-US" sz="850" dirty="0"/>
          </a:p>
        </p:txBody>
      </p:sp>
      <p:sp>
        <p:nvSpPr>
          <p:cNvPr id="5" name="Shape 3"/>
          <p:cNvSpPr/>
          <p:nvPr/>
        </p:nvSpPr>
        <p:spPr>
          <a:xfrm>
            <a:off x="502920" y="868680"/>
            <a:ext cx="11155680" cy="0"/>
          </a:xfrm>
          <a:prstGeom prst="line">
            <a:avLst/>
          </a:prstGeom>
          <a:noFill/>
          <a:ln w="7620">
            <a:solidFill>
              <a:srgbClr val="D9E2EC"/>
            </a:solidFill>
            <a:prstDash val="solid"/>
          </a:ln>
        </p:spPr>
        <p:txBody>
          <a:bodyPr/>
          <a:lstStyle/>
          <a:p>
            <a:endParaRPr lang="ja-JP" altLang="en-US"/>
          </a:p>
        </p:txBody>
      </p:sp>
      <p:sp>
        <p:nvSpPr>
          <p:cNvPr id="6" name="Text 4"/>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800" dirty="0">
                <a:solidFill>
                  <a:srgbClr val="829AB1"/>
                </a:solidFill>
              </a:rPr>
              <a:t>08</a:t>
            </a:r>
            <a:endParaRPr lang="en-US" sz="800" dirty="0"/>
          </a:p>
        </p:txBody>
      </p:sp>
      <p:sp>
        <p:nvSpPr>
          <p:cNvPr id="11" name="Text 9"/>
          <p:cNvSpPr/>
          <p:nvPr/>
        </p:nvSpPr>
        <p:spPr>
          <a:xfrm>
            <a:off x="8541923" y="2084831"/>
            <a:ext cx="3337560" cy="2194560"/>
          </a:xfrm>
          <a:prstGeom prst="rect">
            <a:avLst/>
          </a:prstGeom>
          <a:noFill/>
          <a:ln/>
        </p:spPr>
        <p:txBody>
          <a:bodyPr wrap="square" lIns="254" tIns="254" rIns="254" bIns="254" rtlCol="0" anchor="t">
            <a:normAutofit/>
          </a:bodyPr>
          <a:lstStyle/>
          <a:p>
            <a:r>
              <a:rPr lang="en-US" sz="1450" dirty="0">
                <a:solidFill>
                  <a:srgbClr val="243B53"/>
                </a:solidFill>
                <a:latin typeface="Aptos" pitchFamily="34" charset="0"/>
                <a:ea typeface="Aptos" pitchFamily="34" charset="-122"/>
                <a:cs typeface="Aptos" pitchFamily="34" charset="-120"/>
              </a:rPr>
              <a:t>Entering a natural-language scenario</a:t>
            </a:r>
            <a:endParaRPr lang="en-US" sz="1450" dirty="0"/>
          </a:p>
          <a:p>
            <a:r>
              <a:rPr lang="en-US" sz="1450" dirty="0">
                <a:solidFill>
                  <a:srgbClr val="243B53"/>
                </a:solidFill>
                <a:latin typeface="Aptos" pitchFamily="34" charset="0"/>
                <a:ea typeface="Aptos" pitchFamily="34" charset="-122"/>
                <a:cs typeface="Aptos" pitchFamily="34" charset="-120"/>
              </a:rPr>
              <a:t>Pressing “Infer”</a:t>
            </a:r>
            <a:endParaRPr lang="en-US" sz="1450" dirty="0"/>
          </a:p>
          <a:p>
            <a:r>
              <a:rPr lang="en-US" sz="1450" dirty="0">
                <a:solidFill>
                  <a:srgbClr val="243B53"/>
                </a:solidFill>
                <a:latin typeface="Aptos" pitchFamily="34" charset="0"/>
                <a:ea typeface="Aptos" pitchFamily="34" charset="-122"/>
                <a:cs typeface="Aptos" pitchFamily="34" charset="-120"/>
              </a:rPr>
              <a:t>Checking inferred conditions</a:t>
            </a:r>
            <a:endParaRPr lang="en-US" sz="1450" dirty="0"/>
          </a:p>
          <a:p>
            <a:r>
              <a:rPr lang="en-US" sz="1450" dirty="0">
                <a:solidFill>
                  <a:srgbClr val="243B53"/>
                </a:solidFill>
                <a:latin typeface="Aptos" pitchFamily="34" charset="0"/>
                <a:ea typeface="Aptos" pitchFamily="34" charset="-122"/>
                <a:cs typeface="Aptos" pitchFamily="34" charset="-120"/>
              </a:rPr>
              <a:t>Pressing “Infer &amp; Compare”</a:t>
            </a:r>
            <a:endParaRPr lang="en-US" sz="1450" dirty="0"/>
          </a:p>
          <a:p>
            <a:r>
              <a:rPr lang="en-US" sz="1450" dirty="0">
                <a:solidFill>
                  <a:srgbClr val="243B53"/>
                </a:solidFill>
                <a:latin typeface="Aptos" pitchFamily="34" charset="0"/>
                <a:ea typeface="Aptos" pitchFamily="34" charset="-122"/>
                <a:cs typeface="Aptos" pitchFamily="34" charset="-120"/>
              </a:rPr>
              <a:t>Viewing the Before/After map</a:t>
            </a:r>
            <a:endParaRPr lang="en-US" sz="1450" dirty="0"/>
          </a:p>
        </p:txBody>
      </p:sp>
      <p:sp>
        <p:nvSpPr>
          <p:cNvPr id="12" name="Text 10"/>
          <p:cNvSpPr/>
          <p:nvPr/>
        </p:nvSpPr>
        <p:spPr>
          <a:xfrm>
            <a:off x="8541922" y="4050791"/>
            <a:ext cx="3246120" cy="457200"/>
          </a:xfrm>
          <a:prstGeom prst="rect">
            <a:avLst/>
          </a:prstGeom>
          <a:noFill/>
          <a:ln/>
        </p:spPr>
        <p:txBody>
          <a:bodyPr wrap="square" lIns="254" tIns="254" rIns="254" bIns="254" rtlCol="0" anchor="ctr">
            <a:normAutofit/>
          </a:bodyPr>
          <a:lstStyle/>
          <a:p>
            <a:pPr marL="0" indent="0">
              <a:buNone/>
            </a:pPr>
            <a:endParaRPr lang="en-US" sz="1300" dirty="0"/>
          </a:p>
        </p:txBody>
      </p:sp>
      <p:pic>
        <p:nvPicPr>
          <p:cNvPr id="16" name="名称未設定のデザイン.mp4">
            <a:hlinkClick r:id="" action="ppaction://media"/>
            <a:extLst>
              <a:ext uri="{FF2B5EF4-FFF2-40B4-BE49-F238E27FC236}">
                <a16:creationId xmlns:a16="http://schemas.microsoft.com/office/drawing/2014/main" id="{4514B85C-A792-00F1-B739-D7B9B4BDF9F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12516" y="1622982"/>
            <a:ext cx="7812912" cy="405091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58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6"/>
                </p:tgtEl>
              </p:cMediaNode>
            </p:vide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02A43"/>
          </a:solidFill>
          <a:ln w="12700">
            <a:solidFill>
              <a:srgbClr val="333333">
                <a:alpha val="0"/>
              </a:srgbClr>
            </a:solidFill>
            <a:prstDash val="solid"/>
          </a:ln>
        </p:spPr>
        <p:txBody>
          <a:bodyPr/>
          <a:lstStyle/>
          <a:p>
            <a:endParaRPr lang="ja-JP" altLang="en-US"/>
          </a:p>
        </p:txBody>
      </p:sp>
      <p:sp>
        <p:nvSpPr>
          <p:cNvPr id="3" name="Text 1"/>
          <p:cNvSpPr/>
          <p:nvPr/>
        </p:nvSpPr>
        <p:spPr>
          <a:xfrm>
            <a:off x="502920" y="384048"/>
            <a:ext cx="8046720" cy="384048"/>
          </a:xfrm>
          <a:prstGeom prst="rect">
            <a:avLst/>
          </a:prstGeom>
          <a:noFill/>
          <a:ln/>
        </p:spPr>
        <p:txBody>
          <a:bodyPr wrap="square" lIns="0" tIns="0" rIns="0" bIns="0" rtlCol="0" anchor="ctr"/>
          <a:lstStyle/>
          <a:p>
            <a:pPr marL="0" indent="0">
              <a:buNone/>
            </a:pPr>
            <a:r>
              <a:rPr lang="en-US" sz="2500" b="1" dirty="0">
                <a:solidFill>
                  <a:srgbClr val="102A43"/>
                </a:solidFill>
                <a:latin typeface="Garamond" panose="02020404030301010803" pitchFamily="18" charset="0"/>
                <a:ea typeface="Aptos Display" pitchFamily="34" charset="-122"/>
                <a:cs typeface="Aptos Display" pitchFamily="34" charset="-120"/>
              </a:rPr>
              <a:t>Before/After Map Interpretation</a:t>
            </a:r>
            <a:endParaRPr lang="en-US" sz="2500" dirty="0">
              <a:latin typeface="Garamond" panose="02020404030301010803" pitchFamily="18" charset="0"/>
            </a:endParaRPr>
          </a:p>
        </p:txBody>
      </p:sp>
      <p:sp>
        <p:nvSpPr>
          <p:cNvPr id="4" name="Text 2"/>
          <p:cNvSpPr/>
          <p:nvPr/>
        </p:nvSpPr>
        <p:spPr>
          <a:xfrm>
            <a:off x="9372600" y="438912"/>
            <a:ext cx="2240280" cy="237744"/>
          </a:xfrm>
          <a:prstGeom prst="rect">
            <a:avLst/>
          </a:prstGeom>
          <a:noFill/>
          <a:ln/>
        </p:spPr>
        <p:txBody>
          <a:bodyPr wrap="square" lIns="0" tIns="0" rIns="0" bIns="0" rtlCol="0" anchor="ctr"/>
          <a:lstStyle/>
          <a:p>
            <a:pPr marL="0" indent="0" algn="r">
              <a:buNone/>
            </a:pPr>
            <a:r>
              <a:rPr lang="en-US" sz="850" dirty="0">
                <a:solidFill>
                  <a:srgbClr val="829AB1"/>
                </a:solidFill>
              </a:rPr>
              <a:t>Research prototype</a:t>
            </a:r>
            <a:endParaRPr lang="en-US" sz="850" dirty="0"/>
          </a:p>
        </p:txBody>
      </p:sp>
      <p:sp>
        <p:nvSpPr>
          <p:cNvPr id="5" name="Shape 3"/>
          <p:cNvSpPr/>
          <p:nvPr/>
        </p:nvSpPr>
        <p:spPr>
          <a:xfrm>
            <a:off x="502920" y="868680"/>
            <a:ext cx="11155680" cy="0"/>
          </a:xfrm>
          <a:prstGeom prst="line">
            <a:avLst/>
          </a:prstGeom>
          <a:noFill/>
          <a:ln w="7620">
            <a:solidFill>
              <a:srgbClr val="D9E2EC"/>
            </a:solidFill>
            <a:prstDash val="solid"/>
          </a:ln>
        </p:spPr>
        <p:txBody>
          <a:bodyPr/>
          <a:lstStyle/>
          <a:p>
            <a:endParaRPr lang="ja-JP" altLang="en-US"/>
          </a:p>
        </p:txBody>
      </p:sp>
      <p:sp>
        <p:nvSpPr>
          <p:cNvPr id="6" name="Text 4"/>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800" dirty="0">
                <a:solidFill>
                  <a:srgbClr val="829AB1"/>
                </a:solidFill>
              </a:rPr>
              <a:t>09</a:t>
            </a:r>
            <a:endParaRPr lang="en-US" sz="800" dirty="0"/>
          </a:p>
        </p:txBody>
      </p:sp>
      <p:pic>
        <p:nvPicPr>
          <p:cNvPr id="50" name="図 49">
            <a:extLst>
              <a:ext uri="{FF2B5EF4-FFF2-40B4-BE49-F238E27FC236}">
                <a16:creationId xmlns:a16="http://schemas.microsoft.com/office/drawing/2014/main" id="{92F8AB0D-6648-98BD-1C6C-D7CF029C9713}"/>
              </a:ext>
            </a:extLst>
          </p:cNvPr>
          <p:cNvPicPr>
            <a:picLocks noChangeAspect="1"/>
          </p:cNvPicPr>
          <p:nvPr/>
        </p:nvPicPr>
        <p:blipFill>
          <a:blip r:embed="rId3"/>
          <a:stretch>
            <a:fillRect/>
          </a:stretch>
        </p:blipFill>
        <p:spPr>
          <a:xfrm>
            <a:off x="2144750" y="1060705"/>
            <a:ext cx="7872019" cy="49147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02A43"/>
          </a:solidFill>
          <a:ln w="12700">
            <a:solidFill>
              <a:srgbClr val="333333">
                <a:alpha val="0"/>
              </a:srgbClr>
            </a:solidFill>
            <a:prstDash val="solid"/>
          </a:ln>
        </p:spPr>
        <p:txBody>
          <a:bodyPr/>
          <a:lstStyle/>
          <a:p>
            <a:endParaRPr lang="ja-JP" altLang="en-US"/>
          </a:p>
        </p:txBody>
      </p:sp>
      <p:sp>
        <p:nvSpPr>
          <p:cNvPr id="3" name="Text 1"/>
          <p:cNvSpPr/>
          <p:nvPr/>
        </p:nvSpPr>
        <p:spPr>
          <a:xfrm>
            <a:off x="502920" y="384048"/>
            <a:ext cx="8046720" cy="384048"/>
          </a:xfrm>
          <a:prstGeom prst="rect">
            <a:avLst/>
          </a:prstGeom>
          <a:noFill/>
          <a:ln/>
        </p:spPr>
        <p:txBody>
          <a:bodyPr wrap="square" lIns="0" tIns="0" rIns="0" bIns="0" rtlCol="0" anchor="ctr"/>
          <a:lstStyle/>
          <a:p>
            <a:pPr marL="0" indent="0">
              <a:buNone/>
            </a:pPr>
            <a:r>
              <a:rPr lang="en-US" sz="2500" b="1" dirty="0">
                <a:solidFill>
                  <a:srgbClr val="102A43"/>
                </a:solidFill>
                <a:latin typeface="Garamond" panose="02020404030301010803" pitchFamily="18" charset="0"/>
                <a:ea typeface="Aptos Display" pitchFamily="34" charset="-122"/>
                <a:cs typeface="Aptos Display" pitchFamily="34" charset="-120"/>
              </a:rPr>
              <a:t>Limitations and Future Work</a:t>
            </a:r>
            <a:endParaRPr lang="en-US" sz="2500" dirty="0">
              <a:latin typeface="Garamond" panose="02020404030301010803" pitchFamily="18" charset="0"/>
            </a:endParaRPr>
          </a:p>
        </p:txBody>
      </p:sp>
      <p:sp>
        <p:nvSpPr>
          <p:cNvPr id="4" name="Text 2"/>
          <p:cNvSpPr/>
          <p:nvPr/>
        </p:nvSpPr>
        <p:spPr>
          <a:xfrm>
            <a:off x="9372600" y="438912"/>
            <a:ext cx="2240280" cy="237744"/>
          </a:xfrm>
          <a:prstGeom prst="rect">
            <a:avLst/>
          </a:prstGeom>
          <a:noFill/>
          <a:ln/>
        </p:spPr>
        <p:txBody>
          <a:bodyPr wrap="square" lIns="0" tIns="0" rIns="0" bIns="0" rtlCol="0" anchor="ctr"/>
          <a:lstStyle/>
          <a:p>
            <a:pPr marL="0" indent="0" algn="r">
              <a:buNone/>
            </a:pPr>
            <a:r>
              <a:rPr lang="en-US" sz="850" dirty="0">
                <a:solidFill>
                  <a:srgbClr val="829AB1"/>
                </a:solidFill>
              </a:rPr>
              <a:t>Research prototype</a:t>
            </a:r>
            <a:endParaRPr lang="en-US" sz="850" dirty="0"/>
          </a:p>
        </p:txBody>
      </p:sp>
      <p:sp>
        <p:nvSpPr>
          <p:cNvPr id="5" name="Shape 3"/>
          <p:cNvSpPr/>
          <p:nvPr/>
        </p:nvSpPr>
        <p:spPr>
          <a:xfrm>
            <a:off x="502920" y="868680"/>
            <a:ext cx="11155680" cy="0"/>
          </a:xfrm>
          <a:prstGeom prst="line">
            <a:avLst/>
          </a:prstGeom>
          <a:noFill/>
          <a:ln w="7620">
            <a:solidFill>
              <a:srgbClr val="D9E2EC"/>
            </a:solidFill>
            <a:prstDash val="solid"/>
          </a:ln>
        </p:spPr>
        <p:txBody>
          <a:bodyPr/>
          <a:lstStyle/>
          <a:p>
            <a:endParaRPr lang="ja-JP" altLang="en-US"/>
          </a:p>
        </p:txBody>
      </p:sp>
      <p:sp>
        <p:nvSpPr>
          <p:cNvPr id="6" name="Text 4"/>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800" dirty="0">
                <a:solidFill>
                  <a:srgbClr val="829AB1"/>
                </a:solidFill>
              </a:rPr>
              <a:t>10</a:t>
            </a:r>
            <a:endParaRPr lang="en-US" sz="800" dirty="0"/>
          </a:p>
        </p:txBody>
      </p:sp>
      <p:sp>
        <p:nvSpPr>
          <p:cNvPr id="7" name="Text 5"/>
          <p:cNvSpPr/>
          <p:nvPr/>
        </p:nvSpPr>
        <p:spPr>
          <a:xfrm>
            <a:off x="731520" y="1364743"/>
            <a:ext cx="1691640" cy="256032"/>
          </a:xfrm>
          <a:prstGeom prst="rect">
            <a:avLst/>
          </a:prstGeom>
          <a:solidFill>
            <a:srgbClr val="FDEDEA"/>
          </a:solidFill>
          <a:ln/>
        </p:spPr>
        <p:txBody>
          <a:bodyPr wrap="square" lIns="762" tIns="762" rIns="762" bIns="762" rtlCol="0" anchor="ctr">
            <a:normAutofit/>
          </a:bodyPr>
          <a:lstStyle/>
          <a:p>
            <a:pPr marL="0" indent="0" algn="ctr">
              <a:buNone/>
            </a:pPr>
            <a:r>
              <a:rPr lang="en-US" sz="1050" b="1" dirty="0">
                <a:solidFill>
                  <a:srgbClr val="E64B3C"/>
                </a:solidFill>
              </a:rPr>
              <a:t>CURRENT LIMITATIONS</a:t>
            </a:r>
            <a:endParaRPr lang="en-US" sz="1050" dirty="0"/>
          </a:p>
        </p:txBody>
      </p:sp>
      <p:sp>
        <p:nvSpPr>
          <p:cNvPr id="8" name="Text 6"/>
          <p:cNvSpPr/>
          <p:nvPr/>
        </p:nvSpPr>
        <p:spPr>
          <a:xfrm>
            <a:off x="841248" y="2018539"/>
            <a:ext cx="4709160" cy="1755648"/>
          </a:xfrm>
          <a:prstGeom prst="rect">
            <a:avLst/>
          </a:prstGeom>
          <a:noFill/>
          <a:ln/>
        </p:spPr>
        <p:txBody>
          <a:bodyPr wrap="square" lIns="254" tIns="254" rIns="254" bIns="254" rtlCol="0" anchor="t">
            <a:normAutofit/>
          </a:bodyPr>
          <a:lstStyle/>
          <a:p>
            <a:pPr marL="285750" indent="-285750">
              <a:spcBef>
                <a:spcPts val="600"/>
              </a:spcBef>
              <a:buFont typeface="Arial" panose="020B0604020202020204" pitchFamily="34" charset="0"/>
              <a:buChar char="•"/>
            </a:pPr>
            <a:r>
              <a:rPr lang="en-US" sz="1600" dirty="0">
                <a:solidFill>
                  <a:srgbClr val="243B53"/>
                </a:solidFill>
                <a:latin typeface="Calibri" panose="020F0502020204030204" pitchFamily="34" charset="0"/>
                <a:ea typeface="Aptos" pitchFamily="34" charset="-122"/>
                <a:cs typeface="Calibri" panose="020F0502020204030204" pitchFamily="34" charset="0"/>
              </a:rPr>
              <a:t>Currently modifies only destination points</a:t>
            </a:r>
            <a:endParaRPr lang="en-US" sz="1600" dirty="0">
              <a:latin typeface="Calibri" panose="020F0502020204030204" pitchFamily="34" charset="0"/>
              <a:cs typeface="Calibri" panose="020F0502020204030204" pitchFamily="34" charset="0"/>
            </a:endParaRPr>
          </a:p>
          <a:p>
            <a:pPr marL="285750" indent="-285750">
              <a:spcBef>
                <a:spcPts val="600"/>
              </a:spcBef>
              <a:buFont typeface="Arial" panose="020B0604020202020204" pitchFamily="34" charset="0"/>
              <a:buChar char="•"/>
            </a:pPr>
            <a:r>
              <a:rPr lang="en-US" sz="1600" dirty="0">
                <a:solidFill>
                  <a:srgbClr val="243B53"/>
                </a:solidFill>
                <a:latin typeface="Calibri" panose="020F0502020204030204" pitchFamily="34" charset="0"/>
                <a:ea typeface="Aptos" pitchFamily="34" charset="-122"/>
                <a:cs typeface="Calibri" panose="020F0502020204030204" pitchFamily="34" charset="0"/>
              </a:rPr>
              <a:t>Does not generate new trips</a:t>
            </a:r>
            <a:endParaRPr lang="en-US" sz="1600" dirty="0">
              <a:latin typeface="Calibri" panose="020F0502020204030204" pitchFamily="34" charset="0"/>
              <a:cs typeface="Calibri" panose="020F0502020204030204" pitchFamily="34" charset="0"/>
            </a:endParaRPr>
          </a:p>
          <a:p>
            <a:pPr marL="285750" indent="-285750">
              <a:spcBef>
                <a:spcPts val="600"/>
              </a:spcBef>
              <a:buFont typeface="Arial" panose="020B0604020202020204" pitchFamily="34" charset="0"/>
              <a:buChar char="•"/>
            </a:pPr>
            <a:r>
              <a:rPr lang="en-US" sz="1600" dirty="0">
                <a:solidFill>
                  <a:srgbClr val="243B53"/>
                </a:solidFill>
                <a:latin typeface="Calibri" panose="020F0502020204030204" pitchFamily="34" charset="0"/>
                <a:ea typeface="Aptos" pitchFamily="34" charset="-122"/>
                <a:cs typeface="Calibri" panose="020F0502020204030204" pitchFamily="34" charset="0"/>
              </a:rPr>
              <a:t>Does not model mode choice, travel time, stay duration, congestion, or route assignment</a:t>
            </a:r>
            <a:endParaRPr lang="en-US" sz="1600" dirty="0">
              <a:latin typeface="Calibri" panose="020F0502020204030204" pitchFamily="34" charset="0"/>
              <a:cs typeface="Calibri" panose="020F0502020204030204" pitchFamily="34" charset="0"/>
            </a:endParaRPr>
          </a:p>
          <a:p>
            <a:pPr marL="285750" indent="-285750">
              <a:spcBef>
                <a:spcPts val="600"/>
              </a:spcBef>
              <a:buFont typeface="Arial" panose="020B0604020202020204" pitchFamily="34" charset="0"/>
              <a:buChar char="•"/>
            </a:pPr>
            <a:r>
              <a:rPr lang="en-US" sz="1600" dirty="0">
                <a:solidFill>
                  <a:srgbClr val="243B53"/>
                </a:solidFill>
                <a:latin typeface="Calibri" panose="020F0502020204030204" pitchFamily="34" charset="0"/>
                <a:ea typeface="Aptos" pitchFamily="34" charset="-122"/>
                <a:cs typeface="Calibri" panose="020F0502020204030204" pitchFamily="34" charset="0"/>
              </a:rPr>
              <a:t>No weekday/holiday column: “holiday” is context, not a strict filter</a:t>
            </a:r>
            <a:endParaRPr lang="en-US" sz="1600" dirty="0">
              <a:latin typeface="Calibri" panose="020F0502020204030204" pitchFamily="34" charset="0"/>
              <a:cs typeface="Calibri" panose="020F0502020204030204" pitchFamily="34" charset="0"/>
            </a:endParaRPr>
          </a:p>
        </p:txBody>
      </p:sp>
      <p:sp>
        <p:nvSpPr>
          <p:cNvPr id="9" name="Text 7"/>
          <p:cNvSpPr/>
          <p:nvPr/>
        </p:nvSpPr>
        <p:spPr>
          <a:xfrm>
            <a:off x="6446520" y="1364743"/>
            <a:ext cx="1234440" cy="256032"/>
          </a:xfrm>
          <a:prstGeom prst="rect">
            <a:avLst/>
          </a:prstGeom>
          <a:solidFill>
            <a:srgbClr val="EAF3FF"/>
          </a:solidFill>
          <a:ln/>
        </p:spPr>
        <p:txBody>
          <a:bodyPr wrap="square" lIns="762" tIns="762" rIns="762" bIns="762" rtlCol="0" anchor="ctr">
            <a:normAutofit/>
          </a:bodyPr>
          <a:lstStyle/>
          <a:p>
            <a:pPr marL="0" indent="0" algn="ctr">
              <a:buNone/>
            </a:pPr>
            <a:r>
              <a:rPr lang="en-US" sz="1050" b="1" dirty="0">
                <a:solidFill>
                  <a:srgbClr val="2F80ED"/>
                </a:solidFill>
              </a:rPr>
              <a:t>FUTURE WORK</a:t>
            </a:r>
            <a:endParaRPr lang="en-US" sz="1050" dirty="0"/>
          </a:p>
        </p:txBody>
      </p:sp>
      <p:sp>
        <p:nvSpPr>
          <p:cNvPr id="10" name="Text 8"/>
          <p:cNvSpPr/>
          <p:nvPr/>
        </p:nvSpPr>
        <p:spPr>
          <a:xfrm>
            <a:off x="6556248" y="2018539"/>
            <a:ext cx="4919472" cy="1755648"/>
          </a:xfrm>
          <a:prstGeom prst="rect">
            <a:avLst/>
          </a:prstGeom>
          <a:noFill/>
          <a:ln/>
        </p:spPr>
        <p:txBody>
          <a:bodyPr wrap="square" lIns="254" tIns="254" rIns="254" bIns="254" rtlCol="0" anchor="t">
            <a:normAutofit/>
          </a:bodyPr>
          <a:lstStyle/>
          <a:p>
            <a:pPr marL="285750" indent="-285750">
              <a:spcBef>
                <a:spcPts val="600"/>
              </a:spcBef>
              <a:buFont typeface="Arial" panose="020B0604020202020204" pitchFamily="34" charset="0"/>
              <a:buChar char="•"/>
            </a:pPr>
            <a:r>
              <a:rPr lang="en-US" sz="1600" dirty="0">
                <a:solidFill>
                  <a:srgbClr val="243B53"/>
                </a:solidFill>
                <a:latin typeface="Calibri" panose="020F0502020204030204" pitchFamily="34" charset="0"/>
                <a:ea typeface="Aptos" pitchFamily="34" charset="-122"/>
                <a:cs typeface="Calibri" panose="020F0502020204030204" pitchFamily="34" charset="0"/>
              </a:rPr>
              <a:t>Add trip generation and activity-duration modeling</a:t>
            </a:r>
            <a:endParaRPr lang="en-US" sz="1600" dirty="0">
              <a:latin typeface="Calibri" panose="020F0502020204030204" pitchFamily="34" charset="0"/>
              <a:cs typeface="Calibri" panose="020F0502020204030204" pitchFamily="34" charset="0"/>
            </a:endParaRPr>
          </a:p>
          <a:p>
            <a:pPr marL="285750" indent="-285750">
              <a:spcBef>
                <a:spcPts val="600"/>
              </a:spcBef>
              <a:buFont typeface="Arial" panose="020B0604020202020204" pitchFamily="34" charset="0"/>
              <a:buChar char="•"/>
            </a:pPr>
            <a:r>
              <a:rPr lang="en-US" sz="1600" dirty="0">
                <a:solidFill>
                  <a:srgbClr val="243B53"/>
                </a:solidFill>
                <a:latin typeface="Calibri" panose="020F0502020204030204" pitchFamily="34" charset="0"/>
                <a:ea typeface="Aptos" pitchFamily="34" charset="-122"/>
                <a:cs typeface="Calibri" panose="020F0502020204030204" pitchFamily="34" charset="0"/>
              </a:rPr>
              <a:t>Introduce origin changes, mode shifts, and time shifts</a:t>
            </a:r>
            <a:endParaRPr lang="en-US" sz="1600" dirty="0">
              <a:latin typeface="Calibri" panose="020F0502020204030204" pitchFamily="34" charset="0"/>
              <a:cs typeface="Calibri" panose="020F0502020204030204" pitchFamily="34" charset="0"/>
            </a:endParaRPr>
          </a:p>
          <a:p>
            <a:pPr marL="285750" indent="-285750">
              <a:spcBef>
                <a:spcPts val="600"/>
              </a:spcBef>
              <a:buFont typeface="Arial" panose="020B0604020202020204" pitchFamily="34" charset="0"/>
              <a:buChar char="•"/>
            </a:pPr>
            <a:r>
              <a:rPr lang="en-US" sz="1600" dirty="0">
                <a:solidFill>
                  <a:srgbClr val="243B53"/>
                </a:solidFill>
                <a:latin typeface="Calibri" panose="020F0502020204030204" pitchFamily="34" charset="0"/>
                <a:ea typeface="Aptos" pitchFamily="34" charset="-122"/>
                <a:cs typeface="Calibri" panose="020F0502020204030204" pitchFamily="34" charset="0"/>
              </a:rPr>
              <a:t>Validate scenario changes against observed data</a:t>
            </a:r>
            <a:endParaRPr lang="en-US" sz="1600" dirty="0">
              <a:latin typeface="Calibri" panose="020F0502020204030204" pitchFamily="34" charset="0"/>
              <a:cs typeface="Calibri" panose="020F0502020204030204" pitchFamily="34" charset="0"/>
            </a:endParaRPr>
          </a:p>
          <a:p>
            <a:pPr marL="285750" indent="-285750">
              <a:spcBef>
                <a:spcPts val="600"/>
              </a:spcBef>
              <a:buFont typeface="Arial" panose="020B0604020202020204" pitchFamily="34" charset="0"/>
              <a:buChar char="•"/>
            </a:pPr>
            <a:r>
              <a:rPr lang="en-US" sz="1600" dirty="0">
                <a:solidFill>
                  <a:srgbClr val="243B53"/>
                </a:solidFill>
                <a:latin typeface="Calibri" panose="020F0502020204030204" pitchFamily="34" charset="0"/>
                <a:ea typeface="Aptos" pitchFamily="34" charset="-122"/>
                <a:cs typeface="Calibri" panose="020F0502020204030204" pitchFamily="34" charset="0"/>
              </a:rPr>
              <a:t>Improve rule inference accuracy and uncertainty checking</a:t>
            </a:r>
            <a:endParaRPr lang="en-US" sz="1600" dirty="0">
              <a:latin typeface="Calibri" panose="020F0502020204030204" pitchFamily="34" charset="0"/>
              <a:cs typeface="Calibri" panose="020F0502020204030204" pitchFamily="34" charset="0"/>
            </a:endParaRPr>
          </a:p>
        </p:txBody>
      </p:sp>
      <p:sp>
        <p:nvSpPr>
          <p:cNvPr id="11" name="Shape 9"/>
          <p:cNvSpPr/>
          <p:nvPr/>
        </p:nvSpPr>
        <p:spPr>
          <a:xfrm>
            <a:off x="1523847" y="4944617"/>
            <a:ext cx="9144000" cy="548640"/>
          </a:xfrm>
          <a:prstGeom prst="roundRect">
            <a:avLst/>
          </a:prstGeom>
          <a:solidFill>
            <a:srgbClr val="F3F6FA"/>
          </a:solidFill>
          <a:ln w="12700">
            <a:solidFill>
              <a:srgbClr val="D9E2EC"/>
            </a:solidFill>
            <a:prstDash val="solid"/>
          </a:ln>
        </p:spPr>
        <p:txBody>
          <a:bodyPr/>
          <a:lstStyle/>
          <a:p>
            <a:endParaRPr lang="ja-JP" altLang="en-US"/>
          </a:p>
        </p:txBody>
      </p:sp>
      <p:sp>
        <p:nvSpPr>
          <p:cNvPr id="12" name="Text 10"/>
          <p:cNvSpPr/>
          <p:nvPr/>
        </p:nvSpPr>
        <p:spPr>
          <a:xfrm>
            <a:off x="1874520" y="5104637"/>
            <a:ext cx="8412480" cy="228600"/>
          </a:xfrm>
          <a:prstGeom prst="rect">
            <a:avLst/>
          </a:prstGeom>
          <a:noFill/>
          <a:ln/>
        </p:spPr>
        <p:txBody>
          <a:bodyPr wrap="square" lIns="0" tIns="0" rIns="0" bIns="0" rtlCol="0" anchor="ctr"/>
          <a:lstStyle/>
          <a:p>
            <a:pPr marL="0" indent="0" algn="ctr">
              <a:buNone/>
            </a:pPr>
            <a:r>
              <a:rPr lang="en-US" sz="1400" b="1" dirty="0">
                <a:solidFill>
                  <a:srgbClr val="102A43"/>
                </a:solidFill>
              </a:rPr>
              <a:t>Simplified research prototype, not a full transportation demand model</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02A43"/>
          </a:solidFill>
          <a:ln w="12700">
            <a:solidFill>
              <a:srgbClr val="333333">
                <a:alpha val="0"/>
              </a:srgbClr>
            </a:solidFill>
            <a:prstDash val="solid"/>
          </a:ln>
        </p:spPr>
        <p:txBody>
          <a:bodyPr/>
          <a:lstStyle/>
          <a:p>
            <a:endParaRPr lang="ja-JP" altLang="en-US"/>
          </a:p>
        </p:txBody>
      </p:sp>
      <p:sp>
        <p:nvSpPr>
          <p:cNvPr id="3" name="Text 1"/>
          <p:cNvSpPr/>
          <p:nvPr/>
        </p:nvSpPr>
        <p:spPr>
          <a:xfrm>
            <a:off x="502920" y="384048"/>
            <a:ext cx="8046720" cy="384048"/>
          </a:xfrm>
          <a:prstGeom prst="rect">
            <a:avLst/>
          </a:prstGeom>
          <a:noFill/>
          <a:ln/>
        </p:spPr>
        <p:txBody>
          <a:bodyPr wrap="square" lIns="0" tIns="0" rIns="0" bIns="0" rtlCol="0" anchor="ctr"/>
          <a:lstStyle/>
          <a:p>
            <a:pPr marL="0" indent="0">
              <a:buNone/>
            </a:pPr>
            <a:r>
              <a:rPr lang="en-US" sz="2500" b="1" dirty="0">
                <a:solidFill>
                  <a:srgbClr val="102A43"/>
                </a:solidFill>
                <a:latin typeface="Garamond" panose="02020404030301010803" pitchFamily="18" charset="0"/>
                <a:ea typeface="Aptos Display" pitchFamily="34" charset="-122"/>
                <a:cs typeface="Aptos Display" pitchFamily="34" charset="-120"/>
              </a:rPr>
              <a:t>Conclusion</a:t>
            </a:r>
            <a:endParaRPr lang="en-US" sz="2500" dirty="0">
              <a:latin typeface="Garamond" panose="02020404030301010803" pitchFamily="18" charset="0"/>
            </a:endParaRPr>
          </a:p>
        </p:txBody>
      </p:sp>
      <p:sp>
        <p:nvSpPr>
          <p:cNvPr id="4" name="Text 2"/>
          <p:cNvSpPr/>
          <p:nvPr/>
        </p:nvSpPr>
        <p:spPr>
          <a:xfrm>
            <a:off x="9372600" y="438912"/>
            <a:ext cx="2240280" cy="237744"/>
          </a:xfrm>
          <a:prstGeom prst="rect">
            <a:avLst/>
          </a:prstGeom>
          <a:noFill/>
          <a:ln/>
        </p:spPr>
        <p:txBody>
          <a:bodyPr wrap="square" lIns="0" tIns="0" rIns="0" bIns="0" rtlCol="0" anchor="ctr"/>
          <a:lstStyle/>
          <a:p>
            <a:pPr marL="0" indent="0" algn="r">
              <a:buNone/>
            </a:pPr>
            <a:r>
              <a:rPr lang="en-US" sz="850" dirty="0">
                <a:solidFill>
                  <a:srgbClr val="829AB1"/>
                </a:solidFill>
              </a:rPr>
              <a:t>Research prototype</a:t>
            </a:r>
            <a:endParaRPr lang="en-US" sz="850" dirty="0"/>
          </a:p>
        </p:txBody>
      </p:sp>
      <p:sp>
        <p:nvSpPr>
          <p:cNvPr id="5" name="Shape 3"/>
          <p:cNvSpPr/>
          <p:nvPr/>
        </p:nvSpPr>
        <p:spPr>
          <a:xfrm>
            <a:off x="502920" y="868680"/>
            <a:ext cx="11155680" cy="0"/>
          </a:xfrm>
          <a:prstGeom prst="line">
            <a:avLst/>
          </a:prstGeom>
          <a:noFill/>
          <a:ln w="7620">
            <a:solidFill>
              <a:srgbClr val="D9E2EC"/>
            </a:solidFill>
            <a:prstDash val="solid"/>
          </a:ln>
        </p:spPr>
        <p:txBody>
          <a:bodyPr/>
          <a:lstStyle/>
          <a:p>
            <a:endParaRPr lang="ja-JP" altLang="en-US"/>
          </a:p>
        </p:txBody>
      </p:sp>
      <p:sp>
        <p:nvSpPr>
          <p:cNvPr id="6" name="Text 4"/>
          <p:cNvSpPr/>
          <p:nvPr/>
        </p:nvSpPr>
        <p:spPr>
          <a:xfrm>
            <a:off x="11475720" y="6446520"/>
            <a:ext cx="274320" cy="182880"/>
          </a:xfrm>
          <a:prstGeom prst="rect">
            <a:avLst/>
          </a:prstGeom>
          <a:noFill/>
          <a:ln/>
        </p:spPr>
        <p:txBody>
          <a:bodyPr wrap="square" lIns="0" tIns="0" rIns="0" bIns="0" rtlCol="0" anchor="ctr"/>
          <a:lstStyle/>
          <a:p>
            <a:pPr marL="0" indent="0" algn="r">
              <a:buNone/>
            </a:pPr>
            <a:r>
              <a:rPr lang="en-US" sz="800" dirty="0">
                <a:solidFill>
                  <a:srgbClr val="829AB1"/>
                </a:solidFill>
              </a:rPr>
              <a:t>11</a:t>
            </a:r>
            <a:endParaRPr lang="en-US" sz="800" dirty="0"/>
          </a:p>
        </p:txBody>
      </p:sp>
      <p:sp>
        <p:nvSpPr>
          <p:cNvPr id="7" name="Text 5"/>
          <p:cNvSpPr/>
          <p:nvPr/>
        </p:nvSpPr>
        <p:spPr>
          <a:xfrm>
            <a:off x="868680" y="1280160"/>
            <a:ext cx="502920" cy="502920"/>
          </a:xfrm>
          <a:prstGeom prst="rect">
            <a:avLst/>
          </a:prstGeom>
          <a:solidFill>
            <a:srgbClr val="102A43"/>
          </a:solidFill>
          <a:ln w="12700">
            <a:solidFill>
              <a:srgbClr val="102A43"/>
            </a:solidFill>
          </a:ln>
        </p:spPr>
        <p:txBody>
          <a:bodyPr wrap="square" lIns="1016" tIns="1016" rIns="1016" bIns="1016" rtlCol="0" anchor="ctr">
            <a:normAutofit/>
          </a:bodyPr>
          <a:lstStyle/>
          <a:p>
            <a:pPr marL="0" indent="0" algn="ctr">
              <a:buNone/>
            </a:pPr>
            <a:r>
              <a:rPr lang="en-US" sz="1600" b="1" dirty="0">
                <a:solidFill>
                  <a:srgbClr val="102A43"/>
                </a:solidFill>
              </a:rPr>
              <a:t>1</a:t>
            </a:r>
            <a:endParaRPr lang="en-US" sz="1600" dirty="0"/>
          </a:p>
        </p:txBody>
      </p:sp>
      <p:sp>
        <p:nvSpPr>
          <p:cNvPr id="8" name="Text 6"/>
          <p:cNvSpPr/>
          <p:nvPr/>
        </p:nvSpPr>
        <p:spPr>
          <a:xfrm>
            <a:off x="1600200" y="1353312"/>
            <a:ext cx="5303520" cy="347472"/>
          </a:xfrm>
          <a:prstGeom prst="rect">
            <a:avLst/>
          </a:prstGeom>
          <a:noFill/>
          <a:ln/>
        </p:spPr>
        <p:txBody>
          <a:bodyPr wrap="square" lIns="0" tIns="0" rIns="0" bIns="0" rtlCol="0" anchor="ctr">
            <a:normAutofit fontScale="85000" lnSpcReduction="10000"/>
          </a:bodyPr>
          <a:lstStyle/>
          <a:p>
            <a:pPr marL="0" indent="0">
              <a:buNone/>
            </a:pPr>
            <a:r>
              <a:rPr lang="en-US" sz="1900" b="1" dirty="0">
                <a:solidFill>
                  <a:srgbClr val="102A43"/>
                </a:solidFill>
              </a:rPr>
              <a:t>Connects planning text with pseudo people-flow data</a:t>
            </a:r>
            <a:endParaRPr lang="en-US" sz="1900" dirty="0"/>
          </a:p>
        </p:txBody>
      </p:sp>
      <p:sp>
        <p:nvSpPr>
          <p:cNvPr id="9" name="Text 7"/>
          <p:cNvSpPr/>
          <p:nvPr/>
        </p:nvSpPr>
        <p:spPr>
          <a:xfrm>
            <a:off x="868680" y="2304288"/>
            <a:ext cx="502920" cy="502920"/>
          </a:xfrm>
          <a:prstGeom prst="rect">
            <a:avLst/>
          </a:prstGeom>
          <a:solidFill>
            <a:srgbClr val="102A43"/>
          </a:solidFill>
          <a:ln w="12700">
            <a:solidFill>
              <a:srgbClr val="102A43"/>
            </a:solidFill>
          </a:ln>
        </p:spPr>
        <p:txBody>
          <a:bodyPr wrap="square" lIns="1016" tIns="1016" rIns="1016" bIns="1016" rtlCol="0" anchor="ctr">
            <a:normAutofit/>
          </a:bodyPr>
          <a:lstStyle/>
          <a:p>
            <a:pPr marL="0" indent="0" algn="ctr">
              <a:buNone/>
            </a:pPr>
            <a:r>
              <a:rPr lang="en-US" sz="1600" b="1" dirty="0">
                <a:solidFill>
                  <a:srgbClr val="102A43"/>
                </a:solidFill>
              </a:rPr>
              <a:t>2</a:t>
            </a:r>
            <a:endParaRPr lang="en-US" sz="1600" dirty="0"/>
          </a:p>
        </p:txBody>
      </p:sp>
      <p:sp>
        <p:nvSpPr>
          <p:cNvPr id="10" name="Text 8"/>
          <p:cNvSpPr/>
          <p:nvPr/>
        </p:nvSpPr>
        <p:spPr>
          <a:xfrm>
            <a:off x="1600200" y="2377440"/>
            <a:ext cx="5303520" cy="347472"/>
          </a:xfrm>
          <a:prstGeom prst="rect">
            <a:avLst/>
          </a:prstGeom>
          <a:noFill/>
          <a:ln/>
        </p:spPr>
        <p:txBody>
          <a:bodyPr wrap="square" lIns="0" tIns="0" rIns="0" bIns="0" rtlCol="0" anchor="ctr">
            <a:normAutofit fontScale="92500"/>
          </a:bodyPr>
          <a:lstStyle/>
          <a:p>
            <a:pPr marL="0" indent="0">
              <a:buNone/>
            </a:pPr>
            <a:r>
              <a:rPr lang="en-US" sz="1900" b="1" dirty="0">
                <a:solidFill>
                  <a:srgbClr val="102A43"/>
                </a:solidFill>
              </a:rPr>
              <a:t>LLM inference reduces manual rule-setting burden</a:t>
            </a:r>
            <a:endParaRPr lang="en-US" sz="1900" dirty="0"/>
          </a:p>
        </p:txBody>
      </p:sp>
      <p:sp>
        <p:nvSpPr>
          <p:cNvPr id="11" name="Text 9"/>
          <p:cNvSpPr/>
          <p:nvPr/>
        </p:nvSpPr>
        <p:spPr>
          <a:xfrm>
            <a:off x="868680" y="3328416"/>
            <a:ext cx="502920" cy="502920"/>
          </a:xfrm>
          <a:prstGeom prst="rect">
            <a:avLst/>
          </a:prstGeom>
          <a:solidFill>
            <a:srgbClr val="102A43"/>
          </a:solidFill>
          <a:ln w="12700">
            <a:solidFill>
              <a:srgbClr val="102A43"/>
            </a:solidFill>
          </a:ln>
        </p:spPr>
        <p:txBody>
          <a:bodyPr wrap="square" lIns="1016" tIns="1016" rIns="1016" bIns="1016" rtlCol="0" anchor="ctr">
            <a:normAutofit/>
          </a:bodyPr>
          <a:lstStyle/>
          <a:p>
            <a:pPr marL="0" indent="0" algn="ctr">
              <a:buNone/>
            </a:pPr>
            <a:r>
              <a:rPr lang="en-US" sz="1600" b="1" dirty="0">
                <a:solidFill>
                  <a:srgbClr val="102A43"/>
                </a:solidFill>
              </a:rPr>
              <a:t>3</a:t>
            </a:r>
            <a:endParaRPr lang="en-US" sz="1600" dirty="0"/>
          </a:p>
        </p:txBody>
      </p:sp>
      <p:sp>
        <p:nvSpPr>
          <p:cNvPr id="12" name="Text 10"/>
          <p:cNvSpPr/>
          <p:nvPr/>
        </p:nvSpPr>
        <p:spPr>
          <a:xfrm>
            <a:off x="1600200" y="3401568"/>
            <a:ext cx="5303520" cy="347472"/>
          </a:xfrm>
          <a:prstGeom prst="rect">
            <a:avLst/>
          </a:prstGeom>
          <a:noFill/>
          <a:ln/>
        </p:spPr>
        <p:txBody>
          <a:bodyPr wrap="square" lIns="0" tIns="0" rIns="0" bIns="0" rtlCol="0" anchor="ctr">
            <a:normAutofit fontScale="85000" lnSpcReduction="10000"/>
          </a:bodyPr>
          <a:lstStyle/>
          <a:p>
            <a:pPr marL="0" indent="0">
              <a:buNone/>
            </a:pPr>
            <a:r>
              <a:rPr lang="en-US" sz="1900" b="1" dirty="0">
                <a:solidFill>
                  <a:srgbClr val="102A43"/>
                </a:solidFill>
              </a:rPr>
              <a:t>Before/after maps support intuitive scenario comparison</a:t>
            </a:r>
            <a:endParaRPr lang="en-US" sz="1900" dirty="0"/>
          </a:p>
        </p:txBody>
      </p:sp>
      <p:sp>
        <p:nvSpPr>
          <p:cNvPr id="13" name="Text 11"/>
          <p:cNvSpPr/>
          <p:nvPr/>
        </p:nvSpPr>
        <p:spPr>
          <a:xfrm>
            <a:off x="8321040" y="1568195"/>
            <a:ext cx="1828800" cy="502920"/>
          </a:xfrm>
          <a:prstGeom prst="rect">
            <a:avLst/>
          </a:prstGeom>
          <a:solidFill>
            <a:srgbClr val="EAF3FF"/>
          </a:solidFill>
          <a:ln w="12700">
            <a:solidFill>
              <a:srgbClr val="BFD7FF"/>
            </a:solidFill>
          </a:ln>
        </p:spPr>
        <p:txBody>
          <a:bodyPr wrap="square" lIns="1016" tIns="1016" rIns="1016" bIns="1016" rtlCol="0" anchor="ctr">
            <a:normAutofit/>
          </a:bodyPr>
          <a:lstStyle/>
          <a:p>
            <a:pPr marL="0" indent="0" algn="ctr">
              <a:buNone/>
            </a:pPr>
            <a:r>
              <a:rPr lang="en-US" sz="1300" b="1" dirty="0">
                <a:solidFill>
                  <a:srgbClr val="102A43"/>
                </a:solidFill>
              </a:rPr>
              <a:t>Text scenario</a:t>
            </a:r>
            <a:endParaRPr lang="en-US" sz="1300" dirty="0"/>
          </a:p>
        </p:txBody>
      </p:sp>
      <p:sp>
        <p:nvSpPr>
          <p:cNvPr id="14" name="Shape 12"/>
          <p:cNvSpPr/>
          <p:nvPr/>
        </p:nvSpPr>
        <p:spPr>
          <a:xfrm>
            <a:off x="9235440" y="2144267"/>
            <a:ext cx="0" cy="429768"/>
          </a:xfrm>
          <a:prstGeom prst="line">
            <a:avLst/>
          </a:prstGeom>
          <a:noFill/>
          <a:ln w="15240">
            <a:solidFill>
              <a:srgbClr val="829AB1"/>
            </a:solidFill>
            <a:prstDash val="solid"/>
            <a:tailEnd type="triangle"/>
          </a:ln>
        </p:spPr>
        <p:txBody>
          <a:bodyPr/>
          <a:lstStyle/>
          <a:p>
            <a:endParaRPr lang="ja-JP" altLang="en-US"/>
          </a:p>
        </p:txBody>
      </p:sp>
      <p:sp>
        <p:nvSpPr>
          <p:cNvPr id="15" name="Text 13"/>
          <p:cNvSpPr/>
          <p:nvPr/>
        </p:nvSpPr>
        <p:spPr>
          <a:xfrm>
            <a:off x="8321040" y="2665475"/>
            <a:ext cx="1828800" cy="502920"/>
          </a:xfrm>
          <a:prstGeom prst="rect">
            <a:avLst/>
          </a:prstGeom>
          <a:solidFill>
            <a:srgbClr val="F4F0FF"/>
          </a:solidFill>
          <a:ln w="12700">
            <a:solidFill>
              <a:srgbClr val="D9D2FF"/>
            </a:solidFill>
          </a:ln>
        </p:spPr>
        <p:txBody>
          <a:bodyPr wrap="square" lIns="1016" tIns="1016" rIns="1016" bIns="1016" rtlCol="0" anchor="ctr">
            <a:normAutofit/>
          </a:bodyPr>
          <a:lstStyle/>
          <a:p>
            <a:pPr marL="0" indent="0" algn="ctr">
              <a:buNone/>
            </a:pPr>
            <a:r>
              <a:rPr lang="en-US" sz="1300" b="1" dirty="0">
                <a:solidFill>
                  <a:srgbClr val="102A43"/>
                </a:solidFill>
              </a:rPr>
              <a:t>Editable rules</a:t>
            </a:r>
            <a:endParaRPr lang="en-US" sz="1300" dirty="0"/>
          </a:p>
        </p:txBody>
      </p:sp>
      <p:sp>
        <p:nvSpPr>
          <p:cNvPr id="16" name="Shape 14"/>
          <p:cNvSpPr/>
          <p:nvPr/>
        </p:nvSpPr>
        <p:spPr>
          <a:xfrm>
            <a:off x="9235440" y="3241547"/>
            <a:ext cx="0" cy="429768"/>
          </a:xfrm>
          <a:prstGeom prst="line">
            <a:avLst/>
          </a:prstGeom>
          <a:noFill/>
          <a:ln w="15240">
            <a:solidFill>
              <a:srgbClr val="829AB1"/>
            </a:solidFill>
            <a:prstDash val="solid"/>
            <a:tailEnd type="triangle"/>
          </a:ln>
        </p:spPr>
        <p:txBody>
          <a:bodyPr/>
          <a:lstStyle/>
          <a:p>
            <a:endParaRPr lang="ja-JP" altLang="en-US"/>
          </a:p>
        </p:txBody>
      </p:sp>
      <p:sp>
        <p:nvSpPr>
          <p:cNvPr id="17" name="Text 15"/>
          <p:cNvSpPr/>
          <p:nvPr/>
        </p:nvSpPr>
        <p:spPr>
          <a:xfrm>
            <a:off x="8321040" y="3762755"/>
            <a:ext cx="1828800" cy="502920"/>
          </a:xfrm>
          <a:prstGeom prst="rect">
            <a:avLst/>
          </a:prstGeom>
          <a:solidFill>
            <a:srgbClr val="FDEDEA"/>
          </a:solidFill>
          <a:ln w="12700">
            <a:solidFill>
              <a:srgbClr val="F5B7B1"/>
            </a:solidFill>
          </a:ln>
        </p:spPr>
        <p:txBody>
          <a:bodyPr wrap="square" lIns="1016" tIns="1016" rIns="1016" bIns="1016" rtlCol="0" anchor="ctr">
            <a:normAutofit/>
          </a:bodyPr>
          <a:lstStyle/>
          <a:p>
            <a:pPr marL="0" indent="0" algn="ctr">
              <a:buNone/>
            </a:pPr>
            <a:r>
              <a:rPr lang="en-US" sz="1300" b="1" dirty="0">
                <a:solidFill>
                  <a:srgbClr val="102A43"/>
                </a:solidFill>
              </a:rPr>
              <a:t>Modified trips</a:t>
            </a:r>
            <a:endParaRPr lang="en-US" sz="1300" dirty="0"/>
          </a:p>
        </p:txBody>
      </p:sp>
      <p:sp>
        <p:nvSpPr>
          <p:cNvPr id="18" name="Shape 16"/>
          <p:cNvSpPr/>
          <p:nvPr/>
        </p:nvSpPr>
        <p:spPr>
          <a:xfrm>
            <a:off x="9235440" y="4338827"/>
            <a:ext cx="0" cy="429768"/>
          </a:xfrm>
          <a:prstGeom prst="line">
            <a:avLst/>
          </a:prstGeom>
          <a:noFill/>
          <a:ln w="15240">
            <a:solidFill>
              <a:srgbClr val="829AB1"/>
            </a:solidFill>
            <a:prstDash val="solid"/>
            <a:tailEnd type="triangle"/>
          </a:ln>
        </p:spPr>
        <p:txBody>
          <a:bodyPr/>
          <a:lstStyle/>
          <a:p>
            <a:endParaRPr lang="ja-JP" altLang="en-US"/>
          </a:p>
        </p:txBody>
      </p:sp>
      <p:sp>
        <p:nvSpPr>
          <p:cNvPr id="19" name="Text 17"/>
          <p:cNvSpPr/>
          <p:nvPr/>
        </p:nvSpPr>
        <p:spPr>
          <a:xfrm>
            <a:off x="8321040" y="4860035"/>
            <a:ext cx="1828800" cy="502920"/>
          </a:xfrm>
          <a:prstGeom prst="rect">
            <a:avLst/>
          </a:prstGeom>
          <a:solidFill>
            <a:srgbClr val="EAFBF3"/>
          </a:solidFill>
          <a:ln w="12700">
            <a:solidFill>
              <a:srgbClr val="B7E4D0"/>
            </a:solidFill>
          </a:ln>
        </p:spPr>
        <p:txBody>
          <a:bodyPr wrap="square" lIns="1016" tIns="1016" rIns="1016" bIns="1016" rtlCol="0" anchor="ctr">
            <a:normAutofit/>
          </a:bodyPr>
          <a:lstStyle/>
          <a:p>
            <a:pPr marL="0" indent="0" algn="ctr">
              <a:buNone/>
            </a:pPr>
            <a:r>
              <a:rPr lang="en-US" sz="1300" b="1" dirty="0">
                <a:solidFill>
                  <a:srgbClr val="102A43"/>
                </a:solidFill>
              </a:rPr>
              <a:t>Map comparison</a:t>
            </a:r>
            <a:endParaRPr lang="en-US" sz="1300" dirty="0"/>
          </a:p>
        </p:txBody>
      </p:sp>
      <p:sp>
        <p:nvSpPr>
          <p:cNvPr id="20" name="Shape 18"/>
          <p:cNvSpPr/>
          <p:nvPr/>
        </p:nvSpPr>
        <p:spPr>
          <a:xfrm>
            <a:off x="914400" y="5120640"/>
            <a:ext cx="6035040" cy="594360"/>
          </a:xfrm>
          <a:prstGeom prst="roundRect">
            <a:avLst/>
          </a:prstGeom>
          <a:solidFill>
            <a:srgbClr val="F3F6FA"/>
          </a:solidFill>
          <a:ln w="12700">
            <a:solidFill>
              <a:srgbClr val="D9E2EC"/>
            </a:solidFill>
            <a:prstDash val="solid"/>
          </a:ln>
        </p:spPr>
        <p:txBody>
          <a:bodyPr/>
          <a:lstStyle/>
          <a:p>
            <a:endParaRPr lang="ja-JP" altLang="en-US"/>
          </a:p>
        </p:txBody>
      </p:sp>
      <p:sp>
        <p:nvSpPr>
          <p:cNvPr id="21" name="Text 19"/>
          <p:cNvSpPr/>
          <p:nvPr/>
        </p:nvSpPr>
        <p:spPr>
          <a:xfrm>
            <a:off x="1188720" y="5303520"/>
            <a:ext cx="5486400" cy="237744"/>
          </a:xfrm>
          <a:prstGeom prst="rect">
            <a:avLst/>
          </a:prstGeom>
          <a:noFill/>
          <a:ln/>
        </p:spPr>
        <p:txBody>
          <a:bodyPr wrap="square" lIns="0" tIns="0" rIns="0" bIns="0" rtlCol="0" anchor="ctr">
            <a:normAutofit fontScale="70000" lnSpcReduction="20000"/>
          </a:bodyPr>
          <a:lstStyle/>
          <a:p>
            <a:pPr marL="0" indent="0" algn="ctr">
              <a:buNone/>
            </a:pPr>
            <a:r>
              <a:rPr lang="en-US" sz="1230" b="1" dirty="0">
                <a:solidFill>
                  <a:srgbClr val="243B53"/>
                </a:solidFill>
              </a:rPr>
              <a:t>Contribution: a practical workflow for translating planning scenarios into visible changes in pseudo people-flow data.</a:t>
            </a:r>
            <a:endParaRPr lang="en-US" sz="12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1834</TotalTime>
  <Words>2282</Words>
  <Application>Microsoft Macintosh PowerPoint</Application>
  <PresentationFormat>ワイド画面</PresentationFormat>
  <Paragraphs>224</Paragraphs>
  <Slides>12</Slides>
  <Notes>12</Notes>
  <HiddenSlides>0</HiddenSlides>
  <MMClips>1</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12</vt:i4>
      </vt:variant>
    </vt:vector>
  </HeadingPairs>
  <TitlesOfParts>
    <vt:vector size="18" baseType="lpstr">
      <vt:lpstr>Aptos</vt:lpstr>
      <vt:lpstr>Aptos Mono</vt:lpstr>
      <vt:lpstr>Arial</vt:lpstr>
      <vt:lpstr>Calibri</vt:lpstr>
      <vt:lpstr>Garamond</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Pseudo People-Flow Scenario Comparison Prototype</dc:title>
  <dc:subject>Graduation thesis research presentation draft</dc:subject>
  <dc:creator>OpenAI</dc:creator>
  <cp:lastModifiedBy>渡辺　悠生</cp:lastModifiedBy>
  <cp:revision>4</cp:revision>
  <dcterms:created xsi:type="dcterms:W3CDTF">2026-06-03T00:45:18Z</dcterms:created>
  <dcterms:modified xsi:type="dcterms:W3CDTF">2026-06-11T00:16:11Z</dcterms:modified>
</cp:coreProperties>
</file>